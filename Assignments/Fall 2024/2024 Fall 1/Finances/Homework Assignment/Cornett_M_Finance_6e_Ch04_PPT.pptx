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54"/>
  </p:notesMasterIdLst>
  <p:sldIdLst>
    <p:sldId id="441" r:id="rId6"/>
    <p:sldId id="666" r:id="rId7"/>
    <p:sldId id="667" r:id="rId8"/>
    <p:sldId id="720" r:id="rId9"/>
    <p:sldId id="721" r:id="rId10"/>
    <p:sldId id="722" r:id="rId11"/>
    <p:sldId id="723" r:id="rId12"/>
    <p:sldId id="724" r:id="rId13"/>
    <p:sldId id="725" r:id="rId14"/>
    <p:sldId id="726" r:id="rId15"/>
    <p:sldId id="727" r:id="rId16"/>
    <p:sldId id="728" r:id="rId17"/>
    <p:sldId id="729" r:id="rId18"/>
    <p:sldId id="730" r:id="rId19"/>
    <p:sldId id="731" r:id="rId20"/>
    <p:sldId id="732" r:id="rId21"/>
    <p:sldId id="733" r:id="rId22"/>
    <p:sldId id="734" r:id="rId23"/>
    <p:sldId id="735" r:id="rId24"/>
    <p:sldId id="736" r:id="rId25"/>
    <p:sldId id="737" r:id="rId26"/>
    <p:sldId id="738" r:id="rId27"/>
    <p:sldId id="739" r:id="rId28"/>
    <p:sldId id="740" r:id="rId29"/>
    <p:sldId id="741" r:id="rId30"/>
    <p:sldId id="742" r:id="rId31"/>
    <p:sldId id="743" r:id="rId32"/>
    <p:sldId id="744" r:id="rId33"/>
    <p:sldId id="745" r:id="rId34"/>
    <p:sldId id="746" r:id="rId35"/>
    <p:sldId id="747" r:id="rId36"/>
    <p:sldId id="748" r:id="rId37"/>
    <p:sldId id="749" r:id="rId38"/>
    <p:sldId id="750" r:id="rId39"/>
    <p:sldId id="751" r:id="rId40"/>
    <p:sldId id="442" r:id="rId41"/>
    <p:sldId id="258" r:id="rId42"/>
    <p:sldId id="753" r:id="rId43"/>
    <p:sldId id="754" r:id="rId44"/>
    <p:sldId id="755" r:id="rId45"/>
    <p:sldId id="756" r:id="rId46"/>
    <p:sldId id="757" r:id="rId47"/>
    <p:sldId id="758" r:id="rId48"/>
    <p:sldId id="759" r:id="rId49"/>
    <p:sldId id="760" r:id="rId50"/>
    <p:sldId id="761" r:id="rId51"/>
    <p:sldId id="762" r:id="rId52"/>
    <p:sldId id="763"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441"/>
            <p14:sldId id="666"/>
            <p14:sldId id="667"/>
            <p14:sldId id="720"/>
            <p14:sldId id="721"/>
            <p14:sldId id="722"/>
            <p14:sldId id="723"/>
            <p14:sldId id="724"/>
            <p14:sldId id="725"/>
            <p14:sldId id="726"/>
            <p14:sldId id="727"/>
            <p14:sldId id="728"/>
            <p14:sldId id="729"/>
            <p14:sldId id="730"/>
            <p14:sldId id="731"/>
            <p14:sldId id="732"/>
            <p14:sldId id="733"/>
            <p14:sldId id="734"/>
            <p14:sldId id="735"/>
            <p14:sldId id="736"/>
            <p14:sldId id="737"/>
            <p14:sldId id="738"/>
            <p14:sldId id="739"/>
            <p14:sldId id="740"/>
            <p14:sldId id="741"/>
            <p14:sldId id="742"/>
            <p14:sldId id="743"/>
            <p14:sldId id="744"/>
            <p14:sldId id="745"/>
            <p14:sldId id="746"/>
            <p14:sldId id="747"/>
            <p14:sldId id="748"/>
            <p14:sldId id="749"/>
            <p14:sldId id="750"/>
            <p14:sldId id="751"/>
            <p14:sldId id="442"/>
          </p14:sldIdLst>
        </p14:section>
        <p14:section name="Appendix: Image Descriptions for Unsighted Students" id="{9E859B0B-078E-463E-89A6-21C20DD280C4}">
          <p14:sldIdLst>
            <p14:sldId id="258"/>
            <p14:sldId id="753"/>
            <p14:sldId id="754"/>
            <p14:sldId id="755"/>
            <p14:sldId id="756"/>
            <p14:sldId id="757"/>
            <p14:sldId id="758"/>
            <p14:sldId id="759"/>
            <p14:sldId id="760"/>
            <p14:sldId id="761"/>
            <p14:sldId id="762"/>
            <p14:sldId id="763"/>
          </p14:sldIdLst>
        </p14:section>
      </p14:sectionLst>
    </p:ext>
    <p:ext uri="{EFAFB233-063F-42B5-8137-9DF3F51BA10A}">
      <p15:sldGuideLst xmlns:p15="http://schemas.microsoft.com/office/powerpoint/2012/main">
        <p15:guide id="2" pos="3240" userDrawn="1">
          <p15:clr>
            <a:srgbClr val="A4A3A4"/>
          </p15:clr>
        </p15:guide>
        <p15:guide id="3" orient="horz" pos="2256" userDrawn="1">
          <p15:clr>
            <a:srgbClr val="A4A3A4"/>
          </p15:clr>
        </p15:guide>
        <p15:guide id="4" pos="5640" userDrawn="1">
          <p15:clr>
            <a:srgbClr val="A4A3A4"/>
          </p15:clr>
        </p15:guide>
        <p15:guide id="5" pos="4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A"/>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74" autoAdjust="0"/>
    <p:restoredTop sz="89981" autoAdjust="0"/>
  </p:normalViewPr>
  <p:slideViewPr>
    <p:cSldViewPr snapToGrid="0" showGuides="1">
      <p:cViewPr varScale="1">
        <p:scale>
          <a:sx n="67" d="100"/>
          <a:sy n="67" d="100"/>
        </p:scale>
        <p:origin x="1494" y="66"/>
      </p:cViewPr>
      <p:guideLst>
        <p:guide pos="3240"/>
        <p:guide orient="horz" pos="2256"/>
        <p:guide pos="5640"/>
        <p:guide pos="456"/>
      </p:guideLst>
    </p:cSldViewPr>
  </p:slideViewPr>
  <p:outlineViewPr>
    <p:cViewPr>
      <p:scale>
        <a:sx n="33" d="100"/>
        <a:sy n="33" d="100"/>
      </p:scale>
      <p:origin x="0" y="0"/>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commentAuthors" Target="commentAuthor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theme" Target="theme/theme1.xml"/><Relationship Id="rId5" Type="http://schemas.openxmlformats.org/officeDocument/2006/relationships/slideMaster" Target="slideMasters/slideMaster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4" Type="http://schemas.openxmlformats.org/officeDocument/2006/relationships/image" Target="../media/image4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10/3/2022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baseline="0" dirty="0"/>
              <a:t>Note that computing interest rates is easiest with a financial calculator.</a:t>
            </a:r>
          </a:p>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32</a:t>
            </a:fld>
            <a:endParaRPr lang="en-US"/>
          </a:p>
        </p:txBody>
      </p:sp>
    </p:spTree>
    <p:extLst>
      <p:ext uri="{BB962C8B-B14F-4D97-AF65-F5344CB8AC3E}">
        <p14:creationId xmlns:p14="http://schemas.microsoft.com/office/powerpoint/2010/main" val="703001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baseline="0" dirty="0"/>
              <a:t>Note that computing interest rates is easiest with a financial calculator.</a:t>
            </a:r>
          </a:p>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33</a:t>
            </a:fld>
            <a:endParaRPr lang="en-US"/>
          </a:p>
        </p:txBody>
      </p:sp>
    </p:spTree>
    <p:extLst>
      <p:ext uri="{BB962C8B-B14F-4D97-AF65-F5344CB8AC3E}">
        <p14:creationId xmlns:p14="http://schemas.microsoft.com/office/powerpoint/2010/main" val="71807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34</a:t>
            </a:fld>
            <a:endParaRPr lang="en-US"/>
          </a:p>
        </p:txBody>
      </p:sp>
    </p:spTree>
    <p:extLst>
      <p:ext uri="{BB962C8B-B14F-4D97-AF65-F5344CB8AC3E}">
        <p14:creationId xmlns:p14="http://schemas.microsoft.com/office/powerpoint/2010/main" val="778560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35</a:t>
            </a:fld>
            <a:endParaRPr lang="en-US"/>
          </a:p>
        </p:txBody>
      </p:sp>
    </p:spTree>
    <p:extLst>
      <p:ext uri="{BB962C8B-B14F-4D97-AF65-F5344CB8AC3E}">
        <p14:creationId xmlns:p14="http://schemas.microsoft.com/office/powerpoint/2010/main" val="728942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36</a:t>
            </a:fld>
            <a:endParaRPr lang="en-US"/>
          </a:p>
        </p:txBody>
      </p:sp>
    </p:spTree>
    <p:extLst>
      <p:ext uri="{BB962C8B-B14F-4D97-AF65-F5344CB8AC3E}">
        <p14:creationId xmlns:p14="http://schemas.microsoft.com/office/powerpoint/2010/main" val="400574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xmlns=""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xmlns=""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xmlns=""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xmlns=""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xmlns=""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xmlns=""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xmlns="" id="{E2D8ACCF-E5FC-4FE9-9E84-B2A0A6B1EEBA}"/>
              </a:ext>
              <a:ext uri="{C183D7F6-B498-43B3-948B-1728B52AA6E4}">
                <adec:decorative xmlns:adec="http://schemas.microsoft.com/office/drawing/2017/decorative" xmlns=""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xmlns=""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xmlns=""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xmlns=""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xmlns=""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xmlns=""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xmlns=""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xmlns=""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xmlns=""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xmlns="" id="{7A14A7A9-A9D7-4A08-A24F-4D1C1F4C29CE}"/>
              </a:ext>
              <a:ext uri="{C183D7F6-B498-43B3-948B-1728B52AA6E4}">
                <adec:decorative xmlns:adec="http://schemas.microsoft.com/office/drawing/2017/decorative" xmlns=""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xmlns=""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xmlns=""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xmlns=""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xmlns="" id="{E2D8ACCF-E5FC-4FE9-9E84-B2A0A6B1EEBA}"/>
              </a:ext>
              <a:ext uri="{C183D7F6-B498-43B3-948B-1728B52AA6E4}">
                <adec:decorative xmlns:adec="http://schemas.microsoft.com/office/drawing/2017/decorative" xmlns=""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xmlns=""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xmlns=""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2" name="Long Copyright">
            <a:extLst>
              <a:ext uri="{FF2B5EF4-FFF2-40B4-BE49-F238E27FC236}">
                <a16:creationId xmlns:a16="http://schemas.microsoft.com/office/drawing/2014/main" xmlns=""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13" name="Content Placeholder 5">
            <a:extLst>
              <a:ext uri="{FF2B5EF4-FFF2-40B4-BE49-F238E27FC236}">
                <a16:creationId xmlns:a16="http://schemas.microsoft.com/office/drawing/2014/main" xmlns="" id="{94676E63-5785-42C5-94C7-249B828FABD8}"/>
              </a:ext>
            </a:extLst>
          </p:cNvPr>
          <p:cNvSpPr>
            <a:spLocks noGrp="1"/>
          </p:cNvSpPr>
          <p:nvPr>
            <p:ph sz="quarter" idx="13"/>
          </p:nvPr>
        </p:nvSpPr>
        <p:spPr>
          <a:xfrm>
            <a:off x="365125" y="6543675"/>
            <a:ext cx="8421688" cy="173038"/>
          </a:xfrm>
          <a:prstGeom prst="rect">
            <a:avLst/>
          </a:prstGeom>
        </p:spPr>
        <p:txBody>
          <a:bodyPr/>
          <a:lstStyle/>
          <a:p>
            <a:pPr lvl="0"/>
            <a:endParaRPr lang="en-US" dirty="0"/>
          </a:p>
        </p:txBody>
      </p:sp>
      <p:pic>
        <p:nvPicPr>
          <p:cNvPr id="16" name="Picture 15">
            <a:extLst>
              <a:ext uri="{FF2B5EF4-FFF2-40B4-BE49-F238E27FC236}">
                <a16:creationId xmlns:a16="http://schemas.microsoft.com/office/drawing/2014/main" xmlns="" id="{53192154-391C-6956-D3FB-316EAA6EA276}"/>
              </a:ext>
            </a:extLst>
          </p:cNvPr>
          <p:cNvPicPr>
            <a:picLocks noChangeAspect="1"/>
          </p:cNvPicPr>
          <p:nvPr userDrawn="1"/>
        </p:nvPicPr>
        <p:blipFill>
          <a:blip r:embed="rId2"/>
          <a:stretch>
            <a:fillRect/>
          </a:stretch>
        </p:blipFill>
        <p:spPr>
          <a:xfrm>
            <a:off x="5584642" y="2038438"/>
            <a:ext cx="3133294" cy="4247123"/>
          </a:xfrm>
          <a:prstGeom prst="rect">
            <a:avLst/>
          </a:prstGeom>
        </p:spPr>
      </p:pic>
    </p:spTree>
    <p:extLst>
      <p:ext uri="{BB962C8B-B14F-4D97-AF65-F5344CB8AC3E}">
        <p14:creationId xmlns:p14="http://schemas.microsoft.com/office/powerpoint/2010/main" val="2957990575"/>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xmlns="" id="{EF8D8291-5BF4-41AC-87CE-ED5DE4CB1B61}"/>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xmlns=""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xmlns=""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xmlns=""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xmlns=""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xmlns=""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xmlns=""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xmlns=""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xmlns=""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xmlns=""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2">
            <a:extLst>
              <a:ext uri="{FF2B5EF4-FFF2-40B4-BE49-F238E27FC236}">
                <a16:creationId xmlns:a16="http://schemas.microsoft.com/office/drawing/2014/main" xmlns=""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xmlns=""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xmlns=""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xmlns=""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xmlns=""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xmlns=""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xmlns=""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xmlns=""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xmlns=""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xmlns=""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xmlns=""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xmlns=""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xmlns=""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xmlns=""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32983936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xmlns=""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xmlns=""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xmlns=""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xmlns=""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xmlns=""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xmlns=""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xmlns=""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xmlns=""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xmlns=""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xmlns=""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xmlns="" id="{0B6E1DCB-9B8A-423D-B48B-2CCDE624B45C}"/>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xmlns=""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xmlns=""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xmlns=""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xmlns=""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xmlns=""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xmlns=""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19"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xmlns="" id="{BF372B49-B6F5-4826-B4F8-2F8A4FFF889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704" r:id="rId5"/>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xmlns=""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xmlns=""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xmlns=""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smtClean="0">
                <a:solidFill>
                  <a:schemeClr val="tx1">
                    <a:lumMod val="65000"/>
                    <a:lumOff val="35000"/>
                  </a:schemeClr>
                </a:solidFill>
              </a:rPr>
              <a:t>© McGraw Hill LLC.</a:t>
            </a:r>
            <a:endParaRPr lang="en-US" sz="800" b="0" dirty="0">
              <a:solidFill>
                <a:schemeClr val="tx1">
                  <a:lumMod val="65000"/>
                  <a:lumOff val="35000"/>
                </a:schemeClr>
              </a:solidFill>
            </a:endParaRPr>
          </a:p>
        </p:txBody>
      </p:sp>
      <p:sp>
        <p:nvSpPr>
          <p:cNvPr id="10" name="Slide Number Placeholder">
            <a:extLst>
              <a:ext uri="{FF2B5EF4-FFF2-40B4-BE49-F238E27FC236}">
                <a16:creationId xmlns:a16="http://schemas.microsoft.com/office/drawing/2014/main" xmlns=""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 id="2147483722" r:id="rId18"/>
  </p:sldLayoutIdLst>
  <p:hf hdr="0" dt="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xmlns="" id="{F20163A4-4644-4B17-9C8A-EF42A992331B}"/>
              </a:ext>
              <a:ext uri="{C183D7F6-B498-43B3-948B-1728B52AA6E4}">
                <adec:decorative xmlns:adec="http://schemas.microsoft.com/office/drawing/2017/decorative" xmlns=""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xmlns=""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xmlns=""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smtClean="0">
                <a:solidFill>
                  <a:schemeClr val="tx1">
                    <a:lumMod val="65000"/>
                    <a:lumOff val="35000"/>
                  </a:schemeClr>
                </a:solidFill>
              </a:rPr>
              <a:t>© McGraw Hill LLC.</a:t>
            </a:r>
            <a:endParaRPr lang="en-US" sz="800" b="0" dirty="0">
              <a:solidFill>
                <a:schemeClr val="tx1">
                  <a:lumMod val="65000"/>
                  <a:lumOff val="35000"/>
                </a:schemeClr>
              </a:solidFill>
            </a:endParaRPr>
          </a:p>
        </p:txBody>
      </p:sp>
      <p:grpSp>
        <p:nvGrpSpPr>
          <p:cNvPr id="6" name="MGH Shape">
            <a:extLst>
              <a:ext uri="{FF2B5EF4-FFF2-40B4-BE49-F238E27FC236}">
                <a16:creationId xmlns:a16="http://schemas.microsoft.com/office/drawing/2014/main" xmlns="" id="{B719ECBD-8119-4217-9D58-2638FA4365C1}"/>
              </a:ext>
              <a:ext uri="{C183D7F6-B498-43B3-948B-1728B52AA6E4}">
                <adec:decorative xmlns:adec="http://schemas.microsoft.com/office/drawing/2017/decorative" xmlns=""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xmlns=""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xmlns=""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xmlns=""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xmlns=""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xmlns=""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xmlns=""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xmlns=""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smtClean="0">
                <a:solidFill>
                  <a:schemeClr val="tx1">
                    <a:lumMod val="65000"/>
                    <a:lumOff val="35000"/>
                  </a:schemeClr>
                </a:solidFill>
              </a:rPr>
              <a:t>© McGraw Hill LLC.</a:t>
            </a:r>
            <a:endParaRPr lang="en-US" sz="800" b="0" dirty="0">
              <a:solidFill>
                <a:schemeClr val="tx1">
                  <a:lumMod val="65000"/>
                  <a:lumOff val="35000"/>
                </a:schemeClr>
              </a:solidFill>
            </a:endParaRPr>
          </a:p>
        </p:txBody>
      </p:sp>
      <p:sp>
        <p:nvSpPr>
          <p:cNvPr id="7" name="TextBox 6">
            <a:extLst>
              <a:ext uri="{FF2B5EF4-FFF2-40B4-BE49-F238E27FC236}">
                <a16:creationId xmlns:a16="http://schemas.microsoft.com/office/drawing/2014/main" xmlns="" id="{B2A49AB0-1403-4109-A2DB-94B4A3BEE282}"/>
              </a:ext>
            </a:extLst>
          </p:cNvPr>
          <p:cNvSpPr txBox="1"/>
          <p:nvPr userDrawn="1"/>
        </p:nvSpPr>
        <p:spPr>
          <a:xfrm>
            <a:off x="8631382" y="6648883"/>
            <a:ext cx="360218" cy="215444"/>
          </a:xfrm>
          <a:prstGeom prst="rect">
            <a:avLst/>
          </a:prstGeom>
          <a:noFill/>
        </p:spPr>
        <p:txBody>
          <a:bodyPr wrap="square">
            <a:spAutoFit/>
          </a:bodyPr>
          <a:lstStyle/>
          <a:p>
            <a:pPr algn="r" fontAlgn="base">
              <a:spcBef>
                <a:spcPct val="0"/>
              </a:spcBef>
              <a:spcAft>
                <a:spcPct val="0"/>
              </a:spcAft>
              <a:defRPr/>
            </a:pPr>
            <a:fld id="{53864CA9-ADCA-4554-9432-EA4A2FB55A34}" type="slidenum">
              <a:rPr lang="en-US" sz="800" smtClean="0">
                <a:solidFill>
                  <a:schemeClr val="tx1"/>
                </a:solidFill>
                <a:latin typeface="+mn-lt"/>
                <a:ea typeface="MS PGothic" pitchFamily="34" charset="-128"/>
              </a:rPr>
              <a:pPr algn="r" fontAlgn="base">
                <a:spcBef>
                  <a:spcPct val="0"/>
                </a:spcBef>
                <a:spcAft>
                  <a:spcPct val="0"/>
                </a:spcAft>
                <a:defRPr/>
              </a:pPr>
              <a:t>‹#›</a:t>
            </a:fld>
            <a:endParaRPr lang="en-US" sz="800" dirty="0">
              <a:solidFill>
                <a:schemeClr val="tx1"/>
              </a:solidFill>
              <a:latin typeface="+mn-lt"/>
              <a:ea typeface="MS PGothic" pitchFamily="34" charset="-128"/>
            </a:endParaRP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4.xml"/><Relationship Id="rId1" Type="http://schemas.openxmlformats.org/officeDocument/2006/relationships/vmlDrawing" Target="../drawings/vmlDrawing2.vml"/><Relationship Id="rId6" Type="http://schemas.openxmlformats.org/officeDocument/2006/relationships/image" Target="../media/image14.wmf"/><Relationship Id="rId5" Type="http://schemas.openxmlformats.org/officeDocument/2006/relationships/oleObject" Target="../embeddings/oleObject5.bin"/><Relationship Id="rId4" Type="http://schemas.openxmlformats.org/officeDocument/2006/relationships/image" Target="../media/image13.wmf"/></Relationships>
</file>

<file path=ppt/slides/_rels/slide10.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16.wmf"/><Relationship Id="rId5" Type="http://schemas.openxmlformats.org/officeDocument/2006/relationships/oleObject" Target="../embeddings/oleObject7.bin"/><Relationship Id="rId4" Type="http://schemas.openxmlformats.org/officeDocument/2006/relationships/image" Target="../media/image15.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4.xml"/><Relationship Id="rId1" Type="http://schemas.openxmlformats.org/officeDocument/2006/relationships/vmlDrawing" Target="../drawings/vmlDrawing4.vml"/><Relationship Id="rId6" Type="http://schemas.openxmlformats.org/officeDocument/2006/relationships/image" Target="../media/image19.wmf"/><Relationship Id="rId5" Type="http://schemas.openxmlformats.org/officeDocument/2006/relationships/oleObject" Target="../embeddings/oleObject10.bin"/><Relationship Id="rId4" Type="http://schemas.openxmlformats.org/officeDocument/2006/relationships/image" Target="../media/image18.wmf"/></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4.xml"/><Relationship Id="rId1" Type="http://schemas.openxmlformats.org/officeDocument/2006/relationships/vmlDrawing" Target="../drawings/vmlDrawing5.vml"/><Relationship Id="rId6" Type="http://schemas.openxmlformats.org/officeDocument/2006/relationships/slide" Target="slide39.xml"/><Relationship Id="rId5" Type="http://schemas.openxmlformats.org/officeDocument/2006/relationships/image" Target="../media/image20.wmf"/><Relationship Id="rId4" Type="http://schemas.openxmlformats.org/officeDocument/2006/relationships/oleObject" Target="../embeddings/oleObject11.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4.xml"/><Relationship Id="rId1" Type="http://schemas.openxmlformats.org/officeDocument/2006/relationships/vmlDrawing" Target="../drawings/vmlDrawing6.vml"/><Relationship Id="rId6" Type="http://schemas.openxmlformats.org/officeDocument/2006/relationships/image" Target="../media/image23.wmf"/><Relationship Id="rId5" Type="http://schemas.openxmlformats.org/officeDocument/2006/relationships/oleObject" Target="../embeddings/oleObject13.bin"/><Relationship Id="rId4" Type="http://schemas.openxmlformats.org/officeDocument/2006/relationships/image" Target="../media/image22.wmf"/></Relationships>
</file>

<file path=ppt/slides/_rels/slide14.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29.wmf"/><Relationship Id="rId5" Type="http://schemas.openxmlformats.org/officeDocument/2006/relationships/oleObject" Target="../embeddings/oleObject15.bin"/><Relationship Id="rId4" Type="http://schemas.openxmlformats.org/officeDocument/2006/relationships/image" Target="../media/image28.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4.xml"/><Relationship Id="rId1" Type="http://schemas.openxmlformats.org/officeDocument/2006/relationships/vmlDrawing" Target="../drawings/vmlDrawing8.vml"/><Relationship Id="rId4" Type="http://schemas.openxmlformats.org/officeDocument/2006/relationships/image" Target="../media/image30.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image" Target="../media/image32.wmf"/><Relationship Id="rId5" Type="http://schemas.openxmlformats.org/officeDocument/2006/relationships/oleObject" Target="../embeddings/oleObject18.bin"/><Relationship Id="rId4" Type="http://schemas.openxmlformats.org/officeDocument/2006/relationships/image" Target="../media/image3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6.xml"/><Relationship Id="rId1" Type="http://schemas.openxmlformats.org/officeDocument/2006/relationships/vmlDrawing" Target="../drawings/vmlDrawing10.vml"/><Relationship Id="rId4" Type="http://schemas.openxmlformats.org/officeDocument/2006/relationships/image" Target="../media/image33.wmf"/></Relationships>
</file>

<file path=ppt/slides/_rels/slide23.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image" Target="../media/image36.wmf"/><Relationship Id="rId5" Type="http://schemas.openxmlformats.org/officeDocument/2006/relationships/oleObject" Target="../embeddings/oleObject21.bin"/><Relationship Id="rId4" Type="http://schemas.openxmlformats.org/officeDocument/2006/relationships/image" Target="../media/image35.wmf"/></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slide" Target="slide45.xml"/><Relationship Id="rId5" Type="http://schemas.openxmlformats.org/officeDocument/2006/relationships/image" Target="../media/image37.wmf"/><Relationship Id="rId4" Type="http://schemas.openxmlformats.org/officeDocument/2006/relationships/oleObject" Target="../embeddings/oleObject22.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6.xml"/><Relationship Id="rId1" Type="http://schemas.openxmlformats.org/officeDocument/2006/relationships/vmlDrawing" Target="../drawings/vmlDrawing13.vml"/><Relationship Id="rId6" Type="http://schemas.openxmlformats.org/officeDocument/2006/relationships/slide" Target="slide46.xml"/><Relationship Id="rId5" Type="http://schemas.openxmlformats.org/officeDocument/2006/relationships/image" Target="../media/image39.wmf"/><Relationship Id="rId4" Type="http://schemas.openxmlformats.org/officeDocument/2006/relationships/oleObject" Target="../embeddings/oleObject23.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6.xml"/><Relationship Id="rId1" Type="http://schemas.openxmlformats.org/officeDocument/2006/relationships/vmlDrawing" Target="../drawings/vmlDrawing14.vml"/><Relationship Id="rId4" Type="http://schemas.openxmlformats.org/officeDocument/2006/relationships/image" Target="../media/image41.wmf"/></Relationships>
</file>

<file path=ppt/slides/_rels/slide29.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6.xml"/><Relationship Id="rId1" Type="http://schemas.openxmlformats.org/officeDocument/2006/relationships/vmlDrawing" Target="../drawings/vmlDrawing15.vml"/><Relationship Id="rId4" Type="http://schemas.openxmlformats.org/officeDocument/2006/relationships/image" Target="../media/image43.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4.xml"/><Relationship Id="rId1" Type="http://schemas.openxmlformats.org/officeDocument/2006/relationships/vmlDrawing" Target="../drawings/vmlDrawing16.vml"/><Relationship Id="rId4" Type="http://schemas.openxmlformats.org/officeDocument/2006/relationships/image" Target="../media/image44.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notesSlide" Target="../notesSlides/notesSlide1.xml"/><Relationship Id="rId7" Type="http://schemas.openxmlformats.org/officeDocument/2006/relationships/image" Target="../media/image46.wmf"/><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oleObject" Target="../embeddings/oleObject28.bin"/><Relationship Id="rId11" Type="http://schemas.openxmlformats.org/officeDocument/2006/relationships/image" Target="../media/image48.wmf"/><Relationship Id="rId5" Type="http://schemas.openxmlformats.org/officeDocument/2006/relationships/image" Target="../media/image45.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47.wmf"/></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slide" Target="slide4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slide" Target="slide29.xml"/><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2110A4-893E-44B7-9258-124381EAE51F}"/>
              </a:ext>
            </a:extLst>
          </p:cNvPr>
          <p:cNvSpPr>
            <a:spLocks noGrp="1"/>
          </p:cNvSpPr>
          <p:nvPr>
            <p:ph type="ctrTitle"/>
          </p:nvPr>
        </p:nvSpPr>
        <p:spPr/>
        <p:txBody>
          <a:bodyPr/>
          <a:lstStyle/>
          <a:p>
            <a:r>
              <a:rPr lang="en-US" noProof="0" dirty="0"/>
              <a:t>Chapter 4</a:t>
            </a:r>
          </a:p>
        </p:txBody>
      </p:sp>
      <p:sp>
        <p:nvSpPr>
          <p:cNvPr id="3" name="Subtitle 2">
            <a:extLst>
              <a:ext uri="{FF2B5EF4-FFF2-40B4-BE49-F238E27FC236}">
                <a16:creationId xmlns:a16="http://schemas.microsoft.com/office/drawing/2014/main" xmlns="" id="{2786B553-05E0-412C-9B5D-1847FF136472}"/>
              </a:ext>
            </a:extLst>
          </p:cNvPr>
          <p:cNvSpPr>
            <a:spLocks noGrp="1"/>
          </p:cNvSpPr>
          <p:nvPr>
            <p:ph type="subTitle" idx="1"/>
          </p:nvPr>
        </p:nvSpPr>
        <p:spPr/>
        <p:txBody>
          <a:bodyPr/>
          <a:lstStyle/>
          <a:p>
            <a:r>
              <a:rPr lang="en-US" noProof="0" dirty="0"/>
              <a:t>Time Value of Money 1: Analyzing Single Cash Flows</a:t>
            </a:r>
          </a:p>
        </p:txBody>
      </p:sp>
      <p:sp>
        <p:nvSpPr>
          <p:cNvPr id="9" name="Text Placeholder 8">
            <a:extLst>
              <a:ext uri="{FF2B5EF4-FFF2-40B4-BE49-F238E27FC236}">
                <a16:creationId xmlns:a16="http://schemas.microsoft.com/office/drawing/2014/main" xmlns="" id="{57D52967-8320-4F3F-9825-B5B5369DA824}"/>
              </a:ext>
            </a:extLst>
          </p:cNvPr>
          <p:cNvSpPr>
            <a:spLocks noGrp="1"/>
          </p:cNvSpPr>
          <p:nvPr>
            <p:ph type="body" sz="quarter" idx="10"/>
          </p:nvPr>
        </p:nvSpPr>
        <p:spPr/>
        <p:txBody>
          <a:bodyPr/>
          <a:lstStyle/>
          <a:p>
            <a:pPr>
              <a:spcAft>
                <a:spcPts val="500"/>
              </a:spcAft>
            </a:pPr>
            <a:r>
              <a:rPr lang="en-US" sz="1400" noProof="0" dirty="0"/>
              <a:t>Finance 6th Edition</a:t>
            </a:r>
          </a:p>
          <a:p>
            <a:pPr>
              <a:spcAft>
                <a:spcPts val="500"/>
              </a:spcAft>
            </a:pPr>
            <a:r>
              <a:rPr lang="en-US" sz="1400" noProof="0" dirty="0"/>
              <a:t>Cornett, Adair, and </a:t>
            </a:r>
            <a:r>
              <a:rPr lang="en-US" sz="1400" noProof="0" dirty="0" err="1"/>
              <a:t>Nofsinger</a:t>
            </a:r>
            <a:endParaRPr lang="en-US" sz="1400" noProof="0" dirty="0"/>
          </a:p>
        </p:txBody>
      </p:sp>
      <p:sp>
        <p:nvSpPr>
          <p:cNvPr id="7" name="Content Placeholder 6">
            <a:extLst>
              <a:ext uri="{FF2B5EF4-FFF2-40B4-BE49-F238E27FC236}">
                <a16:creationId xmlns:a16="http://schemas.microsoft.com/office/drawing/2014/main" xmlns="" id="{066E6BAC-61C2-4AC9-9F62-B8F5C6E7A8B6}"/>
              </a:ext>
            </a:extLst>
          </p:cNvPr>
          <p:cNvSpPr>
            <a:spLocks noGrp="1"/>
          </p:cNvSpPr>
          <p:nvPr>
            <p:ph sz="quarter" idx="13"/>
          </p:nvPr>
        </p:nvSpPr>
        <p:spPr>
          <a:xfrm>
            <a:off x="175846" y="6546894"/>
            <a:ext cx="8968153" cy="222574"/>
          </a:xfrm>
        </p:spPr>
        <p:txBody>
          <a:bodyPr/>
          <a:lstStyle/>
          <a:p>
            <a:pPr algn="ctr"/>
            <a:r>
              <a:rPr lang="en-US" sz="1200" noProof="0"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923735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9CA8E8-C200-4F36-BD85-CDCDC38F4F75}"/>
              </a:ext>
            </a:extLst>
          </p:cNvPr>
          <p:cNvSpPr>
            <a:spLocks noGrp="1"/>
          </p:cNvSpPr>
          <p:nvPr>
            <p:ph type="title"/>
          </p:nvPr>
        </p:nvSpPr>
        <p:spPr/>
        <p:txBody>
          <a:bodyPr>
            <a:normAutofit/>
          </a:bodyPr>
          <a:lstStyle/>
          <a:p>
            <a:r>
              <a:rPr lang="en-US" sz="3600" noProof="0" dirty="0"/>
              <a:t>Learning Goals</a:t>
            </a:r>
          </a:p>
        </p:txBody>
      </p:sp>
      <p:sp>
        <p:nvSpPr>
          <p:cNvPr id="3" name="Content Placeholder 2">
            <a:extLst>
              <a:ext uri="{FF2B5EF4-FFF2-40B4-BE49-F238E27FC236}">
                <a16:creationId xmlns:a16="http://schemas.microsoft.com/office/drawing/2014/main" xmlns="" id="{CBC11DEC-CA42-4C55-8DC6-819200BA6921}"/>
              </a:ext>
            </a:extLst>
          </p:cNvPr>
          <p:cNvSpPr>
            <a:spLocks noGrp="1"/>
          </p:cNvSpPr>
          <p:nvPr>
            <p:ph sz="quarter" idx="11"/>
          </p:nvPr>
        </p:nvSpPr>
        <p:spPr>
          <a:xfrm>
            <a:off x="342900" y="1276709"/>
            <a:ext cx="3726180" cy="4590691"/>
          </a:xfrm>
        </p:spPr>
        <p:txBody>
          <a:bodyPr/>
          <a:lstStyle/>
          <a:p>
            <a:pPr marL="292608" indent="-292608">
              <a:buFont typeface="Arial" panose="020B0604020202020204" pitchFamily="34" charset="0"/>
              <a:buChar char="•"/>
            </a:pPr>
            <a:r>
              <a:rPr lang="en-US" noProof="0" dirty="0"/>
              <a:t>Create a cash flow time line.</a:t>
            </a:r>
          </a:p>
          <a:p>
            <a:pPr marL="292608" indent="-292608">
              <a:buFont typeface="Arial" panose="020B0604020202020204" pitchFamily="34" charset="0"/>
              <a:buChar char="•"/>
            </a:pPr>
            <a:r>
              <a:rPr lang="en-US" noProof="0" dirty="0"/>
              <a:t>Compute the future value of money.</a:t>
            </a:r>
          </a:p>
          <a:p>
            <a:pPr marL="292608" indent="-292608">
              <a:buFont typeface="Arial" panose="020B0604020202020204" pitchFamily="34" charset="0"/>
              <a:buChar char="•"/>
            </a:pPr>
            <a:r>
              <a:rPr lang="en-US" noProof="0" dirty="0"/>
              <a:t>Show how the power of compound interest increases wealth.</a:t>
            </a:r>
          </a:p>
          <a:p>
            <a:pPr marL="292608" indent="-292608">
              <a:buFont typeface="Arial" panose="020B0604020202020204" pitchFamily="34" charset="0"/>
              <a:buChar char="•"/>
            </a:pPr>
            <a:r>
              <a:rPr lang="en-US" noProof="0" dirty="0"/>
              <a:t>Calculate the present value of a payment made in the future.</a:t>
            </a:r>
          </a:p>
        </p:txBody>
      </p:sp>
      <p:sp>
        <p:nvSpPr>
          <p:cNvPr id="4" name="Content Placeholder 3">
            <a:extLst>
              <a:ext uri="{FF2B5EF4-FFF2-40B4-BE49-F238E27FC236}">
                <a16:creationId xmlns:a16="http://schemas.microsoft.com/office/drawing/2014/main" xmlns="" id="{B3EEA71E-F60A-4291-A3E7-13DCC12C65E8}"/>
              </a:ext>
            </a:extLst>
          </p:cNvPr>
          <p:cNvSpPr>
            <a:spLocks noGrp="1"/>
          </p:cNvSpPr>
          <p:nvPr>
            <p:ph sz="quarter" idx="14"/>
          </p:nvPr>
        </p:nvSpPr>
        <p:spPr>
          <a:xfrm>
            <a:off x="4709160" y="1276709"/>
            <a:ext cx="4091940" cy="4971691"/>
          </a:xfrm>
        </p:spPr>
        <p:txBody>
          <a:bodyPr/>
          <a:lstStyle/>
          <a:p>
            <a:pPr marL="292608" indent="-292608">
              <a:buFont typeface="Arial" panose="020B0604020202020204" pitchFamily="34" charset="0"/>
              <a:buChar char="•"/>
            </a:pPr>
            <a:r>
              <a:rPr lang="en-US" noProof="0" dirty="0"/>
              <a:t>Move cash flows from one year to another.</a:t>
            </a:r>
          </a:p>
          <a:p>
            <a:pPr marL="292608" indent="-292608">
              <a:buFont typeface="Arial" panose="020B0604020202020204" pitchFamily="34" charset="0"/>
              <a:buChar char="•"/>
            </a:pPr>
            <a:r>
              <a:rPr lang="en-US" noProof="0" dirty="0"/>
              <a:t>Apply the Rule of 72.</a:t>
            </a:r>
          </a:p>
          <a:p>
            <a:pPr marL="292608" indent="-292608">
              <a:buFont typeface="Arial" panose="020B0604020202020204" pitchFamily="34" charset="0"/>
              <a:buChar char="•"/>
            </a:pPr>
            <a:r>
              <a:rPr lang="en-US" noProof="0" dirty="0"/>
              <a:t>Compute the rate of return realized on selling an investment.</a:t>
            </a:r>
          </a:p>
          <a:p>
            <a:pPr marL="292608" indent="-292608">
              <a:buFont typeface="Arial" panose="020B0604020202020204" pitchFamily="34" charset="0"/>
              <a:buChar char="•"/>
            </a:pPr>
            <a:r>
              <a:rPr lang="en-US" noProof="0" dirty="0"/>
              <a:t>Calculate the number of years needed to grow an investment.</a:t>
            </a:r>
          </a:p>
        </p:txBody>
      </p:sp>
      <p:sp>
        <p:nvSpPr>
          <p:cNvPr id="7" name="Slide Number Placeholder 6">
            <a:extLst>
              <a:ext uri="{FF2B5EF4-FFF2-40B4-BE49-F238E27FC236}">
                <a16:creationId xmlns:a16="http://schemas.microsoft.com/office/drawing/2014/main" xmlns="" id="{7666E563-8C72-461E-88CE-5C2063981036}"/>
              </a:ext>
            </a:extLst>
          </p:cNvPr>
          <p:cNvSpPr>
            <a:spLocks noGrp="1"/>
          </p:cNvSpPr>
          <p:nvPr>
            <p:ph type="sldNum" sz="quarter" idx="10"/>
          </p:nvPr>
        </p:nvSpPr>
        <p:spPr/>
        <p:txBody>
          <a:bodyPr/>
          <a:lstStyle/>
          <a:p>
            <a:fld id="{68151E55-6873-49E2-B8D5-2F265E6F1973}" type="slidenum">
              <a:rPr lang="en-US" smtClean="0"/>
              <a:t>2</a:t>
            </a:fld>
            <a:endParaRPr lang="en-US"/>
          </a:p>
        </p:txBody>
      </p:sp>
    </p:spTree>
    <p:extLst>
      <p:ext uri="{BB962C8B-B14F-4D97-AF65-F5344CB8AC3E}">
        <p14:creationId xmlns:p14="http://schemas.microsoft.com/office/powerpoint/2010/main" val="2197764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9A8A64-2C72-48A4-AFF6-CFD8ED4C236E}"/>
              </a:ext>
            </a:extLst>
          </p:cNvPr>
          <p:cNvSpPr>
            <a:spLocks noGrp="1"/>
          </p:cNvSpPr>
          <p:nvPr>
            <p:ph type="title"/>
          </p:nvPr>
        </p:nvSpPr>
        <p:spPr/>
        <p:txBody>
          <a:bodyPr>
            <a:normAutofit/>
          </a:bodyPr>
          <a:lstStyle/>
          <a:p>
            <a:r>
              <a:rPr lang="en-US" altLang="en-US" sz="3600" noProof="0" dirty="0"/>
              <a:t>Introduction </a:t>
            </a:r>
            <a:r>
              <a:rPr lang="en-US" altLang="en-US" sz="1000" b="0" baseline="0" noProof="0" dirty="0"/>
              <a:t>1</a:t>
            </a:r>
            <a:endParaRPr lang="en-US" sz="1000" b="0" baseline="0" noProof="0" dirty="0"/>
          </a:p>
        </p:txBody>
      </p:sp>
      <p:sp>
        <p:nvSpPr>
          <p:cNvPr id="3" name="Content Placeholder 2">
            <a:extLst>
              <a:ext uri="{FF2B5EF4-FFF2-40B4-BE49-F238E27FC236}">
                <a16:creationId xmlns:a16="http://schemas.microsoft.com/office/drawing/2014/main" xmlns="" id="{934D4545-3CF6-4EB6-9E83-C1889B26A08A}"/>
              </a:ext>
            </a:extLst>
          </p:cNvPr>
          <p:cNvSpPr>
            <a:spLocks noGrp="1"/>
          </p:cNvSpPr>
          <p:nvPr>
            <p:ph sz="quarter" idx="11"/>
          </p:nvPr>
        </p:nvSpPr>
        <p:spPr/>
        <p:txBody>
          <a:bodyPr/>
          <a:lstStyle/>
          <a:p>
            <a:r>
              <a:rPr lang="en-US" noProof="0" dirty="0"/>
              <a:t>Time value of money (T</a:t>
            </a:r>
            <a:r>
              <a:rPr lang="en-US" sz="100" noProof="0" dirty="0"/>
              <a:t> </a:t>
            </a:r>
            <a:r>
              <a:rPr lang="en-US" noProof="0" dirty="0"/>
              <a:t>V</a:t>
            </a:r>
            <a:r>
              <a:rPr lang="en-US" sz="100" noProof="0" dirty="0"/>
              <a:t> </a:t>
            </a:r>
            <a:r>
              <a:rPr lang="en-US" noProof="0" dirty="0"/>
              <a:t>M)</a:t>
            </a:r>
          </a:p>
          <a:p>
            <a:pPr marL="292608" indent="-292608">
              <a:buFont typeface="Arial" panose="020B0604020202020204" pitchFamily="34" charset="0"/>
              <a:buChar char="•"/>
            </a:pPr>
            <a:r>
              <a:rPr lang="en-US" noProof="0" dirty="0"/>
              <a:t>Refers to the difference in buying power for a dollar over time.</a:t>
            </a:r>
          </a:p>
          <a:p>
            <a:pPr marL="292608" indent="-292608">
              <a:buFont typeface="Arial" panose="020B0604020202020204" pitchFamily="34" charset="0"/>
              <a:buChar char="•"/>
            </a:pPr>
            <a:r>
              <a:rPr lang="en-US" noProof="0" dirty="0"/>
              <a:t>Used in both business and personal life.</a:t>
            </a:r>
          </a:p>
          <a:p>
            <a:pPr marL="292608" indent="-292608">
              <a:buFont typeface="Arial" panose="020B0604020202020204" pitchFamily="34" charset="0"/>
              <a:buChar char="•"/>
            </a:pPr>
            <a:r>
              <a:rPr lang="en-US" noProof="0" dirty="0"/>
              <a:t>Factors to consider when making T</a:t>
            </a:r>
            <a:r>
              <a:rPr lang="en-US" sz="100" noProof="0" dirty="0"/>
              <a:t> </a:t>
            </a:r>
            <a:r>
              <a:rPr lang="en-US" noProof="0" dirty="0"/>
              <a:t>V</a:t>
            </a:r>
            <a:r>
              <a:rPr lang="en-US" sz="100" noProof="0" dirty="0"/>
              <a:t> </a:t>
            </a:r>
            <a:r>
              <a:rPr lang="en-US" noProof="0" dirty="0"/>
              <a:t>M decisions:</a:t>
            </a:r>
          </a:p>
          <a:p>
            <a:pPr marL="621792" lvl="1" indent="-320040">
              <a:spcBef>
                <a:spcPts val="500"/>
              </a:spcBef>
            </a:pPr>
            <a:r>
              <a:rPr lang="en-US" sz="2200" noProof="0" dirty="0"/>
              <a:t>Size of the cash flows.</a:t>
            </a:r>
          </a:p>
          <a:p>
            <a:pPr marL="621792" lvl="1" indent="-320040">
              <a:spcBef>
                <a:spcPts val="500"/>
              </a:spcBef>
            </a:pPr>
            <a:r>
              <a:rPr lang="en-US" sz="2200" noProof="0" dirty="0"/>
              <a:t>Time between the cash flows.</a:t>
            </a:r>
          </a:p>
          <a:p>
            <a:pPr marL="621792" lvl="1" indent="-320040">
              <a:spcBef>
                <a:spcPts val="500"/>
              </a:spcBef>
            </a:pPr>
            <a:r>
              <a:rPr lang="en-US" sz="2200" noProof="0" dirty="0"/>
              <a:t>Rate of return we can earn.</a:t>
            </a:r>
          </a:p>
        </p:txBody>
      </p:sp>
      <p:sp>
        <p:nvSpPr>
          <p:cNvPr id="6" name="Slide Number Placeholder 5">
            <a:extLst>
              <a:ext uri="{FF2B5EF4-FFF2-40B4-BE49-F238E27FC236}">
                <a16:creationId xmlns:a16="http://schemas.microsoft.com/office/drawing/2014/main" xmlns="" id="{41EEBA21-8E04-4E07-9654-E090E3871327}"/>
              </a:ext>
            </a:extLst>
          </p:cNvPr>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146197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9A8A64-2C72-48A4-AFF6-CFD8ED4C236E}"/>
              </a:ext>
            </a:extLst>
          </p:cNvPr>
          <p:cNvSpPr>
            <a:spLocks noGrp="1"/>
          </p:cNvSpPr>
          <p:nvPr>
            <p:ph type="title"/>
          </p:nvPr>
        </p:nvSpPr>
        <p:spPr/>
        <p:txBody>
          <a:bodyPr>
            <a:normAutofit/>
          </a:bodyPr>
          <a:lstStyle/>
          <a:p>
            <a:r>
              <a:rPr lang="en-US" altLang="en-US" sz="3600" noProof="0" dirty="0"/>
              <a:t>Introduction </a:t>
            </a:r>
            <a:r>
              <a:rPr lang="en-US" altLang="en-US" sz="1000" b="0" baseline="0" noProof="0" dirty="0"/>
              <a:t>2</a:t>
            </a:r>
            <a:endParaRPr lang="en-US" sz="1000" b="0" baseline="0" noProof="0" dirty="0"/>
          </a:p>
        </p:txBody>
      </p:sp>
      <p:sp>
        <p:nvSpPr>
          <p:cNvPr id="3" name="Content Placeholder 2">
            <a:extLst>
              <a:ext uri="{FF2B5EF4-FFF2-40B4-BE49-F238E27FC236}">
                <a16:creationId xmlns:a16="http://schemas.microsoft.com/office/drawing/2014/main" xmlns="" id="{934D4545-3CF6-4EB6-9E83-C1889B26A08A}"/>
              </a:ext>
            </a:extLst>
          </p:cNvPr>
          <p:cNvSpPr>
            <a:spLocks noGrp="1"/>
          </p:cNvSpPr>
          <p:nvPr>
            <p:ph sz="quarter" idx="11"/>
          </p:nvPr>
        </p:nvSpPr>
        <p:spPr/>
        <p:txBody>
          <a:bodyPr/>
          <a:lstStyle/>
          <a:p>
            <a:r>
              <a:rPr lang="en-US" noProof="0" dirty="0"/>
              <a:t>Basic idea behind the time value of money is that $1 today is worth more than $1 promised next year</a:t>
            </a:r>
          </a:p>
          <a:p>
            <a:pPr marL="292608" indent="-292608">
              <a:buFont typeface="Arial" panose="020B0604020202020204" pitchFamily="34" charset="0"/>
              <a:buChar char="•"/>
            </a:pPr>
            <a:r>
              <a:rPr lang="en-US" noProof="0" dirty="0"/>
              <a:t>How much more?</a:t>
            </a:r>
          </a:p>
          <a:p>
            <a:pPr marL="621792" lvl="1" indent="-320040">
              <a:spcBef>
                <a:spcPts val="500"/>
              </a:spcBef>
            </a:pPr>
            <a:r>
              <a:rPr lang="en-US" noProof="0" dirty="0"/>
              <a:t>Depends on current interest rates.</a:t>
            </a:r>
          </a:p>
        </p:txBody>
      </p:sp>
      <p:sp>
        <p:nvSpPr>
          <p:cNvPr id="6" name="Slide Number Placeholder 5">
            <a:extLst>
              <a:ext uri="{FF2B5EF4-FFF2-40B4-BE49-F238E27FC236}">
                <a16:creationId xmlns:a16="http://schemas.microsoft.com/office/drawing/2014/main" xmlns="" id="{41EEBA21-8E04-4E07-9654-E090E3871327}"/>
              </a:ext>
            </a:extLst>
          </p:cNvPr>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3684969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9A8A64-2C72-48A4-AFF6-CFD8ED4C236E}"/>
              </a:ext>
            </a:extLst>
          </p:cNvPr>
          <p:cNvSpPr>
            <a:spLocks noGrp="1"/>
          </p:cNvSpPr>
          <p:nvPr>
            <p:ph type="title"/>
          </p:nvPr>
        </p:nvSpPr>
        <p:spPr/>
        <p:txBody>
          <a:bodyPr>
            <a:normAutofit/>
          </a:bodyPr>
          <a:lstStyle/>
          <a:p>
            <a:r>
              <a:rPr lang="en-US" altLang="en-US" noProof="0" dirty="0"/>
              <a:t>Organizing Cash Flows</a:t>
            </a:r>
            <a:endParaRPr lang="en-US" sz="3600" noProof="0" dirty="0"/>
          </a:p>
        </p:txBody>
      </p:sp>
      <p:sp>
        <p:nvSpPr>
          <p:cNvPr id="3" name="Content Placeholder 2">
            <a:extLst>
              <a:ext uri="{FF2B5EF4-FFF2-40B4-BE49-F238E27FC236}">
                <a16:creationId xmlns:a16="http://schemas.microsoft.com/office/drawing/2014/main" xmlns="" id="{934D4545-3CF6-4EB6-9E83-C1889B26A08A}"/>
              </a:ext>
            </a:extLst>
          </p:cNvPr>
          <p:cNvSpPr>
            <a:spLocks noGrp="1"/>
          </p:cNvSpPr>
          <p:nvPr>
            <p:ph sz="quarter" idx="11"/>
          </p:nvPr>
        </p:nvSpPr>
        <p:spPr/>
        <p:txBody>
          <a:bodyPr/>
          <a:lstStyle/>
          <a:p>
            <a:r>
              <a:rPr lang="en-US" noProof="0" dirty="0"/>
              <a:t>Managing cash flow timing is one of the most important tasks in successfully operating a business</a:t>
            </a:r>
          </a:p>
          <a:p>
            <a:pPr marL="292608" indent="-292608">
              <a:buFont typeface="Arial" panose="020B0604020202020204" pitchFamily="34" charset="0"/>
              <a:buChar char="•"/>
            </a:pPr>
            <a:r>
              <a:rPr lang="en-US" noProof="0" dirty="0"/>
              <a:t>A </a:t>
            </a:r>
            <a:r>
              <a:rPr lang="en-US" b="1" noProof="0" dirty="0"/>
              <a:t>time line</a:t>
            </a:r>
            <a:r>
              <a:rPr lang="en-US" noProof="0" dirty="0"/>
              <a:t> is a graphical representation showing the size and timing of cash flows through time (for example, monthly, quarterly, semiannually, or yearly).</a:t>
            </a:r>
          </a:p>
          <a:p>
            <a:pPr marL="621792" lvl="1" indent="-320040">
              <a:spcBef>
                <a:spcPts val="500"/>
              </a:spcBef>
            </a:pPr>
            <a:r>
              <a:rPr lang="en-US" sz="2200" noProof="0" dirty="0"/>
              <a:t>Cash received is called an </a:t>
            </a:r>
            <a:r>
              <a:rPr lang="en-US" sz="2200" b="1" noProof="0" dirty="0"/>
              <a:t>inflow</a:t>
            </a:r>
            <a:r>
              <a:rPr lang="en-US" sz="2200" noProof="0" dirty="0"/>
              <a:t> and is denoted with a positive number.</a:t>
            </a:r>
          </a:p>
          <a:p>
            <a:pPr marL="621792" lvl="1" indent="-320040">
              <a:spcBef>
                <a:spcPts val="500"/>
              </a:spcBef>
            </a:pPr>
            <a:r>
              <a:rPr lang="en-US" sz="2200" noProof="0" dirty="0"/>
              <a:t>Cash that leaves is an </a:t>
            </a:r>
            <a:r>
              <a:rPr lang="en-US" sz="2200" b="1" noProof="0" dirty="0"/>
              <a:t>outflow</a:t>
            </a:r>
            <a:r>
              <a:rPr lang="en-US" sz="2200" noProof="0" dirty="0"/>
              <a:t> and is designated with a negative number.</a:t>
            </a:r>
          </a:p>
        </p:txBody>
      </p:sp>
      <p:sp>
        <p:nvSpPr>
          <p:cNvPr id="6" name="Slide Number Placeholder 5">
            <a:extLst>
              <a:ext uri="{FF2B5EF4-FFF2-40B4-BE49-F238E27FC236}">
                <a16:creationId xmlns:a16="http://schemas.microsoft.com/office/drawing/2014/main" xmlns="" id="{41EEBA21-8E04-4E07-9654-E090E3871327}"/>
              </a:ext>
            </a:extLst>
          </p:cNvPr>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1673782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0D8FF-1BF5-43D7-BBEF-1B9461B8171B}"/>
              </a:ext>
            </a:extLst>
          </p:cNvPr>
          <p:cNvSpPr>
            <a:spLocks noGrp="1"/>
          </p:cNvSpPr>
          <p:nvPr>
            <p:ph type="title"/>
          </p:nvPr>
        </p:nvSpPr>
        <p:spPr/>
        <p:txBody>
          <a:bodyPr>
            <a:normAutofit/>
          </a:bodyPr>
          <a:lstStyle/>
          <a:p>
            <a:r>
              <a:rPr lang="en-US" sz="3600" noProof="0" dirty="0"/>
              <a:t>Time Line Example</a:t>
            </a:r>
          </a:p>
        </p:txBody>
      </p:sp>
      <p:sp>
        <p:nvSpPr>
          <p:cNvPr id="3" name="Content Placeholder 2">
            <a:extLst>
              <a:ext uri="{FF2B5EF4-FFF2-40B4-BE49-F238E27FC236}">
                <a16:creationId xmlns:a16="http://schemas.microsoft.com/office/drawing/2014/main" xmlns="" id="{09C6F8DF-2440-489F-8D4A-4A6EB3C3826F}"/>
              </a:ext>
            </a:extLst>
          </p:cNvPr>
          <p:cNvSpPr>
            <a:spLocks noGrp="1"/>
          </p:cNvSpPr>
          <p:nvPr>
            <p:ph sz="quarter" idx="11"/>
          </p:nvPr>
        </p:nvSpPr>
        <p:spPr>
          <a:xfrm>
            <a:off x="342900" y="1276710"/>
            <a:ext cx="8458200" cy="1255440"/>
          </a:xfrm>
        </p:spPr>
        <p:txBody>
          <a:bodyPr/>
          <a:lstStyle/>
          <a:p>
            <a:pPr marL="292608" indent="-292608">
              <a:buFont typeface="Arial" panose="020B0604020202020204" pitchFamily="34" charset="0"/>
              <a:buChar char="•"/>
            </a:pPr>
            <a:r>
              <a:rPr lang="en-US" noProof="0" dirty="0"/>
              <a:t>Suppose you deposit $100 at a bank and allow the bank to rent your $100 for a year at a cost (that is, </a:t>
            </a:r>
            <a:r>
              <a:rPr lang="en-US" b="1" noProof="0" dirty="0"/>
              <a:t>interest rate</a:t>
            </a:r>
            <a:r>
              <a:rPr lang="en-US" noProof="0" dirty="0"/>
              <a:t>) of 5 percent, or $5.</a:t>
            </a:r>
          </a:p>
        </p:txBody>
      </p:sp>
      <p:pic>
        <p:nvPicPr>
          <p:cNvPr id="8" name="Picture 7" descr="A time line shows period above the line and cash flow below the line. Part 1.">
            <a:extLst>
              <a:ext uri="{FF2B5EF4-FFF2-40B4-BE49-F238E27FC236}">
                <a16:creationId xmlns:a16="http://schemas.microsoft.com/office/drawing/2014/main" xmlns="" id="{8A58DB2F-3FD7-487A-9507-5D81F4C8EBDF}"/>
              </a:ext>
            </a:extLst>
          </p:cNvPr>
          <p:cNvPicPr>
            <a:picLocks noChangeAspect="1"/>
          </p:cNvPicPr>
          <p:nvPr/>
        </p:nvPicPr>
        <p:blipFill>
          <a:blip r:embed="rId2"/>
          <a:stretch>
            <a:fillRect/>
          </a:stretch>
        </p:blipFill>
        <p:spPr>
          <a:xfrm>
            <a:off x="1389612" y="2968712"/>
            <a:ext cx="6364776" cy="920576"/>
          </a:xfrm>
          <a:prstGeom prst="rect">
            <a:avLst/>
          </a:prstGeom>
        </p:spPr>
      </p:pic>
      <p:sp>
        <p:nvSpPr>
          <p:cNvPr id="4" name="Content Placeholder 3">
            <a:extLst>
              <a:ext uri="{FF2B5EF4-FFF2-40B4-BE49-F238E27FC236}">
                <a16:creationId xmlns:a16="http://schemas.microsoft.com/office/drawing/2014/main" xmlns="" id="{A53AEE2C-B760-4E98-8839-36AB5335A0D8}"/>
              </a:ext>
            </a:extLst>
          </p:cNvPr>
          <p:cNvSpPr>
            <a:spLocks noGrp="1"/>
          </p:cNvSpPr>
          <p:nvPr>
            <p:ph sz="quarter" idx="14"/>
          </p:nvPr>
        </p:nvSpPr>
        <p:spPr>
          <a:xfrm>
            <a:off x="342900" y="4343400"/>
            <a:ext cx="8458200" cy="920576"/>
          </a:xfrm>
        </p:spPr>
        <p:txBody>
          <a:bodyPr/>
          <a:lstStyle/>
          <a:p>
            <a:pPr marL="292608" indent="-292608">
              <a:buFont typeface="Arial" panose="020B0604020202020204" pitchFamily="34" charset="0"/>
              <a:buChar char="•"/>
            </a:pPr>
            <a:r>
              <a:rPr lang="en-US" i="1" noProof="0" dirty="0"/>
              <a:t>Given the 5 percent interest rate</a:t>
            </a:r>
            <a:r>
              <a:rPr lang="en-US" noProof="0" dirty="0"/>
              <a:t>, having $100 now (in year 0) has the same value as having $105 in one year.</a:t>
            </a:r>
          </a:p>
        </p:txBody>
      </p:sp>
      <p:sp>
        <p:nvSpPr>
          <p:cNvPr id="5" name="Text Placeholder 4">
            <a:extLst>
              <a:ext uri="{FF2B5EF4-FFF2-40B4-BE49-F238E27FC236}">
                <a16:creationId xmlns:a16="http://schemas.microsoft.com/office/drawing/2014/main" xmlns="" id="{02CAD48E-6105-44F1-81C9-558A32FFFBD0}"/>
              </a:ext>
            </a:extLst>
          </p:cNvPr>
          <p:cNvSpPr>
            <a:spLocks noGrp="1"/>
          </p:cNvSpPr>
          <p:nvPr>
            <p:ph type="body" sz="quarter" idx="12"/>
          </p:nvPr>
        </p:nvSpPr>
        <p:spPr>
          <a:xfrm>
            <a:off x="3369564" y="6248400"/>
            <a:ext cx="3275076" cy="266700"/>
          </a:xfrm>
        </p:spPr>
        <p:txBody>
          <a:bodyPr/>
          <a:lstStyle/>
          <a:p>
            <a:r>
              <a:rPr lang="en-US" sz="1200" noProof="0" dirty="0">
                <a:hlinkClick r:id="rId3" action="ppaction://hlinksldjump"/>
              </a:rPr>
              <a:t>Access the text alternative for slide images.</a:t>
            </a:r>
            <a:endParaRPr lang="en-US" sz="1200" noProof="0" dirty="0"/>
          </a:p>
        </p:txBody>
      </p:sp>
      <p:sp>
        <p:nvSpPr>
          <p:cNvPr id="7" name="Slide Number Placeholder 6">
            <a:extLst>
              <a:ext uri="{FF2B5EF4-FFF2-40B4-BE49-F238E27FC236}">
                <a16:creationId xmlns:a16="http://schemas.microsoft.com/office/drawing/2014/main" xmlns="" id="{38C03560-1E94-4D72-92E5-AB2BA7F80093}"/>
              </a:ext>
            </a:extLst>
          </p:cNvPr>
          <p:cNvSpPr>
            <a:spLocks noGrp="1"/>
          </p:cNvSpPr>
          <p:nvPr>
            <p:ph type="sldNum" sz="quarter" idx="10"/>
          </p:nvPr>
        </p:nvSpPr>
        <p:spPr/>
        <p:txBody>
          <a:bodyPr/>
          <a:lstStyle/>
          <a:p>
            <a:fld id="{68151E55-6873-49E2-B8D5-2F265E6F1973}" type="slidenum">
              <a:rPr lang="en-US" smtClean="0"/>
              <a:t>6</a:t>
            </a:fld>
            <a:endParaRPr lang="en-US"/>
          </a:p>
        </p:txBody>
      </p:sp>
    </p:spTree>
    <p:extLst>
      <p:ext uri="{BB962C8B-B14F-4D97-AF65-F5344CB8AC3E}">
        <p14:creationId xmlns:p14="http://schemas.microsoft.com/office/powerpoint/2010/main" val="125570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6FA43F-00E9-49F5-9DB8-E2AE0C1CD3F1}"/>
              </a:ext>
            </a:extLst>
          </p:cNvPr>
          <p:cNvSpPr>
            <a:spLocks noGrp="1"/>
          </p:cNvSpPr>
          <p:nvPr>
            <p:ph type="title"/>
          </p:nvPr>
        </p:nvSpPr>
        <p:spPr/>
        <p:txBody>
          <a:bodyPr/>
          <a:lstStyle/>
          <a:p>
            <a:r>
              <a:rPr lang="en-US" noProof="0" dirty="0"/>
              <a:t>Future Value</a:t>
            </a:r>
          </a:p>
        </p:txBody>
      </p:sp>
      <p:sp>
        <p:nvSpPr>
          <p:cNvPr id="3" name="Content Placeholder 2">
            <a:extLst>
              <a:ext uri="{FF2B5EF4-FFF2-40B4-BE49-F238E27FC236}">
                <a16:creationId xmlns:a16="http://schemas.microsoft.com/office/drawing/2014/main" xmlns="" id="{8A5CB67E-F2BA-4BC5-9A25-3D4DCE9CD8CF}"/>
              </a:ext>
            </a:extLst>
          </p:cNvPr>
          <p:cNvSpPr>
            <a:spLocks noGrp="1"/>
          </p:cNvSpPr>
          <p:nvPr>
            <p:ph sz="quarter" idx="11"/>
          </p:nvPr>
        </p:nvSpPr>
        <p:spPr/>
        <p:txBody>
          <a:bodyPr/>
          <a:lstStyle/>
          <a:p>
            <a:r>
              <a:rPr lang="en-US" b="1" noProof="0" dirty="0"/>
              <a:t>Future value (F</a:t>
            </a:r>
            <a:r>
              <a:rPr lang="en-US" sz="100" b="1" noProof="0" dirty="0"/>
              <a:t> </a:t>
            </a:r>
            <a:r>
              <a:rPr lang="en-US" b="1" noProof="0" dirty="0"/>
              <a:t>V) </a:t>
            </a:r>
            <a:r>
              <a:rPr lang="en-US" noProof="0" dirty="0"/>
              <a:t>is the value of an investment after one or more periods</a:t>
            </a:r>
          </a:p>
          <a:p>
            <a:pPr marL="292608" indent="-292608">
              <a:buFont typeface="Arial" panose="020B0604020202020204" pitchFamily="34" charset="0"/>
              <a:buChar char="•"/>
            </a:pPr>
            <a:r>
              <a:rPr lang="en-US" noProof="0" dirty="0"/>
              <a:t>For example, the $105 one-time cash flow that your bank credits to your account in one year is the future value of $100 in one year at a 5 percent annual interest rate.</a:t>
            </a:r>
          </a:p>
        </p:txBody>
      </p:sp>
      <p:sp>
        <p:nvSpPr>
          <p:cNvPr id="6" name="Slide Number Placeholder 5">
            <a:extLst>
              <a:ext uri="{FF2B5EF4-FFF2-40B4-BE49-F238E27FC236}">
                <a16:creationId xmlns:a16="http://schemas.microsoft.com/office/drawing/2014/main" xmlns="" id="{C5DA707E-13F9-4B95-90A2-043271669091}"/>
              </a:ext>
            </a:extLst>
          </p:cNvPr>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2845012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0D8FF-1BF5-43D7-BBEF-1B9461B8171B}"/>
              </a:ext>
            </a:extLst>
          </p:cNvPr>
          <p:cNvSpPr>
            <a:spLocks noGrp="1"/>
          </p:cNvSpPr>
          <p:nvPr>
            <p:ph type="title"/>
          </p:nvPr>
        </p:nvSpPr>
        <p:spPr/>
        <p:txBody>
          <a:bodyPr>
            <a:normAutofit/>
          </a:bodyPr>
          <a:lstStyle/>
          <a:p>
            <a:r>
              <a:rPr lang="en-US" sz="3600" noProof="0" dirty="0"/>
              <a:t>Single-Period Future Value </a:t>
            </a:r>
            <a:r>
              <a:rPr lang="en-US" sz="1000" b="0" baseline="0" noProof="0" dirty="0"/>
              <a:t>1</a:t>
            </a:r>
          </a:p>
        </p:txBody>
      </p:sp>
      <p:sp>
        <p:nvSpPr>
          <p:cNvPr id="3" name="Content Placeholder 2">
            <a:extLst>
              <a:ext uri="{FF2B5EF4-FFF2-40B4-BE49-F238E27FC236}">
                <a16:creationId xmlns:a16="http://schemas.microsoft.com/office/drawing/2014/main" xmlns="" id="{09C6F8DF-2440-489F-8D4A-4A6EB3C3826F}"/>
              </a:ext>
            </a:extLst>
          </p:cNvPr>
          <p:cNvSpPr>
            <a:spLocks noGrp="1"/>
          </p:cNvSpPr>
          <p:nvPr>
            <p:ph sz="quarter" idx="11"/>
          </p:nvPr>
        </p:nvSpPr>
        <p:spPr>
          <a:xfrm>
            <a:off x="342900" y="1276709"/>
            <a:ext cx="8458200" cy="1237891"/>
          </a:xfrm>
        </p:spPr>
        <p:txBody>
          <a:bodyPr/>
          <a:lstStyle/>
          <a:p>
            <a:pPr marL="292608" indent="-292608">
              <a:buFont typeface="Arial" panose="020B0604020202020204" pitchFamily="34" charset="0"/>
              <a:buChar char="•"/>
            </a:pPr>
            <a:r>
              <a:rPr lang="en-US" noProof="0" dirty="0"/>
              <a:t>To compute the future value of a sum of money one year from today, you simply add the interest earned to today’s cash flow.</a:t>
            </a:r>
          </a:p>
        </p:txBody>
      </p:sp>
      <p:graphicFrame>
        <p:nvGraphicFramePr>
          <p:cNvPr id="6" name="Object 5">
            <a:extLst>
              <a:ext uri="{FF2B5EF4-FFF2-40B4-BE49-F238E27FC236}">
                <a16:creationId xmlns:a16="http://schemas.microsoft.com/office/drawing/2014/main" xmlns="" id="{E3653823-C387-4E6C-923D-4618FB2CFBA7}"/>
              </a:ext>
            </a:extLst>
          </p:cNvPr>
          <p:cNvGraphicFramePr>
            <a:graphicFrameLocks noChangeAspect="1"/>
          </p:cNvGraphicFramePr>
          <p:nvPr>
            <p:extLst>
              <p:ext uri="{D42A27DB-BD31-4B8C-83A1-F6EECF244321}">
                <p14:modId xmlns:p14="http://schemas.microsoft.com/office/powerpoint/2010/main" val="4148263093"/>
              </p:ext>
            </p:extLst>
          </p:nvPr>
        </p:nvGraphicFramePr>
        <p:xfrm>
          <a:off x="1256665" y="2694953"/>
          <a:ext cx="6551930" cy="349250"/>
        </p:xfrm>
        <a:graphic>
          <a:graphicData uri="http://schemas.openxmlformats.org/presentationml/2006/ole">
            <mc:AlternateContent xmlns:mc="http://schemas.openxmlformats.org/markup-compatibility/2006">
              <mc:Choice xmlns:v="urn:schemas-microsoft-com:vml" Requires="v">
                <p:oleObj spid="_x0000_s1035" name="Equation" r:id="rId3" imgW="5956200" imgH="317160" progId="Equation.DSMT4">
                  <p:embed/>
                </p:oleObj>
              </mc:Choice>
              <mc:Fallback>
                <p:oleObj name="Equation" r:id="rId3" imgW="5956200" imgH="317160" progId="Equation.DSMT4">
                  <p:embed/>
                  <p:pic>
                    <p:nvPicPr>
                      <p:cNvPr id="0" name=""/>
                      <p:cNvPicPr/>
                      <p:nvPr/>
                    </p:nvPicPr>
                    <p:blipFill>
                      <a:blip r:embed="rId4"/>
                      <a:stretch>
                        <a:fillRect/>
                      </a:stretch>
                    </p:blipFill>
                    <p:spPr>
                      <a:xfrm>
                        <a:off x="1256665" y="2694953"/>
                        <a:ext cx="6551930" cy="34925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xmlns="" id="{9C88D7B9-379C-41E8-AF10-D6CA9FC0C76C}"/>
              </a:ext>
            </a:extLst>
          </p:cNvPr>
          <p:cNvGraphicFramePr>
            <a:graphicFrameLocks noChangeAspect="1"/>
          </p:cNvGraphicFramePr>
          <p:nvPr>
            <p:extLst>
              <p:ext uri="{D42A27DB-BD31-4B8C-83A1-F6EECF244321}">
                <p14:modId xmlns:p14="http://schemas.microsoft.com/office/powerpoint/2010/main" val="177560152"/>
              </p:ext>
            </p:extLst>
          </p:nvPr>
        </p:nvGraphicFramePr>
        <p:xfrm>
          <a:off x="2487613" y="3225800"/>
          <a:ext cx="2178050" cy="320675"/>
        </p:xfrm>
        <a:graphic>
          <a:graphicData uri="http://schemas.openxmlformats.org/presentationml/2006/ole">
            <mc:AlternateContent xmlns:mc="http://schemas.openxmlformats.org/markup-compatibility/2006">
              <mc:Choice xmlns:v="urn:schemas-microsoft-com:vml" Requires="v">
                <p:oleObj spid="_x0000_s1036" name="Equation" r:id="rId5" imgW="1981080" imgH="291960" progId="Equation.DSMT4">
                  <p:embed/>
                </p:oleObj>
              </mc:Choice>
              <mc:Fallback>
                <p:oleObj name="Equation" r:id="rId5" imgW="1981080" imgH="291960" progId="Equation.DSMT4">
                  <p:embed/>
                  <p:pic>
                    <p:nvPicPr>
                      <p:cNvPr id="0" name=""/>
                      <p:cNvPicPr/>
                      <p:nvPr/>
                    </p:nvPicPr>
                    <p:blipFill>
                      <a:blip r:embed="rId6"/>
                      <a:stretch>
                        <a:fillRect/>
                      </a:stretch>
                    </p:blipFill>
                    <p:spPr>
                      <a:xfrm>
                        <a:off x="2487613" y="3225800"/>
                        <a:ext cx="2178050" cy="320675"/>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xmlns="" id="{A53AEE2C-B760-4E98-8839-36AB5335A0D8}"/>
              </a:ext>
            </a:extLst>
          </p:cNvPr>
          <p:cNvSpPr>
            <a:spLocks noGrp="1"/>
          </p:cNvSpPr>
          <p:nvPr>
            <p:ph sz="quarter" idx="14"/>
          </p:nvPr>
        </p:nvSpPr>
        <p:spPr>
          <a:xfrm>
            <a:off x="342900" y="3718560"/>
            <a:ext cx="8458200" cy="502920"/>
          </a:xfrm>
        </p:spPr>
        <p:txBody>
          <a:bodyPr/>
          <a:lstStyle/>
          <a:p>
            <a:pPr marL="292608" indent="-292608">
              <a:buFont typeface="Arial" panose="020B0604020202020204" pitchFamily="34" charset="0"/>
              <a:buChar char="•"/>
            </a:pPr>
            <a:r>
              <a:rPr lang="en-US" noProof="0" dirty="0"/>
              <a:t>In equations, interest rates appear in decimal format:</a:t>
            </a:r>
          </a:p>
        </p:txBody>
      </p:sp>
      <p:graphicFrame>
        <p:nvGraphicFramePr>
          <p:cNvPr id="10" name="Object 9">
            <a:extLst>
              <a:ext uri="{FF2B5EF4-FFF2-40B4-BE49-F238E27FC236}">
                <a16:creationId xmlns:a16="http://schemas.microsoft.com/office/drawing/2014/main" xmlns="" id="{FDFB7BA7-6B54-465B-9B2A-BFBEE39A1215}"/>
              </a:ext>
            </a:extLst>
          </p:cNvPr>
          <p:cNvGraphicFramePr>
            <a:graphicFrameLocks noChangeAspect="1"/>
          </p:cNvGraphicFramePr>
          <p:nvPr>
            <p:extLst>
              <p:ext uri="{D42A27DB-BD31-4B8C-83A1-F6EECF244321}">
                <p14:modId xmlns:p14="http://schemas.microsoft.com/office/powerpoint/2010/main" val="2750653382"/>
              </p:ext>
            </p:extLst>
          </p:nvPr>
        </p:nvGraphicFramePr>
        <p:xfrm>
          <a:off x="2339975" y="4679950"/>
          <a:ext cx="3435350" cy="431800"/>
        </p:xfrm>
        <a:graphic>
          <a:graphicData uri="http://schemas.openxmlformats.org/presentationml/2006/ole">
            <mc:AlternateContent xmlns:mc="http://schemas.openxmlformats.org/markup-compatibility/2006">
              <mc:Choice xmlns:v="urn:schemas-microsoft-com:vml" Requires="v">
                <p:oleObj spid="_x0000_s1037" name="Equation" r:id="rId7" imgW="3124080" imgH="393480" progId="Equation.DSMT4">
                  <p:embed/>
                </p:oleObj>
              </mc:Choice>
              <mc:Fallback>
                <p:oleObj name="Equation" r:id="rId7" imgW="3124080" imgH="393480" progId="Equation.DSMT4">
                  <p:embed/>
                  <p:pic>
                    <p:nvPicPr>
                      <p:cNvPr id="0" name=""/>
                      <p:cNvPicPr/>
                      <p:nvPr/>
                    </p:nvPicPr>
                    <p:blipFill>
                      <a:blip r:embed="rId8"/>
                      <a:stretch>
                        <a:fillRect/>
                      </a:stretch>
                    </p:blipFill>
                    <p:spPr>
                      <a:xfrm>
                        <a:off x="2339975" y="4679950"/>
                        <a:ext cx="3435350" cy="431800"/>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xmlns="" id="{38C03560-1E94-4D72-92E5-AB2BA7F80093}"/>
              </a:ext>
            </a:extLst>
          </p:cNvPr>
          <p:cNvSpPr>
            <a:spLocks noGrp="1"/>
          </p:cNvSpPr>
          <p:nvPr>
            <p:ph type="sldNum" sz="quarter" idx="10"/>
          </p:nvPr>
        </p:nvSpPr>
        <p:spPr/>
        <p:txBody>
          <a:bodyPr/>
          <a:lstStyle/>
          <a:p>
            <a:fld id="{68151E55-6873-49E2-B8D5-2F265E6F1973}" type="slidenum">
              <a:rPr lang="en-US" smtClean="0"/>
              <a:t>8</a:t>
            </a:fld>
            <a:endParaRPr lang="en-US"/>
          </a:p>
        </p:txBody>
      </p:sp>
    </p:spTree>
    <p:extLst>
      <p:ext uri="{BB962C8B-B14F-4D97-AF65-F5344CB8AC3E}">
        <p14:creationId xmlns:p14="http://schemas.microsoft.com/office/powerpoint/2010/main" val="1486931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0D8FF-1BF5-43D7-BBEF-1B9461B8171B}"/>
              </a:ext>
            </a:extLst>
          </p:cNvPr>
          <p:cNvSpPr>
            <a:spLocks noGrp="1"/>
          </p:cNvSpPr>
          <p:nvPr>
            <p:ph type="title"/>
          </p:nvPr>
        </p:nvSpPr>
        <p:spPr/>
        <p:txBody>
          <a:bodyPr>
            <a:normAutofit/>
          </a:bodyPr>
          <a:lstStyle/>
          <a:p>
            <a:r>
              <a:rPr lang="en-US" sz="3600" noProof="0" dirty="0"/>
              <a:t>Single-Period Future Value </a:t>
            </a:r>
            <a:r>
              <a:rPr lang="en-US" sz="1000" b="0" baseline="0" noProof="0" dirty="0"/>
              <a:t>2</a:t>
            </a:r>
          </a:p>
        </p:txBody>
      </p:sp>
      <p:graphicFrame>
        <p:nvGraphicFramePr>
          <p:cNvPr id="5" name="Object 4">
            <a:extLst>
              <a:ext uri="{FF2B5EF4-FFF2-40B4-BE49-F238E27FC236}">
                <a16:creationId xmlns:a16="http://schemas.microsoft.com/office/drawing/2014/main" xmlns="" id="{010373A3-276B-40AB-930E-8AD416D8146E}"/>
              </a:ext>
            </a:extLst>
          </p:cNvPr>
          <p:cNvGraphicFramePr>
            <a:graphicFrameLocks noChangeAspect="1"/>
          </p:cNvGraphicFramePr>
          <p:nvPr>
            <p:extLst>
              <p:ext uri="{D42A27DB-BD31-4B8C-83A1-F6EECF244321}">
                <p14:modId xmlns:p14="http://schemas.microsoft.com/office/powerpoint/2010/main" val="240355511"/>
              </p:ext>
            </p:extLst>
          </p:nvPr>
        </p:nvGraphicFramePr>
        <p:xfrm>
          <a:off x="3289300" y="1576388"/>
          <a:ext cx="3124200" cy="393700"/>
        </p:xfrm>
        <a:graphic>
          <a:graphicData uri="http://schemas.openxmlformats.org/presentationml/2006/ole">
            <mc:AlternateContent xmlns:mc="http://schemas.openxmlformats.org/markup-compatibility/2006">
              <mc:Choice xmlns:v="urn:schemas-microsoft-com:vml" Requires="v">
                <p:oleObj spid="_x0000_s2056" name="Equation" r:id="rId3" imgW="3124080" imgH="393480" progId="Equation.DSMT4">
                  <p:embed/>
                </p:oleObj>
              </mc:Choice>
              <mc:Fallback>
                <p:oleObj name="Equation" r:id="rId3" imgW="3124080" imgH="393480" progId="Equation.DSMT4">
                  <p:embed/>
                  <p:pic>
                    <p:nvPicPr>
                      <p:cNvPr id="0" name=""/>
                      <p:cNvPicPr/>
                      <p:nvPr/>
                    </p:nvPicPr>
                    <p:blipFill>
                      <a:blip r:embed="rId4"/>
                      <a:stretch>
                        <a:fillRect/>
                      </a:stretch>
                    </p:blipFill>
                    <p:spPr>
                      <a:xfrm>
                        <a:off x="3289300" y="1576388"/>
                        <a:ext cx="3124200" cy="393700"/>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xmlns="" id="{09C6F8DF-2440-489F-8D4A-4A6EB3C3826F}"/>
              </a:ext>
            </a:extLst>
          </p:cNvPr>
          <p:cNvSpPr>
            <a:spLocks noGrp="1"/>
          </p:cNvSpPr>
          <p:nvPr>
            <p:ph sz="quarter" idx="11"/>
          </p:nvPr>
        </p:nvSpPr>
        <p:spPr>
          <a:xfrm>
            <a:off x="342900" y="2160629"/>
            <a:ext cx="4122420" cy="445411"/>
          </a:xfrm>
        </p:spPr>
        <p:txBody>
          <a:bodyPr/>
          <a:lstStyle/>
          <a:p>
            <a:r>
              <a:rPr lang="en-US" noProof="0" dirty="0"/>
              <a:t>Note this this is the same as</a:t>
            </a:r>
          </a:p>
        </p:txBody>
      </p:sp>
      <p:graphicFrame>
        <p:nvGraphicFramePr>
          <p:cNvPr id="8" name="Object 7">
            <a:extLst>
              <a:ext uri="{FF2B5EF4-FFF2-40B4-BE49-F238E27FC236}">
                <a16:creationId xmlns:a16="http://schemas.microsoft.com/office/drawing/2014/main" xmlns="" id="{ECEAC741-8E48-40F6-AE5C-6051AC150A08}"/>
              </a:ext>
            </a:extLst>
          </p:cNvPr>
          <p:cNvGraphicFramePr>
            <a:graphicFrameLocks noChangeAspect="1"/>
          </p:cNvGraphicFramePr>
          <p:nvPr>
            <p:extLst>
              <p:ext uri="{D42A27DB-BD31-4B8C-83A1-F6EECF244321}">
                <p14:modId xmlns:p14="http://schemas.microsoft.com/office/powerpoint/2010/main" val="3905666640"/>
              </p:ext>
            </p:extLst>
          </p:nvPr>
        </p:nvGraphicFramePr>
        <p:xfrm>
          <a:off x="3351213" y="2973388"/>
          <a:ext cx="2654300" cy="393700"/>
        </p:xfrm>
        <a:graphic>
          <a:graphicData uri="http://schemas.openxmlformats.org/presentationml/2006/ole">
            <mc:AlternateContent xmlns:mc="http://schemas.openxmlformats.org/markup-compatibility/2006">
              <mc:Choice xmlns:v="urn:schemas-microsoft-com:vml" Requires="v">
                <p:oleObj spid="_x0000_s2057" name="Equation" r:id="rId5" imgW="2654280" imgH="393480" progId="Equation.DSMT4">
                  <p:embed/>
                </p:oleObj>
              </mc:Choice>
              <mc:Fallback>
                <p:oleObj name="Equation" r:id="rId5" imgW="2654280" imgH="393480" progId="Equation.DSMT4">
                  <p:embed/>
                  <p:pic>
                    <p:nvPicPr>
                      <p:cNvPr id="0" name=""/>
                      <p:cNvPicPr/>
                      <p:nvPr/>
                    </p:nvPicPr>
                    <p:blipFill>
                      <a:blip r:embed="rId6"/>
                      <a:stretch>
                        <a:fillRect/>
                      </a:stretch>
                    </p:blipFill>
                    <p:spPr>
                      <a:xfrm>
                        <a:off x="3351213" y="2973388"/>
                        <a:ext cx="2654300" cy="3937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xmlns="" id="{A53AEE2C-B760-4E98-8839-36AB5335A0D8}"/>
              </a:ext>
            </a:extLst>
          </p:cNvPr>
          <p:cNvSpPr>
            <a:spLocks noGrp="1"/>
          </p:cNvSpPr>
          <p:nvPr>
            <p:ph sz="quarter" idx="14"/>
          </p:nvPr>
        </p:nvSpPr>
        <p:spPr>
          <a:xfrm>
            <a:off x="342900" y="3783778"/>
            <a:ext cx="8458200" cy="1286885"/>
          </a:xfrm>
        </p:spPr>
        <p:txBody>
          <a:bodyPr/>
          <a:lstStyle/>
          <a:p>
            <a:pPr marL="292608" indent="-292608">
              <a:buFont typeface="Arial" panose="020B0604020202020204" pitchFamily="34" charset="0"/>
              <a:buChar char="•"/>
            </a:pPr>
            <a:r>
              <a:rPr lang="en-US" noProof="0" dirty="0"/>
              <a:t>In the second equation, we need the 1 in the parentheses to recapture the original deposit and the 0.05 for the interest earned.</a:t>
            </a:r>
          </a:p>
        </p:txBody>
      </p:sp>
      <p:sp>
        <p:nvSpPr>
          <p:cNvPr id="7" name="Slide Number Placeholder 6">
            <a:extLst>
              <a:ext uri="{FF2B5EF4-FFF2-40B4-BE49-F238E27FC236}">
                <a16:creationId xmlns:a16="http://schemas.microsoft.com/office/drawing/2014/main" xmlns="" id="{38C03560-1E94-4D72-92E5-AB2BA7F80093}"/>
              </a:ext>
            </a:extLst>
          </p:cNvPr>
          <p:cNvSpPr>
            <a:spLocks noGrp="1"/>
          </p:cNvSpPr>
          <p:nvPr>
            <p:ph type="sldNum" sz="quarter" idx="10"/>
          </p:nvPr>
        </p:nvSpPr>
        <p:spPr/>
        <p:txBody>
          <a:bodyPr/>
          <a:lstStyle/>
          <a:p>
            <a:fld id="{68151E55-6873-49E2-B8D5-2F265E6F1973}" type="slidenum">
              <a:rPr lang="en-US" smtClean="0"/>
              <a:t>9</a:t>
            </a:fld>
            <a:endParaRPr lang="en-US"/>
          </a:p>
        </p:txBody>
      </p:sp>
    </p:spTree>
    <p:extLst>
      <p:ext uri="{BB962C8B-B14F-4D97-AF65-F5344CB8AC3E}">
        <p14:creationId xmlns:p14="http://schemas.microsoft.com/office/powerpoint/2010/main" val="3326039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18E5D4-E725-4E96-BD05-C71A7338F6B7}"/>
              </a:ext>
            </a:extLst>
          </p:cNvPr>
          <p:cNvSpPr>
            <a:spLocks noGrp="1"/>
          </p:cNvSpPr>
          <p:nvPr>
            <p:ph type="title"/>
          </p:nvPr>
        </p:nvSpPr>
        <p:spPr/>
        <p:txBody>
          <a:bodyPr>
            <a:normAutofit fontScale="90000"/>
          </a:bodyPr>
          <a:lstStyle/>
          <a:p>
            <a:r>
              <a:rPr lang="en-US" noProof="0" dirty="0"/>
              <a:t>Single-Period Future Value (Concluded)</a:t>
            </a:r>
          </a:p>
        </p:txBody>
      </p:sp>
      <p:sp>
        <p:nvSpPr>
          <p:cNvPr id="3" name="Content Placeholder 2">
            <a:extLst>
              <a:ext uri="{FF2B5EF4-FFF2-40B4-BE49-F238E27FC236}">
                <a16:creationId xmlns:a16="http://schemas.microsoft.com/office/drawing/2014/main" xmlns="" id="{32A295C8-808A-4D31-9360-38BB8BB2ED7F}"/>
              </a:ext>
            </a:extLst>
          </p:cNvPr>
          <p:cNvSpPr>
            <a:spLocks noGrp="1"/>
          </p:cNvSpPr>
          <p:nvPr>
            <p:ph sz="quarter" idx="11"/>
          </p:nvPr>
        </p:nvSpPr>
        <p:spPr>
          <a:xfrm>
            <a:off x="342900" y="1276709"/>
            <a:ext cx="8458200" cy="1237891"/>
          </a:xfrm>
        </p:spPr>
        <p:txBody>
          <a:bodyPr/>
          <a:lstStyle/>
          <a:p>
            <a:pPr marL="292608" indent="-292608">
              <a:buFont typeface="Arial" panose="020B0604020202020204" pitchFamily="34" charset="0"/>
              <a:buChar char="•"/>
            </a:pPr>
            <a:r>
              <a:rPr lang="en-US" b="1" noProof="0" dirty="0"/>
              <a:t>Present value (P</a:t>
            </a:r>
            <a:r>
              <a:rPr lang="en-US" sz="100" b="1" noProof="0" dirty="0"/>
              <a:t> </a:t>
            </a:r>
            <a:r>
              <a:rPr lang="en-US" b="1" noProof="0" dirty="0"/>
              <a:t>V) </a:t>
            </a:r>
            <a:r>
              <a:rPr lang="en-US" noProof="0" dirty="0"/>
              <a:t>is the amount a future cash flow is worth today.</a:t>
            </a:r>
          </a:p>
          <a:p>
            <a:pPr marL="292608" indent="-292608">
              <a:buFont typeface="Arial" panose="020B0604020202020204" pitchFamily="34" charset="0"/>
              <a:buChar char="•"/>
            </a:pPr>
            <a:r>
              <a:rPr lang="en-US" noProof="0" dirty="0"/>
              <a:t>We compute the future value one year from now, </a:t>
            </a:r>
            <a:endParaRPr lang="en-US" i="1" noProof="0" dirty="0"/>
          </a:p>
        </p:txBody>
      </p:sp>
      <p:graphicFrame>
        <p:nvGraphicFramePr>
          <p:cNvPr id="4" name="Object 3">
            <a:extLst>
              <a:ext uri="{FF2B5EF4-FFF2-40B4-BE49-F238E27FC236}">
                <a16:creationId xmlns:a16="http://schemas.microsoft.com/office/drawing/2014/main" xmlns="" id="{36B0696E-A612-434F-90B1-1430ACFFCF7E}"/>
              </a:ext>
            </a:extLst>
          </p:cNvPr>
          <p:cNvGraphicFramePr>
            <a:graphicFrameLocks noChangeAspect="1"/>
          </p:cNvGraphicFramePr>
          <p:nvPr>
            <p:extLst>
              <p:ext uri="{D42A27DB-BD31-4B8C-83A1-F6EECF244321}">
                <p14:modId xmlns:p14="http://schemas.microsoft.com/office/powerpoint/2010/main" val="2485365121"/>
              </p:ext>
            </p:extLst>
          </p:nvPr>
        </p:nvGraphicFramePr>
        <p:xfrm>
          <a:off x="758825" y="2633663"/>
          <a:ext cx="3973513" cy="488950"/>
        </p:xfrm>
        <a:graphic>
          <a:graphicData uri="http://schemas.openxmlformats.org/presentationml/2006/ole">
            <mc:AlternateContent xmlns:mc="http://schemas.openxmlformats.org/markup-compatibility/2006">
              <mc:Choice xmlns:v="urn:schemas-microsoft-com:vml" Requires="v">
                <p:oleObj spid="_x0000_s3083" name="Equation" r:id="rId3" imgW="1854000" imgH="228600" progId="Equation.DSMT4">
                  <p:embed/>
                </p:oleObj>
              </mc:Choice>
              <mc:Fallback>
                <p:oleObj name="Equation" r:id="rId3" imgW="1854000" imgH="228600" progId="Equation.DSMT4">
                  <p:embed/>
                  <p:pic>
                    <p:nvPicPr>
                      <p:cNvPr id="0" name=""/>
                      <p:cNvPicPr/>
                      <p:nvPr/>
                    </p:nvPicPr>
                    <p:blipFill>
                      <a:blip r:embed="rId4"/>
                      <a:stretch>
                        <a:fillRect/>
                      </a:stretch>
                    </p:blipFill>
                    <p:spPr>
                      <a:xfrm>
                        <a:off x="758825" y="2633663"/>
                        <a:ext cx="3973513" cy="48895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xmlns="" id="{11226CD7-FF11-472D-BC8B-059EFED1C9E1}"/>
              </a:ext>
            </a:extLst>
          </p:cNvPr>
          <p:cNvGraphicFramePr>
            <a:graphicFrameLocks noChangeAspect="1"/>
          </p:cNvGraphicFramePr>
          <p:nvPr>
            <p:extLst>
              <p:ext uri="{D42A27DB-BD31-4B8C-83A1-F6EECF244321}">
                <p14:modId xmlns:p14="http://schemas.microsoft.com/office/powerpoint/2010/main" val="1834927367"/>
              </p:ext>
            </p:extLst>
          </p:nvPr>
        </p:nvGraphicFramePr>
        <p:xfrm>
          <a:off x="1323975" y="3451225"/>
          <a:ext cx="6189663" cy="349250"/>
        </p:xfrm>
        <a:graphic>
          <a:graphicData uri="http://schemas.openxmlformats.org/presentationml/2006/ole">
            <mc:AlternateContent xmlns:mc="http://schemas.openxmlformats.org/markup-compatibility/2006">
              <mc:Choice xmlns:v="urn:schemas-microsoft-com:vml" Requires="v">
                <p:oleObj spid="_x0000_s3084" name="Equation" r:id="rId5" imgW="5626080" imgH="317160" progId="Equation.DSMT4">
                  <p:embed/>
                </p:oleObj>
              </mc:Choice>
              <mc:Fallback>
                <p:oleObj name="Equation" r:id="rId5" imgW="5626080" imgH="317160" progId="Equation.DSMT4">
                  <p:embed/>
                  <p:pic>
                    <p:nvPicPr>
                      <p:cNvPr id="0" name=""/>
                      <p:cNvPicPr/>
                      <p:nvPr/>
                    </p:nvPicPr>
                    <p:blipFill>
                      <a:blip r:embed="rId6"/>
                      <a:stretch>
                        <a:fillRect/>
                      </a:stretch>
                    </p:blipFill>
                    <p:spPr>
                      <a:xfrm>
                        <a:off x="1323975" y="3451225"/>
                        <a:ext cx="6189663" cy="34925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xmlns="" id="{7B065CD6-81A3-4475-9E42-25218B0C873C}"/>
              </a:ext>
            </a:extLst>
          </p:cNvPr>
          <p:cNvGraphicFramePr>
            <a:graphicFrameLocks noChangeAspect="1"/>
          </p:cNvGraphicFramePr>
          <p:nvPr>
            <p:extLst>
              <p:ext uri="{D42A27DB-BD31-4B8C-83A1-F6EECF244321}">
                <p14:modId xmlns:p14="http://schemas.microsoft.com/office/powerpoint/2010/main" val="3214361610"/>
              </p:ext>
            </p:extLst>
          </p:nvPr>
        </p:nvGraphicFramePr>
        <p:xfrm>
          <a:off x="2773363" y="3986213"/>
          <a:ext cx="1930400" cy="342900"/>
        </p:xfrm>
        <a:graphic>
          <a:graphicData uri="http://schemas.openxmlformats.org/presentationml/2006/ole">
            <mc:AlternateContent xmlns:mc="http://schemas.openxmlformats.org/markup-compatibility/2006">
              <mc:Choice xmlns:v="urn:schemas-microsoft-com:vml" Requires="v">
                <p:oleObj spid="_x0000_s3085" name="Equation" r:id="rId7" imgW="1930320" imgH="342720" progId="Equation.DSMT4">
                  <p:embed/>
                </p:oleObj>
              </mc:Choice>
              <mc:Fallback>
                <p:oleObj name="Equation" r:id="rId7" imgW="1930320" imgH="342720" progId="Equation.DSMT4">
                  <p:embed/>
                  <p:pic>
                    <p:nvPicPr>
                      <p:cNvPr id="0" name=""/>
                      <p:cNvPicPr/>
                      <p:nvPr/>
                    </p:nvPicPr>
                    <p:blipFill>
                      <a:blip r:embed="rId8"/>
                      <a:stretch>
                        <a:fillRect/>
                      </a:stretch>
                    </p:blipFill>
                    <p:spPr>
                      <a:xfrm>
                        <a:off x="2773363" y="3986213"/>
                        <a:ext cx="1930400" cy="342900"/>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xmlns="" id="{D29E5C4C-01DB-42C6-AA09-FFA0AEB4C09D}"/>
              </a:ext>
            </a:extLst>
          </p:cNvPr>
          <p:cNvSpPr>
            <a:spLocks noGrp="1"/>
          </p:cNvSpPr>
          <p:nvPr>
            <p:ph type="sldNum" sz="quarter" idx="4"/>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2887526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0D8FF-1BF5-43D7-BBEF-1B9461B8171B}"/>
              </a:ext>
            </a:extLst>
          </p:cNvPr>
          <p:cNvSpPr>
            <a:spLocks noGrp="1"/>
          </p:cNvSpPr>
          <p:nvPr>
            <p:ph type="title"/>
          </p:nvPr>
        </p:nvSpPr>
        <p:spPr/>
        <p:txBody>
          <a:bodyPr>
            <a:normAutofit/>
          </a:bodyPr>
          <a:lstStyle/>
          <a:p>
            <a:r>
              <a:rPr lang="en-US" sz="3600" noProof="0" dirty="0"/>
              <a:t>Compounding and Future Value</a:t>
            </a:r>
          </a:p>
        </p:txBody>
      </p:sp>
      <p:sp>
        <p:nvSpPr>
          <p:cNvPr id="3" name="Content Placeholder 2">
            <a:extLst>
              <a:ext uri="{FF2B5EF4-FFF2-40B4-BE49-F238E27FC236}">
                <a16:creationId xmlns:a16="http://schemas.microsoft.com/office/drawing/2014/main" xmlns="" id="{09C6F8DF-2440-489F-8D4A-4A6EB3C3826F}"/>
              </a:ext>
            </a:extLst>
          </p:cNvPr>
          <p:cNvSpPr>
            <a:spLocks noGrp="1"/>
          </p:cNvSpPr>
          <p:nvPr>
            <p:ph sz="quarter" idx="11"/>
          </p:nvPr>
        </p:nvSpPr>
        <p:spPr>
          <a:xfrm>
            <a:off x="342900" y="1276709"/>
            <a:ext cx="8458200" cy="1237891"/>
          </a:xfrm>
        </p:spPr>
        <p:txBody>
          <a:bodyPr/>
          <a:lstStyle/>
          <a:p>
            <a:pPr marL="292608" indent="-292608">
              <a:buFont typeface="Arial" panose="020B0604020202020204" pitchFamily="34" charset="0"/>
              <a:buChar char="•"/>
            </a:pPr>
            <a:r>
              <a:rPr lang="en-US" b="1" noProof="0" dirty="0"/>
              <a:t>Compounding </a:t>
            </a:r>
            <a:r>
              <a:rPr lang="en-US" noProof="0" dirty="0"/>
              <a:t>is the process of adding interest earned every period on both the original investment and the reinvested earnings.</a:t>
            </a:r>
          </a:p>
        </p:txBody>
      </p:sp>
      <p:graphicFrame>
        <p:nvGraphicFramePr>
          <p:cNvPr id="5" name="Object 4">
            <a:extLst>
              <a:ext uri="{FF2B5EF4-FFF2-40B4-BE49-F238E27FC236}">
                <a16:creationId xmlns:a16="http://schemas.microsoft.com/office/drawing/2014/main" xmlns="" id="{85F64554-C070-44F1-B391-11369BC98005}"/>
              </a:ext>
            </a:extLst>
          </p:cNvPr>
          <p:cNvGraphicFramePr>
            <a:graphicFrameLocks noChangeAspect="1"/>
          </p:cNvGraphicFramePr>
          <p:nvPr>
            <p:extLst>
              <p:ext uri="{D42A27DB-BD31-4B8C-83A1-F6EECF244321}">
                <p14:modId xmlns:p14="http://schemas.microsoft.com/office/powerpoint/2010/main" val="790732618"/>
              </p:ext>
            </p:extLst>
          </p:nvPr>
        </p:nvGraphicFramePr>
        <p:xfrm>
          <a:off x="646113" y="2620963"/>
          <a:ext cx="8002587" cy="288925"/>
        </p:xfrm>
        <a:graphic>
          <a:graphicData uri="http://schemas.openxmlformats.org/presentationml/2006/ole">
            <mc:AlternateContent xmlns:mc="http://schemas.openxmlformats.org/markup-compatibility/2006">
              <mc:Choice xmlns:v="urn:schemas-microsoft-com:vml" Requires="v">
                <p:oleObj spid="_x0000_s4104" name="Equation" r:id="rId3" imgW="8800920" imgH="317160" progId="Equation.DSMT4">
                  <p:embed/>
                </p:oleObj>
              </mc:Choice>
              <mc:Fallback>
                <p:oleObj name="Equation" r:id="rId3" imgW="8800920" imgH="317160" progId="Equation.DSMT4">
                  <p:embed/>
                  <p:pic>
                    <p:nvPicPr>
                      <p:cNvPr id="0" name=""/>
                      <p:cNvPicPr/>
                      <p:nvPr/>
                    </p:nvPicPr>
                    <p:blipFill>
                      <a:blip r:embed="rId4"/>
                      <a:stretch>
                        <a:fillRect/>
                      </a:stretch>
                    </p:blipFill>
                    <p:spPr>
                      <a:xfrm>
                        <a:off x="646113" y="2620963"/>
                        <a:ext cx="8002587" cy="288925"/>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xmlns="" id="{24661C15-43F7-4BF8-863D-1907C688B431}"/>
              </a:ext>
            </a:extLst>
          </p:cNvPr>
          <p:cNvGraphicFramePr>
            <a:graphicFrameLocks noChangeAspect="1"/>
          </p:cNvGraphicFramePr>
          <p:nvPr>
            <p:extLst>
              <p:ext uri="{D42A27DB-BD31-4B8C-83A1-F6EECF244321}">
                <p14:modId xmlns:p14="http://schemas.microsoft.com/office/powerpoint/2010/main" val="2841661118"/>
              </p:ext>
            </p:extLst>
          </p:nvPr>
        </p:nvGraphicFramePr>
        <p:xfrm>
          <a:off x="2476500" y="3026092"/>
          <a:ext cx="2286000" cy="457200"/>
        </p:xfrm>
        <a:graphic>
          <a:graphicData uri="http://schemas.openxmlformats.org/presentationml/2006/ole">
            <mc:AlternateContent xmlns:mc="http://schemas.openxmlformats.org/markup-compatibility/2006">
              <mc:Choice xmlns:v="urn:schemas-microsoft-com:vml" Requires="v">
                <p:oleObj spid="_x0000_s4105" name="Equation" r:id="rId5" imgW="2286000" imgH="457200" progId="Equation.DSMT4">
                  <p:embed/>
                </p:oleObj>
              </mc:Choice>
              <mc:Fallback>
                <p:oleObj name="Equation" r:id="rId5" imgW="2286000" imgH="457200" progId="Equation.DSMT4">
                  <p:embed/>
                  <p:pic>
                    <p:nvPicPr>
                      <p:cNvPr id="0" name=""/>
                      <p:cNvPicPr/>
                      <p:nvPr/>
                    </p:nvPicPr>
                    <p:blipFill>
                      <a:blip r:embed="rId6"/>
                      <a:stretch>
                        <a:fillRect/>
                      </a:stretch>
                    </p:blipFill>
                    <p:spPr>
                      <a:xfrm>
                        <a:off x="2476500" y="3026092"/>
                        <a:ext cx="2286000" cy="4572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xmlns="" id="{A53AEE2C-B760-4E98-8839-36AB5335A0D8}"/>
              </a:ext>
            </a:extLst>
          </p:cNvPr>
          <p:cNvSpPr>
            <a:spLocks noGrp="1"/>
          </p:cNvSpPr>
          <p:nvPr>
            <p:ph sz="quarter" idx="14"/>
          </p:nvPr>
        </p:nvSpPr>
        <p:spPr>
          <a:xfrm>
            <a:off x="342900" y="3718560"/>
            <a:ext cx="8458200" cy="838200"/>
          </a:xfrm>
        </p:spPr>
        <p:txBody>
          <a:bodyPr/>
          <a:lstStyle/>
          <a:p>
            <a:pPr marL="292608" indent="-292608">
              <a:buFont typeface="Arial" panose="020B0604020202020204" pitchFamily="34" charset="0"/>
              <a:buChar char="•"/>
            </a:pPr>
            <a:r>
              <a:rPr lang="en-US" b="1" noProof="0" dirty="0"/>
              <a:t>Simple interest</a:t>
            </a:r>
            <a:r>
              <a:rPr lang="en-US" noProof="0" dirty="0"/>
              <a:t> is interest earned only on the original deposit.</a:t>
            </a:r>
          </a:p>
        </p:txBody>
      </p:sp>
      <p:sp>
        <p:nvSpPr>
          <p:cNvPr id="7" name="Slide Number Placeholder 6">
            <a:extLst>
              <a:ext uri="{FF2B5EF4-FFF2-40B4-BE49-F238E27FC236}">
                <a16:creationId xmlns:a16="http://schemas.microsoft.com/office/drawing/2014/main" xmlns="" id="{38C03560-1E94-4D72-92E5-AB2BA7F80093}"/>
              </a:ext>
            </a:extLst>
          </p:cNvPr>
          <p:cNvSpPr>
            <a:spLocks noGrp="1"/>
          </p:cNvSpPr>
          <p:nvPr>
            <p:ph type="sldNum" sz="quarter" idx="10"/>
          </p:nvPr>
        </p:nvSpPr>
        <p:spPr/>
        <p:txBody>
          <a:bodyPr/>
          <a:lstStyle/>
          <a:p>
            <a:fld id="{68151E55-6873-49E2-B8D5-2F265E6F1973}" type="slidenum">
              <a:rPr lang="en-US" smtClean="0"/>
              <a:t>11</a:t>
            </a:fld>
            <a:endParaRPr lang="en-US"/>
          </a:p>
        </p:txBody>
      </p:sp>
    </p:spTree>
    <p:extLst>
      <p:ext uri="{BB962C8B-B14F-4D97-AF65-F5344CB8AC3E}">
        <p14:creationId xmlns:p14="http://schemas.microsoft.com/office/powerpoint/2010/main" val="901571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0D8FF-1BF5-43D7-BBEF-1B9461B8171B}"/>
              </a:ext>
            </a:extLst>
          </p:cNvPr>
          <p:cNvSpPr>
            <a:spLocks noGrp="1"/>
          </p:cNvSpPr>
          <p:nvPr>
            <p:ph type="title"/>
          </p:nvPr>
        </p:nvSpPr>
        <p:spPr/>
        <p:txBody>
          <a:bodyPr>
            <a:normAutofit/>
          </a:bodyPr>
          <a:lstStyle/>
          <a:p>
            <a:r>
              <a:rPr lang="en-US" sz="3600" noProof="0" dirty="0"/>
              <a:t>Compounding Example </a:t>
            </a:r>
            <a:r>
              <a:rPr lang="en-US" sz="1000" b="0" baseline="0" noProof="0" dirty="0"/>
              <a:t>1</a:t>
            </a:r>
          </a:p>
        </p:txBody>
      </p:sp>
      <p:sp>
        <p:nvSpPr>
          <p:cNvPr id="3" name="Content Placeholder 2">
            <a:extLst>
              <a:ext uri="{FF2B5EF4-FFF2-40B4-BE49-F238E27FC236}">
                <a16:creationId xmlns:a16="http://schemas.microsoft.com/office/drawing/2014/main" xmlns="" id="{09C6F8DF-2440-489F-8D4A-4A6EB3C3826F}"/>
              </a:ext>
            </a:extLst>
          </p:cNvPr>
          <p:cNvSpPr>
            <a:spLocks noGrp="1"/>
          </p:cNvSpPr>
          <p:nvPr>
            <p:ph sz="quarter" idx="11"/>
          </p:nvPr>
        </p:nvSpPr>
        <p:spPr>
          <a:xfrm>
            <a:off x="342900" y="1276710"/>
            <a:ext cx="8458200" cy="855620"/>
          </a:xfrm>
        </p:spPr>
        <p:txBody>
          <a:bodyPr/>
          <a:lstStyle/>
          <a:p>
            <a:pPr marL="292608" indent="-292608">
              <a:buFont typeface="Arial" panose="020B0604020202020204" pitchFamily="34" charset="0"/>
              <a:buChar char="•"/>
            </a:pPr>
            <a:r>
              <a:rPr lang="en-US" noProof="0" dirty="0"/>
              <a:t>Let’s illustrate a $100 deposit made for two years at 5 percent in the following time line:</a:t>
            </a:r>
          </a:p>
        </p:txBody>
      </p:sp>
      <p:pic>
        <p:nvPicPr>
          <p:cNvPr id="6" name="Picture 5" descr="A time line shows period above the line and cash flow below the line. Part 2.">
            <a:extLst>
              <a:ext uri="{FF2B5EF4-FFF2-40B4-BE49-F238E27FC236}">
                <a16:creationId xmlns:a16="http://schemas.microsoft.com/office/drawing/2014/main" xmlns="" id="{6F2B427E-391C-484D-A553-DD60717502DA}"/>
              </a:ext>
            </a:extLst>
          </p:cNvPr>
          <p:cNvPicPr>
            <a:picLocks noChangeAspect="1"/>
          </p:cNvPicPr>
          <p:nvPr/>
        </p:nvPicPr>
        <p:blipFill>
          <a:blip r:embed="rId3"/>
          <a:stretch>
            <a:fillRect/>
          </a:stretch>
        </p:blipFill>
        <p:spPr>
          <a:xfrm>
            <a:off x="834828" y="2360928"/>
            <a:ext cx="7474344" cy="1054699"/>
          </a:xfrm>
          <a:prstGeom prst="rect">
            <a:avLst/>
          </a:prstGeom>
        </p:spPr>
      </p:pic>
      <p:sp>
        <p:nvSpPr>
          <p:cNvPr id="4" name="Content Placeholder 3">
            <a:extLst>
              <a:ext uri="{FF2B5EF4-FFF2-40B4-BE49-F238E27FC236}">
                <a16:creationId xmlns:a16="http://schemas.microsoft.com/office/drawing/2014/main" xmlns="" id="{A53AEE2C-B760-4E98-8839-36AB5335A0D8}"/>
              </a:ext>
            </a:extLst>
          </p:cNvPr>
          <p:cNvSpPr>
            <a:spLocks noGrp="1"/>
          </p:cNvSpPr>
          <p:nvPr>
            <p:ph sz="quarter" idx="14"/>
          </p:nvPr>
        </p:nvSpPr>
        <p:spPr>
          <a:xfrm>
            <a:off x="342900" y="3916680"/>
            <a:ext cx="8458200" cy="855619"/>
          </a:xfrm>
        </p:spPr>
        <p:txBody>
          <a:bodyPr/>
          <a:lstStyle/>
          <a:p>
            <a:pPr marL="292608" indent="-292608">
              <a:buFont typeface="Arial" panose="020B0604020202020204" pitchFamily="34" charset="0"/>
              <a:buChar char="•"/>
            </a:pPr>
            <a:r>
              <a:rPr lang="en-US" noProof="0" dirty="0"/>
              <a:t>We could solve for the two-year compounded F</a:t>
            </a:r>
            <a:r>
              <a:rPr lang="en-US" sz="100" noProof="0" dirty="0"/>
              <a:t> </a:t>
            </a:r>
            <a:r>
              <a:rPr lang="en-US" noProof="0" dirty="0"/>
              <a:t>V by using the 1-year equation twice:</a:t>
            </a:r>
          </a:p>
        </p:txBody>
      </p:sp>
      <p:graphicFrame>
        <p:nvGraphicFramePr>
          <p:cNvPr id="9" name="Object 8">
            <a:extLst>
              <a:ext uri="{FF2B5EF4-FFF2-40B4-BE49-F238E27FC236}">
                <a16:creationId xmlns:a16="http://schemas.microsoft.com/office/drawing/2014/main" xmlns="" id="{3D557C80-6835-48C3-910F-42FCE4449550}"/>
              </a:ext>
            </a:extLst>
          </p:cNvPr>
          <p:cNvGraphicFramePr>
            <a:graphicFrameLocks noChangeAspect="1"/>
          </p:cNvGraphicFramePr>
          <p:nvPr>
            <p:extLst>
              <p:ext uri="{D42A27DB-BD31-4B8C-83A1-F6EECF244321}">
                <p14:modId xmlns:p14="http://schemas.microsoft.com/office/powerpoint/2010/main" val="1211769562"/>
              </p:ext>
            </p:extLst>
          </p:nvPr>
        </p:nvGraphicFramePr>
        <p:xfrm>
          <a:off x="1871980" y="5003640"/>
          <a:ext cx="4861560" cy="433070"/>
        </p:xfrm>
        <a:graphic>
          <a:graphicData uri="http://schemas.openxmlformats.org/presentationml/2006/ole">
            <mc:AlternateContent xmlns:mc="http://schemas.openxmlformats.org/markup-compatibility/2006">
              <mc:Choice xmlns:v="urn:schemas-microsoft-com:vml" Requires="v">
                <p:oleObj spid="_x0000_s5125" name="Equation" r:id="rId4" imgW="4419360" imgH="393480" progId="Equation.DSMT4">
                  <p:embed/>
                </p:oleObj>
              </mc:Choice>
              <mc:Fallback>
                <p:oleObj name="Equation" r:id="rId4" imgW="4419360" imgH="393480" progId="Equation.DSMT4">
                  <p:embed/>
                  <p:pic>
                    <p:nvPicPr>
                      <p:cNvPr id="0" name=""/>
                      <p:cNvPicPr/>
                      <p:nvPr/>
                    </p:nvPicPr>
                    <p:blipFill>
                      <a:blip r:embed="rId5"/>
                      <a:stretch>
                        <a:fillRect/>
                      </a:stretch>
                    </p:blipFill>
                    <p:spPr>
                      <a:xfrm>
                        <a:off x="1871980" y="5003640"/>
                        <a:ext cx="4861560" cy="433070"/>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xmlns="" id="{515589A7-AECF-4E0F-A4FC-2BE114D35990}"/>
              </a:ext>
            </a:extLst>
          </p:cNvPr>
          <p:cNvSpPr>
            <a:spLocks noGrp="1"/>
          </p:cNvSpPr>
          <p:nvPr>
            <p:ph type="body" sz="quarter" idx="12"/>
          </p:nvPr>
        </p:nvSpPr>
        <p:spPr>
          <a:xfrm>
            <a:off x="2621280" y="6248400"/>
            <a:ext cx="3153156" cy="266700"/>
          </a:xfrm>
        </p:spPr>
        <p:txBody>
          <a:bodyPr/>
          <a:lstStyle/>
          <a:p>
            <a:r>
              <a:rPr lang="en-US" sz="1200" noProof="0" dirty="0">
                <a:hlinkClick r:id="rId6" action="ppaction://hlinksldjump"/>
              </a:rPr>
              <a:t>Access the text alternative for slide images.</a:t>
            </a:r>
            <a:endParaRPr lang="en-US" sz="1200" noProof="0" dirty="0"/>
          </a:p>
        </p:txBody>
      </p:sp>
      <p:sp>
        <p:nvSpPr>
          <p:cNvPr id="7" name="Slide Number Placeholder 6">
            <a:extLst>
              <a:ext uri="{FF2B5EF4-FFF2-40B4-BE49-F238E27FC236}">
                <a16:creationId xmlns:a16="http://schemas.microsoft.com/office/drawing/2014/main" xmlns="" id="{38C03560-1E94-4D72-92E5-AB2BA7F80093}"/>
              </a:ext>
            </a:extLst>
          </p:cNvPr>
          <p:cNvSpPr>
            <a:spLocks noGrp="1"/>
          </p:cNvSpPr>
          <p:nvPr>
            <p:ph type="sldNum" sz="quarter" idx="10"/>
          </p:nvPr>
        </p:nvSpPr>
        <p:spPr/>
        <p:txBody>
          <a:bodyPr/>
          <a:lstStyle/>
          <a:p>
            <a:fld id="{68151E55-6873-49E2-B8D5-2F265E6F1973}" type="slidenum">
              <a:rPr lang="en-US" smtClean="0"/>
              <a:t>12</a:t>
            </a:fld>
            <a:endParaRPr lang="en-US"/>
          </a:p>
        </p:txBody>
      </p:sp>
    </p:spTree>
    <p:extLst>
      <p:ext uri="{BB962C8B-B14F-4D97-AF65-F5344CB8AC3E}">
        <p14:creationId xmlns:p14="http://schemas.microsoft.com/office/powerpoint/2010/main" val="3264893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0D8FF-1BF5-43D7-BBEF-1B9461B8171B}"/>
              </a:ext>
            </a:extLst>
          </p:cNvPr>
          <p:cNvSpPr>
            <a:spLocks noGrp="1"/>
          </p:cNvSpPr>
          <p:nvPr>
            <p:ph type="title"/>
          </p:nvPr>
        </p:nvSpPr>
        <p:spPr/>
        <p:txBody>
          <a:bodyPr>
            <a:normAutofit/>
          </a:bodyPr>
          <a:lstStyle/>
          <a:p>
            <a:r>
              <a:rPr lang="en-US" sz="3600" noProof="0" dirty="0"/>
              <a:t>Compounding Example </a:t>
            </a:r>
            <a:r>
              <a:rPr lang="en-US" sz="1000" b="0" baseline="0" noProof="0" dirty="0"/>
              <a:t>2</a:t>
            </a:r>
          </a:p>
        </p:txBody>
      </p:sp>
      <p:sp>
        <p:nvSpPr>
          <p:cNvPr id="3" name="Content Placeholder 2">
            <a:extLst>
              <a:ext uri="{FF2B5EF4-FFF2-40B4-BE49-F238E27FC236}">
                <a16:creationId xmlns:a16="http://schemas.microsoft.com/office/drawing/2014/main" xmlns="" id="{09C6F8DF-2440-489F-8D4A-4A6EB3C3826F}"/>
              </a:ext>
            </a:extLst>
          </p:cNvPr>
          <p:cNvSpPr>
            <a:spLocks noGrp="1"/>
          </p:cNvSpPr>
          <p:nvPr>
            <p:ph sz="quarter" idx="11"/>
          </p:nvPr>
        </p:nvSpPr>
        <p:spPr>
          <a:xfrm>
            <a:off x="342900" y="1276709"/>
            <a:ext cx="8458200" cy="1207411"/>
          </a:xfrm>
        </p:spPr>
        <p:txBody>
          <a:bodyPr/>
          <a:lstStyle/>
          <a:p>
            <a:pPr marL="292608" indent="-292608">
              <a:buFont typeface="Arial" panose="020B0604020202020204" pitchFamily="34" charset="0"/>
              <a:buChar char="•"/>
            </a:pPr>
            <a:r>
              <a:rPr lang="en-US" noProof="0" dirty="0"/>
              <a:t>We could also solve for the two-year compounded F</a:t>
            </a:r>
            <a:r>
              <a:rPr lang="en-US" sz="100" noProof="0" dirty="0"/>
              <a:t> </a:t>
            </a:r>
            <a:r>
              <a:rPr lang="en-US" noProof="0" dirty="0"/>
              <a:t>V more directly (and much faster) using the following approach:</a:t>
            </a:r>
          </a:p>
        </p:txBody>
      </p:sp>
      <p:graphicFrame>
        <p:nvGraphicFramePr>
          <p:cNvPr id="5" name="Object 4">
            <a:extLst>
              <a:ext uri="{FF2B5EF4-FFF2-40B4-BE49-F238E27FC236}">
                <a16:creationId xmlns:a16="http://schemas.microsoft.com/office/drawing/2014/main" xmlns="" id="{03D79828-5E2D-4943-A2B1-6D996F517412}"/>
              </a:ext>
            </a:extLst>
          </p:cNvPr>
          <p:cNvGraphicFramePr>
            <a:graphicFrameLocks noChangeAspect="1"/>
          </p:cNvGraphicFramePr>
          <p:nvPr>
            <p:extLst>
              <p:ext uri="{D42A27DB-BD31-4B8C-83A1-F6EECF244321}">
                <p14:modId xmlns:p14="http://schemas.microsoft.com/office/powerpoint/2010/main" val="2666118078"/>
              </p:ext>
            </p:extLst>
          </p:nvPr>
        </p:nvGraphicFramePr>
        <p:xfrm>
          <a:off x="3062288" y="2673350"/>
          <a:ext cx="3017837" cy="501650"/>
        </p:xfrm>
        <a:graphic>
          <a:graphicData uri="http://schemas.openxmlformats.org/presentationml/2006/ole">
            <mc:AlternateContent xmlns:mc="http://schemas.openxmlformats.org/markup-compatibility/2006">
              <mc:Choice xmlns:v="urn:schemas-microsoft-com:vml" Requires="v">
                <p:oleObj spid="_x0000_s6152" name="Equation" r:id="rId3" imgW="2743200" imgH="457200" progId="Equation.DSMT4">
                  <p:embed/>
                </p:oleObj>
              </mc:Choice>
              <mc:Fallback>
                <p:oleObj name="Equation" r:id="rId3" imgW="2743200" imgH="457200" progId="Equation.DSMT4">
                  <p:embed/>
                  <p:pic>
                    <p:nvPicPr>
                      <p:cNvPr id="0" name=""/>
                      <p:cNvPicPr/>
                      <p:nvPr/>
                    </p:nvPicPr>
                    <p:blipFill>
                      <a:blip r:embed="rId4"/>
                      <a:stretch>
                        <a:fillRect/>
                      </a:stretch>
                    </p:blipFill>
                    <p:spPr>
                      <a:xfrm>
                        <a:off x="3062288" y="2673350"/>
                        <a:ext cx="3017837" cy="50165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xmlns="" id="{A53AEE2C-B760-4E98-8839-36AB5335A0D8}"/>
              </a:ext>
            </a:extLst>
          </p:cNvPr>
          <p:cNvSpPr>
            <a:spLocks noGrp="1"/>
          </p:cNvSpPr>
          <p:nvPr>
            <p:ph sz="quarter" idx="14"/>
          </p:nvPr>
        </p:nvSpPr>
        <p:spPr>
          <a:xfrm>
            <a:off x="342900" y="3459480"/>
            <a:ext cx="8458200" cy="838200"/>
          </a:xfrm>
        </p:spPr>
        <p:txBody>
          <a:bodyPr/>
          <a:lstStyle/>
          <a:p>
            <a:pPr marL="292608" indent="-292608">
              <a:buFont typeface="Arial" panose="020B0604020202020204" pitchFamily="34" charset="0"/>
              <a:buChar char="•"/>
            </a:pPr>
            <a:r>
              <a:rPr lang="en-US" noProof="0" dirty="0"/>
              <a:t>We could solve for the two-year compounded F</a:t>
            </a:r>
            <a:r>
              <a:rPr lang="en-US" sz="100" noProof="0" dirty="0"/>
              <a:t> </a:t>
            </a:r>
            <a:r>
              <a:rPr lang="en-US" noProof="0" dirty="0"/>
              <a:t>V by using the 1-year equation twice:</a:t>
            </a:r>
          </a:p>
        </p:txBody>
      </p:sp>
      <p:graphicFrame>
        <p:nvGraphicFramePr>
          <p:cNvPr id="8" name="Object 7">
            <a:extLst>
              <a:ext uri="{FF2B5EF4-FFF2-40B4-BE49-F238E27FC236}">
                <a16:creationId xmlns:a16="http://schemas.microsoft.com/office/drawing/2014/main" xmlns="" id="{77205EF5-44B2-4416-B17B-54ECF87F95DA}"/>
              </a:ext>
            </a:extLst>
          </p:cNvPr>
          <p:cNvGraphicFramePr>
            <a:graphicFrameLocks noChangeAspect="1"/>
          </p:cNvGraphicFramePr>
          <p:nvPr>
            <p:extLst>
              <p:ext uri="{D42A27DB-BD31-4B8C-83A1-F6EECF244321}">
                <p14:modId xmlns:p14="http://schemas.microsoft.com/office/powerpoint/2010/main" val="3883808978"/>
              </p:ext>
            </p:extLst>
          </p:nvPr>
        </p:nvGraphicFramePr>
        <p:xfrm>
          <a:off x="3062288" y="4694238"/>
          <a:ext cx="3128962" cy="503237"/>
        </p:xfrm>
        <a:graphic>
          <a:graphicData uri="http://schemas.openxmlformats.org/presentationml/2006/ole">
            <mc:AlternateContent xmlns:mc="http://schemas.openxmlformats.org/markup-compatibility/2006">
              <mc:Choice xmlns:v="urn:schemas-microsoft-com:vml" Requires="v">
                <p:oleObj spid="_x0000_s6153" name="Equation" r:id="rId5" imgW="2844720" imgH="457200" progId="Equation.DSMT4">
                  <p:embed/>
                </p:oleObj>
              </mc:Choice>
              <mc:Fallback>
                <p:oleObj name="Equation" r:id="rId5" imgW="2844720" imgH="457200" progId="Equation.DSMT4">
                  <p:embed/>
                  <p:pic>
                    <p:nvPicPr>
                      <p:cNvPr id="0" name=""/>
                      <p:cNvPicPr/>
                      <p:nvPr/>
                    </p:nvPicPr>
                    <p:blipFill>
                      <a:blip r:embed="rId6"/>
                      <a:stretch>
                        <a:fillRect/>
                      </a:stretch>
                    </p:blipFill>
                    <p:spPr>
                      <a:xfrm>
                        <a:off x="3062288" y="4694238"/>
                        <a:ext cx="3128962" cy="50323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xmlns="" id="{38C03560-1E94-4D72-92E5-AB2BA7F80093}"/>
              </a:ext>
            </a:extLst>
          </p:cNvPr>
          <p:cNvSpPr>
            <a:spLocks noGrp="1"/>
          </p:cNvSpPr>
          <p:nvPr>
            <p:ph type="sldNum" sz="quarter" idx="10"/>
          </p:nvPr>
        </p:nvSpPr>
        <p:spPr/>
        <p:txBody>
          <a:bodyPr/>
          <a:lstStyle/>
          <a:p>
            <a:fld id="{68151E55-6873-49E2-B8D5-2F265E6F1973}" type="slidenum">
              <a:rPr lang="en-US" smtClean="0"/>
              <a:t>13</a:t>
            </a:fld>
            <a:endParaRPr lang="en-US"/>
          </a:p>
        </p:txBody>
      </p:sp>
    </p:spTree>
    <p:extLst>
      <p:ext uri="{BB962C8B-B14F-4D97-AF65-F5344CB8AC3E}">
        <p14:creationId xmlns:p14="http://schemas.microsoft.com/office/powerpoint/2010/main" val="2174518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C0F49E-E859-433E-A52B-7DA1D28AC9F1}"/>
              </a:ext>
            </a:extLst>
          </p:cNvPr>
          <p:cNvSpPr>
            <a:spLocks noGrp="1"/>
          </p:cNvSpPr>
          <p:nvPr>
            <p:ph type="title"/>
          </p:nvPr>
        </p:nvSpPr>
        <p:spPr/>
        <p:txBody>
          <a:bodyPr/>
          <a:lstStyle/>
          <a:p>
            <a:r>
              <a:rPr lang="en-US" noProof="0" dirty="0"/>
              <a:t>The Future Value of $100</a:t>
            </a:r>
          </a:p>
        </p:txBody>
      </p:sp>
      <p:pic>
        <p:nvPicPr>
          <p:cNvPr id="7" name="Picture 6" descr="A line graph shows the future value of 100 dollars for 30 years with interest rates of 5 and 6 percent.">
            <a:extLst>
              <a:ext uri="{FF2B5EF4-FFF2-40B4-BE49-F238E27FC236}">
                <a16:creationId xmlns:a16="http://schemas.microsoft.com/office/drawing/2014/main" xmlns="" id="{C61A15BB-76C8-4C6E-A25F-5F453DB50A81}"/>
              </a:ext>
            </a:extLst>
          </p:cNvPr>
          <p:cNvPicPr>
            <a:picLocks noChangeAspect="1"/>
          </p:cNvPicPr>
          <p:nvPr/>
        </p:nvPicPr>
        <p:blipFill>
          <a:blip r:embed="rId2"/>
          <a:stretch>
            <a:fillRect/>
          </a:stretch>
        </p:blipFill>
        <p:spPr>
          <a:xfrm>
            <a:off x="1438082" y="1703178"/>
            <a:ext cx="6267835" cy="4030763"/>
          </a:xfrm>
          <a:prstGeom prst="rect">
            <a:avLst/>
          </a:prstGeom>
        </p:spPr>
      </p:pic>
      <p:sp>
        <p:nvSpPr>
          <p:cNvPr id="4" name="Text Placeholder 3">
            <a:extLst>
              <a:ext uri="{FF2B5EF4-FFF2-40B4-BE49-F238E27FC236}">
                <a16:creationId xmlns:a16="http://schemas.microsoft.com/office/drawing/2014/main" xmlns="" id="{F368CDBE-4F74-4FAD-9F78-86EB2659FD7B}"/>
              </a:ext>
            </a:extLst>
          </p:cNvPr>
          <p:cNvSpPr>
            <a:spLocks noGrp="1"/>
          </p:cNvSpPr>
          <p:nvPr>
            <p:ph type="body" sz="quarter" idx="12"/>
          </p:nvPr>
        </p:nvSpPr>
        <p:spPr>
          <a:xfrm>
            <a:off x="3369347" y="6341398"/>
            <a:ext cx="3260053" cy="173702"/>
          </a:xfrm>
        </p:spPr>
        <p:txBody>
          <a:bodyPr/>
          <a:lstStyle/>
          <a:p>
            <a:r>
              <a:rPr lang="en-US" sz="1200" noProof="0" dirty="0">
                <a:hlinkClick r:id="rId3" action="ppaction://hlinksldjump"/>
              </a:rPr>
              <a:t>Access the text alternative for slide images.</a:t>
            </a:r>
            <a:endParaRPr lang="en-US" sz="1200" noProof="0" dirty="0"/>
          </a:p>
        </p:txBody>
      </p:sp>
      <p:sp>
        <p:nvSpPr>
          <p:cNvPr id="6" name="Slide Number Placeholder 5">
            <a:extLst>
              <a:ext uri="{FF2B5EF4-FFF2-40B4-BE49-F238E27FC236}">
                <a16:creationId xmlns:a16="http://schemas.microsoft.com/office/drawing/2014/main" xmlns="" id="{00400A8B-99EB-4AC6-B052-346CBD9B9F74}"/>
              </a:ext>
            </a:extLst>
          </p:cNvPr>
          <p:cNvSpPr>
            <a:spLocks noGrp="1"/>
          </p:cNvSpPr>
          <p:nvPr>
            <p:ph type="sldNum" sz="quarter" idx="4"/>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3167971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5FCEEF-77A2-4E84-B99D-A142CFBA13E9}"/>
              </a:ext>
            </a:extLst>
          </p:cNvPr>
          <p:cNvSpPr>
            <a:spLocks noGrp="1"/>
          </p:cNvSpPr>
          <p:nvPr>
            <p:ph type="title"/>
          </p:nvPr>
        </p:nvSpPr>
        <p:spPr/>
        <p:txBody>
          <a:bodyPr/>
          <a:lstStyle/>
          <a:p>
            <a:r>
              <a:rPr lang="en-US" noProof="0" dirty="0"/>
              <a:t>The Power of Compounding</a:t>
            </a:r>
          </a:p>
        </p:txBody>
      </p:sp>
      <p:sp>
        <p:nvSpPr>
          <p:cNvPr id="3" name="Content Placeholder 2">
            <a:extLst>
              <a:ext uri="{FF2B5EF4-FFF2-40B4-BE49-F238E27FC236}">
                <a16:creationId xmlns:a16="http://schemas.microsoft.com/office/drawing/2014/main" xmlns="" id="{2DA0F412-85E0-459F-9A31-D5CD4D49F4D2}"/>
              </a:ext>
            </a:extLst>
          </p:cNvPr>
          <p:cNvSpPr>
            <a:spLocks noGrp="1"/>
          </p:cNvSpPr>
          <p:nvPr>
            <p:ph sz="quarter" idx="11"/>
          </p:nvPr>
        </p:nvSpPr>
        <p:spPr>
          <a:xfrm>
            <a:off x="342900" y="1276709"/>
            <a:ext cx="8458200" cy="1283611"/>
          </a:xfrm>
        </p:spPr>
        <p:txBody>
          <a:bodyPr/>
          <a:lstStyle/>
          <a:p>
            <a:pPr marL="292608" indent="-292608">
              <a:buFont typeface="Arial" panose="020B0604020202020204" pitchFamily="34" charset="0"/>
              <a:buChar char="•"/>
            </a:pPr>
            <a:r>
              <a:rPr lang="en-US" noProof="0" dirty="0"/>
              <a:t>Earning higher interest rates on the investment (or earning the same interest rate for additional time periods) magnifies compounding power.</a:t>
            </a:r>
          </a:p>
        </p:txBody>
      </p:sp>
      <p:pic>
        <p:nvPicPr>
          <p:cNvPr id="7" name="Picture 6" descr="An Excel spreadsheet shows the future value of 100 dollars deposited at 5 percent, 10 percent, and 15 percent interest rates.">
            <a:extLst>
              <a:ext uri="{FF2B5EF4-FFF2-40B4-BE49-F238E27FC236}">
                <a16:creationId xmlns:a16="http://schemas.microsoft.com/office/drawing/2014/main" xmlns="" id="{6245396F-A60A-472F-86D8-814E159DA624}"/>
              </a:ext>
            </a:extLst>
          </p:cNvPr>
          <p:cNvPicPr>
            <a:picLocks noChangeAspect="1"/>
          </p:cNvPicPr>
          <p:nvPr/>
        </p:nvPicPr>
        <p:blipFill>
          <a:blip r:embed="rId2"/>
          <a:stretch>
            <a:fillRect/>
          </a:stretch>
        </p:blipFill>
        <p:spPr>
          <a:xfrm>
            <a:off x="813490" y="2929254"/>
            <a:ext cx="7517019" cy="2206943"/>
          </a:xfrm>
          <a:prstGeom prst="rect">
            <a:avLst/>
          </a:prstGeom>
        </p:spPr>
      </p:pic>
      <p:sp>
        <p:nvSpPr>
          <p:cNvPr id="4" name="Text Placeholder 3">
            <a:extLst>
              <a:ext uri="{FF2B5EF4-FFF2-40B4-BE49-F238E27FC236}">
                <a16:creationId xmlns:a16="http://schemas.microsoft.com/office/drawing/2014/main" xmlns="" id="{20DD5419-E0F4-4F46-98C4-ED236361B2D8}"/>
              </a:ext>
            </a:extLst>
          </p:cNvPr>
          <p:cNvSpPr>
            <a:spLocks noGrp="1"/>
          </p:cNvSpPr>
          <p:nvPr>
            <p:ph type="body" sz="quarter" idx="12"/>
          </p:nvPr>
        </p:nvSpPr>
        <p:spPr>
          <a:xfrm>
            <a:off x="2682240" y="6243708"/>
            <a:ext cx="3444239" cy="245604"/>
          </a:xfrm>
        </p:spPr>
        <p:txBody>
          <a:bodyPr/>
          <a:lstStyle/>
          <a:p>
            <a:r>
              <a:rPr lang="en-US" sz="1200" noProof="0" dirty="0">
                <a:hlinkClick r:id="rId3" action="ppaction://hlinksldjump"/>
              </a:rPr>
              <a:t>Access the text alternative for slide images.</a:t>
            </a:r>
            <a:endParaRPr lang="en-US" sz="1200" noProof="0" dirty="0"/>
          </a:p>
        </p:txBody>
      </p:sp>
      <p:sp>
        <p:nvSpPr>
          <p:cNvPr id="6" name="Slide Number Placeholder 5">
            <a:extLst>
              <a:ext uri="{FF2B5EF4-FFF2-40B4-BE49-F238E27FC236}">
                <a16:creationId xmlns:a16="http://schemas.microsoft.com/office/drawing/2014/main" xmlns="" id="{067337A4-56E9-4200-A662-7A59F9DBD04D}"/>
              </a:ext>
            </a:extLst>
          </p:cNvPr>
          <p:cNvSpPr>
            <a:spLocks noGrp="1"/>
          </p:cNvSpPr>
          <p:nvPr>
            <p:ph type="sldNum" sz="quarter" idx="4"/>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519340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C0F49E-E859-433E-A52B-7DA1D28AC9F1}"/>
              </a:ext>
            </a:extLst>
          </p:cNvPr>
          <p:cNvSpPr>
            <a:spLocks noGrp="1"/>
          </p:cNvSpPr>
          <p:nvPr>
            <p:ph type="title"/>
          </p:nvPr>
        </p:nvSpPr>
        <p:spPr/>
        <p:txBody>
          <a:bodyPr>
            <a:normAutofit fontScale="90000"/>
          </a:bodyPr>
          <a:lstStyle/>
          <a:p>
            <a:r>
              <a:rPr lang="en-US" noProof="0" dirty="0"/>
              <a:t>Interest Earned on Prior Interest at a 5 Percent Rate</a:t>
            </a:r>
          </a:p>
        </p:txBody>
      </p:sp>
      <p:pic>
        <p:nvPicPr>
          <p:cNvPr id="3" name="Picture 2" descr="A subdivided vertical bar graph shows interest earned on prior interest at a 5 percent rate.">
            <a:extLst>
              <a:ext uri="{FF2B5EF4-FFF2-40B4-BE49-F238E27FC236}">
                <a16:creationId xmlns:a16="http://schemas.microsoft.com/office/drawing/2014/main" xmlns="" id="{73EEDFC3-F594-484A-AF5F-1933F05B6A24}"/>
              </a:ext>
            </a:extLst>
          </p:cNvPr>
          <p:cNvPicPr>
            <a:picLocks noChangeAspect="1"/>
          </p:cNvPicPr>
          <p:nvPr/>
        </p:nvPicPr>
        <p:blipFill>
          <a:blip r:embed="rId2"/>
          <a:stretch>
            <a:fillRect/>
          </a:stretch>
        </p:blipFill>
        <p:spPr>
          <a:xfrm>
            <a:off x="1228986" y="1548758"/>
            <a:ext cx="6686027" cy="4156724"/>
          </a:xfrm>
          <a:prstGeom prst="rect">
            <a:avLst/>
          </a:prstGeom>
        </p:spPr>
      </p:pic>
      <p:sp>
        <p:nvSpPr>
          <p:cNvPr id="5" name="Text Placeholder 4">
            <a:extLst>
              <a:ext uri="{FF2B5EF4-FFF2-40B4-BE49-F238E27FC236}">
                <a16:creationId xmlns:a16="http://schemas.microsoft.com/office/drawing/2014/main" xmlns="" id="{895D0F36-A285-463C-8DEE-B530745681FC}"/>
              </a:ext>
            </a:extLst>
          </p:cNvPr>
          <p:cNvSpPr>
            <a:spLocks noGrp="1"/>
          </p:cNvSpPr>
          <p:nvPr>
            <p:ph type="body" sz="quarter" idx="12"/>
          </p:nvPr>
        </p:nvSpPr>
        <p:spPr>
          <a:xfrm>
            <a:off x="3369347" y="6158519"/>
            <a:ext cx="3305773" cy="356581"/>
          </a:xfrm>
        </p:spPr>
        <p:txBody>
          <a:bodyPr/>
          <a:lstStyle/>
          <a:p>
            <a:r>
              <a:rPr lang="en-US" sz="1200" noProof="0" dirty="0">
                <a:hlinkClick r:id="rId3" action="ppaction://hlinksldjump"/>
              </a:rPr>
              <a:t>Access the text alternative for slide images.</a:t>
            </a:r>
            <a:endParaRPr lang="en-US" sz="1200" noProof="0" dirty="0"/>
          </a:p>
        </p:txBody>
      </p:sp>
      <p:sp>
        <p:nvSpPr>
          <p:cNvPr id="6" name="Slide Number Placeholder 5">
            <a:extLst>
              <a:ext uri="{FF2B5EF4-FFF2-40B4-BE49-F238E27FC236}">
                <a16:creationId xmlns:a16="http://schemas.microsoft.com/office/drawing/2014/main" xmlns="" id="{00400A8B-99EB-4AC6-B052-346CBD9B9F74}"/>
              </a:ext>
            </a:extLst>
          </p:cNvPr>
          <p:cNvSpPr>
            <a:spLocks noGrp="1"/>
          </p:cNvSpPr>
          <p:nvPr>
            <p:ph type="sldNum" sz="quarter" idx="4"/>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3910096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C0F49E-E859-433E-A52B-7DA1D28AC9F1}"/>
              </a:ext>
            </a:extLst>
          </p:cNvPr>
          <p:cNvSpPr>
            <a:spLocks noGrp="1"/>
          </p:cNvSpPr>
          <p:nvPr>
            <p:ph type="title"/>
          </p:nvPr>
        </p:nvSpPr>
        <p:spPr/>
        <p:txBody>
          <a:bodyPr>
            <a:normAutofit fontScale="90000"/>
          </a:bodyPr>
          <a:lstStyle/>
          <a:p>
            <a:r>
              <a:rPr lang="en-US" noProof="0" dirty="0"/>
              <a:t>Impact of Time and Magnitude of Interest Rate</a:t>
            </a:r>
          </a:p>
        </p:txBody>
      </p:sp>
      <p:pic>
        <p:nvPicPr>
          <p:cNvPr id="5" name="Picture 4" descr="A line graph shows the future value at three different interest rates for up to 30 years of deposit.">
            <a:extLst>
              <a:ext uri="{FF2B5EF4-FFF2-40B4-BE49-F238E27FC236}">
                <a16:creationId xmlns:a16="http://schemas.microsoft.com/office/drawing/2014/main" xmlns="" id="{2DE51E41-5B09-40B5-A74F-6410350147B7}"/>
              </a:ext>
            </a:extLst>
          </p:cNvPr>
          <p:cNvPicPr>
            <a:picLocks noChangeAspect="1"/>
          </p:cNvPicPr>
          <p:nvPr/>
        </p:nvPicPr>
        <p:blipFill>
          <a:blip r:embed="rId2"/>
          <a:stretch>
            <a:fillRect/>
          </a:stretch>
        </p:blipFill>
        <p:spPr>
          <a:xfrm>
            <a:off x="1171043" y="1553172"/>
            <a:ext cx="6801912" cy="3995494"/>
          </a:xfrm>
          <a:prstGeom prst="rect">
            <a:avLst/>
          </a:prstGeom>
        </p:spPr>
      </p:pic>
      <p:sp>
        <p:nvSpPr>
          <p:cNvPr id="4" name="Text Placeholder 3">
            <a:extLst>
              <a:ext uri="{FF2B5EF4-FFF2-40B4-BE49-F238E27FC236}">
                <a16:creationId xmlns:a16="http://schemas.microsoft.com/office/drawing/2014/main" xmlns="" id="{1DF1C74B-5C41-43E6-8D7C-9A22F738792D}"/>
              </a:ext>
            </a:extLst>
          </p:cNvPr>
          <p:cNvSpPr>
            <a:spLocks noGrp="1"/>
          </p:cNvSpPr>
          <p:nvPr>
            <p:ph type="body" sz="quarter" idx="12"/>
          </p:nvPr>
        </p:nvSpPr>
        <p:spPr>
          <a:xfrm>
            <a:off x="2941320" y="6339840"/>
            <a:ext cx="3200399" cy="175260"/>
          </a:xfrm>
        </p:spPr>
        <p:txBody>
          <a:bodyPr/>
          <a:lstStyle/>
          <a:p>
            <a:r>
              <a:rPr lang="en-US" sz="1200" noProof="0" dirty="0">
                <a:hlinkClick r:id="rId3" action="ppaction://hlinksldjump"/>
              </a:rPr>
              <a:t>Access the text alternative for slide images.</a:t>
            </a:r>
            <a:endParaRPr lang="en-US" sz="1200" noProof="0" dirty="0"/>
          </a:p>
        </p:txBody>
      </p:sp>
      <p:sp>
        <p:nvSpPr>
          <p:cNvPr id="6" name="Slide Number Placeholder 5">
            <a:extLst>
              <a:ext uri="{FF2B5EF4-FFF2-40B4-BE49-F238E27FC236}">
                <a16:creationId xmlns:a16="http://schemas.microsoft.com/office/drawing/2014/main" xmlns="" id="{00400A8B-99EB-4AC6-B052-346CBD9B9F74}"/>
              </a:ext>
            </a:extLst>
          </p:cNvPr>
          <p:cNvSpPr>
            <a:spLocks noGrp="1"/>
          </p:cNvSpPr>
          <p:nvPr>
            <p:ph type="sldNum" sz="quarter" idx="4"/>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1483087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CB0A47-17A5-4453-BE66-1A53CAA73430}"/>
              </a:ext>
            </a:extLst>
          </p:cNvPr>
          <p:cNvSpPr>
            <a:spLocks noGrp="1"/>
          </p:cNvSpPr>
          <p:nvPr>
            <p:ph type="title"/>
          </p:nvPr>
        </p:nvSpPr>
        <p:spPr/>
        <p:txBody>
          <a:bodyPr/>
          <a:lstStyle/>
          <a:p>
            <a:r>
              <a:rPr lang="en-US" noProof="0" dirty="0"/>
              <a:t>Present Value</a:t>
            </a:r>
          </a:p>
        </p:txBody>
      </p:sp>
      <p:sp>
        <p:nvSpPr>
          <p:cNvPr id="3" name="Content Placeholder 2">
            <a:extLst>
              <a:ext uri="{FF2B5EF4-FFF2-40B4-BE49-F238E27FC236}">
                <a16:creationId xmlns:a16="http://schemas.microsoft.com/office/drawing/2014/main" xmlns="" id="{781A5970-798F-46C8-A90F-2621C84E3BF6}"/>
              </a:ext>
            </a:extLst>
          </p:cNvPr>
          <p:cNvSpPr>
            <a:spLocks noGrp="1"/>
          </p:cNvSpPr>
          <p:nvPr>
            <p:ph sz="quarter" idx="11"/>
          </p:nvPr>
        </p:nvSpPr>
        <p:spPr/>
        <p:txBody>
          <a:bodyPr/>
          <a:lstStyle/>
          <a:p>
            <a:r>
              <a:rPr lang="en-US" noProof="0" dirty="0"/>
              <a:t>Finding the present value is essentially the opposite process as finding the future value</a:t>
            </a:r>
          </a:p>
          <a:p>
            <a:pPr marL="292608" indent="-292608">
              <a:buFont typeface="Arial" panose="020B0604020202020204" pitchFamily="34" charset="0"/>
              <a:buChar char="•"/>
            </a:pPr>
            <a:r>
              <a:rPr lang="en-US" noProof="0" dirty="0"/>
              <a:t>Future value = compounding.</a:t>
            </a:r>
          </a:p>
          <a:p>
            <a:pPr marL="621792" lvl="1" indent="-320040">
              <a:spcBef>
                <a:spcPts val="500"/>
              </a:spcBef>
            </a:pPr>
            <a:r>
              <a:rPr lang="en-US" sz="2200" noProof="0" dirty="0"/>
              <a:t>Example: What happens when you deposit $100 cash in the bank to earn 5 percent interest for one year?</a:t>
            </a:r>
          </a:p>
          <a:p>
            <a:pPr marL="292608" indent="-292608">
              <a:buFont typeface="Arial" panose="020B0604020202020204" pitchFamily="34" charset="0"/>
              <a:buChar char="•"/>
            </a:pPr>
            <a:r>
              <a:rPr lang="en-US" noProof="0" dirty="0"/>
              <a:t>Present value = discounting.</a:t>
            </a:r>
          </a:p>
          <a:p>
            <a:pPr marL="621792" lvl="1" indent="-320040">
              <a:spcBef>
                <a:spcPts val="500"/>
              </a:spcBef>
            </a:pPr>
            <a:r>
              <a:rPr lang="en-US" sz="2200" noProof="0" dirty="0"/>
              <a:t>Example: If the bank will pay you $105 in one year and interest rates are 5 percent, how much would you be willing to deposit now to receive that payment in a year?</a:t>
            </a:r>
          </a:p>
        </p:txBody>
      </p:sp>
      <p:sp>
        <p:nvSpPr>
          <p:cNvPr id="6" name="Slide Number Placeholder 5">
            <a:extLst>
              <a:ext uri="{FF2B5EF4-FFF2-40B4-BE49-F238E27FC236}">
                <a16:creationId xmlns:a16="http://schemas.microsoft.com/office/drawing/2014/main" xmlns="" id="{6F5F2531-33C9-4636-BB72-5A5605651B30}"/>
              </a:ext>
            </a:extLst>
          </p:cNvPr>
          <p:cNvSpPr>
            <a:spLocks noGrp="1"/>
          </p:cNvSpPr>
          <p:nvPr>
            <p:ph type="sldNum" sz="quarter" idx="4"/>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537371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CB0A47-17A5-4453-BE66-1A53CAA73430}"/>
              </a:ext>
            </a:extLst>
          </p:cNvPr>
          <p:cNvSpPr>
            <a:spLocks noGrp="1"/>
          </p:cNvSpPr>
          <p:nvPr>
            <p:ph type="title"/>
          </p:nvPr>
        </p:nvSpPr>
        <p:spPr/>
        <p:txBody>
          <a:bodyPr/>
          <a:lstStyle/>
          <a:p>
            <a:r>
              <a:rPr lang="en-US" noProof="0" dirty="0"/>
              <a:t>Discounting</a:t>
            </a:r>
          </a:p>
        </p:txBody>
      </p:sp>
      <p:sp>
        <p:nvSpPr>
          <p:cNvPr id="3" name="Content Placeholder 2">
            <a:extLst>
              <a:ext uri="{FF2B5EF4-FFF2-40B4-BE49-F238E27FC236}">
                <a16:creationId xmlns:a16="http://schemas.microsoft.com/office/drawing/2014/main" xmlns="" id="{781A5970-798F-46C8-A90F-2621C84E3BF6}"/>
              </a:ext>
            </a:extLst>
          </p:cNvPr>
          <p:cNvSpPr>
            <a:spLocks noGrp="1"/>
          </p:cNvSpPr>
          <p:nvPr>
            <p:ph sz="quarter" idx="11"/>
          </p:nvPr>
        </p:nvSpPr>
        <p:spPr>
          <a:xfrm>
            <a:off x="342900" y="1276709"/>
            <a:ext cx="8458200" cy="1710331"/>
          </a:xfrm>
        </p:spPr>
        <p:txBody>
          <a:bodyPr/>
          <a:lstStyle/>
          <a:p>
            <a:r>
              <a:rPr lang="en-US" b="1" noProof="0" dirty="0"/>
              <a:t>Discounting</a:t>
            </a:r>
            <a:r>
              <a:rPr lang="en-US" noProof="0" dirty="0"/>
              <a:t> is the process of finding present value by reducing future values using the discount, or interest, rate</a:t>
            </a:r>
          </a:p>
          <a:p>
            <a:pPr marL="292608" indent="-292608">
              <a:buFont typeface="Arial" panose="020B0604020202020204" pitchFamily="34" charset="0"/>
              <a:buChar char="•"/>
            </a:pPr>
            <a:r>
              <a:rPr lang="en-US" noProof="0" dirty="0"/>
              <a:t>Significantly decreases the value of a future amount to the present.</a:t>
            </a:r>
          </a:p>
        </p:txBody>
      </p:sp>
      <p:graphicFrame>
        <p:nvGraphicFramePr>
          <p:cNvPr id="4" name="Object 3">
            <a:extLst>
              <a:ext uri="{FF2B5EF4-FFF2-40B4-BE49-F238E27FC236}">
                <a16:creationId xmlns:a16="http://schemas.microsoft.com/office/drawing/2014/main" xmlns="" id="{D6FE36CE-54EF-4BBE-8AF0-62E1F3F948DC}"/>
              </a:ext>
            </a:extLst>
          </p:cNvPr>
          <p:cNvGraphicFramePr>
            <a:graphicFrameLocks noChangeAspect="1"/>
          </p:cNvGraphicFramePr>
          <p:nvPr>
            <p:extLst>
              <p:ext uri="{D42A27DB-BD31-4B8C-83A1-F6EECF244321}">
                <p14:modId xmlns:p14="http://schemas.microsoft.com/office/powerpoint/2010/main" val="2929392639"/>
              </p:ext>
            </p:extLst>
          </p:nvPr>
        </p:nvGraphicFramePr>
        <p:xfrm>
          <a:off x="464464" y="3462743"/>
          <a:ext cx="8188927" cy="799821"/>
        </p:xfrm>
        <a:graphic>
          <a:graphicData uri="http://schemas.openxmlformats.org/presentationml/2006/ole">
            <mc:AlternateContent xmlns:mc="http://schemas.openxmlformats.org/markup-compatibility/2006">
              <mc:Choice xmlns:v="urn:schemas-microsoft-com:vml" Requires="v">
                <p:oleObj spid="_x0000_s7176" name="Equation" r:id="rId3" imgW="7670520" imgH="749160" progId="Equation.DSMT4">
                  <p:embed/>
                </p:oleObj>
              </mc:Choice>
              <mc:Fallback>
                <p:oleObj name="Equation" r:id="rId3" imgW="7670520" imgH="749160" progId="Equation.DSMT4">
                  <p:embed/>
                  <p:pic>
                    <p:nvPicPr>
                      <p:cNvPr id="0" name=""/>
                      <p:cNvPicPr/>
                      <p:nvPr/>
                    </p:nvPicPr>
                    <p:blipFill>
                      <a:blip r:embed="rId4"/>
                      <a:stretch>
                        <a:fillRect/>
                      </a:stretch>
                    </p:blipFill>
                    <p:spPr>
                      <a:xfrm>
                        <a:off x="464464" y="3462743"/>
                        <a:ext cx="8188927" cy="799821"/>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xmlns="" id="{8577AECB-C24A-4142-A40B-467B6879FB98}"/>
              </a:ext>
            </a:extLst>
          </p:cNvPr>
          <p:cNvGraphicFramePr>
            <a:graphicFrameLocks noChangeAspect="1"/>
          </p:cNvGraphicFramePr>
          <p:nvPr>
            <p:extLst>
              <p:ext uri="{D42A27DB-BD31-4B8C-83A1-F6EECF244321}">
                <p14:modId xmlns:p14="http://schemas.microsoft.com/office/powerpoint/2010/main" val="3204984739"/>
              </p:ext>
            </p:extLst>
          </p:nvPr>
        </p:nvGraphicFramePr>
        <p:xfrm>
          <a:off x="4786313" y="4589463"/>
          <a:ext cx="1258887" cy="692150"/>
        </p:xfrm>
        <a:graphic>
          <a:graphicData uri="http://schemas.openxmlformats.org/presentationml/2006/ole">
            <mc:AlternateContent xmlns:mc="http://schemas.openxmlformats.org/markup-compatibility/2006">
              <mc:Choice xmlns:v="urn:schemas-microsoft-com:vml" Requires="v">
                <p:oleObj spid="_x0000_s7177" name="Equation" r:id="rId5" imgW="1384200" imgH="761760" progId="Equation.DSMT4">
                  <p:embed/>
                </p:oleObj>
              </mc:Choice>
              <mc:Fallback>
                <p:oleObj name="Equation" r:id="rId5" imgW="1384200" imgH="761760" progId="Equation.DSMT4">
                  <p:embed/>
                  <p:pic>
                    <p:nvPicPr>
                      <p:cNvPr id="0" name=""/>
                      <p:cNvPicPr/>
                      <p:nvPr/>
                    </p:nvPicPr>
                    <p:blipFill>
                      <a:blip r:embed="rId6"/>
                      <a:stretch>
                        <a:fillRect/>
                      </a:stretch>
                    </p:blipFill>
                    <p:spPr>
                      <a:xfrm>
                        <a:off x="4786313" y="4589463"/>
                        <a:ext cx="1258887" cy="692150"/>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xmlns="" id="{6F5F2531-33C9-4636-BB72-5A5605651B30}"/>
              </a:ext>
            </a:extLst>
          </p:cNvPr>
          <p:cNvSpPr>
            <a:spLocks noGrp="1"/>
          </p:cNvSpPr>
          <p:nvPr>
            <p:ph type="sldNum" sz="quarter" idx="4"/>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3690091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0D8FF-1BF5-43D7-BBEF-1B9461B8171B}"/>
              </a:ext>
            </a:extLst>
          </p:cNvPr>
          <p:cNvSpPr>
            <a:spLocks noGrp="1"/>
          </p:cNvSpPr>
          <p:nvPr>
            <p:ph type="title"/>
          </p:nvPr>
        </p:nvSpPr>
        <p:spPr/>
        <p:txBody>
          <a:bodyPr>
            <a:normAutofit/>
          </a:bodyPr>
          <a:lstStyle/>
          <a:p>
            <a:r>
              <a:rPr lang="en-US" sz="3600" noProof="0" dirty="0"/>
              <a:t>Present Value Example</a:t>
            </a:r>
          </a:p>
        </p:txBody>
      </p:sp>
      <p:sp>
        <p:nvSpPr>
          <p:cNvPr id="3" name="Content Placeholder 2">
            <a:extLst>
              <a:ext uri="{FF2B5EF4-FFF2-40B4-BE49-F238E27FC236}">
                <a16:creationId xmlns:a16="http://schemas.microsoft.com/office/drawing/2014/main" xmlns="" id="{09C6F8DF-2440-489F-8D4A-4A6EB3C3826F}"/>
              </a:ext>
            </a:extLst>
          </p:cNvPr>
          <p:cNvSpPr>
            <a:spLocks noGrp="1"/>
          </p:cNvSpPr>
          <p:nvPr>
            <p:ph sz="quarter" idx="11"/>
          </p:nvPr>
        </p:nvSpPr>
        <p:spPr>
          <a:xfrm>
            <a:off x="342900" y="1276709"/>
            <a:ext cx="8458200" cy="1314091"/>
          </a:xfrm>
        </p:spPr>
        <p:txBody>
          <a:bodyPr/>
          <a:lstStyle/>
          <a:p>
            <a:pPr marL="292608" indent="-292608">
              <a:buFont typeface="Arial" panose="020B0604020202020204" pitchFamily="34" charset="0"/>
              <a:buChar char="•"/>
            </a:pPr>
            <a:r>
              <a:rPr lang="en-US" noProof="0" dirty="0"/>
              <a:t>Suppose the bank is going to pay $105 in one year and interest rates are 5 percent.</a:t>
            </a:r>
          </a:p>
          <a:p>
            <a:pPr marL="292608" indent="-292608">
              <a:buFont typeface="Arial" panose="020B0604020202020204" pitchFamily="34" charset="0"/>
              <a:buChar char="•"/>
            </a:pPr>
            <a:r>
              <a:rPr lang="en-US" noProof="0" dirty="0"/>
              <a:t>What is the present value?</a:t>
            </a:r>
          </a:p>
        </p:txBody>
      </p:sp>
      <p:graphicFrame>
        <p:nvGraphicFramePr>
          <p:cNvPr id="5" name="Object 4">
            <a:extLst>
              <a:ext uri="{FF2B5EF4-FFF2-40B4-BE49-F238E27FC236}">
                <a16:creationId xmlns:a16="http://schemas.microsoft.com/office/drawing/2014/main" xmlns="" id="{03D79828-5E2D-4943-A2B1-6D996F517412}"/>
              </a:ext>
            </a:extLst>
          </p:cNvPr>
          <p:cNvGraphicFramePr>
            <a:graphicFrameLocks noChangeAspect="1"/>
          </p:cNvGraphicFramePr>
          <p:nvPr>
            <p:extLst>
              <p:ext uri="{D42A27DB-BD31-4B8C-83A1-F6EECF244321}">
                <p14:modId xmlns:p14="http://schemas.microsoft.com/office/powerpoint/2010/main" val="604794671"/>
              </p:ext>
            </p:extLst>
          </p:nvPr>
        </p:nvGraphicFramePr>
        <p:xfrm>
          <a:off x="3438525" y="2763838"/>
          <a:ext cx="2263775" cy="320675"/>
        </p:xfrm>
        <a:graphic>
          <a:graphicData uri="http://schemas.openxmlformats.org/presentationml/2006/ole">
            <mc:AlternateContent xmlns:mc="http://schemas.openxmlformats.org/markup-compatibility/2006">
              <mc:Choice xmlns:v="urn:schemas-microsoft-com:vml" Requires="v">
                <p:oleObj spid="_x0000_s8197" name="Equation" r:id="rId3" imgW="2057400" imgH="291960" progId="Equation.DSMT4">
                  <p:embed/>
                </p:oleObj>
              </mc:Choice>
              <mc:Fallback>
                <p:oleObj name="Equation" r:id="rId3" imgW="2057400" imgH="291960" progId="Equation.DSMT4">
                  <p:embed/>
                  <p:pic>
                    <p:nvPicPr>
                      <p:cNvPr id="5" name="Object 4">
                        <a:extLst>
                          <a:ext uri="{FF2B5EF4-FFF2-40B4-BE49-F238E27FC236}">
                            <a16:creationId xmlns:a16="http://schemas.microsoft.com/office/drawing/2014/main" xmlns="" id="{03D79828-5E2D-4943-A2B1-6D996F517412}"/>
                          </a:ext>
                        </a:extLst>
                      </p:cNvPr>
                      <p:cNvPicPr/>
                      <p:nvPr/>
                    </p:nvPicPr>
                    <p:blipFill>
                      <a:blip r:embed="rId4"/>
                      <a:stretch>
                        <a:fillRect/>
                      </a:stretch>
                    </p:blipFill>
                    <p:spPr>
                      <a:xfrm>
                        <a:off x="3438525" y="2763838"/>
                        <a:ext cx="2263775" cy="320675"/>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xmlns="" id="{A53AEE2C-B760-4E98-8839-36AB5335A0D8}"/>
              </a:ext>
            </a:extLst>
          </p:cNvPr>
          <p:cNvSpPr>
            <a:spLocks noGrp="1"/>
          </p:cNvSpPr>
          <p:nvPr>
            <p:ph sz="quarter" idx="14"/>
          </p:nvPr>
        </p:nvSpPr>
        <p:spPr>
          <a:xfrm>
            <a:off x="342900" y="3703320"/>
            <a:ext cx="8458200" cy="838200"/>
          </a:xfrm>
        </p:spPr>
        <p:txBody>
          <a:bodyPr/>
          <a:lstStyle/>
          <a:p>
            <a:pPr marL="292608" indent="-292608">
              <a:buFont typeface="Arial" panose="020B0604020202020204" pitchFamily="34" charset="0"/>
              <a:buChar char="•"/>
            </a:pPr>
            <a:r>
              <a:rPr lang="en-US" noProof="0" dirty="0"/>
              <a:t>Present values are always smaller than future values (if interest rates are positive).</a:t>
            </a:r>
          </a:p>
        </p:txBody>
      </p:sp>
      <p:sp>
        <p:nvSpPr>
          <p:cNvPr id="7" name="Slide Number Placeholder 6">
            <a:extLst>
              <a:ext uri="{FF2B5EF4-FFF2-40B4-BE49-F238E27FC236}">
                <a16:creationId xmlns:a16="http://schemas.microsoft.com/office/drawing/2014/main" xmlns="" id="{38C03560-1E94-4D72-92E5-AB2BA7F80093}"/>
              </a:ext>
            </a:extLst>
          </p:cNvPr>
          <p:cNvSpPr>
            <a:spLocks noGrp="1"/>
          </p:cNvSpPr>
          <p:nvPr>
            <p:ph type="sldNum" sz="quarter" idx="10"/>
          </p:nvPr>
        </p:nvSpPr>
        <p:spPr/>
        <p:txBody>
          <a:bodyPr/>
          <a:lstStyle/>
          <a:p>
            <a:fld id="{68151E55-6873-49E2-B8D5-2F265E6F1973}" type="slidenum">
              <a:rPr lang="en-US" smtClean="0"/>
              <a:t>20</a:t>
            </a:fld>
            <a:endParaRPr lang="en-US"/>
          </a:p>
        </p:txBody>
      </p:sp>
    </p:spTree>
    <p:extLst>
      <p:ext uri="{BB962C8B-B14F-4D97-AF65-F5344CB8AC3E}">
        <p14:creationId xmlns:p14="http://schemas.microsoft.com/office/powerpoint/2010/main" val="3303093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CB0A47-17A5-4453-BE66-1A53CAA73430}"/>
              </a:ext>
            </a:extLst>
          </p:cNvPr>
          <p:cNvSpPr>
            <a:spLocks noGrp="1"/>
          </p:cNvSpPr>
          <p:nvPr>
            <p:ph type="title"/>
          </p:nvPr>
        </p:nvSpPr>
        <p:spPr/>
        <p:txBody>
          <a:bodyPr/>
          <a:lstStyle/>
          <a:p>
            <a:r>
              <a:rPr lang="en-US" noProof="0" dirty="0"/>
              <a:t>Discounting Over Multiple Periods</a:t>
            </a:r>
          </a:p>
        </p:txBody>
      </p:sp>
      <p:sp>
        <p:nvSpPr>
          <p:cNvPr id="3" name="Content Placeholder 2">
            <a:extLst>
              <a:ext uri="{FF2B5EF4-FFF2-40B4-BE49-F238E27FC236}">
                <a16:creationId xmlns:a16="http://schemas.microsoft.com/office/drawing/2014/main" xmlns="" id="{781A5970-798F-46C8-A90F-2621C84E3BF6}"/>
              </a:ext>
            </a:extLst>
          </p:cNvPr>
          <p:cNvSpPr>
            <a:spLocks noGrp="1"/>
          </p:cNvSpPr>
          <p:nvPr>
            <p:ph sz="quarter" idx="11"/>
          </p:nvPr>
        </p:nvSpPr>
        <p:spPr>
          <a:xfrm>
            <a:off x="342900" y="1276709"/>
            <a:ext cx="8458200" cy="826411"/>
          </a:xfrm>
        </p:spPr>
        <p:txBody>
          <a:bodyPr/>
          <a:lstStyle/>
          <a:p>
            <a:pPr marL="292608" indent="-292608">
              <a:buFont typeface="Arial" panose="020B0604020202020204" pitchFamily="34" charset="0"/>
              <a:buChar char="•"/>
            </a:pPr>
            <a:r>
              <a:rPr lang="en-US" noProof="0" dirty="0"/>
              <a:t>Discounting over multiple periods is simply the reverse of compounding over multiple periods.</a:t>
            </a:r>
          </a:p>
        </p:txBody>
      </p:sp>
      <p:graphicFrame>
        <p:nvGraphicFramePr>
          <p:cNvPr id="4" name="Object 3">
            <a:extLst>
              <a:ext uri="{FF2B5EF4-FFF2-40B4-BE49-F238E27FC236}">
                <a16:creationId xmlns:a16="http://schemas.microsoft.com/office/drawing/2014/main" xmlns="" id="{D6FE36CE-54EF-4BBE-8AF0-62E1F3F948DC}"/>
              </a:ext>
            </a:extLst>
          </p:cNvPr>
          <p:cNvGraphicFramePr>
            <a:graphicFrameLocks noChangeAspect="1"/>
          </p:cNvGraphicFramePr>
          <p:nvPr>
            <p:extLst>
              <p:ext uri="{D42A27DB-BD31-4B8C-83A1-F6EECF244321}">
                <p14:modId xmlns:p14="http://schemas.microsoft.com/office/powerpoint/2010/main" val="3692032487"/>
              </p:ext>
            </p:extLst>
          </p:nvPr>
        </p:nvGraphicFramePr>
        <p:xfrm>
          <a:off x="686450" y="2695748"/>
          <a:ext cx="7728238" cy="727364"/>
        </p:xfrm>
        <a:graphic>
          <a:graphicData uri="http://schemas.openxmlformats.org/presentationml/2006/ole">
            <mc:AlternateContent xmlns:mc="http://schemas.openxmlformats.org/markup-compatibility/2006">
              <mc:Choice xmlns:v="urn:schemas-microsoft-com:vml" Requires="v">
                <p:oleObj spid="_x0000_s9224" name="Equation" r:id="rId3" imgW="7962840" imgH="749160" progId="Equation.DSMT4">
                  <p:embed/>
                </p:oleObj>
              </mc:Choice>
              <mc:Fallback>
                <p:oleObj name="Equation" r:id="rId3" imgW="7962840" imgH="749160" progId="Equation.DSMT4">
                  <p:embed/>
                  <p:pic>
                    <p:nvPicPr>
                      <p:cNvPr id="4" name="Object 3">
                        <a:extLst>
                          <a:ext uri="{FF2B5EF4-FFF2-40B4-BE49-F238E27FC236}">
                            <a16:creationId xmlns:a16="http://schemas.microsoft.com/office/drawing/2014/main" xmlns="" id="{D6FE36CE-54EF-4BBE-8AF0-62E1F3F948DC}"/>
                          </a:ext>
                        </a:extLst>
                      </p:cNvPr>
                      <p:cNvPicPr/>
                      <p:nvPr/>
                    </p:nvPicPr>
                    <p:blipFill>
                      <a:blip r:embed="rId4"/>
                      <a:stretch>
                        <a:fillRect/>
                      </a:stretch>
                    </p:blipFill>
                    <p:spPr>
                      <a:xfrm>
                        <a:off x="686450" y="2695748"/>
                        <a:ext cx="7728238" cy="727364"/>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xmlns="" id="{8577AECB-C24A-4142-A40B-467B6879FB98}"/>
              </a:ext>
            </a:extLst>
          </p:cNvPr>
          <p:cNvGraphicFramePr>
            <a:graphicFrameLocks noChangeAspect="1"/>
          </p:cNvGraphicFramePr>
          <p:nvPr>
            <p:extLst>
              <p:ext uri="{D42A27DB-BD31-4B8C-83A1-F6EECF244321}">
                <p14:modId xmlns:p14="http://schemas.microsoft.com/office/powerpoint/2010/main" val="733702413"/>
              </p:ext>
            </p:extLst>
          </p:nvPr>
        </p:nvGraphicFramePr>
        <p:xfrm>
          <a:off x="3865563" y="3916363"/>
          <a:ext cx="1409700" cy="728662"/>
        </p:xfrm>
        <a:graphic>
          <a:graphicData uri="http://schemas.openxmlformats.org/presentationml/2006/ole">
            <mc:AlternateContent xmlns:mc="http://schemas.openxmlformats.org/markup-compatibility/2006">
              <mc:Choice xmlns:v="urn:schemas-microsoft-com:vml" Requires="v">
                <p:oleObj spid="_x0000_s9225" name="Equation" r:id="rId5" imgW="1549080" imgH="799920" progId="Equation.DSMT4">
                  <p:embed/>
                </p:oleObj>
              </mc:Choice>
              <mc:Fallback>
                <p:oleObj name="Equation" r:id="rId5" imgW="1549080" imgH="799920" progId="Equation.DSMT4">
                  <p:embed/>
                  <p:pic>
                    <p:nvPicPr>
                      <p:cNvPr id="5" name="Object 4">
                        <a:extLst>
                          <a:ext uri="{FF2B5EF4-FFF2-40B4-BE49-F238E27FC236}">
                            <a16:creationId xmlns:a16="http://schemas.microsoft.com/office/drawing/2014/main" xmlns="" id="{8577AECB-C24A-4142-A40B-467B6879FB98}"/>
                          </a:ext>
                        </a:extLst>
                      </p:cNvPr>
                      <p:cNvPicPr/>
                      <p:nvPr/>
                    </p:nvPicPr>
                    <p:blipFill>
                      <a:blip r:embed="rId6"/>
                      <a:stretch>
                        <a:fillRect/>
                      </a:stretch>
                    </p:blipFill>
                    <p:spPr>
                      <a:xfrm>
                        <a:off x="3865563" y="3916363"/>
                        <a:ext cx="1409700" cy="728662"/>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xmlns="" id="{6F5F2531-33C9-4636-BB72-5A5605651B30}"/>
              </a:ext>
            </a:extLst>
          </p:cNvPr>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2785375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1A3855-ADAD-4D69-A3B0-98B561AAA0A9}"/>
              </a:ext>
            </a:extLst>
          </p:cNvPr>
          <p:cNvSpPr>
            <a:spLocks noGrp="1"/>
          </p:cNvSpPr>
          <p:nvPr>
            <p:ph type="title"/>
          </p:nvPr>
        </p:nvSpPr>
        <p:spPr/>
        <p:txBody>
          <a:bodyPr>
            <a:normAutofit/>
          </a:bodyPr>
          <a:lstStyle/>
          <a:p>
            <a:r>
              <a:rPr lang="en-US" sz="3000" noProof="0" dirty="0"/>
              <a:t>Discounting Over Multiple Periods Example</a:t>
            </a:r>
          </a:p>
        </p:txBody>
      </p:sp>
      <p:sp>
        <p:nvSpPr>
          <p:cNvPr id="3" name="Content Placeholder 2">
            <a:extLst>
              <a:ext uri="{FF2B5EF4-FFF2-40B4-BE49-F238E27FC236}">
                <a16:creationId xmlns:a16="http://schemas.microsoft.com/office/drawing/2014/main" xmlns="" id="{1EFEC54E-CA47-4069-A187-7B51805365AA}"/>
              </a:ext>
            </a:extLst>
          </p:cNvPr>
          <p:cNvSpPr>
            <a:spLocks noGrp="1"/>
          </p:cNvSpPr>
          <p:nvPr>
            <p:ph sz="quarter" idx="11"/>
          </p:nvPr>
        </p:nvSpPr>
        <p:spPr>
          <a:xfrm>
            <a:off x="342900" y="1276709"/>
            <a:ext cx="8458200" cy="1725571"/>
          </a:xfrm>
        </p:spPr>
        <p:txBody>
          <a:bodyPr/>
          <a:lstStyle/>
          <a:p>
            <a:r>
              <a:rPr lang="en-US" noProof="0" dirty="0"/>
              <a:t>If you receive a $100 cash flow in five years, what is its present value, discounted at 5 percent?</a:t>
            </a:r>
          </a:p>
          <a:p>
            <a:pPr marL="292608" indent="-292608">
              <a:buFont typeface="Arial" panose="020B0604020202020204" pitchFamily="34" charset="0"/>
              <a:buChar char="•"/>
            </a:pPr>
            <a:r>
              <a:rPr lang="en-US" b="1" noProof="0" dirty="0"/>
              <a:t>Discount rate </a:t>
            </a:r>
            <a:r>
              <a:rPr lang="en-US" noProof="0" dirty="0"/>
              <a:t>is the interest rate used to discount future cash flow(s) to the present.</a:t>
            </a:r>
          </a:p>
        </p:txBody>
      </p:sp>
      <p:graphicFrame>
        <p:nvGraphicFramePr>
          <p:cNvPr id="7" name="Object 6">
            <a:extLst>
              <a:ext uri="{FF2B5EF4-FFF2-40B4-BE49-F238E27FC236}">
                <a16:creationId xmlns:a16="http://schemas.microsoft.com/office/drawing/2014/main" xmlns="" id="{1A4851CF-2065-4DCA-A591-E63A130BA180}"/>
              </a:ext>
            </a:extLst>
          </p:cNvPr>
          <p:cNvGraphicFramePr>
            <a:graphicFrameLocks noChangeAspect="1"/>
          </p:cNvGraphicFramePr>
          <p:nvPr>
            <p:extLst>
              <p:ext uri="{D42A27DB-BD31-4B8C-83A1-F6EECF244321}">
                <p14:modId xmlns:p14="http://schemas.microsoft.com/office/powerpoint/2010/main" val="3484270189"/>
              </p:ext>
            </p:extLst>
          </p:nvPr>
        </p:nvGraphicFramePr>
        <p:xfrm>
          <a:off x="1924050" y="3195638"/>
          <a:ext cx="5294313" cy="404812"/>
        </p:xfrm>
        <a:graphic>
          <a:graphicData uri="http://schemas.openxmlformats.org/presentationml/2006/ole">
            <mc:AlternateContent xmlns:mc="http://schemas.openxmlformats.org/markup-compatibility/2006">
              <mc:Choice xmlns:v="urn:schemas-microsoft-com:vml" Requires="v">
                <p:oleObj spid="_x0000_s10245" name="Equation" r:id="rId3" imgW="4813200" imgH="368280" progId="Equation.DSMT4">
                  <p:embed/>
                </p:oleObj>
              </mc:Choice>
              <mc:Fallback>
                <p:oleObj name="Equation" r:id="rId3" imgW="4813200" imgH="368280" progId="Equation.DSMT4">
                  <p:embed/>
                  <p:pic>
                    <p:nvPicPr>
                      <p:cNvPr id="0" name=""/>
                      <p:cNvPicPr/>
                      <p:nvPr/>
                    </p:nvPicPr>
                    <p:blipFill>
                      <a:blip r:embed="rId4"/>
                      <a:stretch>
                        <a:fillRect/>
                      </a:stretch>
                    </p:blipFill>
                    <p:spPr>
                      <a:xfrm>
                        <a:off x="1924050" y="3195638"/>
                        <a:ext cx="5294313" cy="404812"/>
                      </a:xfrm>
                      <a:prstGeom prst="rect">
                        <a:avLst/>
                      </a:prstGeom>
                    </p:spPr>
                  </p:pic>
                </p:oleObj>
              </mc:Fallback>
            </mc:AlternateContent>
          </a:graphicData>
        </a:graphic>
      </p:graphicFrame>
      <p:graphicFrame>
        <p:nvGraphicFramePr>
          <p:cNvPr id="8" name="Table 8">
            <a:extLst>
              <a:ext uri="{FF2B5EF4-FFF2-40B4-BE49-F238E27FC236}">
                <a16:creationId xmlns:a16="http://schemas.microsoft.com/office/drawing/2014/main" xmlns="" id="{8EF69D2D-D4D2-4F9B-97BC-D1AE6C073F19}"/>
              </a:ext>
            </a:extLst>
          </p:cNvPr>
          <p:cNvGraphicFramePr>
            <a:graphicFrameLocks noGrp="1"/>
          </p:cNvGraphicFramePr>
          <p:nvPr>
            <p:extLst>
              <p:ext uri="{D42A27DB-BD31-4B8C-83A1-F6EECF244321}">
                <p14:modId xmlns:p14="http://schemas.microsoft.com/office/powerpoint/2010/main" val="26064083"/>
              </p:ext>
            </p:extLst>
          </p:nvPr>
        </p:nvGraphicFramePr>
        <p:xfrm>
          <a:off x="1051560" y="4384040"/>
          <a:ext cx="6979920" cy="1112520"/>
        </p:xfrm>
        <a:graphic>
          <a:graphicData uri="http://schemas.openxmlformats.org/drawingml/2006/table">
            <a:tbl>
              <a:tblPr firstRow="1" bandRow="1">
                <a:tableStyleId>{5C22544A-7EE6-4342-B048-85BDC9FD1C3A}</a:tableStyleId>
              </a:tblPr>
              <a:tblGrid>
                <a:gridCol w="1163320">
                  <a:extLst>
                    <a:ext uri="{9D8B030D-6E8A-4147-A177-3AD203B41FA5}">
                      <a16:colId xmlns:a16="http://schemas.microsoft.com/office/drawing/2014/main" xmlns="" val="3153181117"/>
                    </a:ext>
                  </a:extLst>
                </a:gridCol>
                <a:gridCol w="1163320">
                  <a:extLst>
                    <a:ext uri="{9D8B030D-6E8A-4147-A177-3AD203B41FA5}">
                      <a16:colId xmlns:a16="http://schemas.microsoft.com/office/drawing/2014/main" xmlns="" val="3687210394"/>
                    </a:ext>
                  </a:extLst>
                </a:gridCol>
                <a:gridCol w="1163320">
                  <a:extLst>
                    <a:ext uri="{9D8B030D-6E8A-4147-A177-3AD203B41FA5}">
                      <a16:colId xmlns:a16="http://schemas.microsoft.com/office/drawing/2014/main" xmlns="" val="220054324"/>
                    </a:ext>
                  </a:extLst>
                </a:gridCol>
                <a:gridCol w="1163320">
                  <a:extLst>
                    <a:ext uri="{9D8B030D-6E8A-4147-A177-3AD203B41FA5}">
                      <a16:colId xmlns:a16="http://schemas.microsoft.com/office/drawing/2014/main" xmlns="" val="3065918734"/>
                    </a:ext>
                  </a:extLst>
                </a:gridCol>
                <a:gridCol w="1163320">
                  <a:extLst>
                    <a:ext uri="{9D8B030D-6E8A-4147-A177-3AD203B41FA5}">
                      <a16:colId xmlns:a16="http://schemas.microsoft.com/office/drawing/2014/main" xmlns="" val="4232114708"/>
                    </a:ext>
                  </a:extLst>
                </a:gridCol>
                <a:gridCol w="1163320">
                  <a:extLst>
                    <a:ext uri="{9D8B030D-6E8A-4147-A177-3AD203B41FA5}">
                      <a16:colId xmlns:a16="http://schemas.microsoft.com/office/drawing/2014/main" xmlns="" val="226042770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1" dirty="0">
                          <a:solidFill>
                            <a:srgbClr val="000000"/>
                          </a:solidFill>
                        </a:rPr>
                        <a:t>INPUT</a:t>
                      </a:r>
                      <a:endParaRPr lang="en-US" altLang="en-US" sz="1200" b="1" dirty="0">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5</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5</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endParaRPr lang="en-US" b="1" dirty="0">
                        <a:solidFill>
                          <a:schemeClr val="tx1"/>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0</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100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320184002"/>
                  </a:ext>
                </a:extLst>
              </a:tr>
              <a:tr h="370840">
                <a:tc>
                  <a:txBody>
                    <a:bodyPr/>
                    <a:lstStyle/>
                    <a:p>
                      <a:endParaRPr lang="en-US" b="1"/>
                    </a:p>
                  </a:txBody>
                  <a:tcPr>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I/YR</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PV</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PMT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FV</a:t>
                      </a: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47597712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1" dirty="0">
                          <a:solidFill>
                            <a:srgbClr val="A9131A"/>
                          </a:solidFill>
                        </a:rPr>
                        <a:t>OUTPUT</a:t>
                      </a:r>
                      <a:endParaRPr lang="en-US" altLang="en-US" sz="1200" b="1" dirty="0">
                        <a:solidFill>
                          <a:srgbClr val="A9131A"/>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solidFill>
                            <a:srgbClr val="A9131A"/>
                          </a:solidFill>
                        </a:rPr>
                        <a:t>−78.35</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210421259"/>
                  </a:ext>
                </a:extLst>
              </a:tr>
            </a:tbl>
          </a:graphicData>
        </a:graphic>
      </p:graphicFrame>
      <p:sp>
        <p:nvSpPr>
          <p:cNvPr id="6" name="Slide Number Placeholder 5">
            <a:extLst>
              <a:ext uri="{FF2B5EF4-FFF2-40B4-BE49-F238E27FC236}">
                <a16:creationId xmlns:a16="http://schemas.microsoft.com/office/drawing/2014/main" xmlns="" id="{5373EEBD-DC7D-4854-95E9-5306A7872687}"/>
              </a:ext>
            </a:extLst>
          </p:cNvPr>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491757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469D70-5292-414F-9EBC-27A59923C484}"/>
              </a:ext>
            </a:extLst>
          </p:cNvPr>
          <p:cNvSpPr>
            <a:spLocks noGrp="1"/>
          </p:cNvSpPr>
          <p:nvPr>
            <p:ph type="title"/>
          </p:nvPr>
        </p:nvSpPr>
        <p:spPr/>
        <p:txBody>
          <a:bodyPr/>
          <a:lstStyle/>
          <a:p>
            <a:r>
              <a:rPr lang="en-US" noProof="0" dirty="0"/>
              <a:t>Evaluating Different Discount Rates</a:t>
            </a:r>
          </a:p>
        </p:txBody>
      </p:sp>
      <p:sp>
        <p:nvSpPr>
          <p:cNvPr id="3" name="Content Placeholder 2">
            <a:extLst>
              <a:ext uri="{FF2B5EF4-FFF2-40B4-BE49-F238E27FC236}">
                <a16:creationId xmlns:a16="http://schemas.microsoft.com/office/drawing/2014/main" xmlns="" id="{DA2645D7-E322-45BC-868F-F58CA2DD8100}"/>
              </a:ext>
            </a:extLst>
          </p:cNvPr>
          <p:cNvSpPr>
            <a:spLocks noGrp="1"/>
          </p:cNvSpPr>
          <p:nvPr>
            <p:ph sz="quarter" idx="11"/>
          </p:nvPr>
        </p:nvSpPr>
        <p:spPr>
          <a:xfrm>
            <a:off x="342900" y="1276709"/>
            <a:ext cx="8458200" cy="903231"/>
          </a:xfrm>
        </p:spPr>
        <p:txBody>
          <a:bodyPr/>
          <a:lstStyle/>
          <a:p>
            <a:pPr marL="292608" indent="-292608">
              <a:buFont typeface="Arial" panose="020B0604020202020204" pitchFamily="34" charset="0"/>
              <a:buChar char="•"/>
            </a:pPr>
            <a:r>
              <a:rPr lang="en-US" noProof="0" dirty="0"/>
              <a:t>Higher interest rates discount future cash flows more quickly and dramatically.</a:t>
            </a:r>
          </a:p>
        </p:txBody>
      </p:sp>
      <p:pic>
        <p:nvPicPr>
          <p:cNvPr id="7" name="Picture 6" descr="A line graph shows cash flows at different discount rates discounting over multiple periods.">
            <a:extLst>
              <a:ext uri="{FF2B5EF4-FFF2-40B4-BE49-F238E27FC236}">
                <a16:creationId xmlns:a16="http://schemas.microsoft.com/office/drawing/2014/main" xmlns="" id="{607D9641-4155-4650-B310-814954F9750A}"/>
              </a:ext>
            </a:extLst>
          </p:cNvPr>
          <p:cNvPicPr>
            <a:picLocks noChangeAspect="1"/>
          </p:cNvPicPr>
          <p:nvPr/>
        </p:nvPicPr>
        <p:blipFill>
          <a:blip r:embed="rId2"/>
          <a:stretch>
            <a:fillRect/>
          </a:stretch>
        </p:blipFill>
        <p:spPr>
          <a:xfrm>
            <a:off x="1677830" y="2327696"/>
            <a:ext cx="5788341" cy="3872563"/>
          </a:xfrm>
          <a:prstGeom prst="rect">
            <a:avLst/>
          </a:prstGeom>
        </p:spPr>
      </p:pic>
      <p:sp>
        <p:nvSpPr>
          <p:cNvPr id="4" name="Text Placeholder 3">
            <a:extLst>
              <a:ext uri="{FF2B5EF4-FFF2-40B4-BE49-F238E27FC236}">
                <a16:creationId xmlns:a16="http://schemas.microsoft.com/office/drawing/2014/main" xmlns="" id="{564ED414-DF96-482B-A3CC-7B760D07D9AB}"/>
              </a:ext>
            </a:extLst>
          </p:cNvPr>
          <p:cNvSpPr>
            <a:spLocks noGrp="1"/>
          </p:cNvSpPr>
          <p:nvPr>
            <p:ph type="body" sz="quarter" idx="12"/>
          </p:nvPr>
        </p:nvSpPr>
        <p:spPr>
          <a:xfrm>
            <a:off x="3369347" y="6348014"/>
            <a:ext cx="3534373" cy="167085"/>
          </a:xfrm>
        </p:spPr>
        <p:txBody>
          <a:bodyPr/>
          <a:lstStyle/>
          <a:p>
            <a:r>
              <a:rPr lang="en-US" sz="1200" noProof="0" dirty="0">
                <a:hlinkClick r:id="rId3" action="ppaction://hlinksldjump"/>
              </a:rPr>
              <a:t>Access the text alternative for slide images.</a:t>
            </a:r>
            <a:endParaRPr lang="en-US" sz="1200" noProof="0" dirty="0"/>
          </a:p>
        </p:txBody>
      </p:sp>
      <p:sp>
        <p:nvSpPr>
          <p:cNvPr id="6" name="Slide Number Placeholder 5">
            <a:extLst>
              <a:ext uri="{FF2B5EF4-FFF2-40B4-BE49-F238E27FC236}">
                <a16:creationId xmlns:a16="http://schemas.microsoft.com/office/drawing/2014/main" xmlns="" id="{C5BEA134-794E-40CC-BCD3-D5BABB89CC73}"/>
              </a:ext>
            </a:extLst>
          </p:cNvPr>
          <p:cNvSpPr>
            <a:spLocks noGrp="1"/>
          </p:cNvSpPr>
          <p:nvPr>
            <p:ph type="sldNum" sz="quarter" idx="4"/>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91149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62BAFA-737A-4373-9047-B6C6216F8266}"/>
              </a:ext>
            </a:extLst>
          </p:cNvPr>
          <p:cNvSpPr>
            <a:spLocks noGrp="1"/>
          </p:cNvSpPr>
          <p:nvPr>
            <p:ph type="title"/>
          </p:nvPr>
        </p:nvSpPr>
        <p:spPr/>
        <p:txBody>
          <a:bodyPr/>
          <a:lstStyle/>
          <a:p>
            <a:r>
              <a:rPr lang="en-US" noProof="0" dirty="0"/>
              <a:t>Discounting with Multiple Rates</a:t>
            </a:r>
          </a:p>
        </p:txBody>
      </p:sp>
      <p:sp>
        <p:nvSpPr>
          <p:cNvPr id="3" name="Content Placeholder 2">
            <a:extLst>
              <a:ext uri="{FF2B5EF4-FFF2-40B4-BE49-F238E27FC236}">
                <a16:creationId xmlns:a16="http://schemas.microsoft.com/office/drawing/2014/main" xmlns="" id="{1DA404E9-347C-4C2C-8BC3-0C324E2CFFA9}"/>
              </a:ext>
            </a:extLst>
          </p:cNvPr>
          <p:cNvSpPr>
            <a:spLocks noGrp="1"/>
          </p:cNvSpPr>
          <p:nvPr>
            <p:ph sz="quarter" idx="11"/>
          </p:nvPr>
        </p:nvSpPr>
        <p:spPr>
          <a:xfrm>
            <a:off x="342900" y="1276709"/>
            <a:ext cx="8458200" cy="872131"/>
          </a:xfrm>
        </p:spPr>
        <p:txBody>
          <a:bodyPr/>
          <a:lstStyle/>
          <a:p>
            <a:pPr marL="292608" indent="-292608">
              <a:buFont typeface="Arial" panose="020B0604020202020204" pitchFamily="34" charset="0"/>
              <a:buChar char="•"/>
            </a:pPr>
            <a:r>
              <a:rPr lang="en-US" noProof="0" dirty="0"/>
              <a:t>A future cash flow can be discounted at different interest rates per period.</a:t>
            </a:r>
          </a:p>
        </p:txBody>
      </p:sp>
      <p:graphicFrame>
        <p:nvGraphicFramePr>
          <p:cNvPr id="8" name="Object 7">
            <a:extLst>
              <a:ext uri="{FF2B5EF4-FFF2-40B4-BE49-F238E27FC236}">
                <a16:creationId xmlns:a16="http://schemas.microsoft.com/office/drawing/2014/main" xmlns="" id="{9B90CF2C-BDD4-438F-8615-DDD442BDB6C1}"/>
              </a:ext>
            </a:extLst>
          </p:cNvPr>
          <p:cNvGraphicFramePr>
            <a:graphicFrameLocks noChangeAspect="1"/>
          </p:cNvGraphicFramePr>
          <p:nvPr>
            <p:extLst>
              <p:ext uri="{D42A27DB-BD31-4B8C-83A1-F6EECF244321}">
                <p14:modId xmlns:p14="http://schemas.microsoft.com/office/powerpoint/2010/main" val="3065638828"/>
              </p:ext>
            </p:extLst>
          </p:nvPr>
        </p:nvGraphicFramePr>
        <p:xfrm>
          <a:off x="425609" y="2388986"/>
          <a:ext cx="8270875" cy="262659"/>
        </p:xfrm>
        <a:graphic>
          <a:graphicData uri="http://schemas.openxmlformats.org/presentationml/2006/ole">
            <mc:AlternateContent xmlns:mc="http://schemas.openxmlformats.org/markup-compatibility/2006">
              <mc:Choice xmlns:v="urn:schemas-microsoft-com:vml" Requires="v">
                <p:oleObj spid="_x0000_s11272" name="Equation" r:id="rId3" imgW="10007280" imgH="317160" progId="Equation.DSMT4">
                  <p:embed/>
                </p:oleObj>
              </mc:Choice>
              <mc:Fallback>
                <p:oleObj name="Equation" r:id="rId3" imgW="10007280" imgH="317160" progId="Equation.DSMT4">
                  <p:embed/>
                  <p:pic>
                    <p:nvPicPr>
                      <p:cNvPr id="0" name=""/>
                      <p:cNvPicPr/>
                      <p:nvPr/>
                    </p:nvPicPr>
                    <p:blipFill>
                      <a:blip r:embed="rId4"/>
                      <a:stretch>
                        <a:fillRect/>
                      </a:stretch>
                    </p:blipFill>
                    <p:spPr>
                      <a:xfrm>
                        <a:off x="425609" y="2388986"/>
                        <a:ext cx="8270875" cy="262659"/>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xmlns="" id="{9FE1B6BC-9490-4191-B772-82EF6C89AD13}"/>
              </a:ext>
            </a:extLst>
          </p:cNvPr>
          <p:cNvGraphicFramePr>
            <a:graphicFrameLocks noChangeAspect="1"/>
          </p:cNvGraphicFramePr>
          <p:nvPr>
            <p:extLst>
              <p:ext uri="{D42A27DB-BD31-4B8C-83A1-F6EECF244321}">
                <p14:modId xmlns:p14="http://schemas.microsoft.com/office/powerpoint/2010/main" val="3297904066"/>
              </p:ext>
            </p:extLst>
          </p:nvPr>
        </p:nvGraphicFramePr>
        <p:xfrm>
          <a:off x="879951" y="3127375"/>
          <a:ext cx="7362190" cy="908050"/>
        </p:xfrm>
        <a:graphic>
          <a:graphicData uri="http://schemas.openxmlformats.org/presentationml/2006/ole">
            <mc:AlternateContent xmlns:mc="http://schemas.openxmlformats.org/markup-compatibility/2006">
              <mc:Choice xmlns:v="urn:schemas-microsoft-com:vml" Requires="v">
                <p:oleObj spid="_x0000_s11273" name="Equation" r:id="rId5" imgW="6692760" imgH="825480" progId="Equation.DSMT4">
                  <p:embed/>
                </p:oleObj>
              </mc:Choice>
              <mc:Fallback>
                <p:oleObj name="Equation" r:id="rId5" imgW="6692760" imgH="825480" progId="Equation.DSMT4">
                  <p:embed/>
                  <p:pic>
                    <p:nvPicPr>
                      <p:cNvPr id="0" name=""/>
                      <p:cNvPicPr/>
                      <p:nvPr/>
                    </p:nvPicPr>
                    <p:blipFill>
                      <a:blip r:embed="rId6"/>
                      <a:stretch>
                        <a:fillRect/>
                      </a:stretch>
                    </p:blipFill>
                    <p:spPr>
                      <a:xfrm>
                        <a:off x="879951" y="3127375"/>
                        <a:ext cx="7362190" cy="908050"/>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xmlns="" id="{68A238C7-5203-43DF-ACAB-90AA5002C566}"/>
              </a:ext>
            </a:extLst>
          </p:cNvPr>
          <p:cNvSpPr>
            <a:spLocks noGrp="1"/>
          </p:cNvSpPr>
          <p:nvPr>
            <p:ph type="sldNum" sz="quarter" idx="4"/>
          </p:nvPr>
        </p:nvSpPr>
        <p:spPr/>
        <p:txBody>
          <a:bodyPr/>
          <a:lstStyle/>
          <a:p>
            <a:fld id="{68151E55-6873-49E2-B8D5-2F265E6F1973}" type="slidenum">
              <a:rPr lang="en-US" smtClean="0"/>
              <a:pPr/>
              <a:t>24</a:t>
            </a:fld>
            <a:endParaRPr lang="en-US" dirty="0"/>
          </a:p>
        </p:txBody>
      </p:sp>
    </p:spTree>
    <p:extLst>
      <p:ext uri="{BB962C8B-B14F-4D97-AF65-F5344CB8AC3E}">
        <p14:creationId xmlns:p14="http://schemas.microsoft.com/office/powerpoint/2010/main" val="2184936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62BAFA-737A-4373-9047-B6C6216F8266}"/>
              </a:ext>
            </a:extLst>
          </p:cNvPr>
          <p:cNvSpPr>
            <a:spLocks noGrp="1"/>
          </p:cNvSpPr>
          <p:nvPr>
            <p:ph type="title"/>
          </p:nvPr>
        </p:nvSpPr>
        <p:spPr/>
        <p:txBody>
          <a:bodyPr>
            <a:normAutofit fontScale="90000"/>
          </a:bodyPr>
          <a:lstStyle/>
          <a:p>
            <a:r>
              <a:rPr lang="en-US" noProof="0" dirty="0"/>
              <a:t>Discounting with Multiple Rates Example</a:t>
            </a:r>
          </a:p>
        </p:txBody>
      </p:sp>
      <p:sp>
        <p:nvSpPr>
          <p:cNvPr id="3" name="Content Placeholder 2">
            <a:extLst>
              <a:ext uri="{FF2B5EF4-FFF2-40B4-BE49-F238E27FC236}">
                <a16:creationId xmlns:a16="http://schemas.microsoft.com/office/drawing/2014/main" xmlns="" id="{1DA404E9-347C-4C2C-8BC3-0C324E2CFFA9}"/>
              </a:ext>
            </a:extLst>
          </p:cNvPr>
          <p:cNvSpPr>
            <a:spLocks noGrp="1"/>
          </p:cNvSpPr>
          <p:nvPr>
            <p:ph sz="quarter" idx="11"/>
          </p:nvPr>
        </p:nvSpPr>
        <p:spPr>
          <a:xfrm>
            <a:off x="342900" y="1276709"/>
            <a:ext cx="8458200" cy="2152291"/>
          </a:xfrm>
        </p:spPr>
        <p:txBody>
          <a:bodyPr/>
          <a:lstStyle/>
          <a:p>
            <a:pPr marL="292608" indent="-292608">
              <a:buFont typeface="Arial" panose="020B0604020202020204" pitchFamily="34" charset="0"/>
              <a:buChar char="•"/>
            </a:pPr>
            <a:r>
              <a:rPr lang="en-US" noProof="0" dirty="0"/>
              <a:t>Suppose we expect interest rates to increase over the next few years, from 7% this year, to 8% next year, to 8.5% in the third year</a:t>
            </a:r>
          </a:p>
          <a:p>
            <a:pPr marL="292608" indent="-292608">
              <a:buFont typeface="Arial" panose="020B0604020202020204" pitchFamily="34" charset="0"/>
              <a:buChar char="•"/>
            </a:pPr>
            <a:r>
              <a:rPr lang="en-US" noProof="0" dirty="0"/>
              <a:t>What is the present value of a future $2,500 cash flow in year 3?</a:t>
            </a:r>
          </a:p>
        </p:txBody>
      </p:sp>
      <p:pic>
        <p:nvPicPr>
          <p:cNvPr id="4" name="Picture 3" descr="A time line shows period above the line and cash flow below the line. Part a.">
            <a:extLst>
              <a:ext uri="{FF2B5EF4-FFF2-40B4-BE49-F238E27FC236}">
                <a16:creationId xmlns:a16="http://schemas.microsoft.com/office/drawing/2014/main" xmlns="" id="{600FBFF1-0EC2-4248-9C5B-E507163DF521}"/>
              </a:ext>
            </a:extLst>
          </p:cNvPr>
          <p:cNvPicPr>
            <a:picLocks noChangeAspect="1"/>
          </p:cNvPicPr>
          <p:nvPr/>
        </p:nvPicPr>
        <p:blipFill>
          <a:blip r:embed="rId3"/>
          <a:stretch>
            <a:fillRect/>
          </a:stretch>
        </p:blipFill>
        <p:spPr>
          <a:xfrm>
            <a:off x="645835" y="3910544"/>
            <a:ext cx="7852329" cy="926672"/>
          </a:xfrm>
          <a:prstGeom prst="rect">
            <a:avLst/>
          </a:prstGeom>
        </p:spPr>
      </p:pic>
      <p:graphicFrame>
        <p:nvGraphicFramePr>
          <p:cNvPr id="5" name="Object 4">
            <a:extLst>
              <a:ext uri="{FF2B5EF4-FFF2-40B4-BE49-F238E27FC236}">
                <a16:creationId xmlns:a16="http://schemas.microsoft.com/office/drawing/2014/main" xmlns="" id="{0F840C71-5F8D-47BA-98EE-4427273A650B}"/>
              </a:ext>
            </a:extLst>
          </p:cNvPr>
          <p:cNvGraphicFramePr>
            <a:graphicFrameLocks noChangeAspect="1"/>
          </p:cNvGraphicFramePr>
          <p:nvPr>
            <p:extLst>
              <p:ext uri="{D42A27DB-BD31-4B8C-83A1-F6EECF244321}">
                <p14:modId xmlns:p14="http://schemas.microsoft.com/office/powerpoint/2010/main" val="2928026354"/>
              </p:ext>
            </p:extLst>
          </p:nvPr>
        </p:nvGraphicFramePr>
        <p:xfrm>
          <a:off x="1974849" y="5133340"/>
          <a:ext cx="5194300" cy="673100"/>
        </p:xfrm>
        <a:graphic>
          <a:graphicData uri="http://schemas.openxmlformats.org/presentationml/2006/ole">
            <mc:AlternateContent xmlns:mc="http://schemas.openxmlformats.org/markup-compatibility/2006">
              <mc:Choice xmlns:v="urn:schemas-microsoft-com:vml" Requires="v">
                <p:oleObj spid="_x0000_s12293" name="Equation" r:id="rId4" imgW="5194080" imgH="672840" progId="Equation.DSMT4">
                  <p:embed/>
                </p:oleObj>
              </mc:Choice>
              <mc:Fallback>
                <p:oleObj name="Equation" r:id="rId4" imgW="5194080" imgH="672840" progId="Equation.DSMT4">
                  <p:embed/>
                  <p:pic>
                    <p:nvPicPr>
                      <p:cNvPr id="0" name=""/>
                      <p:cNvPicPr/>
                      <p:nvPr/>
                    </p:nvPicPr>
                    <p:blipFill>
                      <a:blip r:embed="rId5"/>
                      <a:stretch>
                        <a:fillRect/>
                      </a:stretch>
                    </p:blipFill>
                    <p:spPr>
                      <a:xfrm>
                        <a:off x="1974849" y="5133340"/>
                        <a:ext cx="5194300" cy="673100"/>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xmlns="" id="{72D7A57B-8E62-4A71-B2B7-CDCB6263BA89}"/>
              </a:ext>
            </a:extLst>
          </p:cNvPr>
          <p:cNvSpPr>
            <a:spLocks noGrp="1"/>
          </p:cNvSpPr>
          <p:nvPr>
            <p:ph type="body" sz="quarter" idx="12"/>
          </p:nvPr>
        </p:nvSpPr>
        <p:spPr>
          <a:xfrm>
            <a:off x="2499360" y="6263640"/>
            <a:ext cx="4023359" cy="251460"/>
          </a:xfrm>
        </p:spPr>
        <p:txBody>
          <a:bodyPr/>
          <a:lstStyle/>
          <a:p>
            <a:r>
              <a:rPr lang="en-US" sz="1200" noProof="0" dirty="0">
                <a:hlinkClick r:id="rId6" action="ppaction://hlinksldjump"/>
              </a:rPr>
              <a:t>Access the text alternative for slide images.</a:t>
            </a:r>
            <a:endParaRPr lang="en-US" sz="1200" noProof="0" dirty="0"/>
          </a:p>
        </p:txBody>
      </p:sp>
      <p:sp>
        <p:nvSpPr>
          <p:cNvPr id="6" name="Slide Number Placeholder 5">
            <a:extLst>
              <a:ext uri="{FF2B5EF4-FFF2-40B4-BE49-F238E27FC236}">
                <a16:creationId xmlns:a16="http://schemas.microsoft.com/office/drawing/2014/main" xmlns="" id="{68A238C7-5203-43DF-ACAB-90AA5002C566}"/>
              </a:ext>
            </a:extLst>
          </p:cNvPr>
          <p:cNvSpPr>
            <a:spLocks noGrp="1"/>
          </p:cNvSpPr>
          <p:nvPr>
            <p:ph type="sldNum" sz="quarter" idx="4"/>
          </p:nvPr>
        </p:nvSpPr>
        <p:spPr/>
        <p:txBody>
          <a:bodyPr/>
          <a:lstStyle/>
          <a:p>
            <a:fld id="{68151E55-6873-49E2-B8D5-2F265E6F1973}" type="slidenum">
              <a:rPr lang="en-US" smtClean="0"/>
              <a:pPr/>
              <a:t>25</a:t>
            </a:fld>
            <a:endParaRPr lang="en-US" dirty="0"/>
          </a:p>
        </p:txBody>
      </p:sp>
    </p:spTree>
    <p:extLst>
      <p:ext uri="{BB962C8B-B14F-4D97-AF65-F5344CB8AC3E}">
        <p14:creationId xmlns:p14="http://schemas.microsoft.com/office/powerpoint/2010/main" val="2021117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4F781B-90FC-4226-8097-E31DD1C2BC75}"/>
              </a:ext>
            </a:extLst>
          </p:cNvPr>
          <p:cNvSpPr>
            <a:spLocks noGrp="1"/>
          </p:cNvSpPr>
          <p:nvPr>
            <p:ph type="title"/>
          </p:nvPr>
        </p:nvSpPr>
        <p:spPr/>
        <p:txBody>
          <a:bodyPr>
            <a:normAutofit fontScale="90000"/>
          </a:bodyPr>
          <a:lstStyle/>
          <a:p>
            <a:r>
              <a:rPr lang="en-US" noProof="0" dirty="0"/>
              <a:t>Using Present Values and Future Values</a:t>
            </a:r>
          </a:p>
        </p:txBody>
      </p:sp>
      <p:sp>
        <p:nvSpPr>
          <p:cNvPr id="3" name="Content Placeholder 2">
            <a:extLst>
              <a:ext uri="{FF2B5EF4-FFF2-40B4-BE49-F238E27FC236}">
                <a16:creationId xmlns:a16="http://schemas.microsoft.com/office/drawing/2014/main" xmlns="" id="{FF657FE2-DFDE-4349-A27F-2248324264E5}"/>
              </a:ext>
            </a:extLst>
          </p:cNvPr>
          <p:cNvSpPr>
            <a:spLocks noGrp="1"/>
          </p:cNvSpPr>
          <p:nvPr>
            <p:ph sz="quarter" idx="11"/>
          </p:nvPr>
        </p:nvSpPr>
        <p:spPr/>
        <p:txBody>
          <a:bodyPr/>
          <a:lstStyle/>
          <a:p>
            <a:r>
              <a:rPr lang="en-US" noProof="0" dirty="0"/>
              <a:t>Managers may find it useful to move cash flows to different points in time as they analyze investment projects, debt management, and cash flows</a:t>
            </a:r>
          </a:p>
          <a:p>
            <a:pPr marL="292608" indent="-292608">
              <a:buFont typeface="Arial" panose="020B0604020202020204" pitchFamily="34" charset="0"/>
              <a:buChar char="•"/>
            </a:pPr>
            <a:r>
              <a:rPr lang="en-US" noProof="0" dirty="0"/>
              <a:t>Use P</a:t>
            </a:r>
            <a:r>
              <a:rPr lang="en-US" sz="100" noProof="0" dirty="0"/>
              <a:t> </a:t>
            </a:r>
            <a:r>
              <a:rPr lang="en-US" noProof="0" dirty="0"/>
              <a:t>V equation to move cash flows to an </a:t>
            </a:r>
            <a:r>
              <a:rPr lang="en-US" i="1" noProof="0" dirty="0"/>
              <a:t>earlier</a:t>
            </a:r>
            <a:r>
              <a:rPr lang="en-US" noProof="0" dirty="0"/>
              <a:t> point in time.</a:t>
            </a:r>
          </a:p>
          <a:p>
            <a:pPr marL="292608" indent="-292608">
              <a:buFont typeface="Arial" panose="020B0604020202020204" pitchFamily="34" charset="0"/>
              <a:buChar char="•"/>
            </a:pPr>
            <a:r>
              <a:rPr lang="en-US" noProof="0" dirty="0"/>
              <a:t>Use F</a:t>
            </a:r>
            <a:r>
              <a:rPr lang="en-US" sz="100" noProof="0" dirty="0"/>
              <a:t> </a:t>
            </a:r>
            <a:r>
              <a:rPr lang="en-US" noProof="0" dirty="0"/>
              <a:t>V calculation to move cash flows to a </a:t>
            </a:r>
            <a:r>
              <a:rPr lang="en-US" i="1" noProof="0" dirty="0"/>
              <a:t>later</a:t>
            </a:r>
            <a:r>
              <a:rPr lang="en-US" noProof="0" dirty="0"/>
              <a:t> point in time.</a:t>
            </a:r>
          </a:p>
        </p:txBody>
      </p:sp>
      <p:sp>
        <p:nvSpPr>
          <p:cNvPr id="6" name="Slide Number Placeholder 5">
            <a:extLst>
              <a:ext uri="{FF2B5EF4-FFF2-40B4-BE49-F238E27FC236}">
                <a16:creationId xmlns:a16="http://schemas.microsoft.com/office/drawing/2014/main" xmlns="" id="{F4AF3C6D-1D05-406D-B69C-8EF74F9FB5C0}"/>
              </a:ext>
            </a:extLst>
          </p:cNvPr>
          <p:cNvSpPr>
            <a:spLocks noGrp="1"/>
          </p:cNvSpPr>
          <p:nvPr>
            <p:ph type="sldNum" sz="quarter" idx="4"/>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1226315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62BAFA-737A-4373-9047-B6C6216F8266}"/>
              </a:ext>
            </a:extLst>
          </p:cNvPr>
          <p:cNvSpPr>
            <a:spLocks noGrp="1"/>
          </p:cNvSpPr>
          <p:nvPr>
            <p:ph type="title"/>
          </p:nvPr>
        </p:nvSpPr>
        <p:spPr/>
        <p:txBody>
          <a:bodyPr>
            <a:normAutofit/>
          </a:bodyPr>
          <a:lstStyle/>
          <a:p>
            <a:r>
              <a:rPr lang="en-US" noProof="0" dirty="0"/>
              <a:t>Moving Cash Flows Example </a:t>
            </a:r>
            <a:r>
              <a:rPr lang="en-US" sz="1000" b="0" baseline="0" noProof="0" dirty="0"/>
              <a:t>1</a:t>
            </a:r>
          </a:p>
        </p:txBody>
      </p:sp>
      <p:sp>
        <p:nvSpPr>
          <p:cNvPr id="3" name="Content Placeholder 2">
            <a:extLst>
              <a:ext uri="{FF2B5EF4-FFF2-40B4-BE49-F238E27FC236}">
                <a16:creationId xmlns:a16="http://schemas.microsoft.com/office/drawing/2014/main" xmlns="" id="{1DA404E9-347C-4C2C-8BC3-0C324E2CFFA9}"/>
              </a:ext>
            </a:extLst>
          </p:cNvPr>
          <p:cNvSpPr>
            <a:spLocks noGrp="1"/>
          </p:cNvSpPr>
          <p:nvPr>
            <p:ph sz="quarter" idx="11"/>
          </p:nvPr>
        </p:nvSpPr>
        <p:spPr>
          <a:xfrm>
            <a:off x="342900" y="1276709"/>
            <a:ext cx="8458200" cy="1678475"/>
          </a:xfrm>
        </p:spPr>
        <p:txBody>
          <a:bodyPr/>
          <a:lstStyle/>
          <a:p>
            <a:r>
              <a:rPr lang="en-US" noProof="0" dirty="0"/>
              <a:t>What’s the value in year 2 of a $200 cash flow to be received in three years, when interest rates are 6 percent?</a:t>
            </a:r>
          </a:p>
          <a:p>
            <a:pPr marL="292608" indent="-292608">
              <a:buFont typeface="Arial" panose="020B0604020202020204" pitchFamily="34" charset="0"/>
              <a:buChar char="•"/>
            </a:pPr>
            <a:r>
              <a:rPr lang="en-US" noProof="0" dirty="0"/>
              <a:t>Move $200 payment in the third year to a value in the second year, requiring the P</a:t>
            </a:r>
            <a:r>
              <a:rPr lang="en-US" sz="100" noProof="0" dirty="0"/>
              <a:t> </a:t>
            </a:r>
            <a:r>
              <a:rPr lang="en-US" noProof="0" dirty="0"/>
              <a:t>V equation.</a:t>
            </a:r>
          </a:p>
        </p:txBody>
      </p:sp>
      <p:pic>
        <p:nvPicPr>
          <p:cNvPr id="7" name="Picture 6" descr="A time line shows period above the line and cash flow below the line. Part b.">
            <a:extLst>
              <a:ext uri="{FF2B5EF4-FFF2-40B4-BE49-F238E27FC236}">
                <a16:creationId xmlns:a16="http://schemas.microsoft.com/office/drawing/2014/main" xmlns="" id="{10B71E4F-E1C8-4EBA-A1E6-59C4BC9A57B3}"/>
              </a:ext>
            </a:extLst>
          </p:cNvPr>
          <p:cNvPicPr>
            <a:picLocks noChangeAspect="1"/>
          </p:cNvPicPr>
          <p:nvPr/>
        </p:nvPicPr>
        <p:blipFill>
          <a:blip r:embed="rId3"/>
          <a:stretch>
            <a:fillRect/>
          </a:stretch>
        </p:blipFill>
        <p:spPr>
          <a:xfrm>
            <a:off x="778296" y="3477495"/>
            <a:ext cx="7587406" cy="969902"/>
          </a:xfrm>
          <a:prstGeom prst="rect">
            <a:avLst/>
          </a:prstGeom>
        </p:spPr>
      </p:pic>
      <p:graphicFrame>
        <p:nvGraphicFramePr>
          <p:cNvPr id="8" name="Object 7">
            <a:extLst>
              <a:ext uri="{FF2B5EF4-FFF2-40B4-BE49-F238E27FC236}">
                <a16:creationId xmlns:a16="http://schemas.microsoft.com/office/drawing/2014/main" xmlns="" id="{08FDA3A3-9B68-42AE-897A-2DDA4468F688}"/>
              </a:ext>
            </a:extLst>
          </p:cNvPr>
          <p:cNvGraphicFramePr>
            <a:graphicFrameLocks noChangeAspect="1"/>
          </p:cNvGraphicFramePr>
          <p:nvPr>
            <p:extLst>
              <p:ext uri="{D42A27DB-BD31-4B8C-83A1-F6EECF244321}">
                <p14:modId xmlns:p14="http://schemas.microsoft.com/office/powerpoint/2010/main" val="2119694348"/>
              </p:ext>
            </p:extLst>
          </p:nvPr>
        </p:nvGraphicFramePr>
        <p:xfrm>
          <a:off x="1903413" y="4849813"/>
          <a:ext cx="5337175" cy="419100"/>
        </p:xfrm>
        <a:graphic>
          <a:graphicData uri="http://schemas.openxmlformats.org/presentationml/2006/ole">
            <mc:AlternateContent xmlns:mc="http://schemas.openxmlformats.org/markup-compatibility/2006">
              <mc:Choice xmlns:v="urn:schemas-microsoft-com:vml" Requires="v">
                <p:oleObj spid="_x0000_s13317" name="Equation" r:id="rId4" imgW="4851360" imgH="380880" progId="Equation.DSMT4">
                  <p:embed/>
                </p:oleObj>
              </mc:Choice>
              <mc:Fallback>
                <p:oleObj name="Equation" r:id="rId4" imgW="4851360" imgH="380880" progId="Equation.DSMT4">
                  <p:embed/>
                  <p:pic>
                    <p:nvPicPr>
                      <p:cNvPr id="0" name=""/>
                      <p:cNvPicPr/>
                      <p:nvPr/>
                    </p:nvPicPr>
                    <p:blipFill>
                      <a:blip r:embed="rId5"/>
                      <a:stretch>
                        <a:fillRect/>
                      </a:stretch>
                    </p:blipFill>
                    <p:spPr>
                      <a:xfrm>
                        <a:off x="1903413" y="4849813"/>
                        <a:ext cx="5337175" cy="419100"/>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xmlns="" id="{68725AC4-F96F-490C-ABC7-355AB808D4D3}"/>
              </a:ext>
            </a:extLst>
          </p:cNvPr>
          <p:cNvSpPr>
            <a:spLocks noGrp="1"/>
          </p:cNvSpPr>
          <p:nvPr>
            <p:ph type="body" sz="quarter" idx="12"/>
          </p:nvPr>
        </p:nvSpPr>
        <p:spPr>
          <a:xfrm>
            <a:off x="3369347" y="6248400"/>
            <a:ext cx="3168613" cy="266700"/>
          </a:xfrm>
        </p:spPr>
        <p:txBody>
          <a:bodyPr/>
          <a:lstStyle/>
          <a:p>
            <a:r>
              <a:rPr lang="en-US" sz="1200" noProof="0" dirty="0">
                <a:hlinkClick r:id="rId6" action="ppaction://hlinksldjump"/>
              </a:rPr>
              <a:t>Access the text alternative for slide images.</a:t>
            </a:r>
            <a:endParaRPr lang="en-US" sz="1200" noProof="0" dirty="0"/>
          </a:p>
        </p:txBody>
      </p:sp>
      <p:sp>
        <p:nvSpPr>
          <p:cNvPr id="6" name="Slide Number Placeholder 5">
            <a:extLst>
              <a:ext uri="{FF2B5EF4-FFF2-40B4-BE49-F238E27FC236}">
                <a16:creationId xmlns:a16="http://schemas.microsoft.com/office/drawing/2014/main" xmlns="" id="{68A238C7-5203-43DF-ACAB-90AA5002C566}"/>
              </a:ext>
            </a:extLst>
          </p:cNvPr>
          <p:cNvSpPr>
            <a:spLocks noGrp="1"/>
          </p:cNvSpPr>
          <p:nvPr>
            <p:ph type="sldNum" sz="quarter" idx="4"/>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1637727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1A3855-ADAD-4D69-A3B0-98B561AAA0A9}"/>
              </a:ext>
            </a:extLst>
          </p:cNvPr>
          <p:cNvSpPr>
            <a:spLocks noGrp="1"/>
          </p:cNvSpPr>
          <p:nvPr>
            <p:ph type="title"/>
          </p:nvPr>
        </p:nvSpPr>
        <p:spPr/>
        <p:txBody>
          <a:bodyPr>
            <a:noAutofit/>
          </a:bodyPr>
          <a:lstStyle/>
          <a:p>
            <a:r>
              <a:rPr lang="en-US" noProof="0" dirty="0"/>
              <a:t>Moving Cash Flows Example </a:t>
            </a:r>
            <a:r>
              <a:rPr lang="en-US" sz="1000" b="0" baseline="0" noProof="0" dirty="0"/>
              <a:t>2</a:t>
            </a:r>
          </a:p>
        </p:txBody>
      </p:sp>
      <p:sp>
        <p:nvSpPr>
          <p:cNvPr id="3" name="Content Placeholder 2">
            <a:extLst>
              <a:ext uri="{FF2B5EF4-FFF2-40B4-BE49-F238E27FC236}">
                <a16:creationId xmlns:a16="http://schemas.microsoft.com/office/drawing/2014/main" xmlns="" id="{1EFEC54E-CA47-4069-A187-7B51805365AA}"/>
              </a:ext>
            </a:extLst>
          </p:cNvPr>
          <p:cNvSpPr>
            <a:spLocks noGrp="1"/>
          </p:cNvSpPr>
          <p:nvPr>
            <p:ph sz="quarter" idx="11"/>
          </p:nvPr>
        </p:nvSpPr>
        <p:spPr>
          <a:xfrm>
            <a:off x="342900" y="1276709"/>
            <a:ext cx="8458200" cy="1329331"/>
          </a:xfrm>
        </p:spPr>
        <p:txBody>
          <a:bodyPr/>
          <a:lstStyle/>
          <a:p>
            <a:r>
              <a:rPr lang="en-US" noProof="0" dirty="0"/>
              <a:t>What about moving the $200 cash flow to year 5?</a:t>
            </a:r>
          </a:p>
          <a:p>
            <a:pPr marL="292608" indent="-292608">
              <a:buFont typeface="Arial" panose="020B0604020202020204" pitchFamily="34" charset="0"/>
              <a:buChar char="•"/>
            </a:pPr>
            <a:r>
              <a:rPr lang="en-US" noProof="0" dirty="0"/>
              <a:t>Requires moving the cash flow later in time by two years, so we use the future value equation.</a:t>
            </a:r>
          </a:p>
        </p:txBody>
      </p:sp>
      <p:graphicFrame>
        <p:nvGraphicFramePr>
          <p:cNvPr id="4" name="Object 3">
            <a:extLst>
              <a:ext uri="{FF2B5EF4-FFF2-40B4-BE49-F238E27FC236}">
                <a16:creationId xmlns:a16="http://schemas.microsoft.com/office/drawing/2014/main" xmlns="" id="{9D1AF121-5C6A-4B3E-A247-AEFF9D339A48}"/>
              </a:ext>
            </a:extLst>
          </p:cNvPr>
          <p:cNvGraphicFramePr>
            <a:graphicFrameLocks noChangeAspect="1"/>
          </p:cNvGraphicFramePr>
          <p:nvPr>
            <p:extLst>
              <p:ext uri="{D42A27DB-BD31-4B8C-83A1-F6EECF244321}">
                <p14:modId xmlns:p14="http://schemas.microsoft.com/office/powerpoint/2010/main" val="2318336516"/>
              </p:ext>
            </p:extLst>
          </p:nvPr>
        </p:nvGraphicFramePr>
        <p:xfrm>
          <a:off x="625475" y="3208020"/>
          <a:ext cx="7893050" cy="502920"/>
        </p:xfrm>
        <a:graphic>
          <a:graphicData uri="http://schemas.openxmlformats.org/presentationml/2006/ole">
            <mc:AlternateContent xmlns:mc="http://schemas.openxmlformats.org/markup-compatibility/2006">
              <mc:Choice xmlns:v="urn:schemas-microsoft-com:vml" Requires="v">
                <p:oleObj spid="_x0000_s14341" name="Equation" r:id="rId3" imgW="7175160" imgH="457200" progId="Equation.DSMT4">
                  <p:embed/>
                </p:oleObj>
              </mc:Choice>
              <mc:Fallback>
                <p:oleObj name="Equation" r:id="rId3" imgW="7175160" imgH="457200" progId="Equation.DSMT4">
                  <p:embed/>
                  <p:pic>
                    <p:nvPicPr>
                      <p:cNvPr id="0" name=""/>
                      <p:cNvPicPr/>
                      <p:nvPr/>
                    </p:nvPicPr>
                    <p:blipFill>
                      <a:blip r:embed="rId4"/>
                      <a:stretch>
                        <a:fillRect/>
                      </a:stretch>
                    </p:blipFill>
                    <p:spPr>
                      <a:xfrm>
                        <a:off x="625475" y="3208020"/>
                        <a:ext cx="7893050" cy="502920"/>
                      </a:xfrm>
                      <a:prstGeom prst="rect">
                        <a:avLst/>
                      </a:prstGeom>
                    </p:spPr>
                  </p:pic>
                </p:oleObj>
              </mc:Fallback>
            </mc:AlternateContent>
          </a:graphicData>
        </a:graphic>
      </p:graphicFrame>
      <p:graphicFrame>
        <p:nvGraphicFramePr>
          <p:cNvPr id="8" name="Table 8">
            <a:extLst>
              <a:ext uri="{FF2B5EF4-FFF2-40B4-BE49-F238E27FC236}">
                <a16:creationId xmlns:a16="http://schemas.microsoft.com/office/drawing/2014/main" xmlns="" id="{8EF69D2D-D4D2-4F9B-97BC-D1AE6C073F19}"/>
              </a:ext>
            </a:extLst>
          </p:cNvPr>
          <p:cNvGraphicFramePr>
            <a:graphicFrameLocks noGrp="1"/>
          </p:cNvGraphicFramePr>
          <p:nvPr>
            <p:extLst>
              <p:ext uri="{D42A27DB-BD31-4B8C-83A1-F6EECF244321}">
                <p14:modId xmlns:p14="http://schemas.microsoft.com/office/powerpoint/2010/main" val="2126986154"/>
              </p:ext>
            </p:extLst>
          </p:nvPr>
        </p:nvGraphicFramePr>
        <p:xfrm>
          <a:off x="1051560" y="4384040"/>
          <a:ext cx="6979920" cy="1112520"/>
        </p:xfrm>
        <a:graphic>
          <a:graphicData uri="http://schemas.openxmlformats.org/drawingml/2006/table">
            <a:tbl>
              <a:tblPr firstRow="1" bandRow="1">
                <a:tableStyleId>{5C22544A-7EE6-4342-B048-85BDC9FD1C3A}</a:tableStyleId>
              </a:tblPr>
              <a:tblGrid>
                <a:gridCol w="1163320">
                  <a:extLst>
                    <a:ext uri="{9D8B030D-6E8A-4147-A177-3AD203B41FA5}">
                      <a16:colId xmlns:a16="http://schemas.microsoft.com/office/drawing/2014/main" xmlns="" val="3153181117"/>
                    </a:ext>
                  </a:extLst>
                </a:gridCol>
                <a:gridCol w="1163320">
                  <a:extLst>
                    <a:ext uri="{9D8B030D-6E8A-4147-A177-3AD203B41FA5}">
                      <a16:colId xmlns:a16="http://schemas.microsoft.com/office/drawing/2014/main" xmlns="" val="3687210394"/>
                    </a:ext>
                  </a:extLst>
                </a:gridCol>
                <a:gridCol w="1163320">
                  <a:extLst>
                    <a:ext uri="{9D8B030D-6E8A-4147-A177-3AD203B41FA5}">
                      <a16:colId xmlns:a16="http://schemas.microsoft.com/office/drawing/2014/main" xmlns="" val="220054324"/>
                    </a:ext>
                  </a:extLst>
                </a:gridCol>
                <a:gridCol w="1163320">
                  <a:extLst>
                    <a:ext uri="{9D8B030D-6E8A-4147-A177-3AD203B41FA5}">
                      <a16:colId xmlns:a16="http://schemas.microsoft.com/office/drawing/2014/main" xmlns="" val="3065918734"/>
                    </a:ext>
                  </a:extLst>
                </a:gridCol>
                <a:gridCol w="1163320">
                  <a:extLst>
                    <a:ext uri="{9D8B030D-6E8A-4147-A177-3AD203B41FA5}">
                      <a16:colId xmlns:a16="http://schemas.microsoft.com/office/drawing/2014/main" xmlns="" val="4232114708"/>
                    </a:ext>
                  </a:extLst>
                </a:gridCol>
                <a:gridCol w="1163320">
                  <a:extLst>
                    <a:ext uri="{9D8B030D-6E8A-4147-A177-3AD203B41FA5}">
                      <a16:colId xmlns:a16="http://schemas.microsoft.com/office/drawing/2014/main" xmlns="" val="226042770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1" dirty="0">
                          <a:solidFill>
                            <a:srgbClr val="000000"/>
                          </a:solidFill>
                        </a:rPr>
                        <a:t>INPUT</a:t>
                      </a:r>
                      <a:endParaRPr lang="en-US" altLang="en-US" sz="1200" b="1" dirty="0">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2</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6</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−200</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0</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endParaRPr lang="en-US"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320184002"/>
                  </a:ext>
                </a:extLst>
              </a:tr>
              <a:tr h="370840">
                <a:tc>
                  <a:txBody>
                    <a:bodyPr/>
                    <a:lstStyle/>
                    <a:p>
                      <a:endParaRPr lang="en-US" b="1"/>
                    </a:p>
                  </a:txBody>
                  <a:tcPr>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I/YR</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PV</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PMT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FV</a:t>
                      </a: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47597712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1" dirty="0">
                          <a:solidFill>
                            <a:srgbClr val="A9131A"/>
                          </a:solidFill>
                        </a:rPr>
                        <a:t>OUTPUT</a:t>
                      </a:r>
                      <a:endParaRPr lang="en-US" altLang="en-US" sz="1200" b="1" dirty="0">
                        <a:solidFill>
                          <a:srgbClr val="A9131A"/>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dirty="0">
                        <a:solidFill>
                          <a:srgbClr val="A9131A"/>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solidFill>
                            <a:srgbClr val="A9131A"/>
                          </a:solidFill>
                        </a:rPr>
                        <a:t>224.72</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210421259"/>
                  </a:ext>
                </a:extLst>
              </a:tr>
            </a:tbl>
          </a:graphicData>
        </a:graphic>
      </p:graphicFrame>
      <p:sp>
        <p:nvSpPr>
          <p:cNvPr id="6" name="Slide Number Placeholder 5">
            <a:extLst>
              <a:ext uri="{FF2B5EF4-FFF2-40B4-BE49-F238E27FC236}">
                <a16:creationId xmlns:a16="http://schemas.microsoft.com/office/drawing/2014/main" xmlns="" id="{5373EEBD-DC7D-4854-95E9-5306A7872687}"/>
              </a:ext>
            </a:extLst>
          </p:cNvPr>
          <p:cNvSpPr>
            <a:spLocks noGrp="1"/>
          </p:cNvSpPr>
          <p:nvPr>
            <p:ph type="sldNum" sz="quarter" idx="4"/>
          </p:nvPr>
        </p:nvSpPr>
        <p:spPr/>
        <p:txBody>
          <a:bodyPr/>
          <a:lstStyle/>
          <a:p>
            <a:fld id="{68151E55-6873-49E2-B8D5-2F265E6F1973}" type="slidenum">
              <a:rPr lang="en-US" smtClean="0"/>
              <a:pPr/>
              <a:t>28</a:t>
            </a:fld>
            <a:endParaRPr lang="en-US" dirty="0"/>
          </a:p>
        </p:txBody>
      </p:sp>
    </p:spTree>
    <p:extLst>
      <p:ext uri="{BB962C8B-B14F-4D97-AF65-F5344CB8AC3E}">
        <p14:creationId xmlns:p14="http://schemas.microsoft.com/office/powerpoint/2010/main" val="33886951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D0B255-5EF9-4D30-BCAB-DE8D551DFF3B}"/>
              </a:ext>
            </a:extLst>
          </p:cNvPr>
          <p:cNvSpPr>
            <a:spLocks noGrp="1"/>
          </p:cNvSpPr>
          <p:nvPr>
            <p:ph type="title"/>
          </p:nvPr>
        </p:nvSpPr>
        <p:spPr/>
        <p:txBody>
          <a:bodyPr/>
          <a:lstStyle/>
          <a:p>
            <a:r>
              <a:rPr lang="en-US" noProof="0" dirty="0"/>
              <a:t>Equivalent Cash Flows in Time</a:t>
            </a:r>
          </a:p>
        </p:txBody>
      </p:sp>
      <p:pic>
        <p:nvPicPr>
          <p:cNvPr id="12" name="Picture 11" descr="Table shows equivalent cash flows in time.">
            <a:extLst>
              <a:ext uri="{FF2B5EF4-FFF2-40B4-BE49-F238E27FC236}">
                <a16:creationId xmlns:a16="http://schemas.microsoft.com/office/drawing/2014/main" xmlns="" id="{7198EBDC-6BA1-4B87-B11F-B4B68D74DB8C}"/>
              </a:ext>
            </a:extLst>
          </p:cNvPr>
          <p:cNvPicPr>
            <a:picLocks noChangeAspect="1"/>
          </p:cNvPicPr>
          <p:nvPr/>
        </p:nvPicPr>
        <p:blipFill>
          <a:blip r:embed="rId2"/>
          <a:stretch>
            <a:fillRect/>
          </a:stretch>
        </p:blipFill>
        <p:spPr>
          <a:xfrm>
            <a:off x="963964" y="1562600"/>
            <a:ext cx="7216073" cy="4433839"/>
          </a:xfrm>
          <a:prstGeom prst="rect">
            <a:avLst/>
          </a:prstGeom>
        </p:spPr>
      </p:pic>
      <p:sp>
        <p:nvSpPr>
          <p:cNvPr id="4" name="Text Placeholder 3">
            <a:extLst>
              <a:ext uri="{FF2B5EF4-FFF2-40B4-BE49-F238E27FC236}">
                <a16:creationId xmlns:a16="http://schemas.microsoft.com/office/drawing/2014/main" xmlns="" id="{0D619D5A-D69B-48ED-AFD8-7336871CCD0F}"/>
              </a:ext>
            </a:extLst>
          </p:cNvPr>
          <p:cNvSpPr>
            <a:spLocks noGrp="1"/>
          </p:cNvSpPr>
          <p:nvPr>
            <p:ph type="body" sz="quarter" idx="12"/>
          </p:nvPr>
        </p:nvSpPr>
        <p:spPr>
          <a:xfrm>
            <a:off x="2727960" y="6339840"/>
            <a:ext cx="3505199" cy="175260"/>
          </a:xfrm>
        </p:spPr>
        <p:txBody>
          <a:bodyPr/>
          <a:lstStyle/>
          <a:p>
            <a:r>
              <a:rPr lang="en-US" sz="1200" noProof="0" dirty="0">
                <a:hlinkClick r:id="rId3" action="ppaction://hlinksldjump"/>
              </a:rPr>
              <a:t>Access the text alternative for slide images.</a:t>
            </a:r>
            <a:endParaRPr lang="en-US" sz="1200" noProof="0" dirty="0"/>
          </a:p>
        </p:txBody>
      </p:sp>
      <p:sp>
        <p:nvSpPr>
          <p:cNvPr id="6" name="Slide Number Placeholder 5">
            <a:extLst>
              <a:ext uri="{FF2B5EF4-FFF2-40B4-BE49-F238E27FC236}">
                <a16:creationId xmlns:a16="http://schemas.microsoft.com/office/drawing/2014/main" xmlns="" id="{D9AADF04-4A32-4A48-A3D8-52ED51AE3B11}"/>
              </a:ext>
            </a:extLst>
          </p:cNvPr>
          <p:cNvSpPr>
            <a:spLocks noGrp="1"/>
          </p:cNvSpPr>
          <p:nvPr>
            <p:ph type="sldNum" sz="quarter" idx="4"/>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4012467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5CD93C-61E2-46B0-85A3-06D295CCBB63}"/>
              </a:ext>
            </a:extLst>
          </p:cNvPr>
          <p:cNvSpPr>
            <a:spLocks noGrp="1"/>
          </p:cNvSpPr>
          <p:nvPr>
            <p:ph type="title"/>
          </p:nvPr>
        </p:nvSpPr>
        <p:spPr>
          <a:xfrm>
            <a:off x="342900" y="192490"/>
            <a:ext cx="8458200" cy="903231"/>
          </a:xfrm>
        </p:spPr>
        <p:txBody>
          <a:bodyPr/>
          <a:lstStyle/>
          <a:p>
            <a:r>
              <a:rPr lang="en-US" noProof="0" dirty="0"/>
              <a:t>Rule of 72</a:t>
            </a:r>
          </a:p>
        </p:txBody>
      </p:sp>
      <p:sp>
        <p:nvSpPr>
          <p:cNvPr id="3" name="Content Placeholder 2">
            <a:extLst>
              <a:ext uri="{FF2B5EF4-FFF2-40B4-BE49-F238E27FC236}">
                <a16:creationId xmlns:a16="http://schemas.microsoft.com/office/drawing/2014/main" xmlns="" id="{3B582936-1A0F-42EF-9504-097855BEF552}"/>
              </a:ext>
            </a:extLst>
          </p:cNvPr>
          <p:cNvSpPr>
            <a:spLocks noGrp="1"/>
          </p:cNvSpPr>
          <p:nvPr>
            <p:ph sz="quarter" idx="11"/>
          </p:nvPr>
        </p:nvSpPr>
        <p:spPr>
          <a:xfrm>
            <a:off x="342900" y="1276709"/>
            <a:ext cx="8458200" cy="1176931"/>
          </a:xfrm>
        </p:spPr>
        <p:txBody>
          <a:bodyPr/>
          <a:lstStyle/>
          <a:p>
            <a:pPr marL="292608" indent="-292608">
              <a:buFont typeface="Arial" panose="020B0604020202020204" pitchFamily="34" charset="0"/>
              <a:buChar char="•"/>
            </a:pPr>
            <a:r>
              <a:rPr lang="en-US" noProof="0" dirty="0"/>
              <a:t>Albert Einstein introduced a simple mathematical approximation for the number of years required to double an investment, called the </a:t>
            </a:r>
            <a:r>
              <a:rPr lang="en-US" b="1" noProof="0" dirty="0"/>
              <a:t>Rule of 72</a:t>
            </a:r>
            <a:r>
              <a:rPr lang="en-US" noProof="0" dirty="0"/>
              <a:t>.</a:t>
            </a:r>
          </a:p>
        </p:txBody>
      </p:sp>
      <p:graphicFrame>
        <p:nvGraphicFramePr>
          <p:cNvPr id="7" name="Object 6">
            <a:extLst>
              <a:ext uri="{FF2B5EF4-FFF2-40B4-BE49-F238E27FC236}">
                <a16:creationId xmlns:a16="http://schemas.microsoft.com/office/drawing/2014/main" xmlns="" id="{89AE161D-27E5-4BAA-958A-BC262A0B7A07}"/>
              </a:ext>
            </a:extLst>
          </p:cNvPr>
          <p:cNvGraphicFramePr>
            <a:graphicFrameLocks noChangeAspect="1"/>
          </p:cNvGraphicFramePr>
          <p:nvPr>
            <p:extLst>
              <p:ext uri="{D42A27DB-BD31-4B8C-83A1-F6EECF244321}">
                <p14:modId xmlns:p14="http://schemas.microsoft.com/office/powerpoint/2010/main" val="3532945679"/>
              </p:ext>
            </p:extLst>
          </p:nvPr>
        </p:nvGraphicFramePr>
        <p:xfrm>
          <a:off x="723900" y="2869116"/>
          <a:ext cx="7747000" cy="673100"/>
        </p:xfrm>
        <a:graphic>
          <a:graphicData uri="http://schemas.openxmlformats.org/presentationml/2006/ole">
            <mc:AlternateContent xmlns:mc="http://schemas.openxmlformats.org/markup-compatibility/2006">
              <mc:Choice xmlns:v="urn:schemas-microsoft-com:vml" Requires="v">
                <p:oleObj spid="_x0000_s15365" name="Equation" r:id="rId3" imgW="7746840" imgH="672840" progId="Equation.DSMT4">
                  <p:embed/>
                </p:oleObj>
              </mc:Choice>
              <mc:Fallback>
                <p:oleObj name="Equation" r:id="rId3" imgW="7746840" imgH="672840" progId="Equation.DSMT4">
                  <p:embed/>
                  <p:pic>
                    <p:nvPicPr>
                      <p:cNvPr id="0" name=""/>
                      <p:cNvPicPr/>
                      <p:nvPr/>
                    </p:nvPicPr>
                    <p:blipFill>
                      <a:blip r:embed="rId4"/>
                      <a:stretch>
                        <a:fillRect/>
                      </a:stretch>
                    </p:blipFill>
                    <p:spPr>
                      <a:xfrm>
                        <a:off x="723900" y="2869116"/>
                        <a:ext cx="7747000" cy="673100"/>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xmlns="" id="{24527D12-16D8-401D-8330-70B3C02BC4CE}"/>
              </a:ext>
            </a:extLst>
          </p:cNvPr>
          <p:cNvSpPr>
            <a:spLocks noGrp="1"/>
          </p:cNvSpPr>
          <p:nvPr>
            <p:ph type="sldNum" sz="quarter" idx="4"/>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1460258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0D8FF-1BF5-43D7-BBEF-1B9461B8171B}"/>
              </a:ext>
            </a:extLst>
          </p:cNvPr>
          <p:cNvSpPr>
            <a:spLocks noGrp="1"/>
          </p:cNvSpPr>
          <p:nvPr>
            <p:ph type="title"/>
          </p:nvPr>
        </p:nvSpPr>
        <p:spPr/>
        <p:txBody>
          <a:bodyPr>
            <a:normAutofit/>
          </a:bodyPr>
          <a:lstStyle/>
          <a:p>
            <a:r>
              <a:rPr lang="en-US" sz="3600" noProof="0" dirty="0"/>
              <a:t>Rule of 72 Example</a:t>
            </a:r>
          </a:p>
        </p:txBody>
      </p:sp>
      <p:sp>
        <p:nvSpPr>
          <p:cNvPr id="3" name="Content Placeholder 2">
            <a:extLst>
              <a:ext uri="{FF2B5EF4-FFF2-40B4-BE49-F238E27FC236}">
                <a16:creationId xmlns:a16="http://schemas.microsoft.com/office/drawing/2014/main" xmlns="" id="{09C6F8DF-2440-489F-8D4A-4A6EB3C3826F}"/>
              </a:ext>
            </a:extLst>
          </p:cNvPr>
          <p:cNvSpPr>
            <a:spLocks noGrp="1"/>
          </p:cNvSpPr>
          <p:nvPr>
            <p:ph sz="quarter" idx="11"/>
          </p:nvPr>
        </p:nvSpPr>
        <p:spPr>
          <a:xfrm>
            <a:off x="342900" y="1276709"/>
            <a:ext cx="8458200" cy="1359811"/>
          </a:xfrm>
        </p:spPr>
        <p:txBody>
          <a:bodyPr/>
          <a:lstStyle/>
          <a:p>
            <a:pPr marL="292608" indent="-292608">
              <a:buFont typeface="Arial" panose="020B0604020202020204" pitchFamily="34" charset="0"/>
              <a:buChar char="•"/>
            </a:pPr>
            <a:r>
              <a:rPr lang="en-US" noProof="0" dirty="0"/>
              <a:t>How many years will it take to double money deposited at 6 percent per year?</a:t>
            </a:r>
          </a:p>
          <a:p>
            <a:pPr marL="292608" indent="-292608">
              <a:buFont typeface="Arial" panose="020B0604020202020204" pitchFamily="34" charset="0"/>
              <a:buChar char="•"/>
            </a:pPr>
            <a:r>
              <a:rPr lang="en-US" noProof="0" dirty="0"/>
              <a:t>Rule of 72 calculation.</a:t>
            </a:r>
          </a:p>
        </p:txBody>
      </p:sp>
      <p:graphicFrame>
        <p:nvGraphicFramePr>
          <p:cNvPr id="5" name="Object 4">
            <a:extLst>
              <a:ext uri="{FF2B5EF4-FFF2-40B4-BE49-F238E27FC236}">
                <a16:creationId xmlns:a16="http://schemas.microsoft.com/office/drawing/2014/main" xmlns="" id="{F734C60D-CA88-4F12-8658-2EA1B0745DCD}"/>
              </a:ext>
            </a:extLst>
          </p:cNvPr>
          <p:cNvGraphicFramePr>
            <a:graphicFrameLocks noChangeAspect="1"/>
          </p:cNvGraphicFramePr>
          <p:nvPr>
            <p:extLst>
              <p:ext uri="{D42A27DB-BD31-4B8C-83A1-F6EECF244321}">
                <p14:modId xmlns:p14="http://schemas.microsoft.com/office/powerpoint/2010/main" val="3269515248"/>
              </p:ext>
            </p:extLst>
          </p:nvPr>
        </p:nvGraphicFramePr>
        <p:xfrm>
          <a:off x="3424238" y="3059113"/>
          <a:ext cx="1676400" cy="739775"/>
        </p:xfrm>
        <a:graphic>
          <a:graphicData uri="http://schemas.openxmlformats.org/presentationml/2006/ole">
            <mc:AlternateContent xmlns:mc="http://schemas.openxmlformats.org/markup-compatibility/2006">
              <mc:Choice xmlns:v="urn:schemas-microsoft-com:vml" Requires="v">
                <p:oleObj spid="_x0000_s16389" name="Equation" r:id="rId3" imgW="1523880" imgH="672840" progId="Equation.DSMT4">
                  <p:embed/>
                </p:oleObj>
              </mc:Choice>
              <mc:Fallback>
                <p:oleObj name="Equation" r:id="rId3" imgW="1523880" imgH="672840" progId="Equation.DSMT4">
                  <p:embed/>
                  <p:pic>
                    <p:nvPicPr>
                      <p:cNvPr id="0" name=""/>
                      <p:cNvPicPr/>
                      <p:nvPr/>
                    </p:nvPicPr>
                    <p:blipFill>
                      <a:blip r:embed="rId4"/>
                      <a:stretch>
                        <a:fillRect/>
                      </a:stretch>
                    </p:blipFill>
                    <p:spPr>
                      <a:xfrm>
                        <a:off x="3424238" y="3059113"/>
                        <a:ext cx="1676400" cy="739775"/>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xmlns="" id="{A53AEE2C-B760-4E98-8839-36AB5335A0D8}"/>
              </a:ext>
            </a:extLst>
          </p:cNvPr>
          <p:cNvSpPr>
            <a:spLocks noGrp="1"/>
          </p:cNvSpPr>
          <p:nvPr>
            <p:ph sz="quarter" idx="14"/>
          </p:nvPr>
        </p:nvSpPr>
        <p:spPr>
          <a:xfrm>
            <a:off x="342900" y="4164136"/>
            <a:ext cx="8458200" cy="1227208"/>
          </a:xfrm>
        </p:spPr>
        <p:txBody>
          <a:bodyPr/>
          <a:lstStyle/>
          <a:p>
            <a:pPr marL="292608" indent="-292608">
              <a:buFont typeface="Arial" panose="020B0604020202020204" pitchFamily="34" charset="0"/>
              <a:buChar char="•"/>
            </a:pPr>
            <a:r>
              <a:rPr lang="en-US" noProof="0" dirty="0"/>
              <a:t>Rule of 72 can also be used to approximate the interest rate needed to double an investment in a specific amount of time.</a:t>
            </a:r>
          </a:p>
        </p:txBody>
      </p:sp>
      <p:sp>
        <p:nvSpPr>
          <p:cNvPr id="7" name="Slide Number Placeholder 6">
            <a:extLst>
              <a:ext uri="{FF2B5EF4-FFF2-40B4-BE49-F238E27FC236}">
                <a16:creationId xmlns:a16="http://schemas.microsoft.com/office/drawing/2014/main" xmlns="" id="{38C03560-1E94-4D72-92E5-AB2BA7F80093}"/>
              </a:ext>
            </a:extLst>
          </p:cNvPr>
          <p:cNvSpPr>
            <a:spLocks noGrp="1"/>
          </p:cNvSpPr>
          <p:nvPr>
            <p:ph type="sldNum" sz="quarter" idx="10"/>
          </p:nvPr>
        </p:nvSpPr>
        <p:spPr/>
        <p:txBody>
          <a:bodyPr/>
          <a:lstStyle/>
          <a:p>
            <a:fld id="{68151E55-6873-49E2-B8D5-2F265E6F1973}" type="slidenum">
              <a:rPr lang="en-US" smtClean="0"/>
              <a:t>31</a:t>
            </a:fld>
            <a:endParaRPr lang="en-US"/>
          </a:p>
        </p:txBody>
      </p:sp>
    </p:spTree>
    <p:extLst>
      <p:ext uri="{BB962C8B-B14F-4D97-AF65-F5344CB8AC3E}">
        <p14:creationId xmlns:p14="http://schemas.microsoft.com/office/powerpoint/2010/main" val="4195684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323954-00CD-49C2-AF29-EA42CD821D87}"/>
              </a:ext>
            </a:extLst>
          </p:cNvPr>
          <p:cNvSpPr>
            <a:spLocks noGrp="1"/>
          </p:cNvSpPr>
          <p:nvPr>
            <p:ph type="title"/>
          </p:nvPr>
        </p:nvSpPr>
        <p:spPr/>
        <p:txBody>
          <a:bodyPr/>
          <a:lstStyle/>
          <a:p>
            <a:r>
              <a:rPr lang="en-US" noProof="0" dirty="0"/>
              <a:t>Computing Interest Rates </a:t>
            </a:r>
            <a:r>
              <a:rPr lang="en-US" sz="1000" b="0" baseline="0" noProof="0" dirty="0"/>
              <a:t>1</a:t>
            </a:r>
          </a:p>
        </p:txBody>
      </p:sp>
      <p:sp>
        <p:nvSpPr>
          <p:cNvPr id="3" name="Content Placeholder 2">
            <a:extLst>
              <a:ext uri="{FF2B5EF4-FFF2-40B4-BE49-F238E27FC236}">
                <a16:creationId xmlns:a16="http://schemas.microsoft.com/office/drawing/2014/main" xmlns="" id="{7C2A636B-A644-4A95-81C4-2FADEA637DD7}"/>
              </a:ext>
            </a:extLst>
          </p:cNvPr>
          <p:cNvSpPr>
            <a:spLocks noGrp="1"/>
          </p:cNvSpPr>
          <p:nvPr>
            <p:ph sz="quarter" idx="11"/>
          </p:nvPr>
        </p:nvSpPr>
        <p:spPr>
          <a:xfrm>
            <a:off x="342900" y="1276709"/>
            <a:ext cx="8458200" cy="1771291"/>
          </a:xfrm>
        </p:spPr>
        <p:txBody>
          <a:bodyPr/>
          <a:lstStyle/>
          <a:p>
            <a:r>
              <a:rPr lang="en-US" noProof="0" dirty="0"/>
              <a:t>Solving for the interest rate, or rate of return, can answer questions like the following:</a:t>
            </a:r>
          </a:p>
          <a:p>
            <a:pPr marL="292608" indent="-292608">
              <a:buFont typeface="Arial" panose="020B0604020202020204" pitchFamily="34" charset="0"/>
              <a:buChar char="•"/>
            </a:pPr>
            <a:r>
              <a:rPr lang="en-US" noProof="0" dirty="0"/>
              <a:t>If you bought a gold coin for $350 three years ago and sell it now for $475, what rate of return have you earned?</a:t>
            </a:r>
          </a:p>
        </p:txBody>
      </p:sp>
      <p:graphicFrame>
        <p:nvGraphicFramePr>
          <p:cNvPr id="7" name="Object 6">
            <a:extLst>
              <a:ext uri="{FF2B5EF4-FFF2-40B4-BE49-F238E27FC236}">
                <a16:creationId xmlns:a16="http://schemas.microsoft.com/office/drawing/2014/main" xmlns="" id="{4F70C072-ED54-473D-9619-8DD2B8796877}"/>
              </a:ext>
            </a:extLst>
          </p:cNvPr>
          <p:cNvGraphicFramePr>
            <a:graphicFrameLocks noChangeAspect="1"/>
          </p:cNvGraphicFramePr>
          <p:nvPr>
            <p:extLst>
              <p:ext uri="{D42A27DB-BD31-4B8C-83A1-F6EECF244321}">
                <p14:modId xmlns:p14="http://schemas.microsoft.com/office/powerpoint/2010/main" val="3953411150"/>
              </p:ext>
            </p:extLst>
          </p:nvPr>
        </p:nvGraphicFramePr>
        <p:xfrm>
          <a:off x="3370263" y="3371850"/>
          <a:ext cx="2403475" cy="419100"/>
        </p:xfrm>
        <a:graphic>
          <a:graphicData uri="http://schemas.openxmlformats.org/presentationml/2006/ole">
            <mc:AlternateContent xmlns:mc="http://schemas.openxmlformats.org/markup-compatibility/2006">
              <mc:Choice xmlns:v="urn:schemas-microsoft-com:vml" Requires="v">
                <p:oleObj spid="_x0000_s17422" name="Equation" r:id="rId4" imgW="2184120" imgH="380880" progId="Equation.DSMT4">
                  <p:embed/>
                </p:oleObj>
              </mc:Choice>
              <mc:Fallback>
                <p:oleObj name="Equation" r:id="rId4" imgW="2184120" imgH="380880" progId="Equation.DSMT4">
                  <p:embed/>
                  <p:pic>
                    <p:nvPicPr>
                      <p:cNvPr id="0" name=""/>
                      <p:cNvPicPr/>
                      <p:nvPr/>
                    </p:nvPicPr>
                    <p:blipFill>
                      <a:blip r:embed="rId5"/>
                      <a:stretch>
                        <a:fillRect/>
                      </a:stretch>
                    </p:blipFill>
                    <p:spPr>
                      <a:xfrm>
                        <a:off x="3370263" y="3371850"/>
                        <a:ext cx="2403475" cy="4191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xmlns="" id="{32EB5936-ED68-4116-A6C7-7E8E25F03E00}"/>
              </a:ext>
            </a:extLst>
          </p:cNvPr>
          <p:cNvGraphicFramePr>
            <a:graphicFrameLocks noChangeAspect="1"/>
          </p:cNvGraphicFramePr>
          <p:nvPr>
            <p:extLst>
              <p:ext uri="{D42A27DB-BD31-4B8C-83A1-F6EECF244321}">
                <p14:modId xmlns:p14="http://schemas.microsoft.com/office/powerpoint/2010/main" val="2858457827"/>
              </p:ext>
            </p:extLst>
          </p:nvPr>
        </p:nvGraphicFramePr>
        <p:xfrm>
          <a:off x="3262313" y="4017963"/>
          <a:ext cx="2555875" cy="404812"/>
        </p:xfrm>
        <a:graphic>
          <a:graphicData uri="http://schemas.openxmlformats.org/presentationml/2006/ole">
            <mc:AlternateContent xmlns:mc="http://schemas.openxmlformats.org/markup-compatibility/2006">
              <mc:Choice xmlns:v="urn:schemas-microsoft-com:vml" Requires="v">
                <p:oleObj spid="_x0000_s17423" name="Equation" r:id="rId6" imgW="2323800" imgH="368280" progId="Equation.DSMT4">
                  <p:embed/>
                </p:oleObj>
              </mc:Choice>
              <mc:Fallback>
                <p:oleObj name="Equation" r:id="rId6" imgW="2323800" imgH="368280" progId="Equation.DSMT4">
                  <p:embed/>
                  <p:pic>
                    <p:nvPicPr>
                      <p:cNvPr id="0" name=""/>
                      <p:cNvPicPr/>
                      <p:nvPr/>
                    </p:nvPicPr>
                    <p:blipFill>
                      <a:blip r:embed="rId7"/>
                      <a:stretch>
                        <a:fillRect/>
                      </a:stretch>
                    </p:blipFill>
                    <p:spPr>
                      <a:xfrm>
                        <a:off x="3262313" y="4017963"/>
                        <a:ext cx="2555875" cy="40481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xmlns="" id="{5BDDE3D6-ADDE-481A-92AE-6EC677C84F13}"/>
              </a:ext>
            </a:extLst>
          </p:cNvPr>
          <p:cNvGraphicFramePr>
            <a:graphicFrameLocks noChangeAspect="1"/>
          </p:cNvGraphicFramePr>
          <p:nvPr>
            <p:extLst>
              <p:ext uri="{D42A27DB-BD31-4B8C-83A1-F6EECF244321}">
                <p14:modId xmlns:p14="http://schemas.microsoft.com/office/powerpoint/2010/main" val="292090909"/>
              </p:ext>
            </p:extLst>
          </p:nvPr>
        </p:nvGraphicFramePr>
        <p:xfrm>
          <a:off x="2420938" y="4846638"/>
          <a:ext cx="4241800" cy="546100"/>
        </p:xfrm>
        <a:graphic>
          <a:graphicData uri="http://schemas.openxmlformats.org/presentationml/2006/ole">
            <mc:AlternateContent xmlns:mc="http://schemas.openxmlformats.org/markup-compatibility/2006">
              <mc:Choice xmlns:v="urn:schemas-microsoft-com:vml" Requires="v">
                <p:oleObj spid="_x0000_s17424" name="Equation" r:id="rId8" imgW="4241520" imgH="545760" progId="Equation.DSMT4">
                  <p:embed/>
                </p:oleObj>
              </mc:Choice>
              <mc:Fallback>
                <p:oleObj name="Equation" r:id="rId8" imgW="4241520" imgH="545760" progId="Equation.DSMT4">
                  <p:embed/>
                  <p:pic>
                    <p:nvPicPr>
                      <p:cNvPr id="0" name=""/>
                      <p:cNvPicPr/>
                      <p:nvPr/>
                    </p:nvPicPr>
                    <p:blipFill>
                      <a:blip r:embed="rId9"/>
                      <a:stretch>
                        <a:fillRect/>
                      </a:stretch>
                    </p:blipFill>
                    <p:spPr>
                      <a:xfrm>
                        <a:off x="2420938" y="4846638"/>
                        <a:ext cx="4241800" cy="5461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xmlns="" id="{4304F6E7-F8AC-41ED-8119-77E2A6AA741C}"/>
              </a:ext>
            </a:extLst>
          </p:cNvPr>
          <p:cNvGraphicFramePr>
            <a:graphicFrameLocks noChangeAspect="1"/>
          </p:cNvGraphicFramePr>
          <p:nvPr>
            <p:extLst>
              <p:ext uri="{D42A27DB-BD31-4B8C-83A1-F6EECF244321}">
                <p14:modId xmlns:p14="http://schemas.microsoft.com/office/powerpoint/2010/main" val="2231632198"/>
              </p:ext>
            </p:extLst>
          </p:nvPr>
        </p:nvGraphicFramePr>
        <p:xfrm>
          <a:off x="2560638" y="5670550"/>
          <a:ext cx="3962400" cy="317500"/>
        </p:xfrm>
        <a:graphic>
          <a:graphicData uri="http://schemas.openxmlformats.org/presentationml/2006/ole">
            <mc:AlternateContent xmlns:mc="http://schemas.openxmlformats.org/markup-compatibility/2006">
              <mc:Choice xmlns:v="urn:schemas-microsoft-com:vml" Requires="v">
                <p:oleObj spid="_x0000_s17425" name="Equation" r:id="rId10" imgW="3962160" imgH="317160" progId="Equation.DSMT4">
                  <p:embed/>
                </p:oleObj>
              </mc:Choice>
              <mc:Fallback>
                <p:oleObj name="Equation" r:id="rId10" imgW="3962160" imgH="317160" progId="Equation.DSMT4">
                  <p:embed/>
                  <p:pic>
                    <p:nvPicPr>
                      <p:cNvPr id="0" name=""/>
                      <p:cNvPicPr/>
                      <p:nvPr/>
                    </p:nvPicPr>
                    <p:blipFill>
                      <a:blip r:embed="rId11"/>
                      <a:stretch>
                        <a:fillRect/>
                      </a:stretch>
                    </p:blipFill>
                    <p:spPr>
                      <a:xfrm>
                        <a:off x="2560638" y="5670550"/>
                        <a:ext cx="3962400" cy="317500"/>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xmlns="" id="{857A67FE-712D-4D73-9120-E93346BD59C4}"/>
              </a:ext>
            </a:extLst>
          </p:cNvPr>
          <p:cNvSpPr>
            <a:spLocks noGrp="1"/>
          </p:cNvSpPr>
          <p:nvPr>
            <p:ph type="sldNum" sz="quarter" idx="4"/>
          </p:nvPr>
        </p:nvSpPr>
        <p:spPr/>
        <p:txBody>
          <a:bodyPr/>
          <a:lstStyle/>
          <a:p>
            <a:fld id="{68151E55-6873-49E2-B8D5-2F265E6F1973}" type="slidenum">
              <a:rPr lang="en-US" smtClean="0"/>
              <a:pPr/>
              <a:t>32</a:t>
            </a:fld>
            <a:endParaRPr lang="en-US" dirty="0"/>
          </a:p>
        </p:txBody>
      </p:sp>
    </p:spTree>
    <p:extLst>
      <p:ext uri="{BB962C8B-B14F-4D97-AF65-F5344CB8AC3E}">
        <p14:creationId xmlns:p14="http://schemas.microsoft.com/office/powerpoint/2010/main" val="3566208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0D8FF-1BF5-43D7-BBEF-1B9461B8171B}"/>
              </a:ext>
            </a:extLst>
          </p:cNvPr>
          <p:cNvSpPr>
            <a:spLocks noGrp="1"/>
          </p:cNvSpPr>
          <p:nvPr>
            <p:ph type="title"/>
          </p:nvPr>
        </p:nvSpPr>
        <p:spPr/>
        <p:txBody>
          <a:bodyPr>
            <a:normAutofit/>
          </a:bodyPr>
          <a:lstStyle/>
          <a:p>
            <a:r>
              <a:rPr lang="en-US" sz="3600" noProof="0" dirty="0"/>
              <a:t>Computing Interest Rates </a:t>
            </a:r>
            <a:r>
              <a:rPr lang="en-US" sz="1000" b="0" baseline="0" noProof="0" dirty="0"/>
              <a:t>2</a:t>
            </a:r>
          </a:p>
        </p:txBody>
      </p:sp>
      <p:sp>
        <p:nvSpPr>
          <p:cNvPr id="3" name="Content Placeholder 2">
            <a:extLst>
              <a:ext uri="{FF2B5EF4-FFF2-40B4-BE49-F238E27FC236}">
                <a16:creationId xmlns:a16="http://schemas.microsoft.com/office/drawing/2014/main" xmlns="" id="{09C6F8DF-2440-489F-8D4A-4A6EB3C3826F}"/>
              </a:ext>
            </a:extLst>
          </p:cNvPr>
          <p:cNvSpPr>
            <a:spLocks noGrp="1"/>
          </p:cNvSpPr>
          <p:nvPr>
            <p:ph sz="quarter" idx="11"/>
          </p:nvPr>
        </p:nvSpPr>
        <p:spPr>
          <a:xfrm>
            <a:off x="342900" y="1276710"/>
            <a:ext cx="3695700" cy="422868"/>
          </a:xfrm>
        </p:spPr>
        <p:txBody>
          <a:bodyPr/>
          <a:lstStyle/>
          <a:p>
            <a:pPr marL="292608" indent="-292608">
              <a:buFont typeface="Arial" panose="020B0604020202020204" pitchFamily="34" charset="0"/>
              <a:buChar char="•"/>
            </a:pPr>
            <a:r>
              <a:rPr lang="en-US" noProof="0" dirty="0"/>
              <a:t>Calculator solution:</a:t>
            </a:r>
          </a:p>
        </p:txBody>
      </p:sp>
      <p:graphicFrame>
        <p:nvGraphicFramePr>
          <p:cNvPr id="8" name="Table 8">
            <a:extLst>
              <a:ext uri="{FF2B5EF4-FFF2-40B4-BE49-F238E27FC236}">
                <a16:creationId xmlns:a16="http://schemas.microsoft.com/office/drawing/2014/main" xmlns="" id="{20F05A4D-8207-43C6-B081-082D002F3D6F}"/>
              </a:ext>
            </a:extLst>
          </p:cNvPr>
          <p:cNvGraphicFramePr>
            <a:graphicFrameLocks noGrp="1"/>
          </p:cNvGraphicFramePr>
          <p:nvPr>
            <p:extLst>
              <p:ext uri="{D42A27DB-BD31-4B8C-83A1-F6EECF244321}">
                <p14:modId xmlns:p14="http://schemas.microsoft.com/office/powerpoint/2010/main" val="124437924"/>
              </p:ext>
            </p:extLst>
          </p:nvPr>
        </p:nvGraphicFramePr>
        <p:xfrm>
          <a:off x="1051560" y="2021840"/>
          <a:ext cx="6979920" cy="1112520"/>
        </p:xfrm>
        <a:graphic>
          <a:graphicData uri="http://schemas.openxmlformats.org/drawingml/2006/table">
            <a:tbl>
              <a:tblPr firstRow="1" bandRow="1">
                <a:tableStyleId>{5C22544A-7EE6-4342-B048-85BDC9FD1C3A}</a:tableStyleId>
              </a:tblPr>
              <a:tblGrid>
                <a:gridCol w="1163320">
                  <a:extLst>
                    <a:ext uri="{9D8B030D-6E8A-4147-A177-3AD203B41FA5}">
                      <a16:colId xmlns:a16="http://schemas.microsoft.com/office/drawing/2014/main" xmlns="" val="3153181117"/>
                    </a:ext>
                  </a:extLst>
                </a:gridCol>
                <a:gridCol w="1163320">
                  <a:extLst>
                    <a:ext uri="{9D8B030D-6E8A-4147-A177-3AD203B41FA5}">
                      <a16:colId xmlns:a16="http://schemas.microsoft.com/office/drawing/2014/main" xmlns="" val="3687210394"/>
                    </a:ext>
                  </a:extLst>
                </a:gridCol>
                <a:gridCol w="1163320">
                  <a:extLst>
                    <a:ext uri="{9D8B030D-6E8A-4147-A177-3AD203B41FA5}">
                      <a16:colId xmlns:a16="http://schemas.microsoft.com/office/drawing/2014/main" xmlns="" val="220054324"/>
                    </a:ext>
                  </a:extLst>
                </a:gridCol>
                <a:gridCol w="1163320">
                  <a:extLst>
                    <a:ext uri="{9D8B030D-6E8A-4147-A177-3AD203B41FA5}">
                      <a16:colId xmlns:a16="http://schemas.microsoft.com/office/drawing/2014/main" xmlns="" val="3065918734"/>
                    </a:ext>
                  </a:extLst>
                </a:gridCol>
                <a:gridCol w="1163320">
                  <a:extLst>
                    <a:ext uri="{9D8B030D-6E8A-4147-A177-3AD203B41FA5}">
                      <a16:colId xmlns:a16="http://schemas.microsoft.com/office/drawing/2014/main" xmlns="" val="4232114708"/>
                    </a:ext>
                  </a:extLst>
                </a:gridCol>
                <a:gridCol w="1163320">
                  <a:extLst>
                    <a:ext uri="{9D8B030D-6E8A-4147-A177-3AD203B41FA5}">
                      <a16:colId xmlns:a16="http://schemas.microsoft.com/office/drawing/2014/main" xmlns="" val="226042770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1" dirty="0">
                          <a:solidFill>
                            <a:srgbClr val="000000"/>
                          </a:solidFill>
                        </a:rPr>
                        <a:t>INPUT</a:t>
                      </a:r>
                      <a:endParaRPr lang="en-US" altLang="en-US" sz="1200" b="1" dirty="0">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3</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endParaRPr lang="en-US" b="1" dirty="0">
                        <a:solidFill>
                          <a:schemeClr val="tx1"/>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−350</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0</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475</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320184002"/>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I/YR</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PV</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PMT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FV</a:t>
                      </a: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47597712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1" dirty="0">
                          <a:solidFill>
                            <a:srgbClr val="A9131A"/>
                          </a:solidFill>
                        </a:rPr>
                        <a:t>OUTPUT</a:t>
                      </a:r>
                      <a:endParaRPr lang="en-US" altLang="en-US" sz="1200" b="1" dirty="0">
                        <a:solidFill>
                          <a:srgbClr val="A9131A"/>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A9131A"/>
                          </a:solidFill>
                        </a:rPr>
                        <a:t>10.72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dirty="0">
                        <a:solidFill>
                          <a:srgbClr val="A9131A"/>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210421259"/>
                  </a:ext>
                </a:extLst>
              </a:tr>
            </a:tbl>
          </a:graphicData>
        </a:graphic>
      </p:graphicFrame>
      <p:sp>
        <p:nvSpPr>
          <p:cNvPr id="4" name="Content Placeholder 3">
            <a:extLst>
              <a:ext uri="{FF2B5EF4-FFF2-40B4-BE49-F238E27FC236}">
                <a16:creationId xmlns:a16="http://schemas.microsoft.com/office/drawing/2014/main" xmlns="" id="{A53AEE2C-B760-4E98-8839-36AB5335A0D8}"/>
              </a:ext>
            </a:extLst>
          </p:cNvPr>
          <p:cNvSpPr>
            <a:spLocks noGrp="1"/>
          </p:cNvSpPr>
          <p:nvPr>
            <p:ph sz="quarter" idx="14"/>
          </p:nvPr>
        </p:nvSpPr>
        <p:spPr>
          <a:xfrm>
            <a:off x="342900" y="3718560"/>
            <a:ext cx="2598420" cy="455324"/>
          </a:xfrm>
        </p:spPr>
        <p:txBody>
          <a:bodyPr/>
          <a:lstStyle/>
          <a:p>
            <a:pPr marL="292608" indent="-292608">
              <a:buFont typeface="Arial" panose="020B0604020202020204" pitchFamily="34" charset="0"/>
              <a:buChar char="•"/>
            </a:pPr>
            <a:r>
              <a:rPr lang="en-US" noProof="0" dirty="0"/>
              <a:t>Excel solution:</a:t>
            </a:r>
          </a:p>
        </p:txBody>
      </p:sp>
      <p:pic>
        <p:nvPicPr>
          <p:cNvPr id="6" name="Picture 5" descr="An Excel spreadsheet shows the computation of interest rate.">
            <a:extLst>
              <a:ext uri="{FF2B5EF4-FFF2-40B4-BE49-F238E27FC236}">
                <a16:creationId xmlns:a16="http://schemas.microsoft.com/office/drawing/2014/main" xmlns="" id="{85BD0929-DB4A-4BAF-912D-039289B4A6EB}"/>
              </a:ext>
            </a:extLst>
          </p:cNvPr>
          <p:cNvPicPr>
            <a:picLocks noChangeAspect="1"/>
          </p:cNvPicPr>
          <p:nvPr/>
        </p:nvPicPr>
        <p:blipFill>
          <a:blip r:embed="rId3"/>
          <a:stretch>
            <a:fillRect/>
          </a:stretch>
        </p:blipFill>
        <p:spPr>
          <a:xfrm>
            <a:off x="2547939" y="4534938"/>
            <a:ext cx="4352921" cy="1030313"/>
          </a:xfrm>
          <a:prstGeom prst="rect">
            <a:avLst/>
          </a:prstGeom>
        </p:spPr>
      </p:pic>
      <p:sp>
        <p:nvSpPr>
          <p:cNvPr id="5" name="Text Placeholder 4">
            <a:extLst>
              <a:ext uri="{FF2B5EF4-FFF2-40B4-BE49-F238E27FC236}">
                <a16:creationId xmlns:a16="http://schemas.microsoft.com/office/drawing/2014/main" xmlns="" id="{060A21E4-A805-4DA9-8D3B-1CAD8644F7F1}"/>
              </a:ext>
            </a:extLst>
          </p:cNvPr>
          <p:cNvSpPr>
            <a:spLocks noGrp="1"/>
          </p:cNvSpPr>
          <p:nvPr>
            <p:ph type="body" sz="quarter" idx="12"/>
          </p:nvPr>
        </p:nvSpPr>
        <p:spPr>
          <a:xfrm>
            <a:off x="2941320" y="6192866"/>
            <a:ext cx="3429000" cy="322234"/>
          </a:xfrm>
        </p:spPr>
        <p:txBody>
          <a:bodyPr/>
          <a:lstStyle/>
          <a:p>
            <a:r>
              <a:rPr lang="en-US" sz="1200" noProof="0" dirty="0">
                <a:hlinkClick r:id="rId4" action="ppaction://hlinksldjump"/>
              </a:rPr>
              <a:t>Access the text alternative for slide images.</a:t>
            </a:r>
            <a:endParaRPr lang="en-US" sz="1200" noProof="0" dirty="0"/>
          </a:p>
        </p:txBody>
      </p:sp>
      <p:sp>
        <p:nvSpPr>
          <p:cNvPr id="7" name="Slide Number Placeholder 6">
            <a:extLst>
              <a:ext uri="{FF2B5EF4-FFF2-40B4-BE49-F238E27FC236}">
                <a16:creationId xmlns:a16="http://schemas.microsoft.com/office/drawing/2014/main" xmlns="" id="{38C03560-1E94-4D72-92E5-AB2BA7F80093}"/>
              </a:ext>
            </a:extLst>
          </p:cNvPr>
          <p:cNvSpPr>
            <a:spLocks noGrp="1"/>
          </p:cNvSpPr>
          <p:nvPr>
            <p:ph type="sldNum" sz="quarter" idx="10"/>
          </p:nvPr>
        </p:nvSpPr>
        <p:spPr/>
        <p:txBody>
          <a:bodyPr/>
          <a:lstStyle/>
          <a:p>
            <a:fld id="{68151E55-6873-49E2-B8D5-2F265E6F1973}" type="slidenum">
              <a:rPr lang="en-US" smtClean="0"/>
              <a:t>33</a:t>
            </a:fld>
            <a:endParaRPr lang="en-US"/>
          </a:p>
        </p:txBody>
      </p:sp>
    </p:spTree>
    <p:extLst>
      <p:ext uri="{BB962C8B-B14F-4D97-AF65-F5344CB8AC3E}">
        <p14:creationId xmlns:p14="http://schemas.microsoft.com/office/powerpoint/2010/main" val="11387041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C57E83-A690-4E1D-93BA-30581CADD1D4}"/>
              </a:ext>
            </a:extLst>
          </p:cNvPr>
          <p:cNvSpPr>
            <a:spLocks noGrp="1"/>
          </p:cNvSpPr>
          <p:nvPr>
            <p:ph type="title"/>
          </p:nvPr>
        </p:nvSpPr>
        <p:spPr/>
        <p:txBody>
          <a:bodyPr/>
          <a:lstStyle/>
          <a:p>
            <a:r>
              <a:rPr lang="en-US" noProof="0" dirty="0"/>
              <a:t>Solving for Time</a:t>
            </a:r>
          </a:p>
        </p:txBody>
      </p:sp>
      <p:sp>
        <p:nvSpPr>
          <p:cNvPr id="3" name="Content Placeholder 2">
            <a:extLst>
              <a:ext uri="{FF2B5EF4-FFF2-40B4-BE49-F238E27FC236}">
                <a16:creationId xmlns:a16="http://schemas.microsoft.com/office/drawing/2014/main" xmlns="" id="{94999D6B-1330-49C4-9E6D-96D3B357BE30}"/>
              </a:ext>
            </a:extLst>
          </p:cNvPr>
          <p:cNvSpPr>
            <a:spLocks noGrp="1"/>
          </p:cNvSpPr>
          <p:nvPr>
            <p:ph sz="quarter" idx="11"/>
          </p:nvPr>
        </p:nvSpPr>
        <p:spPr/>
        <p:txBody>
          <a:bodyPr/>
          <a:lstStyle/>
          <a:p>
            <a:r>
              <a:rPr lang="en-US" noProof="0" dirty="0"/>
              <a:t>It may be useful to determine the time period needed to accumulate a specific amount of money</a:t>
            </a:r>
          </a:p>
          <a:p>
            <a:pPr marL="292608" indent="-292608">
              <a:buFont typeface="Arial" panose="020B0604020202020204" pitchFamily="34" charset="0"/>
              <a:buChar char="•"/>
            </a:pPr>
            <a:r>
              <a:rPr lang="en-US" noProof="0" dirty="0"/>
              <a:t>Information needed to solve for the number of years that you will need to accumulate that money.</a:t>
            </a:r>
          </a:p>
          <a:p>
            <a:pPr marL="621792" lvl="1" indent="-320040">
              <a:spcBef>
                <a:spcPts val="500"/>
              </a:spcBef>
            </a:pPr>
            <a:r>
              <a:rPr lang="en-US" noProof="0" dirty="0"/>
              <a:t>Starting cash flow.</a:t>
            </a:r>
          </a:p>
          <a:p>
            <a:pPr marL="621792" lvl="1" indent="-320040">
              <a:spcBef>
                <a:spcPts val="500"/>
              </a:spcBef>
            </a:pPr>
            <a:r>
              <a:rPr lang="en-US" noProof="0" dirty="0"/>
              <a:t>Interest rate.</a:t>
            </a:r>
          </a:p>
          <a:p>
            <a:pPr marL="621792" lvl="1" indent="-320040">
              <a:spcBef>
                <a:spcPts val="500"/>
              </a:spcBef>
            </a:pPr>
            <a:r>
              <a:rPr lang="en-US" noProof="0" dirty="0"/>
              <a:t>Future cash flow (or, the amount you will need).</a:t>
            </a:r>
          </a:p>
          <a:p>
            <a:pPr marL="292608" indent="-292608">
              <a:buFont typeface="Arial" panose="020B0604020202020204" pitchFamily="34" charset="0"/>
              <a:buChar char="•"/>
            </a:pPr>
            <a:r>
              <a:rPr lang="en-US" noProof="0" dirty="0"/>
              <a:t>Complex calculation – use financial calculator!</a:t>
            </a:r>
          </a:p>
        </p:txBody>
      </p:sp>
      <p:sp>
        <p:nvSpPr>
          <p:cNvPr id="6" name="Slide Number Placeholder 5">
            <a:extLst>
              <a:ext uri="{FF2B5EF4-FFF2-40B4-BE49-F238E27FC236}">
                <a16:creationId xmlns:a16="http://schemas.microsoft.com/office/drawing/2014/main" xmlns="" id="{24590AF9-E7B0-42B2-92C5-BEE815BC58B8}"/>
              </a:ext>
            </a:extLst>
          </p:cNvPr>
          <p:cNvSpPr>
            <a:spLocks noGrp="1"/>
          </p:cNvSpPr>
          <p:nvPr>
            <p:ph type="sldNum" sz="quarter" idx="4"/>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231310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C57E83-A690-4E1D-93BA-30581CADD1D4}"/>
              </a:ext>
            </a:extLst>
          </p:cNvPr>
          <p:cNvSpPr>
            <a:spLocks noGrp="1"/>
          </p:cNvSpPr>
          <p:nvPr>
            <p:ph type="title"/>
          </p:nvPr>
        </p:nvSpPr>
        <p:spPr/>
        <p:txBody>
          <a:bodyPr>
            <a:normAutofit/>
          </a:bodyPr>
          <a:lstStyle/>
          <a:p>
            <a:r>
              <a:rPr lang="en-US" sz="3600" noProof="0" dirty="0"/>
              <a:t>Solving for Time Example</a:t>
            </a:r>
          </a:p>
        </p:txBody>
      </p:sp>
      <p:sp>
        <p:nvSpPr>
          <p:cNvPr id="3" name="Content Placeholder 2">
            <a:extLst>
              <a:ext uri="{FF2B5EF4-FFF2-40B4-BE49-F238E27FC236}">
                <a16:creationId xmlns:a16="http://schemas.microsoft.com/office/drawing/2014/main" xmlns="" id="{94999D6B-1330-49C4-9E6D-96D3B357BE30}"/>
              </a:ext>
            </a:extLst>
          </p:cNvPr>
          <p:cNvSpPr>
            <a:spLocks noGrp="1"/>
          </p:cNvSpPr>
          <p:nvPr>
            <p:ph sz="quarter" idx="11"/>
          </p:nvPr>
        </p:nvSpPr>
        <p:spPr>
          <a:xfrm>
            <a:off x="342900" y="1276709"/>
            <a:ext cx="8458200" cy="3341011"/>
          </a:xfrm>
        </p:spPr>
        <p:txBody>
          <a:bodyPr/>
          <a:lstStyle/>
          <a:p>
            <a:r>
              <a:rPr lang="en-US" noProof="0" dirty="0"/>
              <a:t>When interest rates are 9%, how long will it take $5,000 to double?</a:t>
            </a:r>
          </a:p>
          <a:p>
            <a:r>
              <a:rPr lang="en-US" noProof="0" dirty="0"/>
              <a:t>Calculator inputs:</a:t>
            </a:r>
          </a:p>
          <a:p>
            <a:pPr marL="292608" indent="-292608">
              <a:buFont typeface="Arial" panose="020B0604020202020204" pitchFamily="34" charset="0"/>
              <a:buChar char="•"/>
            </a:pPr>
            <a:r>
              <a:rPr lang="en-US" noProof="0" dirty="0"/>
              <a:t>I = 9%.</a:t>
            </a:r>
          </a:p>
          <a:p>
            <a:pPr marL="292608" indent="-292608">
              <a:buFont typeface="Arial" panose="020B0604020202020204" pitchFamily="34" charset="0"/>
              <a:buChar char="•"/>
            </a:pPr>
            <a:r>
              <a:rPr lang="en-US" noProof="0" dirty="0"/>
              <a:t>P</a:t>
            </a:r>
            <a:r>
              <a:rPr lang="en-US" sz="100" noProof="0" dirty="0"/>
              <a:t> </a:t>
            </a:r>
            <a:r>
              <a:rPr lang="en-US" noProof="0" dirty="0"/>
              <a:t>V = −5,000.</a:t>
            </a:r>
          </a:p>
          <a:p>
            <a:pPr marL="292608" indent="-292608">
              <a:buFont typeface="Arial" panose="020B0604020202020204" pitchFamily="34" charset="0"/>
              <a:buChar char="•"/>
            </a:pPr>
            <a:r>
              <a:rPr lang="en-US" noProof="0" dirty="0"/>
              <a:t>P</a:t>
            </a:r>
            <a:r>
              <a:rPr lang="en-US" sz="100" noProof="0" dirty="0"/>
              <a:t> </a:t>
            </a:r>
            <a:r>
              <a:rPr lang="en-US" noProof="0" dirty="0"/>
              <a:t>M</a:t>
            </a:r>
            <a:r>
              <a:rPr lang="en-US" sz="100" noProof="0" dirty="0"/>
              <a:t> </a:t>
            </a:r>
            <a:r>
              <a:rPr lang="en-US" noProof="0" dirty="0"/>
              <a:t>T = 0.</a:t>
            </a:r>
          </a:p>
          <a:p>
            <a:pPr marL="292608" indent="-292608">
              <a:buFont typeface="Arial" panose="020B0604020202020204" pitchFamily="34" charset="0"/>
              <a:buChar char="•"/>
            </a:pPr>
            <a:r>
              <a:rPr lang="en-US" noProof="0" dirty="0"/>
              <a:t>F</a:t>
            </a:r>
            <a:r>
              <a:rPr lang="en-US" sz="100" noProof="0" dirty="0"/>
              <a:t> </a:t>
            </a:r>
            <a:r>
              <a:rPr lang="en-US" noProof="0" dirty="0"/>
              <a:t>V = 10,000.</a:t>
            </a:r>
          </a:p>
        </p:txBody>
      </p:sp>
      <p:sp>
        <p:nvSpPr>
          <p:cNvPr id="7" name="Content Placeholder 6">
            <a:extLst>
              <a:ext uri="{FF2B5EF4-FFF2-40B4-BE49-F238E27FC236}">
                <a16:creationId xmlns:a16="http://schemas.microsoft.com/office/drawing/2014/main" xmlns="" id="{BC9E1191-2CD5-4A91-9ED5-5317803F3D2E}"/>
              </a:ext>
            </a:extLst>
          </p:cNvPr>
          <p:cNvSpPr>
            <a:spLocks noGrp="1"/>
          </p:cNvSpPr>
          <p:nvPr>
            <p:ph sz="quarter" idx="14"/>
          </p:nvPr>
        </p:nvSpPr>
        <p:spPr>
          <a:xfrm>
            <a:off x="342900" y="4770758"/>
            <a:ext cx="8458200" cy="501645"/>
          </a:xfrm>
        </p:spPr>
        <p:txBody>
          <a:bodyPr/>
          <a:lstStyle/>
          <a:p>
            <a:r>
              <a:rPr lang="en-US" noProof="0" dirty="0"/>
              <a:t>Solution: </a:t>
            </a:r>
            <a:r>
              <a:rPr lang="en-US" b="1" noProof="0" dirty="0"/>
              <a:t>8.04 years</a:t>
            </a:r>
          </a:p>
        </p:txBody>
      </p:sp>
      <p:sp>
        <p:nvSpPr>
          <p:cNvPr id="6" name="Slide Number Placeholder 5">
            <a:extLst>
              <a:ext uri="{FF2B5EF4-FFF2-40B4-BE49-F238E27FC236}">
                <a16:creationId xmlns:a16="http://schemas.microsoft.com/office/drawing/2014/main" xmlns="" id="{24590AF9-E7B0-42B2-92C5-BEE815BC58B8}"/>
              </a:ext>
            </a:extLst>
          </p:cNvPr>
          <p:cNvSpPr>
            <a:spLocks noGrp="1"/>
          </p:cNvSpPr>
          <p:nvPr>
            <p:ph type="sldNum" sz="quarter" idx="10"/>
          </p:nvPr>
        </p:nvSpPr>
        <p:spPr/>
        <p:txBody>
          <a:bodyPr/>
          <a:lstStyle/>
          <a:p>
            <a:fld id="{68151E55-6873-49E2-B8D5-2F265E6F1973}" type="slidenum">
              <a:rPr lang="en-US" smtClean="0"/>
              <a:pPr/>
              <a:t>35</a:t>
            </a:fld>
            <a:endParaRPr lang="en-US" dirty="0"/>
          </a:p>
        </p:txBody>
      </p:sp>
    </p:spTree>
    <p:extLst>
      <p:ext uri="{BB962C8B-B14F-4D97-AF65-F5344CB8AC3E}">
        <p14:creationId xmlns:p14="http://schemas.microsoft.com/office/powerpoint/2010/main" val="42926195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xmlns=""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xmlns="" id="{9946A61A-BFE6-4A7C-8D2C-21B89B6A8546}"/>
              </a:ext>
            </a:extLst>
          </p:cNvPr>
          <p:cNvSpPr>
            <a:spLocks noGrp="1"/>
          </p:cNvSpPr>
          <p:nvPr>
            <p:ph sz="quarter" idx="10"/>
          </p:nvPr>
        </p:nvSpPr>
        <p:spPr>
          <a:xfrm>
            <a:off x="218768" y="6522721"/>
            <a:ext cx="8715375" cy="227944"/>
          </a:xfrm>
        </p:spPr>
        <p:txBody>
          <a:bodyPr/>
          <a:lstStyle/>
          <a:p>
            <a:r>
              <a:rPr lang="en-US" sz="1200" noProof="0"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482663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0B6140-A63B-4D20-A758-54BAF6E00ACE}"/>
              </a:ext>
            </a:extLst>
          </p:cNvPr>
          <p:cNvSpPr>
            <a:spLocks noGrp="1"/>
          </p:cNvSpPr>
          <p:nvPr>
            <p:ph type="title"/>
          </p:nvPr>
        </p:nvSpPr>
        <p:spPr/>
        <p:txBody>
          <a:bodyPr/>
          <a:lstStyle/>
          <a:p>
            <a:r>
              <a:rPr lang="en-US" noProof="0" dirty="0"/>
              <a:t>Accessibility Content: Text Alternatives for Images</a:t>
            </a:r>
          </a:p>
        </p:txBody>
      </p:sp>
      <p:sp>
        <p:nvSpPr>
          <p:cNvPr id="4" name="Slide Number Placeholder 5">
            <a:extLst>
              <a:ext uri="{FF2B5EF4-FFF2-40B4-BE49-F238E27FC236}">
                <a16:creationId xmlns:a16="http://schemas.microsoft.com/office/drawing/2014/main" xmlns="" id="{859CAE52-D179-47B3-BCBE-F1463821E5A3}"/>
              </a:ext>
            </a:extLst>
          </p:cNvPr>
          <p:cNvSpPr>
            <a:spLocks noGrp="1"/>
          </p:cNvSpPr>
          <p:nvPr>
            <p:ph type="sldNum" sz="quarter" idx="10"/>
          </p:nvPr>
        </p:nvSpPr>
        <p:spPr>
          <a:xfrm>
            <a:off x="8626412" y="6673531"/>
            <a:ext cx="355840" cy="161396"/>
          </a:xfrm>
        </p:spPr>
        <p:txBody>
          <a:bodyPr/>
          <a:lstStyle/>
          <a:p>
            <a:fld id="{68151E55-6873-49E2-B8D5-2F265E6F1973}" type="slidenum">
              <a:rPr lang="en-US" sz="800" smtClean="0"/>
              <a:pPr/>
              <a:t>37</a:t>
            </a:fld>
            <a:endParaRPr lang="en-US" sz="800" dirty="0"/>
          </a:p>
        </p:txBody>
      </p:sp>
    </p:spTree>
    <p:extLst>
      <p:ext uri="{BB962C8B-B14F-4D97-AF65-F5344CB8AC3E}">
        <p14:creationId xmlns:p14="http://schemas.microsoft.com/office/powerpoint/2010/main" val="42450165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Time Line Example</a:t>
            </a:r>
            <a:r>
              <a:rPr lang="en-US" sz="3000" noProof="0" dirty="0"/>
              <a:t>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noProof="0" dirty="0"/>
              <a:t>Periods are indicated from 0 to 2 years in increments of 1. Cash flow is indicated below the periods as follows: 0, negative 100. 1, 105. Interest rate is indicated as 5 percent between the period 0 and 1.</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7F2C7C69-12DC-4219-B8A4-FFA8DF8C87E2}"/>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8017285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Compounding Example </a:t>
            </a:r>
            <a:r>
              <a:rPr lang="en-US" sz="900" b="0" baseline="0" noProof="0" dirty="0"/>
              <a:t>1</a:t>
            </a:r>
            <a:r>
              <a:rPr lang="en-US" sz="3000" noProof="0" dirty="0"/>
              <a:t>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noProof="0" dirty="0"/>
              <a:t>Periods are indicated from 0 to 2 years in increments of 1. Cash flow is indicated below the periods as follows: 0, P V equals negative 100. 2, F V equals question mark. Interest rate is indicated as 5 percent between the periods 0 and 1, and 1 and 2 years.</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07E7A842-402F-4E98-8501-FB6EDA40BF47}"/>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39</a:t>
            </a:fld>
            <a:endParaRPr lang="en-US" dirty="0"/>
          </a:p>
        </p:txBody>
      </p:sp>
    </p:spTree>
    <p:extLst>
      <p:ext uri="{BB962C8B-B14F-4D97-AF65-F5344CB8AC3E}">
        <p14:creationId xmlns:p14="http://schemas.microsoft.com/office/powerpoint/2010/main" val="26704325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The Future Value of $100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noProof="0" dirty="0"/>
              <a:t>The horizontal axis represents years of deposit ranging from 0 to 30 in increments of 5. The vertical axis represents future value of deposit ranging from 0 to 600 dollars in increments of 100 dollars. A solid line represents future value of 100 dollars at 6 percent interest rate and a dotted line represents the future value at 5 percent interest rate. Both the lines start from 100 dollars. Both the lines increase constantly along the horizontal axis with the solid line moving above the dotted line. The difference between the two lines after one year is indicated as 1 dollar. The difference after 15 years is 31.76 dollars and that after 30 years is 142.15 dollars.</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4662B169-9F2F-497C-A830-C59D6E634592}"/>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40</a:t>
            </a:fld>
            <a:endParaRPr lang="en-US" dirty="0"/>
          </a:p>
        </p:txBody>
      </p:sp>
    </p:spTree>
    <p:extLst>
      <p:ext uri="{BB962C8B-B14F-4D97-AF65-F5344CB8AC3E}">
        <p14:creationId xmlns:p14="http://schemas.microsoft.com/office/powerpoint/2010/main" val="30901932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The Power of Compounding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noProof="0" dirty="0"/>
              <a:t>Interest rate earned is indicated in column A. Future values in 5 years, 10 years, 20 years, and 30 years are shown in columns B, C, D, and E, respectively. The row entries are as follows: Row 5: 5 percent, 127.63 dollars, 162.89 dollars, 265.33 dollars, and 432.19 dollars. Row 6: 10 percent, 161.05 dollars, 259.37 dollars, 672.75 dollars, and 1,744.94 dollars. Row 7: 15 percent, 201.14 dollars, 404.56 dollars, 1,636.65 dollars, and 6,621.18 dollars. The formula of cell B 7 reads as equals F V open parenthesis A 7 comma 5 comma 0 comma negative 100 close parenthesis. The formula of cell E 6 reads as equals F V open parenthesis A 6 comma 30 comma 0 comma negative 100 close parenthesis.</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01898729-0338-44E7-ADD7-0CCFAAB70A2A}"/>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41</a:t>
            </a:fld>
            <a:endParaRPr lang="en-US" dirty="0"/>
          </a:p>
        </p:txBody>
      </p:sp>
    </p:spTree>
    <p:extLst>
      <p:ext uri="{BB962C8B-B14F-4D97-AF65-F5344CB8AC3E}">
        <p14:creationId xmlns:p14="http://schemas.microsoft.com/office/powerpoint/2010/main" val="12193121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Interest Earned on Prior Interest at a 5 Percent Rate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noProof="0" dirty="0"/>
              <a:t>The horizontal axis represents years from 0 to 40 in increments of a year. The vertical axis represents future value of 100 dollars from 0 to 800 dollars in increments of 100 dollars. The bars for each of the years are subdivided as original 100 dollar deposit, interest earned on original 100 dollars, and interest earned on interest from bottom to top. The original 100 dollar deposit diminishes marginally in value as years progress. The interest earned on original 100 dollars increases constantly as years progress. The interest earned on interest is nominal up to 10 years and increases substantially as years progress.</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8AE4FF71-F464-4FBC-8B63-96D42714ABA9}"/>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42</a:t>
            </a:fld>
            <a:endParaRPr lang="en-US" dirty="0"/>
          </a:p>
        </p:txBody>
      </p:sp>
    </p:spTree>
    <p:extLst>
      <p:ext uri="{BB962C8B-B14F-4D97-AF65-F5344CB8AC3E}">
        <p14:creationId xmlns:p14="http://schemas.microsoft.com/office/powerpoint/2010/main" val="19988837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Impact of Time and Magnitude of Interest Rate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noProof="0" dirty="0"/>
              <a:t>The horizontal axis represents years deposited ranging from 0 to 30 years in increments of 5 years. The vertical axis represents future value ranging from 0 to 7,000 dollars in increments of 1,000 dollars. Three lines show the future values at 5 percent, 10 percent, and 15 percent interest rates. The lines increase along the horizontal axis with lines representing higher rates moving above the lines representing lower rates. The future values at 20 years are as follows: 5 percent, 265.33 dollars. 10 percent, 672.75 dollars. 15 percent, 1,636.65 dollars. The future values at 30 years are as follows: 5 percent, 432.19 dollars. 10 percent, 1,744.94 dollars. 15 percent, 6,621.18 dollars.</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9AB9ED6E-1472-4416-95F4-D143D7144D4D}"/>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43</a:t>
            </a:fld>
            <a:endParaRPr lang="en-US" dirty="0"/>
          </a:p>
        </p:txBody>
      </p:sp>
    </p:spTree>
    <p:extLst>
      <p:ext uri="{BB962C8B-B14F-4D97-AF65-F5344CB8AC3E}">
        <p14:creationId xmlns:p14="http://schemas.microsoft.com/office/powerpoint/2010/main" val="29558160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Evaluating Different Discount Rates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sz="2200" noProof="0" dirty="0"/>
              <a:t>The horizontal axis represents periods ranging from 0 to 40 in increments of 5. The vertical axis represents present value in dollars ranging from 0 to 100 in increments of 10 dollars. Four lines represent discount rates of 0 percent, 5 percent, 10 percent, and 15 percent. All lines start from the top of the horizontal axis. The line representing 0 percent is flat and horizontal along the horizontal axis. The other lines decrease along the horizontal axis with lines representing higher discount rates moving lower than the lines representing lower discount rates. Point A is plotted at 100 dollars on the vertical axis. Point B is plotted on the line representing 10 percent between 10 and 20 dollars at 25 of the horizontal axis. Point C is plotted on the line representing 15 percent at 1 dollar and 33 of the horizontal axis. All data are approximate.</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03F55A2A-7B8C-4EB5-A23A-C7D1BA9AF1EA}"/>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44</a:t>
            </a:fld>
            <a:endParaRPr lang="en-US" dirty="0"/>
          </a:p>
        </p:txBody>
      </p:sp>
    </p:spTree>
    <p:extLst>
      <p:ext uri="{BB962C8B-B14F-4D97-AF65-F5344CB8AC3E}">
        <p14:creationId xmlns:p14="http://schemas.microsoft.com/office/powerpoint/2010/main" val="26299240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Discounting with Multiple Rates Example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sz="2200" noProof="0" dirty="0"/>
              <a:t>Periods are indicated from 0 to 3 years in increments of 1. Cash flow is indicated below the periods as follows: 0, P V equals question mark. 3, F V equals 2,500. Interest rates are indicated as 7 percent between the periods 0 and 1, 8 percent between periods 1 and 2, and 8.5 percent between 2 and 3 years.</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D92018BC-B800-466D-BD48-8D9522C56DAF}"/>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45</a:t>
            </a:fld>
            <a:endParaRPr lang="en-US" dirty="0"/>
          </a:p>
        </p:txBody>
      </p:sp>
    </p:spTree>
    <p:extLst>
      <p:ext uri="{BB962C8B-B14F-4D97-AF65-F5344CB8AC3E}">
        <p14:creationId xmlns:p14="http://schemas.microsoft.com/office/powerpoint/2010/main" val="39369958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Moving Cash Flows Example </a:t>
            </a:r>
            <a:r>
              <a:rPr lang="en-US" sz="900" b="0" baseline="0" noProof="0" dirty="0"/>
              <a:t>1</a:t>
            </a:r>
            <a:r>
              <a:rPr lang="en-US" sz="3200" noProof="0" dirty="0"/>
              <a:t>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sz="2200" noProof="0" dirty="0"/>
              <a:t>Periods are indicated from 0 to 3 years in increments of 1. Cash flow is indicated below the periods as follows: 2, P V 2 equals question mark. 3, F V equals 200. Interest rate is indicated as 6 percent between 2 and 3 years.</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A43F17FE-0E3A-4359-A0A9-DD6D114F86AB}"/>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46</a:t>
            </a:fld>
            <a:endParaRPr lang="en-US" dirty="0"/>
          </a:p>
        </p:txBody>
      </p:sp>
    </p:spTree>
    <p:extLst>
      <p:ext uri="{BB962C8B-B14F-4D97-AF65-F5344CB8AC3E}">
        <p14:creationId xmlns:p14="http://schemas.microsoft.com/office/powerpoint/2010/main" val="22093629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Equivalent Cash Flows in Time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sz="1800" noProof="0" dirty="0"/>
              <a:t>When interest rates are, a cash flow of, in year, can be moved to year, with equation, and equivalent cash flow are the column heads of the table. Under the panel, Moving later versus moving earlier, the row entries are as follows: Row 1: 8 percent, 1,000 dollars, 5, 10, F V 10 equals P V 5 times 1 plus </a:t>
            </a:r>
            <a:r>
              <a:rPr lang="en-US" sz="1800" noProof="0" dirty="0" err="1"/>
              <a:t>i</a:t>
            </a:r>
            <a:r>
              <a:rPr lang="en-US" sz="1800" noProof="0" dirty="0"/>
              <a:t> the whole power 5 equals 1,000 dollars times 1.08 power 5 equals, and 1,469.33 dollars. Row 2: 8 percent, 1,000 dollars, 5, 2, P V 2 equals F V 5 over 1 plus </a:t>
            </a:r>
            <a:r>
              <a:rPr lang="en-US" sz="1800" noProof="0" dirty="0" err="1"/>
              <a:t>i</a:t>
            </a:r>
            <a:r>
              <a:rPr lang="en-US" sz="1800" noProof="0" dirty="0"/>
              <a:t> the whole cube equals 1,000 dollars over 1.08 cube equals, and 793.83 dollars. Under the panel, Moving earlier, the row entries are as follows: Row 3: 10 percent, 500 dollars, 9, 8, P V 8 equals F V 9 over 1 plus </a:t>
            </a:r>
            <a:r>
              <a:rPr lang="en-US" sz="1800" noProof="0" dirty="0" err="1"/>
              <a:t>i</a:t>
            </a:r>
            <a:r>
              <a:rPr lang="en-US" sz="1800" noProof="0" dirty="0"/>
              <a:t> the whole power 1 equals 500 dollars over 1.10 power 1 equals, and 454.55 dollars. Row 4: 10 percent, 500 dollars, 9, 0, P V 0 equals F V 9 over 1 plus </a:t>
            </a:r>
            <a:r>
              <a:rPr lang="en-US" sz="1800" noProof="0" dirty="0" err="1"/>
              <a:t>i</a:t>
            </a:r>
            <a:r>
              <a:rPr lang="en-US" sz="1800" noProof="0" dirty="0"/>
              <a:t> the whole power 9 equals 500 dollars over 1.10 power 9 equals, and 212.05 dollars. Under the panel, Moving later, the row entries are as follows: Row 5: 12 percent, 100 dollars, 4, 20, F V 20 equals P V 4 times 1 plus </a:t>
            </a:r>
            <a:r>
              <a:rPr lang="en-US" sz="1800" noProof="0" dirty="0" err="1"/>
              <a:t>i</a:t>
            </a:r>
            <a:r>
              <a:rPr lang="en-US" sz="1800" noProof="0" dirty="0"/>
              <a:t> the whole power 16 equals 100 dollars times 1.12 power 16 equals, and 613.04 dollars. Row 6: 12 percent, 100 dollars, 4, 30, F V 30 equals P V 4 times 1 plus </a:t>
            </a:r>
            <a:r>
              <a:rPr lang="en-US" sz="1800" noProof="0" dirty="0" err="1"/>
              <a:t>i</a:t>
            </a:r>
            <a:r>
              <a:rPr lang="en-US" sz="1800" noProof="0" dirty="0"/>
              <a:t> the whole power 26 equals 100 dollars times 1.12 power 26 equals, and 1,904.01 dollars.</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B1F171A9-8836-4A56-A621-D8687A4E8126}"/>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47</a:t>
            </a:fld>
            <a:endParaRPr lang="en-US" dirty="0"/>
          </a:p>
        </p:txBody>
      </p:sp>
    </p:spTree>
    <p:extLst>
      <p:ext uri="{BB962C8B-B14F-4D97-AF65-F5344CB8AC3E}">
        <p14:creationId xmlns:p14="http://schemas.microsoft.com/office/powerpoint/2010/main" val="24055397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E1FDD-379D-4E5C-A34D-5D0EC7F3FA97}"/>
              </a:ext>
            </a:extLst>
          </p:cNvPr>
          <p:cNvSpPr>
            <a:spLocks noGrp="1"/>
          </p:cNvSpPr>
          <p:nvPr>
            <p:ph type="title"/>
          </p:nvPr>
        </p:nvSpPr>
        <p:spPr/>
        <p:txBody>
          <a:bodyPr>
            <a:noAutofit/>
          </a:bodyPr>
          <a:lstStyle/>
          <a:p>
            <a:r>
              <a:rPr lang="en-US" sz="3200" noProof="0" dirty="0"/>
              <a:t>Computing Interest Rates </a:t>
            </a:r>
            <a:r>
              <a:rPr lang="en-US" sz="900" b="0" baseline="0" noProof="0" dirty="0"/>
              <a:t>2</a:t>
            </a:r>
            <a:r>
              <a:rPr lang="en-US" sz="3200" noProof="0" dirty="0"/>
              <a:t> – Text Alternative</a:t>
            </a:r>
          </a:p>
        </p:txBody>
      </p:sp>
      <p:sp>
        <p:nvSpPr>
          <p:cNvPr id="3" name="Text Placeholder 2">
            <a:extLst>
              <a:ext uri="{FF2B5EF4-FFF2-40B4-BE49-F238E27FC236}">
                <a16:creationId xmlns:a16="http://schemas.microsoft.com/office/drawing/2014/main" xmlns="" id="{34D4265E-04EB-4AF5-9F05-5065FC441802}"/>
              </a:ext>
            </a:extLst>
          </p:cNvPr>
          <p:cNvSpPr>
            <a:spLocks noGrp="1"/>
          </p:cNvSpPr>
          <p:nvPr>
            <p:ph type="body" sz="quarter" idx="14"/>
          </p:nvPr>
        </p:nvSpPr>
        <p:spPr/>
        <p:txBody>
          <a:bodyPr/>
          <a:lstStyle/>
          <a:p>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xmlns="" id="{2EDB6C58-26A9-4504-8C9D-6F30D32515D1}"/>
              </a:ext>
            </a:extLst>
          </p:cNvPr>
          <p:cNvSpPr>
            <a:spLocks noGrp="1"/>
          </p:cNvSpPr>
          <p:nvPr>
            <p:ph sz="quarter" idx="11"/>
          </p:nvPr>
        </p:nvSpPr>
        <p:spPr/>
        <p:txBody>
          <a:bodyPr>
            <a:noAutofit/>
          </a:bodyPr>
          <a:lstStyle/>
          <a:p>
            <a:r>
              <a:rPr lang="en-US" noProof="0" dirty="0"/>
              <a:t>P V is indicated as 350 dollars in A 2, F V as 475 dollars in B 2, N as 3 in C 2, and </a:t>
            </a:r>
            <a:r>
              <a:rPr lang="en-US" noProof="0" dirty="0" err="1"/>
              <a:t>i</a:t>
            </a:r>
            <a:r>
              <a:rPr lang="en-US" noProof="0" dirty="0"/>
              <a:t> as 10.72 percent in D 2. The formula for cell D 2 is shown as equals RATE open parenthesis C 2 comma 0 comma minus A 2 comma B 2 close parenthesis.</a:t>
            </a:r>
          </a:p>
        </p:txBody>
      </p:sp>
      <p:sp>
        <p:nvSpPr>
          <p:cNvPr id="5" name="Text Placeholder 4">
            <a:extLst>
              <a:ext uri="{FF2B5EF4-FFF2-40B4-BE49-F238E27FC236}">
                <a16:creationId xmlns:a16="http://schemas.microsoft.com/office/drawing/2014/main" xmlns="" id="{5E0D4AC0-83E7-4ECB-9EAA-A6B3677F866C}"/>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xmlns="" id="{A492E89C-0DFC-4B87-855D-1BA2FB7ADF58}"/>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pPr/>
              <a:t>48</a:t>
            </a:fld>
            <a:endParaRPr lang="en-US" dirty="0"/>
          </a:p>
        </p:txBody>
      </p:sp>
    </p:spTree>
    <p:extLst>
      <p:ext uri="{BB962C8B-B14F-4D97-AF65-F5344CB8AC3E}">
        <p14:creationId xmlns:p14="http://schemas.microsoft.com/office/powerpoint/2010/main" val="17881536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2242</TotalTime>
  <Words>3156</Words>
  <Application>Microsoft Office PowerPoint</Application>
  <PresentationFormat>On-screen Show (4:3)</PresentationFormat>
  <Paragraphs>270</Paragraphs>
  <Slides>48</Slides>
  <Notes>5</Notes>
  <HiddenSlides>12</HiddenSlides>
  <MMClips>0</MMClips>
  <ScaleCrop>false</ScaleCrop>
  <HeadingPairs>
    <vt:vector size="8" baseType="variant">
      <vt:variant>
        <vt:lpstr>Fonts Used</vt:lpstr>
      </vt:variant>
      <vt:variant>
        <vt:i4>3</vt:i4>
      </vt:variant>
      <vt:variant>
        <vt:lpstr>Theme</vt:lpstr>
      </vt:variant>
      <vt:variant>
        <vt:i4>5</vt:i4>
      </vt:variant>
      <vt:variant>
        <vt:lpstr>Embedded OLE Servers</vt:lpstr>
      </vt:variant>
      <vt:variant>
        <vt:i4>1</vt:i4>
      </vt:variant>
      <vt:variant>
        <vt:lpstr>Slide Titles</vt:lpstr>
      </vt:variant>
      <vt:variant>
        <vt:i4>48</vt:i4>
      </vt:variant>
    </vt:vector>
  </HeadingPairs>
  <TitlesOfParts>
    <vt:vector size="57" baseType="lpstr">
      <vt:lpstr>MS PGothic</vt:lpstr>
      <vt:lpstr>Arial</vt:lpstr>
      <vt:lpstr>Calibri</vt:lpstr>
      <vt:lpstr>Title Slides Master</vt:lpstr>
      <vt:lpstr>MainContentSlideMaster</vt:lpstr>
      <vt:lpstr>ClosingMaster</vt:lpstr>
      <vt:lpstr>DividerSlideMaster</vt:lpstr>
      <vt:lpstr>ImageDescriptionAppendixSlideMaster</vt:lpstr>
      <vt:lpstr>Equation</vt:lpstr>
      <vt:lpstr>Chapter 4</vt:lpstr>
      <vt:lpstr>Learning Goals</vt:lpstr>
      <vt:lpstr>Introduction 1</vt:lpstr>
      <vt:lpstr>Introduction 2</vt:lpstr>
      <vt:lpstr>Organizing Cash Flows</vt:lpstr>
      <vt:lpstr>Time Line Example</vt:lpstr>
      <vt:lpstr>Future Value</vt:lpstr>
      <vt:lpstr>Single-Period Future Value 1</vt:lpstr>
      <vt:lpstr>Single-Period Future Value 2</vt:lpstr>
      <vt:lpstr>Single-Period Future Value (Concluded)</vt:lpstr>
      <vt:lpstr>Compounding and Future Value</vt:lpstr>
      <vt:lpstr>Compounding Example 1</vt:lpstr>
      <vt:lpstr>Compounding Example 2</vt:lpstr>
      <vt:lpstr>The Future Value of $100</vt:lpstr>
      <vt:lpstr>The Power of Compounding</vt:lpstr>
      <vt:lpstr>Interest Earned on Prior Interest at a 5 Percent Rate</vt:lpstr>
      <vt:lpstr>Impact of Time and Magnitude of Interest Rate</vt:lpstr>
      <vt:lpstr>Present Value</vt:lpstr>
      <vt:lpstr>Discounting</vt:lpstr>
      <vt:lpstr>Present Value Example</vt:lpstr>
      <vt:lpstr>Discounting Over Multiple Periods</vt:lpstr>
      <vt:lpstr>Discounting Over Multiple Periods Example</vt:lpstr>
      <vt:lpstr>Evaluating Different Discount Rates</vt:lpstr>
      <vt:lpstr>Discounting with Multiple Rates</vt:lpstr>
      <vt:lpstr>Discounting with Multiple Rates Example</vt:lpstr>
      <vt:lpstr>Using Present Values and Future Values</vt:lpstr>
      <vt:lpstr>Moving Cash Flows Example 1</vt:lpstr>
      <vt:lpstr>Moving Cash Flows Example 2</vt:lpstr>
      <vt:lpstr>Equivalent Cash Flows in Time</vt:lpstr>
      <vt:lpstr>Rule of 72</vt:lpstr>
      <vt:lpstr>Rule of 72 Example</vt:lpstr>
      <vt:lpstr>Computing Interest Rates 1</vt:lpstr>
      <vt:lpstr>Computing Interest Rates 2</vt:lpstr>
      <vt:lpstr>Solving for Time</vt:lpstr>
      <vt:lpstr>Solving for Time Example</vt:lpstr>
      <vt:lpstr>End of Main Content</vt:lpstr>
      <vt:lpstr>Accessibility Content: Text Alternatives for Images</vt:lpstr>
      <vt:lpstr>Time Line Example – Text Alternative</vt:lpstr>
      <vt:lpstr>Compounding Example 1 – Text Alternative</vt:lpstr>
      <vt:lpstr>The Future Value of $100 – Text Alternative</vt:lpstr>
      <vt:lpstr>The Power of Compounding – Text Alternative</vt:lpstr>
      <vt:lpstr>Interest Earned on Prior Interest at a 5 Percent Rate – Text Alternative</vt:lpstr>
      <vt:lpstr>Impact of Time and Magnitude of Interest Rate – Text Alternative</vt:lpstr>
      <vt:lpstr>Evaluating Different Discount Rates – Text Alternative</vt:lpstr>
      <vt:lpstr>Discounting with Multiple Rates Example – Text Alternative</vt:lpstr>
      <vt:lpstr>Moving Cash Flows Example 1 – Text Alternative</vt:lpstr>
      <vt:lpstr>Equivalent Cash Flows in Time – Text Alternative</vt:lpstr>
      <vt:lpstr>Computing Interest Rates 2 – Text Alternative</vt:lpstr>
    </vt:vector>
  </TitlesOfParts>
  <Company>McGraw Hill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creator>Kouvelis, Christina</dc:creator>
  <cp:keywords/>
  <cp:lastModifiedBy>Gunasundari Kuppan</cp:lastModifiedBy>
  <cp:revision>536</cp:revision>
  <dcterms:created xsi:type="dcterms:W3CDTF">2020-12-08T04:00:13Z</dcterms:created>
  <dcterms:modified xsi:type="dcterms:W3CDTF">2022-10-03T05:22:45Z</dcterms:modified>
</cp:coreProperties>
</file>