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58"/>
  </p:notesMasterIdLst>
  <p:sldIdLst>
    <p:sldId id="707" r:id="rId6"/>
    <p:sldId id="666" r:id="rId7"/>
    <p:sldId id="667" r:id="rId8"/>
    <p:sldId id="668" r:id="rId9"/>
    <p:sldId id="669" r:id="rId10"/>
    <p:sldId id="670" r:id="rId11"/>
    <p:sldId id="671" r:id="rId12"/>
    <p:sldId id="672" r:id="rId13"/>
    <p:sldId id="673" r:id="rId14"/>
    <p:sldId id="675" r:id="rId15"/>
    <p:sldId id="676" r:id="rId16"/>
    <p:sldId id="674" r:id="rId17"/>
    <p:sldId id="677" r:id="rId18"/>
    <p:sldId id="678" r:id="rId19"/>
    <p:sldId id="679" r:id="rId20"/>
    <p:sldId id="680" r:id="rId21"/>
    <p:sldId id="681" r:id="rId22"/>
    <p:sldId id="682" r:id="rId23"/>
    <p:sldId id="683" r:id="rId24"/>
    <p:sldId id="684" r:id="rId25"/>
    <p:sldId id="685" r:id="rId26"/>
    <p:sldId id="686" r:id="rId27"/>
    <p:sldId id="687" r:id="rId28"/>
    <p:sldId id="688" r:id="rId29"/>
    <p:sldId id="689" r:id="rId30"/>
    <p:sldId id="690" r:id="rId31"/>
    <p:sldId id="691" r:id="rId32"/>
    <p:sldId id="692" r:id="rId33"/>
    <p:sldId id="693" r:id="rId34"/>
    <p:sldId id="694" r:id="rId35"/>
    <p:sldId id="695" r:id="rId36"/>
    <p:sldId id="696" r:id="rId37"/>
    <p:sldId id="705" r:id="rId38"/>
    <p:sldId id="697" r:id="rId39"/>
    <p:sldId id="698" r:id="rId40"/>
    <p:sldId id="699" r:id="rId41"/>
    <p:sldId id="700" r:id="rId42"/>
    <p:sldId id="701" r:id="rId43"/>
    <p:sldId id="702" r:id="rId44"/>
    <p:sldId id="706" r:id="rId45"/>
    <p:sldId id="703" r:id="rId46"/>
    <p:sldId id="708" r:id="rId47"/>
    <p:sldId id="442" r:id="rId48"/>
    <p:sldId id="258" r:id="rId49"/>
    <p:sldId id="709" r:id="rId50"/>
    <p:sldId id="710" r:id="rId51"/>
    <p:sldId id="711" r:id="rId52"/>
    <p:sldId id="712" r:id="rId53"/>
    <p:sldId id="713" r:id="rId54"/>
    <p:sldId id="716" r:id="rId55"/>
    <p:sldId id="714" r:id="rId56"/>
    <p:sldId id="715"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707"/>
            <p14:sldId id="666"/>
            <p14:sldId id="667"/>
            <p14:sldId id="668"/>
            <p14:sldId id="669"/>
            <p14:sldId id="670"/>
            <p14:sldId id="671"/>
            <p14:sldId id="672"/>
            <p14:sldId id="673"/>
            <p14:sldId id="675"/>
            <p14:sldId id="676"/>
            <p14:sldId id="674"/>
            <p14:sldId id="677"/>
            <p14:sldId id="678"/>
            <p14:sldId id="679"/>
            <p14:sldId id="680"/>
            <p14:sldId id="681"/>
            <p14:sldId id="682"/>
            <p14:sldId id="683"/>
            <p14:sldId id="684"/>
            <p14:sldId id="685"/>
            <p14:sldId id="686"/>
            <p14:sldId id="687"/>
            <p14:sldId id="688"/>
            <p14:sldId id="689"/>
            <p14:sldId id="690"/>
            <p14:sldId id="691"/>
            <p14:sldId id="692"/>
            <p14:sldId id="693"/>
            <p14:sldId id="694"/>
            <p14:sldId id="695"/>
            <p14:sldId id="696"/>
            <p14:sldId id="705"/>
            <p14:sldId id="697"/>
            <p14:sldId id="698"/>
            <p14:sldId id="699"/>
            <p14:sldId id="700"/>
            <p14:sldId id="701"/>
            <p14:sldId id="702"/>
            <p14:sldId id="706"/>
            <p14:sldId id="703"/>
            <p14:sldId id="708"/>
            <p14:sldId id="442"/>
          </p14:sldIdLst>
        </p14:section>
        <p14:section name="Appendix: Image Descriptions for Unsighted Students" id="{9E859B0B-078E-463E-89A6-21C20DD280C4}">
          <p14:sldIdLst>
            <p14:sldId id="258"/>
            <p14:sldId id="709"/>
            <p14:sldId id="710"/>
            <p14:sldId id="711"/>
            <p14:sldId id="712"/>
            <p14:sldId id="713"/>
            <p14:sldId id="716"/>
            <p14:sldId id="714"/>
            <p14:sldId id="715"/>
          </p14:sldIdLst>
        </p14:section>
      </p14:sectionLst>
    </p:ext>
    <p:ext uri="{EFAFB233-063F-42B5-8137-9DF3F51BA10A}">
      <p15:sldGuideLst xmlns:p15="http://schemas.microsoft.com/office/powerpoint/2012/main">
        <p15:guide id="2" pos="3240" userDrawn="1">
          <p15:clr>
            <a:srgbClr val="A4A3A4"/>
          </p15:clr>
        </p15:guide>
        <p15:guide id="3" orient="horz" pos="2256" userDrawn="1">
          <p15:clr>
            <a:srgbClr val="A4A3A4"/>
          </p15:clr>
        </p15:guide>
        <p15:guide id="4" pos="5640" userDrawn="1">
          <p15:clr>
            <a:srgbClr val="A4A3A4"/>
          </p15:clr>
        </p15:guide>
        <p15:guide id="5" pos="45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 id="3" name="1769" initials="1" lastIdx="2" clrIdx="2">
    <p:extLst>
      <p:ext uri="{19B8F6BF-5375-455C-9EA6-DF929625EA0E}">
        <p15:presenceInfo xmlns:p15="http://schemas.microsoft.com/office/powerpoint/2012/main" userId="1769"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131A"/>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04" autoAdjust="0"/>
    <p:restoredTop sz="94249" autoAdjust="0"/>
  </p:normalViewPr>
  <p:slideViewPr>
    <p:cSldViewPr snapToGrid="0" showGuides="1">
      <p:cViewPr varScale="1">
        <p:scale>
          <a:sx n="71" d="100"/>
          <a:sy n="71" d="100"/>
        </p:scale>
        <p:origin x="1356" y="54"/>
      </p:cViewPr>
      <p:guideLst>
        <p:guide pos="3240"/>
        <p:guide orient="horz" pos="2256"/>
        <p:guide pos="5640"/>
        <p:guide pos="456"/>
      </p:guideLst>
    </p:cSldViewPr>
  </p:slideViewPr>
  <p:outlineViewPr>
    <p:cViewPr>
      <p:scale>
        <a:sx n="33" d="100"/>
        <a:sy n="33" d="100"/>
      </p:scale>
      <p:origin x="0" y="-35118"/>
    </p:cViewPr>
  </p:outlin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viewProps" Target="view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commentAuthors" Target="commentAuthor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7.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3.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0C1A02-B94D-44D6-8AA3-0DD14C84C13F}" type="datetimeFigureOut">
              <a:rPr lang="en-US" smtClean="0"/>
              <a:t>11/24/2022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E8D09-9492-4554-9C8F-456CB81F32A8}" type="slidenum">
              <a:rPr lang="en-US" smtClean="0"/>
              <a:t>‹#›</a:t>
            </a:fld>
            <a:endParaRPr lang="en-US"/>
          </a:p>
        </p:txBody>
      </p:sp>
    </p:spTree>
    <p:extLst>
      <p:ext uri="{BB962C8B-B14F-4D97-AF65-F5344CB8AC3E}">
        <p14:creationId xmlns:p14="http://schemas.microsoft.com/office/powerpoint/2010/main" val="302017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other words, the cash flow is the same and occurs every year.</a:t>
            </a:r>
          </a:p>
          <a:p>
            <a:endParaRPr lang="en-US" dirty="0"/>
          </a:p>
        </p:txBody>
      </p:sp>
      <p:sp>
        <p:nvSpPr>
          <p:cNvPr id="4" name="Slide Number Placeholder 3"/>
          <p:cNvSpPr>
            <a:spLocks noGrp="1"/>
          </p:cNvSpPr>
          <p:nvPr>
            <p:ph type="sldNum" sz="quarter" idx="10"/>
          </p:nvPr>
        </p:nvSpPr>
        <p:spPr/>
        <p:txBody>
          <a:bodyPr/>
          <a:lstStyle/>
          <a:p>
            <a:fld id="{969E8D09-9492-4554-9C8F-456CB81F32A8}" type="slidenum">
              <a:rPr lang="en-US" smtClean="0"/>
              <a:t>7</a:t>
            </a:fld>
            <a:endParaRPr lang="en-US"/>
          </a:p>
        </p:txBody>
      </p:sp>
    </p:spTree>
    <p:extLst>
      <p:ext uri="{BB962C8B-B14F-4D97-AF65-F5344CB8AC3E}">
        <p14:creationId xmlns:p14="http://schemas.microsoft.com/office/powerpoint/2010/main" val="3019228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Notice that creating the –$1 million annuity also resulted in the third annuity of –$1 million for three years. This time line shows three annuities. If you add the cash flows in any year, the sum is Price’s salary for that year. </a:t>
            </a:r>
          </a:p>
          <a:p>
            <a:endParaRPr lang="en-US" dirty="0"/>
          </a:p>
        </p:txBody>
      </p:sp>
      <p:sp>
        <p:nvSpPr>
          <p:cNvPr id="4" name="Slide Number Placeholder 3"/>
          <p:cNvSpPr>
            <a:spLocks noGrp="1"/>
          </p:cNvSpPr>
          <p:nvPr>
            <p:ph type="sldNum" sz="quarter" idx="10"/>
          </p:nvPr>
        </p:nvSpPr>
        <p:spPr/>
        <p:txBody>
          <a:bodyPr/>
          <a:lstStyle/>
          <a:p>
            <a:fld id="{969E8D09-9492-4554-9C8F-456CB81F32A8}" type="slidenum">
              <a:rPr lang="en-US" smtClean="0"/>
              <a:t>19</a:t>
            </a:fld>
            <a:endParaRPr lang="en-US"/>
          </a:p>
        </p:txBody>
      </p:sp>
    </p:spTree>
    <p:extLst>
      <p:ext uri="{BB962C8B-B14F-4D97-AF65-F5344CB8AC3E}">
        <p14:creationId xmlns:p14="http://schemas.microsoft.com/office/powerpoint/2010/main" val="1106393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nimbus"/>
              </a:rPr>
              <a:t>So, when interest rates are 9 percent, it takes monthly payments of $248.85 to pay off a $10,000 loan in four years.</a:t>
            </a:r>
            <a:endParaRPr lang="en-US" dirty="0"/>
          </a:p>
          <a:p>
            <a:endParaRPr lang="en-US" dirty="0"/>
          </a:p>
        </p:txBody>
      </p:sp>
      <p:sp>
        <p:nvSpPr>
          <p:cNvPr id="4" name="Slide Number Placeholder 3"/>
          <p:cNvSpPr>
            <a:spLocks noGrp="1"/>
          </p:cNvSpPr>
          <p:nvPr>
            <p:ph type="sldNum" sz="quarter" idx="10"/>
          </p:nvPr>
        </p:nvSpPr>
        <p:spPr/>
        <p:txBody>
          <a:bodyPr/>
          <a:lstStyle/>
          <a:p>
            <a:fld id="{969E8D09-9492-4554-9C8F-456CB81F32A8}" type="slidenum">
              <a:rPr lang="en-US" smtClean="0"/>
              <a:t>37</a:t>
            </a:fld>
            <a:endParaRPr lang="en-US"/>
          </a:p>
        </p:txBody>
      </p:sp>
    </p:spTree>
    <p:extLst>
      <p:ext uri="{BB962C8B-B14F-4D97-AF65-F5344CB8AC3E}">
        <p14:creationId xmlns:p14="http://schemas.microsoft.com/office/powerpoint/2010/main" val="1518137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A7A27-C7DA-4E20-8877-F9D8D7F61956}" type="slidenum">
              <a:rPr lang="en-US" smtClean="0"/>
              <a:t>43</a:t>
            </a:fld>
            <a:endParaRPr lang="en-US"/>
          </a:p>
        </p:txBody>
      </p:sp>
    </p:spTree>
    <p:extLst>
      <p:ext uri="{BB962C8B-B14F-4D97-AF65-F5344CB8AC3E}">
        <p14:creationId xmlns:p14="http://schemas.microsoft.com/office/powerpoint/2010/main" val="4005741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xmlns=""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xmlns=""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xmlns=""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xmlns=""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xmlns="" id="{EC86C884-D766-9149-B40E-B86A943DE6D1}"/>
              </a:ext>
              <a:ext uri="{C183D7F6-B498-43B3-948B-1728B52AA6E4}">
                <adec:decorative xmlns:adec="http://schemas.microsoft.com/office/drawing/2017/decorative" xmlns=""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xmlns=""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xmlns=""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xmlns="" id="{E2D8ACCF-E5FC-4FE9-9E84-B2A0A6B1EEBA}"/>
              </a:ext>
              <a:ext uri="{C183D7F6-B498-43B3-948B-1728B52AA6E4}">
                <adec:decorative xmlns:adec="http://schemas.microsoft.com/office/drawing/2017/decorative" xmlns=""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xmlns=""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xmlns=""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xmlns="" id="{EC86C884-D766-9149-B40E-B86A943DE6D1}"/>
              </a:ext>
              <a:ext uri="{C183D7F6-B498-43B3-948B-1728B52AA6E4}">
                <adec:decorative xmlns:adec="http://schemas.microsoft.com/office/drawing/2017/decorative" xmlns=""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xmlns=""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xmlns=""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xmlns=""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xmlns=""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xmlns=""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xmlns="" id="{EC86C884-D766-9149-B40E-B86A943DE6D1}"/>
              </a:ext>
              <a:ext uri="{C183D7F6-B498-43B3-948B-1728B52AA6E4}">
                <adec:decorative xmlns:adec="http://schemas.microsoft.com/office/drawing/2017/decorative" xmlns=""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4" name="Long Copyright">
            <a:extLst>
              <a:ext uri="{FF2B5EF4-FFF2-40B4-BE49-F238E27FC236}">
                <a16:creationId xmlns:a16="http://schemas.microsoft.com/office/drawing/2014/main" xmlns="" id="{54514DA3-A928-4CD1-BFAE-B5DF399C4B36}"/>
              </a:ext>
            </a:extLst>
          </p:cNvPr>
          <p:cNvSpPr>
            <a:spLocks noGrp="1"/>
          </p:cNvSpPr>
          <p:nvPr>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xmlns="" id="{7A14A7A9-A9D7-4A08-A24F-4D1C1F4C29CE}"/>
              </a:ext>
              <a:ext uri="{C183D7F6-B498-43B3-948B-1728B52AA6E4}">
                <adec:decorative xmlns:adec="http://schemas.microsoft.com/office/drawing/2017/decorative" xmlns=""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xmlns=""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xmlns=""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xmlns="" id="{EC86C884-D766-9149-B40E-B86A943DE6D1}"/>
              </a:ext>
              <a:ext uri="{C183D7F6-B498-43B3-948B-1728B52AA6E4}">
                <adec:decorative xmlns:adec="http://schemas.microsoft.com/office/drawing/2017/decorative" xmlns=""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4" name="Long Copyright">
            <a:extLst>
              <a:ext uri="{FF2B5EF4-FFF2-40B4-BE49-F238E27FC236}">
                <a16:creationId xmlns:a16="http://schemas.microsoft.com/office/drawing/2014/main" xmlns=""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xmlns="" id="{E2D8ACCF-E5FC-4FE9-9E84-B2A0A6B1EEBA}"/>
              </a:ext>
              <a:ext uri="{C183D7F6-B498-43B3-948B-1728B52AA6E4}">
                <adec:decorative xmlns:adec="http://schemas.microsoft.com/office/drawing/2017/decorative" xmlns=""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xmlns=""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xmlns=""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xmlns="" id="{EC86C884-D766-9149-B40E-B86A943DE6D1}"/>
              </a:ext>
              <a:ext uri="{C183D7F6-B498-43B3-948B-1728B52AA6E4}">
                <adec:decorative xmlns:adec="http://schemas.microsoft.com/office/drawing/2017/decorative" xmlns=""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2" name="Long Copyright">
            <a:extLst>
              <a:ext uri="{FF2B5EF4-FFF2-40B4-BE49-F238E27FC236}">
                <a16:creationId xmlns:a16="http://schemas.microsoft.com/office/drawing/2014/main" xmlns=""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13" name="Content Placeholder 5">
            <a:extLst>
              <a:ext uri="{FF2B5EF4-FFF2-40B4-BE49-F238E27FC236}">
                <a16:creationId xmlns:a16="http://schemas.microsoft.com/office/drawing/2014/main" xmlns="" id="{94676E63-5785-42C5-94C7-249B828FABD8}"/>
              </a:ext>
            </a:extLst>
          </p:cNvPr>
          <p:cNvSpPr>
            <a:spLocks noGrp="1"/>
          </p:cNvSpPr>
          <p:nvPr>
            <p:ph sz="quarter" idx="13"/>
          </p:nvPr>
        </p:nvSpPr>
        <p:spPr>
          <a:xfrm>
            <a:off x="365125" y="6543675"/>
            <a:ext cx="8421688" cy="173038"/>
          </a:xfrm>
          <a:prstGeom prst="rect">
            <a:avLst/>
          </a:prstGeom>
        </p:spPr>
        <p:txBody>
          <a:bodyPr/>
          <a:lstStyle/>
          <a:p>
            <a:pPr lvl="0"/>
            <a:endParaRPr lang="en-US" dirty="0"/>
          </a:p>
        </p:txBody>
      </p:sp>
      <p:pic>
        <p:nvPicPr>
          <p:cNvPr id="16" name="Picture 15">
            <a:extLst>
              <a:ext uri="{FF2B5EF4-FFF2-40B4-BE49-F238E27FC236}">
                <a16:creationId xmlns:a16="http://schemas.microsoft.com/office/drawing/2014/main" xmlns="" id="{65C4E5B3-B951-4F2F-8DDD-E6C33E5C175C}"/>
              </a:ext>
            </a:extLst>
          </p:cNvPr>
          <p:cNvPicPr>
            <a:picLocks noChangeAspect="1"/>
          </p:cNvPicPr>
          <p:nvPr userDrawn="1"/>
        </p:nvPicPr>
        <p:blipFill>
          <a:blip r:embed="rId2"/>
          <a:stretch>
            <a:fillRect/>
          </a:stretch>
        </p:blipFill>
        <p:spPr>
          <a:xfrm>
            <a:off x="5555673" y="2110507"/>
            <a:ext cx="2919836" cy="3957784"/>
          </a:xfrm>
          <a:prstGeom prst="rect">
            <a:avLst/>
          </a:prstGeom>
        </p:spPr>
      </p:pic>
    </p:spTree>
    <p:extLst>
      <p:ext uri="{BB962C8B-B14F-4D97-AF65-F5344CB8AC3E}">
        <p14:creationId xmlns:p14="http://schemas.microsoft.com/office/powerpoint/2010/main" val="2957990575"/>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4971691"/>
          </a:xfrm>
          <a:prstGeom prst="rect">
            <a:avLst/>
          </a:prstGeom>
        </p:spPr>
        <p:txBody>
          <a:bodyPr>
            <a:noAutofit/>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8" name="Slide Number Placeholder">
            <a:extLst>
              <a:ext uri="{FF2B5EF4-FFF2-40B4-BE49-F238E27FC236}">
                <a16:creationId xmlns:a16="http://schemas.microsoft.com/office/drawing/2014/main" xmlns="" id="{EF8D8291-5BF4-41AC-87CE-ED5DE4CB1B61}"/>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One Main Placeholder">
    <p:spTree>
      <p:nvGrpSpPr>
        <p:cNvPr id="1" name=""/>
        <p:cNvGrpSpPr/>
        <p:nvPr/>
      </p:nvGrpSpPr>
      <p:grpSpPr>
        <a:xfrm>
          <a:off x="0" y="0"/>
          <a:ext cx="0" cy="0"/>
          <a:chOff x="0" y="0"/>
          <a:chExt cx="0" cy="0"/>
        </a:xfrm>
      </p:grpSpPr>
      <p:sp>
        <p:nvSpPr>
          <p:cNvPr id="2" name="Slide Title 1">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4229100" cy="903231"/>
          </a:xfrm>
          <a:prstGeom prst="rect">
            <a:avLst/>
          </a:prstGeom>
        </p:spPr>
        <p:txBody>
          <a:bodyPr anchor="ctr">
            <a:normAutofit/>
          </a:bodyPr>
          <a:lstStyle>
            <a:lvl1pPr>
              <a:defRPr sz="4000"/>
            </a:lvl1pPr>
          </a:lstStyle>
          <a:p>
            <a:r>
              <a:rPr lang="en-US" dirty="0"/>
              <a:t>Slide Title</a:t>
            </a:r>
          </a:p>
        </p:txBody>
      </p:sp>
      <p:sp>
        <p:nvSpPr>
          <p:cNvPr id="15" name="Slide Title 2">
            <a:extLst>
              <a:ext uri="{FF2B5EF4-FFF2-40B4-BE49-F238E27FC236}">
                <a16:creationId xmlns:a16="http://schemas.microsoft.com/office/drawing/2014/main" xmlns="" id="{B5BB26E5-AE57-4ED5-B8A8-BEE1BD13AD34}"/>
              </a:ext>
            </a:extLst>
          </p:cNvPr>
          <p:cNvSpPr>
            <a:spLocks noGrp="1"/>
          </p:cNvSpPr>
          <p:nvPr>
            <p:ph type="body" sz="quarter" idx="14" hasCustomPrompt="1"/>
          </p:nvPr>
        </p:nvSpPr>
        <p:spPr>
          <a:xfrm>
            <a:off x="4749800" y="192088"/>
            <a:ext cx="4051300" cy="903287"/>
          </a:xfrm>
        </p:spPr>
        <p:txBody>
          <a:bodyPr vert="horz" lIns="91440" tIns="45720" rIns="91440" bIns="45720" rtlCol="0" anchor="ctr">
            <a:normAutofit/>
          </a:bodyPr>
          <a:lstStyle>
            <a:lvl1pPr>
              <a:defRPr lang="en-IN" sz="4000" b="1" dirty="0">
                <a:latin typeface="+mj-lt"/>
                <a:ea typeface="+mj-ea"/>
                <a:cs typeface="+mj-cs"/>
              </a:defRPr>
            </a:lvl1pPr>
          </a:lstStyle>
          <a:p>
            <a:pPr lvl="0">
              <a:lnSpc>
                <a:spcPct val="90000"/>
              </a:lnSpc>
              <a:spcBef>
                <a:spcPct val="0"/>
              </a:spcBef>
            </a:pPr>
            <a:r>
              <a:rPr kumimoji="0" lang="en-US" sz="4000" b="1" i="0" u="none" strike="noStrike" kern="1200" cap="none" spc="0" normalizeH="0" baseline="0" noProof="0" dirty="0">
                <a:ln>
                  <a:noFill/>
                </a:ln>
                <a:solidFill>
                  <a:srgbClr val="000000"/>
                </a:solidFill>
                <a:effectLst/>
                <a:uLnTx/>
                <a:uFillTx/>
                <a:latin typeface="+mn-lt"/>
                <a:ea typeface="+mj-ea"/>
                <a:cs typeface="+mj-cs"/>
              </a:rPr>
              <a:t>Slide Title</a:t>
            </a:r>
            <a:endParaRPr lang="en-IN" dirty="0"/>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29683902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8" name="Picture 7" descr="Connecting through social media icon.">
            <a:extLst>
              <a:ext uri="{FF2B5EF4-FFF2-40B4-BE49-F238E27FC236}">
                <a16:creationId xmlns:a16="http://schemas.microsoft.com/office/drawing/2014/main" xmlns="" id="{48BB348F-12C6-489F-958D-1FDE88A9246E}"/>
              </a:ext>
            </a:extLst>
          </p:cNvPr>
          <p:cNvPicPr>
            <a:picLocks noChangeAspect="1"/>
          </p:cNvPicPr>
          <p:nvPr userDrawn="1"/>
        </p:nvPicPr>
        <p:blipFill>
          <a:blip r:embed="rId2"/>
          <a:stretch>
            <a:fillRect/>
          </a:stretch>
        </p:blipFill>
        <p:spPr>
          <a:xfrm>
            <a:off x="124695" y="298541"/>
            <a:ext cx="2438400" cy="669365"/>
          </a:xfrm>
          <a:prstGeom prst="rect">
            <a:avLst/>
          </a:prstGeom>
        </p:spPr>
      </p:pic>
    </p:spTree>
    <p:extLst>
      <p:ext uri="{BB962C8B-B14F-4D97-AF65-F5344CB8AC3E}">
        <p14:creationId xmlns:p14="http://schemas.microsoft.com/office/powerpoint/2010/main" val="181651259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Making Ethical Decisions icon.">
            <a:extLst>
              <a:ext uri="{FF2B5EF4-FFF2-40B4-BE49-F238E27FC236}">
                <a16:creationId xmlns:a16="http://schemas.microsoft.com/office/drawing/2014/main" xmlns="" id="{35AB3571-1B64-4E5D-ADAB-A22232BBBD05}"/>
              </a:ext>
            </a:extLst>
          </p:cNvPr>
          <p:cNvPicPr>
            <a:picLocks noChangeAspect="1"/>
          </p:cNvPicPr>
          <p:nvPr userDrawn="1"/>
        </p:nvPicPr>
        <p:blipFill>
          <a:blip r:embed="rId2"/>
          <a:stretch>
            <a:fillRect/>
          </a:stretch>
        </p:blipFill>
        <p:spPr>
          <a:xfrm>
            <a:off x="0" y="312475"/>
            <a:ext cx="2498501" cy="663262"/>
          </a:xfrm>
          <a:prstGeom prst="rect">
            <a:avLst/>
          </a:prstGeom>
        </p:spPr>
      </p:pic>
    </p:spTree>
    <p:extLst>
      <p:ext uri="{BB962C8B-B14F-4D97-AF65-F5344CB8AC3E}">
        <p14:creationId xmlns:p14="http://schemas.microsoft.com/office/powerpoint/2010/main" val="241432333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1" y="304800"/>
            <a:ext cx="2344882"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a:extLst>
              <a:ext uri="{FF2B5EF4-FFF2-40B4-BE49-F238E27FC236}">
                <a16:creationId xmlns:a16="http://schemas.microsoft.com/office/drawing/2014/main" xmlns="" id="{23A00108-6ED3-416D-B7AC-3A9D6F2EF0AF}"/>
              </a:ext>
            </a:extLst>
          </p:cNvPr>
          <p:cNvPicPr>
            <a:picLocks noChangeAspect="1"/>
          </p:cNvPicPr>
          <p:nvPr userDrawn="1"/>
        </p:nvPicPr>
        <p:blipFill>
          <a:blip r:embed="rId2"/>
          <a:stretch>
            <a:fillRect/>
          </a:stretch>
        </p:blipFill>
        <p:spPr>
          <a:xfrm>
            <a:off x="4448193" y="489743"/>
            <a:ext cx="4352906" cy="239714"/>
          </a:xfrm>
          <a:prstGeom prst="rect">
            <a:avLst/>
          </a:prstGeom>
        </p:spPr>
      </p:pic>
    </p:spTree>
    <p:extLst>
      <p:ext uri="{BB962C8B-B14F-4D97-AF65-F5344CB8AC3E}">
        <p14:creationId xmlns:p14="http://schemas.microsoft.com/office/powerpoint/2010/main" val="4304521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xmlns=""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62479310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288621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8" name="Content Placeholder 1">
            <a:extLst>
              <a:ext uri="{FF2B5EF4-FFF2-40B4-BE49-F238E27FC236}">
                <a16:creationId xmlns:a16="http://schemas.microsoft.com/office/drawing/2014/main" xmlns="" id="{DFC2A6F8-97FC-43BF-92B6-FFCCF20D98D7}"/>
              </a:ext>
            </a:extLst>
          </p:cNvPr>
          <p:cNvSpPr>
            <a:spLocks noGrp="1"/>
          </p:cNvSpPr>
          <p:nvPr>
            <p:ph sz="quarter" idx="14" hasCustomPrompt="1"/>
          </p:nvPr>
        </p:nvSpPr>
        <p:spPr>
          <a:xfrm>
            <a:off x="342900" y="4275652"/>
            <a:ext cx="8458200" cy="1971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xmlns=""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76522295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2" name="Picture 11" descr="Reaching beyond our borders icon.">
            <a:extLst>
              <a:ext uri="{FF2B5EF4-FFF2-40B4-BE49-F238E27FC236}">
                <a16:creationId xmlns:a16="http://schemas.microsoft.com/office/drawing/2014/main" xmlns="" id="{6B5ACA4D-D63F-4493-A4F0-FFA2A5827540}"/>
              </a:ext>
            </a:extLst>
          </p:cNvPr>
          <p:cNvPicPr>
            <a:picLocks noChangeAspect="1"/>
          </p:cNvPicPr>
          <p:nvPr userDrawn="1"/>
        </p:nvPicPr>
        <p:blipFill>
          <a:blip r:embed="rId2"/>
          <a:stretch>
            <a:fillRect/>
          </a:stretch>
        </p:blipFill>
        <p:spPr>
          <a:xfrm>
            <a:off x="28124" y="217261"/>
            <a:ext cx="2514600" cy="803946"/>
          </a:xfrm>
          <a:prstGeom prst="rect">
            <a:avLst/>
          </a:prstGeom>
        </p:spPr>
      </p:pic>
    </p:spTree>
    <p:extLst>
      <p:ext uri="{BB962C8B-B14F-4D97-AF65-F5344CB8AC3E}">
        <p14:creationId xmlns:p14="http://schemas.microsoft.com/office/powerpoint/2010/main" val="236733342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sz="2400"/>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342900" y="4343400"/>
            <a:ext cx="8458200" cy="1905000"/>
          </a:xfrm>
        </p:spPr>
        <p:txBody>
          <a:bodyPr/>
          <a:lstStyle>
            <a:lvl1pPr>
              <a:defRPr sz="2400"/>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5915890" y="1276709"/>
            <a:ext cx="2885209" cy="4971691"/>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1">
            <a:extLst>
              <a:ext uri="{FF2B5EF4-FFF2-40B4-BE49-F238E27FC236}">
                <a16:creationId xmlns:a16="http://schemas.microsoft.com/office/drawing/2014/main" xmlns="" id="{AFC6CBC7-BAAC-424A-9874-C0A2733A2711}"/>
              </a:ext>
            </a:extLst>
          </p:cNvPr>
          <p:cNvSpPr>
            <a:spLocks noGrp="1"/>
          </p:cNvSpPr>
          <p:nvPr>
            <p:ph sz="quarter" idx="15" hasCustomPrompt="1"/>
          </p:nvPr>
        </p:nvSpPr>
        <p:spPr>
          <a:xfrm>
            <a:off x="2961419" y="129055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Tree>
    <p:extLst>
      <p:ext uri="{BB962C8B-B14F-4D97-AF65-F5344CB8AC3E}">
        <p14:creationId xmlns:p14="http://schemas.microsoft.com/office/powerpoint/2010/main" val="3741215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1577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342900" y="2916383"/>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2">
            <a:extLst>
              <a:ext uri="{FF2B5EF4-FFF2-40B4-BE49-F238E27FC236}">
                <a16:creationId xmlns:a16="http://schemas.microsoft.com/office/drawing/2014/main" xmlns="" id="{7C02FDC4-9007-47FA-8867-BFB4513F337E}"/>
              </a:ext>
            </a:extLst>
          </p:cNvPr>
          <p:cNvSpPr>
            <a:spLocks noGrp="1"/>
          </p:cNvSpPr>
          <p:nvPr>
            <p:ph sz="quarter" idx="15" hasCustomPrompt="1"/>
          </p:nvPr>
        </p:nvSpPr>
        <p:spPr>
          <a:xfrm>
            <a:off x="356750" y="4648197"/>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Tree>
    <p:extLst>
      <p:ext uri="{BB962C8B-B14F-4D97-AF65-F5344CB8AC3E}">
        <p14:creationId xmlns:p14="http://schemas.microsoft.com/office/powerpoint/2010/main" val="262017699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4724400" y="1273051"/>
            <a:ext cx="4076700"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2022764" y="192490"/>
            <a:ext cx="6778335"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4" name="Picture 3">
            <a:extLst>
              <a:ext uri="{FF2B5EF4-FFF2-40B4-BE49-F238E27FC236}">
                <a16:creationId xmlns:a16="http://schemas.microsoft.com/office/drawing/2014/main" xmlns="" id="{15A7E40D-2A6B-4B43-8474-A1C9EAF1D337}"/>
              </a:ext>
            </a:extLst>
          </p:cNvPr>
          <p:cNvPicPr>
            <a:picLocks noChangeAspect="1"/>
          </p:cNvPicPr>
          <p:nvPr userDrawn="1"/>
        </p:nvPicPr>
        <p:blipFill>
          <a:blip r:embed="rId2"/>
          <a:stretch>
            <a:fillRect/>
          </a:stretch>
        </p:blipFill>
        <p:spPr>
          <a:xfrm>
            <a:off x="342900" y="399540"/>
            <a:ext cx="1531522" cy="420120"/>
          </a:xfrm>
          <a:prstGeom prst="rect">
            <a:avLst/>
          </a:prstGeom>
        </p:spPr>
      </p:pic>
    </p:spTree>
    <p:extLst>
      <p:ext uri="{BB962C8B-B14F-4D97-AF65-F5344CB8AC3E}">
        <p14:creationId xmlns:p14="http://schemas.microsoft.com/office/powerpoint/2010/main" val="48298191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6418052" y="1257300"/>
            <a:ext cx="2383047"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342901" y="4343400"/>
            <a:ext cx="57912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xmlns="" id="{22432755-BCF5-451F-968D-CFFD10D87BE2}"/>
              </a:ext>
            </a:extLst>
          </p:cNvPr>
          <p:cNvSpPr>
            <a:spLocks noGrp="1"/>
          </p:cNvSpPr>
          <p:nvPr>
            <p:ph sz="quarter" idx="15" hasCustomPrompt="1"/>
          </p:nvPr>
        </p:nvSpPr>
        <p:spPr>
          <a:xfrm>
            <a:off x="6400800" y="4343400"/>
            <a:ext cx="24003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342900" y="2070496"/>
            <a:ext cx="8458200"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xmlns="" id="{3356A590-66B5-4770-8441-82DC031F56EA}"/>
              </a:ext>
            </a:extLst>
          </p:cNvPr>
          <p:cNvSpPr>
            <a:spLocks noGrp="1"/>
          </p:cNvSpPr>
          <p:nvPr>
            <p:ph sz="quarter" idx="15" hasCustomPrompt="1"/>
          </p:nvPr>
        </p:nvSpPr>
        <p:spPr>
          <a:xfrm>
            <a:off x="342900" y="2900944"/>
            <a:ext cx="8458200"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xmlns="" id="{30BD29E5-BD7B-4CD0-9B09-8F8B24F89FBE}"/>
              </a:ext>
            </a:extLst>
          </p:cNvPr>
          <p:cNvSpPr>
            <a:spLocks noGrp="1"/>
          </p:cNvSpPr>
          <p:nvPr>
            <p:ph sz="quarter" idx="16" hasCustomPrompt="1"/>
          </p:nvPr>
        </p:nvSpPr>
        <p:spPr>
          <a:xfrm>
            <a:off x="342900" y="3755354"/>
            <a:ext cx="8458200"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xmlns="" id="{E908CA92-5DB2-4DC0-937B-1B178AA91781}"/>
              </a:ext>
            </a:extLst>
          </p:cNvPr>
          <p:cNvSpPr>
            <a:spLocks noGrp="1"/>
          </p:cNvSpPr>
          <p:nvPr>
            <p:ph sz="quarter" idx="17" hasCustomPrompt="1"/>
          </p:nvPr>
        </p:nvSpPr>
        <p:spPr>
          <a:xfrm>
            <a:off x="342900" y="4635164"/>
            <a:ext cx="8458200"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xmlns="" id="{8B728CCD-2639-461B-9841-57505AC13467}"/>
              </a:ext>
            </a:extLst>
          </p:cNvPr>
          <p:cNvSpPr>
            <a:spLocks noGrp="1"/>
          </p:cNvSpPr>
          <p:nvPr>
            <p:ph sz="quarter" idx="18" hasCustomPrompt="1"/>
          </p:nvPr>
        </p:nvSpPr>
        <p:spPr>
          <a:xfrm>
            <a:off x="342900" y="5514975"/>
            <a:ext cx="8458200" cy="7334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276710"/>
            <a:ext cx="3915201"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342900" y="2070496"/>
            <a:ext cx="3915201"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xmlns="" id="{3356A590-66B5-4770-8441-82DC031F56EA}"/>
              </a:ext>
            </a:extLst>
          </p:cNvPr>
          <p:cNvSpPr>
            <a:spLocks noGrp="1"/>
          </p:cNvSpPr>
          <p:nvPr>
            <p:ph sz="quarter" idx="15" hasCustomPrompt="1"/>
          </p:nvPr>
        </p:nvSpPr>
        <p:spPr>
          <a:xfrm>
            <a:off x="342900" y="2900944"/>
            <a:ext cx="3915201"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xmlns="" id="{30BD29E5-BD7B-4CD0-9B09-8F8B24F89FBE}"/>
              </a:ext>
            </a:extLst>
          </p:cNvPr>
          <p:cNvSpPr>
            <a:spLocks noGrp="1"/>
          </p:cNvSpPr>
          <p:nvPr>
            <p:ph sz="quarter" idx="16" hasCustomPrompt="1"/>
          </p:nvPr>
        </p:nvSpPr>
        <p:spPr>
          <a:xfrm>
            <a:off x="342900" y="3755354"/>
            <a:ext cx="3915201"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xmlns="" id="{E908CA92-5DB2-4DC0-937B-1B178AA91781}"/>
              </a:ext>
            </a:extLst>
          </p:cNvPr>
          <p:cNvSpPr>
            <a:spLocks noGrp="1"/>
          </p:cNvSpPr>
          <p:nvPr>
            <p:ph sz="quarter" idx="17" hasCustomPrompt="1"/>
          </p:nvPr>
        </p:nvSpPr>
        <p:spPr>
          <a:xfrm>
            <a:off x="342900" y="4635164"/>
            <a:ext cx="3915201"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xmlns="" id="{8B728CCD-2639-461B-9841-57505AC13467}"/>
              </a:ext>
            </a:extLst>
          </p:cNvPr>
          <p:cNvSpPr>
            <a:spLocks noGrp="1"/>
          </p:cNvSpPr>
          <p:nvPr>
            <p:ph sz="quarter" idx="18" hasCustomPrompt="1"/>
          </p:nvPr>
        </p:nvSpPr>
        <p:spPr>
          <a:xfrm>
            <a:off x="342900" y="5514975"/>
            <a:ext cx="3915201" cy="7334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2" name="Content Placeholder 6">
            <a:extLst>
              <a:ext uri="{FF2B5EF4-FFF2-40B4-BE49-F238E27FC236}">
                <a16:creationId xmlns:a16="http://schemas.microsoft.com/office/drawing/2014/main" xmlns="" id="{DB5446E9-DDFC-4F9F-AEF5-5E6061E5BD1A}"/>
              </a:ext>
            </a:extLst>
          </p:cNvPr>
          <p:cNvSpPr>
            <a:spLocks noGrp="1"/>
          </p:cNvSpPr>
          <p:nvPr>
            <p:ph sz="quarter" idx="19" hasCustomPrompt="1"/>
          </p:nvPr>
        </p:nvSpPr>
        <p:spPr>
          <a:xfrm>
            <a:off x="4619199" y="125549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4" name="Content Placeholder 6">
            <a:extLst>
              <a:ext uri="{FF2B5EF4-FFF2-40B4-BE49-F238E27FC236}">
                <a16:creationId xmlns:a16="http://schemas.microsoft.com/office/drawing/2014/main" xmlns="" id="{9BC59DB4-A285-4104-8DAD-21B49267AAD3}"/>
              </a:ext>
            </a:extLst>
          </p:cNvPr>
          <p:cNvSpPr>
            <a:spLocks noGrp="1"/>
          </p:cNvSpPr>
          <p:nvPr>
            <p:ph sz="quarter" idx="20" hasCustomPrompt="1"/>
          </p:nvPr>
        </p:nvSpPr>
        <p:spPr>
          <a:xfrm>
            <a:off x="4619199" y="1998291"/>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6" name="Content Placeholder 6">
            <a:extLst>
              <a:ext uri="{FF2B5EF4-FFF2-40B4-BE49-F238E27FC236}">
                <a16:creationId xmlns:a16="http://schemas.microsoft.com/office/drawing/2014/main" xmlns="" id="{FF319E46-D027-404B-8292-60A07B8E3C98}"/>
              </a:ext>
            </a:extLst>
          </p:cNvPr>
          <p:cNvSpPr>
            <a:spLocks noGrp="1"/>
          </p:cNvSpPr>
          <p:nvPr>
            <p:ph sz="quarter" idx="21" hasCustomPrompt="1"/>
          </p:nvPr>
        </p:nvSpPr>
        <p:spPr>
          <a:xfrm>
            <a:off x="4619198" y="272353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7" name="Content Placeholder 6">
            <a:extLst>
              <a:ext uri="{FF2B5EF4-FFF2-40B4-BE49-F238E27FC236}">
                <a16:creationId xmlns:a16="http://schemas.microsoft.com/office/drawing/2014/main" xmlns="" id="{E1FA65FE-4DFA-484E-A01C-9BF08B32C20A}"/>
              </a:ext>
            </a:extLst>
          </p:cNvPr>
          <p:cNvSpPr>
            <a:spLocks noGrp="1"/>
          </p:cNvSpPr>
          <p:nvPr>
            <p:ph sz="quarter" idx="22" hasCustomPrompt="1"/>
          </p:nvPr>
        </p:nvSpPr>
        <p:spPr>
          <a:xfrm>
            <a:off x="4619197" y="3528194"/>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8" name="Content Placeholder 6">
            <a:extLst>
              <a:ext uri="{FF2B5EF4-FFF2-40B4-BE49-F238E27FC236}">
                <a16:creationId xmlns:a16="http://schemas.microsoft.com/office/drawing/2014/main" xmlns="" id="{6FE7E90B-1DE9-4A55-9F1D-9EF5F50C09A3}"/>
              </a:ext>
            </a:extLst>
          </p:cNvPr>
          <p:cNvSpPr>
            <a:spLocks noGrp="1"/>
          </p:cNvSpPr>
          <p:nvPr>
            <p:ph sz="quarter" idx="23" hasCustomPrompt="1"/>
          </p:nvPr>
        </p:nvSpPr>
        <p:spPr>
          <a:xfrm>
            <a:off x="4619199" y="4351336"/>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9" name="Content Placeholder 6">
            <a:extLst>
              <a:ext uri="{FF2B5EF4-FFF2-40B4-BE49-F238E27FC236}">
                <a16:creationId xmlns:a16="http://schemas.microsoft.com/office/drawing/2014/main" xmlns="" id="{78067368-CA9E-4B15-AE6A-F50A1D1FEE7F}"/>
              </a:ext>
            </a:extLst>
          </p:cNvPr>
          <p:cNvSpPr>
            <a:spLocks noGrp="1"/>
          </p:cNvSpPr>
          <p:nvPr>
            <p:ph sz="quarter" idx="24" hasCustomPrompt="1"/>
          </p:nvPr>
        </p:nvSpPr>
        <p:spPr>
          <a:xfrm>
            <a:off x="4619199" y="5142672"/>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7" name="Appendix Link">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90875865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xmlns=""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xmlns=""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xmlns=""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9" name="MGH Tagline">
            <a:extLst>
              <a:ext uri="{FF2B5EF4-FFF2-40B4-BE49-F238E27FC236}">
                <a16:creationId xmlns:a16="http://schemas.microsoft.com/office/drawing/2014/main" xmlns=""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xmlns=""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xmlns=""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xmlns=""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xmlns=""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xmlns=""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xmlns="" id="{8352138A-1304-465B-AE03-541BDE0CCB45}"/>
              </a:ext>
            </a:extLst>
          </p:cNvPr>
          <p:cNvSpPr>
            <a:spLocks noGrp="1"/>
          </p:cNvSpPr>
          <p:nvPr>
            <p:ph sz="quarter" idx="10"/>
          </p:nvPr>
        </p:nvSpPr>
        <p:spPr>
          <a:xfrm>
            <a:off x="228600" y="6543675"/>
            <a:ext cx="8715375" cy="1873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3891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xmlns="" id="{0B6E1DCB-9B8A-423D-B48B-2CCDE624B45C}"/>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6925710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xmlns="" id="{FA117DCA-6A6D-48B9-9002-DA1E4814BF99}"/>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xmlns=""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xmlns=""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xmlns=""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xmlns=""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xmlns=""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xmlns=""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xmlns=""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xmlns=""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xmlns=""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xmlns=""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xmlns=""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8.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xmlns="" id="{BF372B49-B6F5-4826-B4F8-2F8A4FFF889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xmlns="" id="{86E6E250-D1F9-6444-A77C-4DC8C64A97D7}"/>
              </a:ext>
              <a:ext uri="{C183D7F6-B498-43B3-948B-1728B52AA6E4}">
                <adec:decorative xmlns:adec="http://schemas.microsoft.com/office/drawing/2017/decorative" xmlns=""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704" r:id="rId5"/>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xmlns=""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xmlns=""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xmlns="" id="{86E6E250-D1F9-6444-A77C-4DC8C64A97D7}"/>
              </a:ext>
              <a:ext uri="{C183D7F6-B498-43B3-948B-1728B52AA6E4}">
                <adec:decorative xmlns:adec="http://schemas.microsoft.com/office/drawing/2017/decorative" xmlns=""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xmlns=""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smtClean="0">
                <a:solidFill>
                  <a:schemeClr val="tx1">
                    <a:lumMod val="65000"/>
                    <a:lumOff val="35000"/>
                  </a:schemeClr>
                </a:solidFill>
              </a:rPr>
              <a:t>© McGraw Hill LLC.</a:t>
            </a:r>
            <a:endParaRPr lang="en-US" sz="800" b="0" dirty="0">
              <a:solidFill>
                <a:schemeClr val="tx1">
                  <a:lumMod val="65000"/>
                  <a:lumOff val="35000"/>
                </a:schemeClr>
              </a:solidFill>
            </a:endParaRPr>
          </a:p>
        </p:txBody>
      </p:sp>
      <p:sp>
        <p:nvSpPr>
          <p:cNvPr id="10" name="Slide Number Placeholder">
            <a:extLst>
              <a:ext uri="{FF2B5EF4-FFF2-40B4-BE49-F238E27FC236}">
                <a16:creationId xmlns:a16="http://schemas.microsoft.com/office/drawing/2014/main" xmlns="" id="{A9994BA6-A29E-44A0-A7B3-164E7D8FE393}"/>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717" r:id="rId2"/>
    <p:sldLayoutId id="2147483706" r:id="rId3"/>
    <p:sldLayoutId id="2147483709" r:id="rId4"/>
    <p:sldLayoutId id="2147483707" r:id="rId5"/>
    <p:sldLayoutId id="2147483708" r:id="rId6"/>
    <p:sldLayoutId id="2147483711" r:id="rId7"/>
    <p:sldLayoutId id="2147483716" r:id="rId8"/>
    <p:sldLayoutId id="2147483693" r:id="rId9"/>
    <p:sldLayoutId id="2147483719" r:id="rId10"/>
    <p:sldLayoutId id="2147483718" r:id="rId11"/>
    <p:sldLayoutId id="2147483699" r:id="rId12"/>
    <p:sldLayoutId id="2147483720" r:id="rId13"/>
    <p:sldLayoutId id="2147483695" r:id="rId14"/>
    <p:sldLayoutId id="2147483696" r:id="rId15"/>
    <p:sldLayoutId id="2147483697" r:id="rId16"/>
    <p:sldLayoutId id="2147483721" r:id="rId17"/>
  </p:sldLayoutIdLst>
  <p:hf hdr="0" dt="0"/>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a:solidFill>
            <a:schemeClr val="tx2"/>
          </a:solidFill>
          <a:latin typeface="+mn-lt"/>
          <a:ea typeface="+mn-ea"/>
          <a:cs typeface="+mn-cs"/>
        </a:defRPr>
      </a:lvl1pPr>
      <a:lvl2pPr marL="292608" indent="-292608" algn="l" defTabSz="914400" rtl="0" eaLnBrk="1" latinLnBrk="0" hangingPunct="1">
        <a:lnSpc>
          <a:spcPct val="100000"/>
        </a:lnSpc>
        <a:spcBef>
          <a:spcPts val="1000"/>
        </a:spcBef>
        <a:spcAft>
          <a:spcPts val="0"/>
        </a:spcAft>
        <a:buClrTx/>
        <a:buFont typeface="Arial" panose="020B0604020202020204" pitchFamily="34" charset="0"/>
        <a:buChar char="•"/>
        <a:defRPr sz="2400" kern="1200">
          <a:solidFill>
            <a:schemeClr val="tx2"/>
          </a:solidFill>
          <a:latin typeface="+mn-lt"/>
          <a:ea typeface="+mn-ea"/>
          <a:cs typeface="+mn-cs"/>
        </a:defRPr>
      </a:lvl2pPr>
      <a:lvl3pPr marL="622800" indent="-292608"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xmlns="" id="{F20163A4-4644-4B17-9C8A-EF42A992331B}"/>
              </a:ext>
              <a:ext uri="{C183D7F6-B498-43B3-948B-1728B52AA6E4}">
                <adec:decorative xmlns:adec="http://schemas.microsoft.com/office/drawing/2017/decorative" xmlns=""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xmlns=""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xmlns="" id="{86E6E250-D1F9-6444-A77C-4DC8C64A97D7}"/>
              </a:ext>
              <a:ext uri="{C183D7F6-B498-43B3-948B-1728B52AA6E4}">
                <adec:decorative xmlns:adec="http://schemas.microsoft.com/office/drawing/2017/decorative" xmlns=""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xmlns=""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smtClean="0">
                <a:solidFill>
                  <a:schemeClr val="tx1">
                    <a:lumMod val="65000"/>
                    <a:lumOff val="35000"/>
                  </a:schemeClr>
                </a:solidFill>
              </a:rPr>
              <a:t>© McGraw Hill LLC.</a:t>
            </a:r>
            <a:endParaRPr lang="en-US" sz="800" b="0" dirty="0">
              <a:solidFill>
                <a:schemeClr val="tx1">
                  <a:lumMod val="65000"/>
                  <a:lumOff val="35000"/>
                </a:schemeClr>
              </a:solidFill>
            </a:endParaRPr>
          </a:p>
        </p:txBody>
      </p:sp>
      <p:grpSp>
        <p:nvGrpSpPr>
          <p:cNvPr id="6" name="MGH Shape">
            <a:extLst>
              <a:ext uri="{FF2B5EF4-FFF2-40B4-BE49-F238E27FC236}">
                <a16:creationId xmlns:a16="http://schemas.microsoft.com/office/drawing/2014/main" xmlns="" id="{B719ECBD-8119-4217-9D58-2638FA4365C1}"/>
              </a:ext>
              <a:ext uri="{C183D7F6-B498-43B3-948B-1728B52AA6E4}">
                <adec:decorative xmlns:adec="http://schemas.microsoft.com/office/drawing/2017/decorative" xmlns=""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xmlns=""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xmlns=""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xmlns=""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xmlns=""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xmlns=""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xmlns=""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xmlns="" id="{86E6E250-D1F9-6444-A77C-4DC8C64A97D7}"/>
              </a:ext>
              <a:ext uri="{C183D7F6-B498-43B3-948B-1728B52AA6E4}">
                <adec:decorative xmlns:adec="http://schemas.microsoft.com/office/drawing/2017/decorative" xmlns=""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xmlns=""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smtClean="0">
                <a:solidFill>
                  <a:schemeClr val="tx1">
                    <a:lumMod val="65000"/>
                    <a:lumOff val="35000"/>
                  </a:schemeClr>
                </a:solidFill>
              </a:rPr>
              <a:t>© McGraw Hill LLC.</a:t>
            </a:r>
            <a:endParaRPr lang="en-US" sz="800" b="0" dirty="0">
              <a:solidFill>
                <a:schemeClr val="tx1">
                  <a:lumMod val="65000"/>
                  <a:lumOff val="35000"/>
                </a:schemeClr>
              </a:solidFill>
            </a:endParaRP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slide" Target="slide45.xml"/><Relationship Id="rId5" Type="http://schemas.openxmlformats.org/officeDocument/2006/relationships/image" Target="../media/image9.w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image" Target="../media/image12.wmf"/><Relationship Id="rId5" Type="http://schemas.openxmlformats.org/officeDocument/2006/relationships/oleObject" Target="../embeddings/oleObject3.bin"/><Relationship Id="rId4" Type="http://schemas.openxmlformats.org/officeDocument/2006/relationships/image" Target="../media/image11.w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15.wmf"/><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14.wmf"/><Relationship Id="rId4"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slide" Target="slide46.xml"/><Relationship Id="rId5" Type="http://schemas.openxmlformats.org/officeDocument/2006/relationships/image" Target="../media/image17.png"/><Relationship Id="rId4" Type="http://schemas.openxmlformats.org/officeDocument/2006/relationships/image" Target="../media/image16.wmf"/></Relationships>
</file>

<file path=ppt/slides/_rels/slide9.xml.rels><?xml version="1.0" encoding="UTF-8" standalone="yes"?>
<Relationships xmlns="http://schemas.openxmlformats.org/package/2006/relationships"><Relationship Id="rId3" Type="http://schemas.openxmlformats.org/officeDocument/2006/relationships/slide" Target="slide47.xml"/><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1.xml"/><Relationship Id="rId1" Type="http://schemas.openxmlformats.org/officeDocument/2006/relationships/vmlDrawing" Target="../drawings/vmlDrawing5.vml"/><Relationship Id="rId6" Type="http://schemas.openxmlformats.org/officeDocument/2006/relationships/image" Target="../media/image20.wmf"/><Relationship Id="rId5" Type="http://schemas.openxmlformats.org/officeDocument/2006/relationships/oleObject" Target="../embeddings/oleObject9.bin"/><Relationship Id="rId4" Type="http://schemas.openxmlformats.org/officeDocument/2006/relationships/image" Target="../media/image19.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vmlDrawing" Target="../drawings/vmlDrawing6.vml"/><Relationship Id="rId6" Type="http://schemas.openxmlformats.org/officeDocument/2006/relationships/image" Target="../media/image23.wmf"/><Relationship Id="rId5" Type="http://schemas.openxmlformats.org/officeDocument/2006/relationships/oleObject" Target="../embeddings/oleObject11.bin"/><Relationship Id="rId4" Type="http://schemas.openxmlformats.org/officeDocument/2006/relationships/image" Target="../media/image22.wmf"/></Relationships>
</file>

<file path=ppt/slides/_rels/slide15.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6.xml"/><Relationship Id="rId1" Type="http://schemas.openxmlformats.org/officeDocument/2006/relationships/vmlDrawing" Target="../drawings/vmlDrawing7.vml"/><Relationship Id="rId6" Type="http://schemas.openxmlformats.org/officeDocument/2006/relationships/image" Target="../media/image25.wmf"/><Relationship Id="rId5" Type="http://schemas.openxmlformats.org/officeDocument/2006/relationships/oleObject" Target="../embeddings/oleObject13.bin"/><Relationship Id="rId4" Type="http://schemas.openxmlformats.org/officeDocument/2006/relationships/image" Target="../media/image24.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6.xml"/><Relationship Id="rId1" Type="http://schemas.openxmlformats.org/officeDocument/2006/relationships/vmlDrawing" Target="../drawings/vmlDrawing8.vml"/><Relationship Id="rId6" Type="http://schemas.openxmlformats.org/officeDocument/2006/relationships/image" Target="../media/image28.wmf"/><Relationship Id="rId5" Type="http://schemas.openxmlformats.org/officeDocument/2006/relationships/oleObject" Target="../embeddings/oleObject16.bin"/><Relationship Id="rId4" Type="http://schemas.openxmlformats.org/officeDocument/2006/relationships/image" Target="../media/image27.wmf"/></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slide" Target="slide49.xml"/><Relationship Id="rId2" Type="http://schemas.openxmlformats.org/officeDocument/2006/relationships/slideLayout" Target="../slideLayouts/slideLayout6.xml"/><Relationship Id="rId1" Type="http://schemas.openxmlformats.org/officeDocument/2006/relationships/vmlDrawing" Target="../drawings/vmlDrawing9.vml"/><Relationship Id="rId6" Type="http://schemas.openxmlformats.org/officeDocument/2006/relationships/image" Target="../media/image29.wmf"/><Relationship Id="rId5" Type="http://schemas.openxmlformats.org/officeDocument/2006/relationships/oleObject" Target="../embeddings/oleObject17.bin"/><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21.xml"/><Relationship Id="rId4" Type="http://schemas.openxmlformats.org/officeDocument/2006/relationships/slide" Target="slide50.xml"/></Relationships>
</file>

<file path=ppt/slides/_rels/slide20.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6.xml"/><Relationship Id="rId1" Type="http://schemas.openxmlformats.org/officeDocument/2006/relationships/vmlDrawing" Target="../drawings/vmlDrawing10.vml"/><Relationship Id="rId6" Type="http://schemas.openxmlformats.org/officeDocument/2006/relationships/image" Target="../media/image34.wmf"/><Relationship Id="rId5" Type="http://schemas.openxmlformats.org/officeDocument/2006/relationships/oleObject" Target="../embeddings/oleObject19.bin"/><Relationship Id="rId10" Type="http://schemas.openxmlformats.org/officeDocument/2006/relationships/slide" Target="slide51.xml"/><Relationship Id="rId4" Type="http://schemas.openxmlformats.org/officeDocument/2006/relationships/image" Target="../media/image33.wmf"/><Relationship Id="rId9"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6.xml"/><Relationship Id="rId1" Type="http://schemas.openxmlformats.org/officeDocument/2006/relationships/vmlDrawing" Target="../drawings/vmlDrawing11.vml"/><Relationship Id="rId6" Type="http://schemas.openxmlformats.org/officeDocument/2006/relationships/image" Target="../media/image38.wmf"/><Relationship Id="rId5" Type="http://schemas.openxmlformats.org/officeDocument/2006/relationships/oleObject" Target="../embeddings/oleObject22.bin"/><Relationship Id="rId4" Type="http://schemas.openxmlformats.org/officeDocument/2006/relationships/image" Target="../media/image37.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image" Target="../media/image39.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slideLayout" Target="../slideLayouts/slideLayout14.xml"/><Relationship Id="rId1" Type="http://schemas.openxmlformats.org/officeDocument/2006/relationships/vmlDrawing" Target="../drawings/vmlDrawing12.vml"/><Relationship Id="rId6" Type="http://schemas.openxmlformats.org/officeDocument/2006/relationships/image" Target="../media/image41.wmf"/><Relationship Id="rId5" Type="http://schemas.openxmlformats.org/officeDocument/2006/relationships/oleObject" Target="../embeddings/oleObject24.bin"/><Relationship Id="rId4" Type="http://schemas.openxmlformats.org/officeDocument/2006/relationships/image" Target="../media/image40.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14.xml"/><Relationship Id="rId1" Type="http://schemas.openxmlformats.org/officeDocument/2006/relationships/vmlDrawing" Target="../drawings/vmlDrawing13.vml"/><Relationship Id="rId4" Type="http://schemas.openxmlformats.org/officeDocument/2006/relationships/image" Target="../media/image43.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8" Type="http://schemas.openxmlformats.org/officeDocument/2006/relationships/image" Target="../media/image46.wmf"/><Relationship Id="rId13" Type="http://schemas.openxmlformats.org/officeDocument/2006/relationships/oleObject" Target="../embeddings/oleObject32.bin"/><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48.wmf"/><Relationship Id="rId2" Type="http://schemas.openxmlformats.org/officeDocument/2006/relationships/slideLayout" Target="../slideLayouts/slideLayout6.xml"/><Relationship Id="rId1" Type="http://schemas.openxmlformats.org/officeDocument/2006/relationships/vmlDrawing" Target="../drawings/vmlDrawing14.vml"/><Relationship Id="rId6" Type="http://schemas.openxmlformats.org/officeDocument/2006/relationships/image" Target="../media/image45.wmf"/><Relationship Id="rId11" Type="http://schemas.openxmlformats.org/officeDocument/2006/relationships/oleObject" Target="../embeddings/oleObject31.bin"/><Relationship Id="rId5" Type="http://schemas.openxmlformats.org/officeDocument/2006/relationships/oleObject" Target="../embeddings/oleObject28.bin"/><Relationship Id="rId10" Type="http://schemas.openxmlformats.org/officeDocument/2006/relationships/image" Target="../media/image47.wmf"/><Relationship Id="rId4" Type="http://schemas.openxmlformats.org/officeDocument/2006/relationships/image" Target="../media/image44.wmf"/><Relationship Id="rId9" Type="http://schemas.openxmlformats.org/officeDocument/2006/relationships/oleObject" Target="../embeddings/oleObject30.bin"/><Relationship Id="rId14" Type="http://schemas.openxmlformats.org/officeDocument/2006/relationships/image" Target="../media/image49.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6.xml"/><Relationship Id="rId1" Type="http://schemas.openxmlformats.org/officeDocument/2006/relationships/vmlDrawing" Target="../drawings/vmlDrawing15.vml"/><Relationship Id="rId4" Type="http://schemas.openxmlformats.org/officeDocument/2006/relationships/image" Target="../media/image50.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1.xml"/><Relationship Id="rId1" Type="http://schemas.openxmlformats.org/officeDocument/2006/relationships/vmlDrawing" Target="../drawings/vmlDrawing16.vml"/><Relationship Id="rId4" Type="http://schemas.openxmlformats.org/officeDocument/2006/relationships/image" Target="../media/image51.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1.xml"/><Relationship Id="rId1" Type="http://schemas.openxmlformats.org/officeDocument/2006/relationships/vmlDrawing" Target="../drawings/vmlDrawing17.vml"/><Relationship Id="rId4" Type="http://schemas.openxmlformats.org/officeDocument/2006/relationships/image" Target="../media/image52.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6.xml"/><Relationship Id="rId1" Type="http://schemas.openxmlformats.org/officeDocument/2006/relationships/vmlDrawing" Target="../drawings/vmlDrawing18.vml"/><Relationship Id="rId6" Type="http://schemas.openxmlformats.org/officeDocument/2006/relationships/image" Target="../media/image54.wmf"/><Relationship Id="rId5" Type="http://schemas.openxmlformats.org/officeDocument/2006/relationships/oleObject" Target="../embeddings/oleObject37.bin"/><Relationship Id="rId4" Type="http://schemas.openxmlformats.org/officeDocument/2006/relationships/image" Target="../media/image53.wmf"/></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vmlDrawing" Target="../drawings/vmlDrawing19.vml"/><Relationship Id="rId6" Type="http://schemas.openxmlformats.org/officeDocument/2006/relationships/image" Target="../media/image55.wmf"/><Relationship Id="rId5" Type="http://schemas.openxmlformats.org/officeDocument/2006/relationships/oleObject" Target="../embeddings/oleObject38.bin"/><Relationship Id="rId4" Type="http://schemas.openxmlformats.org/officeDocument/2006/relationships/image" Target="../media/image5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1.xml"/><Relationship Id="rId1" Type="http://schemas.openxmlformats.org/officeDocument/2006/relationships/vmlDrawing" Target="../drawings/vmlDrawing20.vml"/><Relationship Id="rId6" Type="http://schemas.openxmlformats.org/officeDocument/2006/relationships/image" Target="../media/image58.wmf"/><Relationship Id="rId5" Type="http://schemas.openxmlformats.org/officeDocument/2006/relationships/oleObject" Target="../embeddings/oleObject40.bin"/><Relationship Id="rId4" Type="http://schemas.openxmlformats.org/officeDocument/2006/relationships/image" Target="../media/image57.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22.xml"/><Relationship Id="rId1" Type="http://schemas.openxmlformats.org/officeDocument/2006/relationships/vmlDrawing" Target="../drawings/vmlDrawing21.vml"/><Relationship Id="rId6" Type="http://schemas.openxmlformats.org/officeDocument/2006/relationships/image" Target="../media/image60.wmf"/><Relationship Id="rId5" Type="http://schemas.openxmlformats.org/officeDocument/2006/relationships/oleObject" Target="../embeddings/oleObject42.bin"/><Relationship Id="rId4" Type="http://schemas.openxmlformats.org/officeDocument/2006/relationships/image" Target="../media/image59.w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27.xml"/></Relationships>
</file>

<file path=ppt/slides/_rels/slide46.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7.xml"/></Relationships>
</file>

<file path=ppt/slides/_rels/slide47.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27.xml"/></Relationships>
</file>

<file path=ppt/slides/_rels/slide48.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27.xml"/></Relationships>
</file>

<file path=ppt/slides/_rels/slide49.xml.rels><?xml version="1.0" encoding="UTF-8" standalone="yes"?>
<Relationships xmlns="http://schemas.openxmlformats.org/package/2006/relationships"><Relationship Id="rId2" Type="http://schemas.openxmlformats.org/officeDocument/2006/relationships/slide" Target="slide17.xml"/><Relationship Id="rId1" Type="http://schemas.openxmlformats.org/officeDocument/2006/relationships/slideLayout" Target="../slideLayouts/slideLayout27.xml"/></Relationships>
</file>

<file path=ppt/slides/_rels/slide50.xml.rels><?xml version="1.0" encoding="UTF-8" standalone="yes"?>
<Relationships xmlns="http://schemas.openxmlformats.org/package/2006/relationships"><Relationship Id="rId2" Type="http://schemas.openxmlformats.org/officeDocument/2006/relationships/slide" Target="slide19.xml"/><Relationship Id="rId1" Type="http://schemas.openxmlformats.org/officeDocument/2006/relationships/slideLayout" Target="../slideLayouts/slideLayout27.xml"/></Relationships>
</file>

<file path=ppt/slides/_rels/slide51.xml.rels><?xml version="1.0" encoding="UTF-8" standalone="yes"?>
<Relationships xmlns="http://schemas.openxmlformats.org/package/2006/relationships"><Relationship Id="rId2" Type="http://schemas.openxmlformats.org/officeDocument/2006/relationships/slide" Target="slide20.xml"/><Relationship Id="rId1" Type="http://schemas.openxmlformats.org/officeDocument/2006/relationships/slideLayout" Target="../slideLayouts/slideLayout27.xml"/></Relationships>
</file>

<file path=ppt/slides/_rels/slide52.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2110A4-893E-44B7-9258-124381EAE51F}"/>
              </a:ext>
            </a:extLst>
          </p:cNvPr>
          <p:cNvSpPr>
            <a:spLocks noGrp="1"/>
          </p:cNvSpPr>
          <p:nvPr>
            <p:ph type="ctrTitle"/>
          </p:nvPr>
        </p:nvSpPr>
        <p:spPr/>
        <p:txBody>
          <a:bodyPr/>
          <a:lstStyle/>
          <a:p>
            <a:r>
              <a:rPr lang="en-US" noProof="0" dirty="0"/>
              <a:t>Chapter 5</a:t>
            </a:r>
          </a:p>
        </p:txBody>
      </p:sp>
      <p:sp>
        <p:nvSpPr>
          <p:cNvPr id="3" name="Subtitle 2">
            <a:extLst>
              <a:ext uri="{FF2B5EF4-FFF2-40B4-BE49-F238E27FC236}">
                <a16:creationId xmlns:a16="http://schemas.microsoft.com/office/drawing/2014/main" xmlns="" id="{2786B553-05E0-412C-9B5D-1847FF136472}"/>
              </a:ext>
            </a:extLst>
          </p:cNvPr>
          <p:cNvSpPr>
            <a:spLocks noGrp="1"/>
          </p:cNvSpPr>
          <p:nvPr>
            <p:ph type="subTitle" idx="1"/>
          </p:nvPr>
        </p:nvSpPr>
        <p:spPr/>
        <p:txBody>
          <a:bodyPr/>
          <a:lstStyle/>
          <a:p>
            <a:r>
              <a:rPr lang="en-US" dirty="0"/>
              <a:t>Time Value of Money 2: Analyzing Annuity Cash Flows</a:t>
            </a:r>
            <a:endParaRPr lang="en-US" noProof="0" dirty="0"/>
          </a:p>
        </p:txBody>
      </p:sp>
      <p:sp>
        <p:nvSpPr>
          <p:cNvPr id="9" name="Text Placeholder 8">
            <a:extLst>
              <a:ext uri="{FF2B5EF4-FFF2-40B4-BE49-F238E27FC236}">
                <a16:creationId xmlns:a16="http://schemas.microsoft.com/office/drawing/2014/main" xmlns="" id="{57D52967-8320-4F3F-9825-B5B5369DA824}"/>
              </a:ext>
            </a:extLst>
          </p:cNvPr>
          <p:cNvSpPr>
            <a:spLocks noGrp="1"/>
          </p:cNvSpPr>
          <p:nvPr>
            <p:ph type="body" sz="quarter" idx="10"/>
          </p:nvPr>
        </p:nvSpPr>
        <p:spPr/>
        <p:txBody>
          <a:bodyPr/>
          <a:lstStyle/>
          <a:p>
            <a:pPr>
              <a:spcAft>
                <a:spcPts val="500"/>
              </a:spcAft>
            </a:pPr>
            <a:r>
              <a:rPr lang="en-US" sz="1400" noProof="0" dirty="0"/>
              <a:t>Finance 6th Edition</a:t>
            </a:r>
          </a:p>
          <a:p>
            <a:pPr>
              <a:spcAft>
                <a:spcPts val="500"/>
              </a:spcAft>
            </a:pPr>
            <a:r>
              <a:rPr lang="en-US" sz="1400" noProof="0" dirty="0"/>
              <a:t>Cornett, Adair, and Nofsinger</a:t>
            </a:r>
          </a:p>
        </p:txBody>
      </p:sp>
      <p:sp>
        <p:nvSpPr>
          <p:cNvPr id="7" name="Content Placeholder 6">
            <a:extLst>
              <a:ext uri="{FF2B5EF4-FFF2-40B4-BE49-F238E27FC236}">
                <a16:creationId xmlns:a16="http://schemas.microsoft.com/office/drawing/2014/main" xmlns="" id="{066E6BAC-61C2-4AC9-9F62-B8F5C6E7A8B6}"/>
              </a:ext>
            </a:extLst>
          </p:cNvPr>
          <p:cNvSpPr>
            <a:spLocks noGrp="1"/>
          </p:cNvSpPr>
          <p:nvPr>
            <p:ph sz="quarter" idx="13"/>
          </p:nvPr>
        </p:nvSpPr>
        <p:spPr>
          <a:xfrm>
            <a:off x="175846" y="6546894"/>
            <a:ext cx="8968153" cy="222574"/>
          </a:xfrm>
        </p:spPr>
        <p:txBody>
          <a:bodyPr/>
          <a:lstStyle/>
          <a:p>
            <a:pPr algn="ctr"/>
            <a:r>
              <a:rPr lang="en-US" sz="1200" noProof="0"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2005878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9CA8E8-C200-4F36-BD85-CDCDC38F4F75}"/>
              </a:ext>
            </a:extLst>
          </p:cNvPr>
          <p:cNvSpPr>
            <a:spLocks noGrp="1"/>
          </p:cNvSpPr>
          <p:nvPr>
            <p:ph type="title"/>
          </p:nvPr>
        </p:nvSpPr>
        <p:spPr/>
        <p:txBody>
          <a:bodyPr>
            <a:normAutofit/>
          </a:bodyPr>
          <a:lstStyle/>
          <a:p>
            <a:r>
              <a:rPr lang="en-IN" sz="3600" dirty="0"/>
              <a:t>Learning Goals</a:t>
            </a:r>
            <a:endParaRPr lang="en-US" sz="3600" dirty="0"/>
          </a:p>
        </p:txBody>
      </p:sp>
      <p:sp>
        <p:nvSpPr>
          <p:cNvPr id="3" name="Content Placeholder 2">
            <a:extLst>
              <a:ext uri="{FF2B5EF4-FFF2-40B4-BE49-F238E27FC236}">
                <a16:creationId xmlns:a16="http://schemas.microsoft.com/office/drawing/2014/main" xmlns="" id="{CBC11DEC-CA42-4C55-8DC6-819200BA6921}"/>
              </a:ext>
            </a:extLst>
          </p:cNvPr>
          <p:cNvSpPr>
            <a:spLocks noGrp="1"/>
          </p:cNvSpPr>
          <p:nvPr>
            <p:ph sz="quarter" idx="11"/>
          </p:nvPr>
        </p:nvSpPr>
        <p:spPr>
          <a:xfrm>
            <a:off x="342900" y="1276709"/>
            <a:ext cx="4079810" cy="5012124"/>
          </a:xfrm>
        </p:spPr>
        <p:txBody>
          <a:bodyPr/>
          <a:lstStyle/>
          <a:p>
            <a:pPr marL="292608" indent="-292608">
              <a:buFont typeface="Arial" panose="020B0604020202020204" pitchFamily="34" charset="0"/>
              <a:buChar char="•"/>
            </a:pPr>
            <a:r>
              <a:rPr lang="en-US" sz="2200" dirty="0"/>
              <a:t>Compound multiple cash flows to the future.</a:t>
            </a:r>
          </a:p>
          <a:p>
            <a:pPr marL="292608" indent="-292608">
              <a:buFont typeface="Arial" panose="020B0604020202020204" pitchFamily="34" charset="0"/>
              <a:buChar char="•"/>
            </a:pPr>
            <a:r>
              <a:rPr lang="en-US" sz="2200" dirty="0"/>
              <a:t>Compute the future value of frequent, level cash flows.</a:t>
            </a:r>
          </a:p>
          <a:p>
            <a:pPr marL="292608" indent="-292608">
              <a:buFont typeface="Arial" panose="020B0604020202020204" pitchFamily="34" charset="0"/>
              <a:buChar char="•"/>
            </a:pPr>
            <a:r>
              <a:rPr lang="en-US" sz="2200" dirty="0"/>
              <a:t>Discount multiple cash flows to the present.</a:t>
            </a:r>
          </a:p>
          <a:p>
            <a:pPr marL="292608" indent="-292608">
              <a:buFont typeface="Arial" panose="020B0604020202020204" pitchFamily="34" charset="0"/>
              <a:buChar char="•"/>
            </a:pPr>
            <a:r>
              <a:rPr lang="en-US" sz="2200" dirty="0"/>
              <a:t>Compute the present value of an annuity.</a:t>
            </a:r>
          </a:p>
          <a:p>
            <a:pPr marL="292608" indent="-292608">
              <a:buFont typeface="Arial" panose="020B0604020202020204" pitchFamily="34" charset="0"/>
              <a:buChar char="•"/>
            </a:pPr>
            <a:r>
              <a:rPr lang="en-US" sz="2200" dirty="0"/>
              <a:t>Figure cash flows and present value of a perpetuity.</a:t>
            </a:r>
          </a:p>
          <a:p>
            <a:pPr marL="292608" indent="-292608">
              <a:buFont typeface="Arial" panose="020B0604020202020204" pitchFamily="34" charset="0"/>
              <a:buChar char="•"/>
            </a:pPr>
            <a:r>
              <a:rPr lang="en-US" sz="2200" dirty="0"/>
              <a:t>Adjust values for beginning-of-period annuity payments.</a:t>
            </a:r>
            <a:endParaRPr lang="en-IN" sz="2200" dirty="0"/>
          </a:p>
        </p:txBody>
      </p:sp>
      <p:sp>
        <p:nvSpPr>
          <p:cNvPr id="4" name="Content Placeholder 3">
            <a:extLst>
              <a:ext uri="{FF2B5EF4-FFF2-40B4-BE49-F238E27FC236}">
                <a16:creationId xmlns:a16="http://schemas.microsoft.com/office/drawing/2014/main" xmlns="" id="{B3EEA71E-F60A-4291-A3E7-13DCC12C65E8}"/>
              </a:ext>
            </a:extLst>
          </p:cNvPr>
          <p:cNvSpPr>
            <a:spLocks noGrp="1"/>
          </p:cNvSpPr>
          <p:nvPr>
            <p:ph sz="quarter" idx="14"/>
          </p:nvPr>
        </p:nvSpPr>
        <p:spPr>
          <a:xfrm>
            <a:off x="4609322" y="1276709"/>
            <a:ext cx="4191778" cy="4971691"/>
          </a:xfrm>
        </p:spPr>
        <p:txBody>
          <a:bodyPr/>
          <a:lstStyle/>
          <a:p>
            <a:pPr marL="292608" indent="-292608">
              <a:buFont typeface="Arial" panose="020B0604020202020204" pitchFamily="34" charset="0"/>
              <a:buChar char="•"/>
            </a:pPr>
            <a:r>
              <a:rPr lang="en-US" sz="2200" dirty="0"/>
              <a:t>Explain the impact of compound frequency and the difference between the annual percentage rate and the effective annual rate.</a:t>
            </a:r>
          </a:p>
          <a:p>
            <a:pPr marL="292608" indent="-292608">
              <a:buFont typeface="Arial" panose="020B0604020202020204" pitchFamily="34" charset="0"/>
              <a:buChar char="•"/>
            </a:pPr>
            <a:r>
              <a:rPr lang="en-US" sz="2200" dirty="0"/>
              <a:t>Compute the interest rate of annuity payments.</a:t>
            </a:r>
          </a:p>
          <a:p>
            <a:pPr marL="292608" indent="-292608">
              <a:buFont typeface="Arial" panose="020B0604020202020204" pitchFamily="34" charset="0"/>
              <a:buChar char="•"/>
            </a:pPr>
            <a:r>
              <a:rPr lang="en-US" sz="2200" dirty="0"/>
              <a:t>Compute payments and amortization schedules for car and mortgage loans.</a:t>
            </a:r>
          </a:p>
          <a:p>
            <a:pPr marL="292608" indent="-292608">
              <a:buFont typeface="Arial" panose="020B0604020202020204" pitchFamily="34" charset="0"/>
              <a:buChar char="•"/>
            </a:pPr>
            <a:r>
              <a:rPr lang="en-US" sz="2200" dirty="0"/>
              <a:t>Calculate the number of payments on a loan.</a:t>
            </a:r>
            <a:endParaRPr lang="en-IN" sz="2200" dirty="0"/>
          </a:p>
        </p:txBody>
      </p:sp>
      <p:sp>
        <p:nvSpPr>
          <p:cNvPr id="7" name="Slide Number Placeholder 6">
            <a:extLst>
              <a:ext uri="{FF2B5EF4-FFF2-40B4-BE49-F238E27FC236}">
                <a16:creationId xmlns:a16="http://schemas.microsoft.com/office/drawing/2014/main" xmlns="" id="{7666E563-8C72-461E-88CE-5C2063981036}"/>
              </a:ext>
            </a:extLst>
          </p:cNvPr>
          <p:cNvSpPr>
            <a:spLocks noGrp="1"/>
          </p:cNvSpPr>
          <p:nvPr>
            <p:ph type="sldNum" sz="quarter" idx="10"/>
          </p:nvPr>
        </p:nvSpPr>
        <p:spPr/>
        <p:txBody>
          <a:bodyPr/>
          <a:lstStyle/>
          <a:p>
            <a:fld id="{68151E55-6873-49E2-B8D5-2F265E6F1973}" type="slidenum">
              <a:rPr lang="en-US" smtClean="0"/>
              <a:t>2</a:t>
            </a:fld>
            <a:endParaRPr lang="en-US"/>
          </a:p>
        </p:txBody>
      </p:sp>
    </p:spTree>
    <p:extLst>
      <p:ext uri="{BB962C8B-B14F-4D97-AF65-F5344CB8AC3E}">
        <p14:creationId xmlns:p14="http://schemas.microsoft.com/office/powerpoint/2010/main" val="2197764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89A8A64-2C72-48A4-AFF6-CFD8ED4C236E}"/>
              </a:ext>
            </a:extLst>
          </p:cNvPr>
          <p:cNvSpPr>
            <a:spLocks noGrp="1"/>
          </p:cNvSpPr>
          <p:nvPr>
            <p:ph type="title"/>
          </p:nvPr>
        </p:nvSpPr>
        <p:spPr/>
        <p:txBody>
          <a:bodyPr>
            <a:normAutofit/>
          </a:bodyPr>
          <a:lstStyle/>
          <a:p>
            <a:r>
              <a:rPr lang="en-US" altLang="en-US" sz="3600" dirty="0"/>
              <a:t>Introduction</a:t>
            </a:r>
            <a:endParaRPr lang="en-US" sz="3600" dirty="0"/>
          </a:p>
        </p:txBody>
      </p:sp>
      <p:sp>
        <p:nvSpPr>
          <p:cNvPr id="3" name="Content Placeholder 2">
            <a:extLst>
              <a:ext uri="{FF2B5EF4-FFF2-40B4-BE49-F238E27FC236}">
                <a16:creationId xmlns:a16="http://schemas.microsoft.com/office/drawing/2014/main" xmlns="" id="{934D4545-3CF6-4EB6-9E83-C1889B26A08A}"/>
              </a:ext>
            </a:extLst>
          </p:cNvPr>
          <p:cNvSpPr>
            <a:spLocks noGrp="1"/>
          </p:cNvSpPr>
          <p:nvPr>
            <p:ph sz="quarter" idx="11"/>
          </p:nvPr>
        </p:nvSpPr>
        <p:spPr/>
        <p:txBody>
          <a:bodyPr/>
          <a:lstStyle/>
          <a:p>
            <a:r>
              <a:rPr lang="en-US" dirty="0"/>
              <a:t>Time value of money (T</a:t>
            </a:r>
            <a:r>
              <a:rPr lang="en-US" sz="100" dirty="0"/>
              <a:t> </a:t>
            </a:r>
            <a:r>
              <a:rPr lang="en-US" dirty="0"/>
              <a:t>V</a:t>
            </a:r>
            <a:r>
              <a:rPr lang="en-US" sz="100" dirty="0"/>
              <a:t> </a:t>
            </a:r>
            <a:r>
              <a:rPr lang="en-US" dirty="0"/>
              <a:t>M).</a:t>
            </a:r>
          </a:p>
          <a:p>
            <a:pPr marL="292608" indent="-292608">
              <a:buFont typeface="Arial" panose="020B0604020202020204" pitchFamily="34" charset="0"/>
              <a:buChar char="•"/>
            </a:pPr>
            <a:r>
              <a:rPr lang="en-US" dirty="0"/>
              <a:t>In the previous chapter, we discussed the process of moving a single cash flow from one point in time to another.</a:t>
            </a:r>
          </a:p>
          <a:p>
            <a:pPr marL="292608" indent="-292608">
              <a:buFont typeface="Arial" panose="020B0604020202020204" pitchFamily="34" charset="0"/>
              <a:buChar char="•"/>
            </a:pPr>
            <a:r>
              <a:rPr lang="en-US" dirty="0"/>
              <a:t>Most scenarios facing businesses feature multiple cash flows, requiring a bit more complicated analysis.</a:t>
            </a:r>
          </a:p>
          <a:p>
            <a:pPr marL="292608" indent="-292608">
              <a:buFont typeface="Arial" panose="020B0604020202020204" pitchFamily="34" charset="0"/>
              <a:buChar char="•"/>
            </a:pPr>
            <a:r>
              <a:rPr lang="en-US" dirty="0"/>
              <a:t>This chapter continues the T</a:t>
            </a:r>
            <a:r>
              <a:rPr lang="en-US" sz="100" dirty="0"/>
              <a:t> </a:t>
            </a:r>
            <a:r>
              <a:rPr lang="en-US" dirty="0"/>
              <a:t>V</a:t>
            </a:r>
            <a:r>
              <a:rPr lang="en-US" sz="100" dirty="0"/>
              <a:t> </a:t>
            </a:r>
            <a:r>
              <a:rPr lang="en-US" dirty="0"/>
              <a:t>M topic for applications that require many equal payments over time.</a:t>
            </a:r>
          </a:p>
        </p:txBody>
      </p:sp>
      <p:sp>
        <p:nvSpPr>
          <p:cNvPr id="6" name="Slide Number Placeholder 5">
            <a:extLst>
              <a:ext uri="{FF2B5EF4-FFF2-40B4-BE49-F238E27FC236}">
                <a16:creationId xmlns:a16="http://schemas.microsoft.com/office/drawing/2014/main" xmlns="" id="{41EEBA21-8E04-4E07-9654-E090E3871327}"/>
              </a:ext>
            </a:extLst>
          </p:cNvPr>
          <p:cNvSpPr>
            <a:spLocks noGrp="1"/>
          </p:cNvSpPr>
          <p:nvPr>
            <p:ph type="sldNum" sz="quarter" idx="4"/>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1461974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Future Value of Multiple Cash Flows</a:t>
            </a:r>
          </a:p>
        </p:txBody>
      </p:sp>
      <p:sp>
        <p:nvSpPr>
          <p:cNvPr id="3" name="Content Placeholder 2"/>
          <p:cNvSpPr>
            <a:spLocks noGrp="1"/>
          </p:cNvSpPr>
          <p:nvPr>
            <p:ph sz="quarter" idx="11"/>
          </p:nvPr>
        </p:nvSpPr>
        <p:spPr>
          <a:xfrm>
            <a:off x="342900" y="1276710"/>
            <a:ext cx="8458200" cy="1419838"/>
          </a:xfrm>
        </p:spPr>
        <p:txBody>
          <a:bodyPr/>
          <a:lstStyle/>
          <a:p>
            <a:r>
              <a:rPr lang="en-US" dirty="0"/>
              <a:t>Many scenarios arise in which people may set aside money (or, make contributions to their savings accounts) over time.</a:t>
            </a:r>
          </a:p>
          <a:p>
            <a:pPr marL="292608" indent="-292608">
              <a:buFont typeface="Arial" panose="020B0604020202020204" pitchFamily="34" charset="0"/>
              <a:buChar char="•"/>
            </a:pPr>
            <a:r>
              <a:rPr lang="en-US" dirty="0"/>
              <a:t>E.g., saving for a down payment on a house.</a:t>
            </a:r>
          </a:p>
        </p:txBody>
      </p:sp>
      <p:sp>
        <p:nvSpPr>
          <p:cNvPr id="4" name="Content Placeholder 3"/>
          <p:cNvSpPr>
            <a:spLocks noGrp="1"/>
          </p:cNvSpPr>
          <p:nvPr>
            <p:ph sz="quarter" idx="14"/>
          </p:nvPr>
        </p:nvSpPr>
        <p:spPr>
          <a:xfrm>
            <a:off x="342900" y="2817846"/>
            <a:ext cx="8458200" cy="970384"/>
          </a:xfrm>
        </p:spPr>
        <p:txBody>
          <a:bodyPr/>
          <a:lstStyle/>
          <a:p>
            <a:r>
              <a:rPr lang="en-US" dirty="0"/>
              <a:t>The future value of each of these contributions can be added together to determine worth at some future point in time.</a:t>
            </a:r>
          </a:p>
        </p:txBody>
      </p:sp>
      <p:sp>
        <p:nvSpPr>
          <p:cNvPr id="7" name="Slide Number Placeholder 6"/>
          <p:cNvSpPr>
            <a:spLocks noGrp="1"/>
          </p:cNvSpPr>
          <p:nvPr>
            <p:ph type="sldNum" sz="quarter" idx="10"/>
          </p:nvPr>
        </p:nvSpPr>
        <p:spPr/>
        <p:txBody>
          <a:bodyPr/>
          <a:lstStyle/>
          <a:p>
            <a:fld id="{68151E55-6873-49E2-B8D5-2F265E6F1973}" type="slidenum">
              <a:rPr lang="en-US" smtClean="0"/>
              <a:t>4</a:t>
            </a:fld>
            <a:endParaRPr lang="en-US"/>
          </a:p>
        </p:txBody>
      </p:sp>
    </p:spTree>
    <p:extLst>
      <p:ext uri="{BB962C8B-B14F-4D97-AF65-F5344CB8AC3E}">
        <p14:creationId xmlns:p14="http://schemas.microsoft.com/office/powerpoint/2010/main" val="3775103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Finding FV – Several Cash Flows Example</a:t>
            </a:r>
          </a:p>
        </p:txBody>
      </p:sp>
      <p:sp>
        <p:nvSpPr>
          <p:cNvPr id="3" name="Content Placeholder 2"/>
          <p:cNvSpPr>
            <a:spLocks noGrp="1"/>
          </p:cNvSpPr>
          <p:nvPr>
            <p:ph sz="quarter" idx="11"/>
          </p:nvPr>
        </p:nvSpPr>
        <p:spPr>
          <a:xfrm>
            <a:off x="342900" y="1276710"/>
            <a:ext cx="8458200" cy="1597120"/>
          </a:xfrm>
        </p:spPr>
        <p:txBody>
          <a:bodyPr/>
          <a:lstStyle/>
          <a:p>
            <a:pPr marL="292608" indent="-292608">
              <a:buFont typeface="Arial" panose="020B0604020202020204" pitchFamily="34" charset="0"/>
              <a:buChar char="•"/>
            </a:pPr>
            <a:r>
              <a:rPr lang="en-US" dirty="0"/>
              <a:t>Assume you make a $100 deposit today, followed by a $125 deposit next year, and a $150 deposit at the end of the second year. If interest rates are 7 percent, what’s the F</a:t>
            </a:r>
            <a:r>
              <a:rPr lang="en-US" sz="100" dirty="0"/>
              <a:t> </a:t>
            </a:r>
            <a:r>
              <a:rPr lang="en-US" dirty="0"/>
              <a:t>V of your deposits at the end of the third year?</a:t>
            </a:r>
          </a:p>
        </p:txBody>
      </p:sp>
      <p:pic>
        <p:nvPicPr>
          <p:cNvPr id="7" name="Picture 6" descr="The diagram of a time line for finding future value of several cash flows."/>
          <p:cNvPicPr>
            <a:picLocks noChangeAspect="1"/>
          </p:cNvPicPr>
          <p:nvPr/>
        </p:nvPicPr>
        <p:blipFill>
          <a:blip r:embed="rId3"/>
          <a:stretch>
            <a:fillRect/>
          </a:stretch>
        </p:blipFill>
        <p:spPr>
          <a:xfrm>
            <a:off x="636968" y="3114481"/>
            <a:ext cx="7870064" cy="842429"/>
          </a:xfrm>
          <a:prstGeom prst="rect">
            <a:avLst/>
          </a:prstGeom>
        </p:spPr>
      </p:pic>
      <p:graphicFrame>
        <p:nvGraphicFramePr>
          <p:cNvPr id="8" name="Object 7"/>
          <p:cNvGraphicFramePr>
            <a:graphicFrameLocks noChangeAspect="1"/>
          </p:cNvGraphicFramePr>
          <p:nvPr>
            <p:extLst>
              <p:ext uri="{D42A27DB-BD31-4B8C-83A1-F6EECF244321}">
                <p14:modId xmlns:p14="http://schemas.microsoft.com/office/powerpoint/2010/main" val="3416705247"/>
              </p:ext>
            </p:extLst>
          </p:nvPr>
        </p:nvGraphicFramePr>
        <p:xfrm>
          <a:off x="530225" y="4300538"/>
          <a:ext cx="8083550" cy="450850"/>
        </p:xfrm>
        <a:graphic>
          <a:graphicData uri="http://schemas.openxmlformats.org/presentationml/2006/ole">
            <mc:AlternateContent xmlns:mc="http://schemas.openxmlformats.org/markup-compatibility/2006">
              <mc:Choice xmlns:v="urn:schemas-microsoft-com:vml" Requires="v">
                <p:oleObj spid="_x0000_s40101" name="Equation" r:id="rId4" imgW="8889840" imgH="495000" progId="Equation.DSMT4">
                  <p:embed/>
                </p:oleObj>
              </mc:Choice>
              <mc:Fallback>
                <p:oleObj name="Equation" r:id="rId4" imgW="8889840" imgH="495000" progId="Equation.DSMT4">
                  <p:embed/>
                  <p:pic>
                    <p:nvPicPr>
                      <p:cNvPr id="0" name=""/>
                      <p:cNvPicPr/>
                      <p:nvPr/>
                    </p:nvPicPr>
                    <p:blipFill>
                      <a:blip r:embed="rId5"/>
                      <a:stretch>
                        <a:fillRect/>
                      </a:stretch>
                    </p:blipFill>
                    <p:spPr>
                      <a:xfrm>
                        <a:off x="530225" y="4300538"/>
                        <a:ext cx="8083550" cy="450850"/>
                      </a:xfrm>
                      <a:prstGeom prst="rect">
                        <a:avLst/>
                      </a:prstGeom>
                    </p:spPr>
                  </p:pic>
                </p:oleObj>
              </mc:Fallback>
            </mc:AlternateContent>
          </a:graphicData>
        </a:graphic>
      </p:graphicFrame>
      <p:sp>
        <p:nvSpPr>
          <p:cNvPr id="10" name="Text Placeholder 3">
            <a:extLst>
              <a:ext uri="{FF2B5EF4-FFF2-40B4-BE49-F238E27FC236}">
                <a16:creationId xmlns:a16="http://schemas.microsoft.com/office/drawing/2014/main" xmlns="" id="{5F140556-1E7E-4CE3-B617-2D947EB106BD}"/>
              </a:ext>
            </a:extLst>
          </p:cNvPr>
          <p:cNvSpPr>
            <a:spLocks noGrp="1"/>
          </p:cNvSpPr>
          <p:nvPr>
            <p:ph type="body" sz="quarter" idx="12"/>
          </p:nvPr>
        </p:nvSpPr>
        <p:spPr>
          <a:xfrm>
            <a:off x="3047830" y="6265333"/>
            <a:ext cx="3522303" cy="249767"/>
          </a:xfrm>
        </p:spPr>
        <p:txBody>
          <a:bodyPr/>
          <a:lstStyle/>
          <a:p>
            <a:r>
              <a:rPr lang="en-US" sz="1200" dirty="0">
                <a:hlinkClick r:id="rId6" action="ppaction://hlinksldjump"/>
              </a:rPr>
              <a:t>Access the text alternative for slide images.</a:t>
            </a:r>
            <a:endParaRPr lang="en-US" sz="1200" dirty="0"/>
          </a:p>
        </p:txBody>
      </p:sp>
      <p:sp>
        <p:nvSpPr>
          <p:cNvPr id="6" name="Slide Number Placeholder 5"/>
          <p:cNvSpPr>
            <a:spLocks noGrp="1"/>
          </p:cNvSpPr>
          <p:nvPr>
            <p:ph type="sldNum" sz="quarter" idx="4"/>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2925810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Equation</a:t>
            </a:r>
          </a:p>
        </p:txBody>
      </p:sp>
      <p:sp>
        <p:nvSpPr>
          <p:cNvPr id="3" name="Content Placeholder 2"/>
          <p:cNvSpPr>
            <a:spLocks noGrp="1"/>
          </p:cNvSpPr>
          <p:nvPr>
            <p:ph sz="quarter" idx="11"/>
          </p:nvPr>
        </p:nvSpPr>
        <p:spPr>
          <a:xfrm>
            <a:off x="342900" y="1276710"/>
            <a:ext cx="8458200" cy="776026"/>
          </a:xfrm>
        </p:spPr>
        <p:txBody>
          <a:bodyPr/>
          <a:lstStyle/>
          <a:p>
            <a:pPr marL="292608" indent="-292608">
              <a:buFont typeface="Arial" panose="020B0604020202020204" pitchFamily="34" charset="0"/>
              <a:buChar char="•"/>
            </a:pPr>
            <a:r>
              <a:rPr lang="en-US" sz="2200" dirty="0"/>
              <a:t>The general equation for computing the future value of multiple and varying cash flows (or payments) is:</a:t>
            </a:r>
          </a:p>
        </p:txBody>
      </p:sp>
      <p:graphicFrame>
        <p:nvGraphicFramePr>
          <p:cNvPr id="7" name="Object 6"/>
          <p:cNvGraphicFramePr>
            <a:graphicFrameLocks noChangeAspect="1"/>
          </p:cNvGraphicFramePr>
          <p:nvPr>
            <p:extLst>
              <p:ext uri="{D42A27DB-BD31-4B8C-83A1-F6EECF244321}">
                <p14:modId xmlns:p14="http://schemas.microsoft.com/office/powerpoint/2010/main" val="2260881095"/>
              </p:ext>
            </p:extLst>
          </p:nvPr>
        </p:nvGraphicFramePr>
        <p:xfrm>
          <a:off x="524585" y="2524125"/>
          <a:ext cx="8153400" cy="342900"/>
        </p:xfrm>
        <a:graphic>
          <a:graphicData uri="http://schemas.openxmlformats.org/presentationml/2006/ole">
            <mc:AlternateContent xmlns:mc="http://schemas.openxmlformats.org/markup-compatibility/2006">
              <mc:Choice xmlns:v="urn:schemas-microsoft-com:vml" Requires="v">
                <p:oleObj spid="_x0000_s41289" name="Equation" r:id="rId3" imgW="8153280" imgH="342720" progId="Equation.DSMT4">
                  <p:embed/>
                </p:oleObj>
              </mc:Choice>
              <mc:Fallback>
                <p:oleObj name="Equation" r:id="rId3" imgW="8153280" imgH="342720" progId="Equation.DSMT4">
                  <p:embed/>
                  <p:pic>
                    <p:nvPicPr>
                      <p:cNvPr id="0" name=""/>
                      <p:cNvPicPr/>
                      <p:nvPr/>
                    </p:nvPicPr>
                    <p:blipFill>
                      <a:blip r:embed="rId4"/>
                      <a:stretch>
                        <a:fillRect/>
                      </a:stretch>
                    </p:blipFill>
                    <p:spPr>
                      <a:xfrm>
                        <a:off x="524585" y="2524125"/>
                        <a:ext cx="8153400" cy="342900"/>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217370166"/>
              </p:ext>
            </p:extLst>
          </p:nvPr>
        </p:nvGraphicFramePr>
        <p:xfrm>
          <a:off x="1223963" y="2921000"/>
          <a:ext cx="3949700" cy="266700"/>
        </p:xfrm>
        <a:graphic>
          <a:graphicData uri="http://schemas.openxmlformats.org/presentationml/2006/ole">
            <mc:AlternateContent xmlns:mc="http://schemas.openxmlformats.org/markup-compatibility/2006">
              <mc:Choice xmlns:v="urn:schemas-microsoft-com:vml" Requires="v">
                <p:oleObj spid="_x0000_s41290" name="Equation" r:id="rId5" imgW="3949560" imgH="266400" progId="Equation.DSMT4">
                  <p:embed/>
                </p:oleObj>
              </mc:Choice>
              <mc:Fallback>
                <p:oleObj name="Equation" r:id="rId5" imgW="3949560" imgH="266400" progId="Equation.DSMT4">
                  <p:embed/>
                  <p:pic>
                    <p:nvPicPr>
                      <p:cNvPr id="0" name=""/>
                      <p:cNvPicPr/>
                      <p:nvPr/>
                    </p:nvPicPr>
                    <p:blipFill>
                      <a:blip r:embed="rId6"/>
                      <a:stretch>
                        <a:fillRect/>
                      </a:stretch>
                    </p:blipFill>
                    <p:spPr>
                      <a:xfrm>
                        <a:off x="1223963" y="2921000"/>
                        <a:ext cx="3949700" cy="266700"/>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118177179"/>
              </p:ext>
            </p:extLst>
          </p:nvPr>
        </p:nvGraphicFramePr>
        <p:xfrm>
          <a:off x="1109695" y="3475818"/>
          <a:ext cx="7213601" cy="469900"/>
        </p:xfrm>
        <a:graphic>
          <a:graphicData uri="http://schemas.openxmlformats.org/presentationml/2006/ole">
            <mc:AlternateContent xmlns:mc="http://schemas.openxmlformats.org/markup-compatibility/2006">
              <mc:Choice xmlns:v="urn:schemas-microsoft-com:vml" Requires="v">
                <p:oleObj spid="_x0000_s41291" name="Equation" r:id="rId7" imgW="7213320" imgH="469800" progId="Equation.DSMT4">
                  <p:embed/>
                </p:oleObj>
              </mc:Choice>
              <mc:Fallback>
                <p:oleObj name="Equation" r:id="rId7" imgW="7213320" imgH="469800" progId="Equation.DSMT4">
                  <p:embed/>
                  <p:pic>
                    <p:nvPicPr>
                      <p:cNvPr id="0" name=""/>
                      <p:cNvPicPr/>
                      <p:nvPr/>
                    </p:nvPicPr>
                    <p:blipFill>
                      <a:blip r:embed="rId8"/>
                      <a:stretch>
                        <a:fillRect/>
                      </a:stretch>
                    </p:blipFill>
                    <p:spPr>
                      <a:xfrm>
                        <a:off x="1109695" y="3475818"/>
                        <a:ext cx="7213601" cy="469900"/>
                      </a:xfrm>
                      <a:prstGeom prst="rect">
                        <a:avLst/>
                      </a:prstGeom>
                    </p:spPr>
                  </p:pic>
                </p:oleObj>
              </mc:Fallback>
            </mc:AlternateContent>
          </a:graphicData>
        </a:graphic>
      </p:graphicFrame>
      <p:sp>
        <p:nvSpPr>
          <p:cNvPr id="6" name="Slide Number Placeholder 5"/>
          <p:cNvSpPr>
            <a:spLocks noGrp="1"/>
          </p:cNvSpPr>
          <p:nvPr>
            <p:ph type="sldNum" sz="quarter" idx="4"/>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164845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Value – Level Cash Flows</a:t>
            </a:r>
          </a:p>
        </p:txBody>
      </p:sp>
      <p:sp>
        <p:nvSpPr>
          <p:cNvPr id="3" name="Content Placeholder 2"/>
          <p:cNvSpPr>
            <a:spLocks noGrp="1"/>
          </p:cNvSpPr>
          <p:nvPr>
            <p:ph sz="quarter" idx="11"/>
          </p:nvPr>
        </p:nvSpPr>
        <p:spPr>
          <a:xfrm>
            <a:off x="342900" y="1276710"/>
            <a:ext cx="8458200" cy="1354524"/>
          </a:xfrm>
        </p:spPr>
        <p:txBody>
          <a:bodyPr/>
          <a:lstStyle/>
          <a:p>
            <a:r>
              <a:rPr lang="en-US" dirty="0"/>
              <a:t>An </a:t>
            </a:r>
            <a:r>
              <a:rPr lang="en-US" b="1" dirty="0"/>
              <a:t>annuity</a:t>
            </a:r>
            <a:r>
              <a:rPr lang="en-US" dirty="0"/>
              <a:t> is a stream of level and frequent cash flows paid at the end of each time period.</a:t>
            </a:r>
          </a:p>
          <a:p>
            <a:pPr marL="292608" indent="-292608">
              <a:buFont typeface="Arial" panose="020B0604020202020204" pitchFamily="34" charset="0"/>
              <a:buChar char="•"/>
            </a:pPr>
            <a:r>
              <a:rPr lang="en-US" dirty="0"/>
              <a:t>Often referred to as an ordinary annuity.</a:t>
            </a:r>
          </a:p>
        </p:txBody>
      </p:sp>
      <p:graphicFrame>
        <p:nvGraphicFramePr>
          <p:cNvPr id="7" name="Object 6"/>
          <p:cNvGraphicFramePr>
            <a:graphicFrameLocks noChangeAspect="1"/>
          </p:cNvGraphicFramePr>
          <p:nvPr>
            <p:extLst>
              <p:ext uri="{D42A27DB-BD31-4B8C-83A1-F6EECF244321}">
                <p14:modId xmlns:p14="http://schemas.microsoft.com/office/powerpoint/2010/main" val="751374326"/>
              </p:ext>
            </p:extLst>
          </p:nvPr>
        </p:nvGraphicFramePr>
        <p:xfrm>
          <a:off x="508388" y="2812223"/>
          <a:ext cx="7581900" cy="342900"/>
        </p:xfrm>
        <a:graphic>
          <a:graphicData uri="http://schemas.openxmlformats.org/presentationml/2006/ole">
            <mc:AlternateContent xmlns:mc="http://schemas.openxmlformats.org/markup-compatibility/2006">
              <mc:Choice xmlns:v="urn:schemas-microsoft-com:vml" Requires="v">
                <p:oleObj spid="_x0000_s42146" name="Equation" r:id="rId4" imgW="7581600" imgH="342720" progId="Equation.DSMT4">
                  <p:embed/>
                </p:oleObj>
              </mc:Choice>
              <mc:Fallback>
                <p:oleObj name="Equation" r:id="rId4" imgW="7581600" imgH="342720" progId="Equation.DSMT4">
                  <p:embed/>
                  <p:pic>
                    <p:nvPicPr>
                      <p:cNvPr id="0" name=""/>
                      <p:cNvPicPr/>
                      <p:nvPr/>
                    </p:nvPicPr>
                    <p:blipFill>
                      <a:blip r:embed="rId5"/>
                      <a:stretch>
                        <a:fillRect/>
                      </a:stretch>
                    </p:blipFill>
                    <p:spPr>
                      <a:xfrm>
                        <a:off x="508388" y="2812223"/>
                        <a:ext cx="7581900" cy="342900"/>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2440069777"/>
              </p:ext>
            </p:extLst>
          </p:nvPr>
        </p:nvGraphicFramePr>
        <p:xfrm>
          <a:off x="2980743" y="3280126"/>
          <a:ext cx="3238500" cy="850900"/>
        </p:xfrm>
        <a:graphic>
          <a:graphicData uri="http://schemas.openxmlformats.org/presentationml/2006/ole">
            <mc:AlternateContent xmlns:mc="http://schemas.openxmlformats.org/markup-compatibility/2006">
              <mc:Choice xmlns:v="urn:schemas-microsoft-com:vml" Requires="v">
                <p:oleObj spid="_x0000_s42147" name="Equation" r:id="rId6" imgW="3238200" imgH="850680" progId="Equation.DSMT4">
                  <p:embed/>
                </p:oleObj>
              </mc:Choice>
              <mc:Fallback>
                <p:oleObj name="Equation" r:id="rId6" imgW="3238200" imgH="850680" progId="Equation.DSMT4">
                  <p:embed/>
                  <p:pic>
                    <p:nvPicPr>
                      <p:cNvPr id="0" name=""/>
                      <p:cNvPicPr/>
                      <p:nvPr/>
                    </p:nvPicPr>
                    <p:blipFill>
                      <a:blip r:embed="rId7"/>
                      <a:stretch>
                        <a:fillRect/>
                      </a:stretch>
                    </p:blipFill>
                    <p:spPr>
                      <a:xfrm>
                        <a:off x="2980743" y="3280126"/>
                        <a:ext cx="3238500" cy="850900"/>
                      </a:xfrm>
                      <a:prstGeom prst="rect">
                        <a:avLst/>
                      </a:prstGeom>
                    </p:spPr>
                  </p:pic>
                </p:oleObj>
              </mc:Fallback>
            </mc:AlternateContent>
          </a:graphicData>
        </a:graphic>
      </p:graphicFrame>
      <p:sp>
        <p:nvSpPr>
          <p:cNvPr id="6" name="Slide Number Placeholder 5"/>
          <p:cNvSpPr>
            <a:spLocks noGrp="1"/>
          </p:cNvSpPr>
          <p:nvPr>
            <p:ph type="sldNum" sz="quarter" idx="4"/>
          </p:nvPr>
        </p:nvSpPr>
        <p:spPr/>
        <p:txBody>
          <a:bodyPr/>
          <a:lstStyle/>
          <a:p>
            <a:fld id="{68151E55-6873-49E2-B8D5-2F265E6F1973}" type="slidenum">
              <a:rPr lang="en-US" smtClean="0"/>
              <a:pPr/>
              <a:t>7</a:t>
            </a:fld>
            <a:endParaRPr lang="en-US" dirty="0"/>
          </a:p>
        </p:txBody>
      </p:sp>
    </p:spTree>
    <p:extLst>
      <p:ext uri="{BB962C8B-B14F-4D97-AF65-F5344CB8AC3E}">
        <p14:creationId xmlns:p14="http://schemas.microsoft.com/office/powerpoint/2010/main" val="603340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Finding FV – Level Cash Flows Example</a:t>
            </a:r>
          </a:p>
        </p:txBody>
      </p:sp>
      <p:sp>
        <p:nvSpPr>
          <p:cNvPr id="3" name="Content Placeholder 2"/>
          <p:cNvSpPr>
            <a:spLocks noGrp="1"/>
          </p:cNvSpPr>
          <p:nvPr>
            <p:ph sz="quarter" idx="11"/>
          </p:nvPr>
        </p:nvSpPr>
        <p:spPr>
          <a:xfrm>
            <a:off x="342900" y="1276709"/>
            <a:ext cx="8458200" cy="1195903"/>
          </a:xfrm>
        </p:spPr>
        <p:txBody>
          <a:bodyPr/>
          <a:lstStyle/>
          <a:p>
            <a:pPr marL="292608" indent="-292608">
              <a:buFont typeface="Arial" panose="020B0604020202020204" pitchFamily="34" charset="0"/>
              <a:buChar char="•"/>
            </a:pPr>
            <a:r>
              <a:rPr lang="en-US" dirty="0"/>
              <a:t>Suppose you deposit $100 at the end of each year for five years. If interest rates are 8 percent per year, what is the future value of this annuity stream?</a:t>
            </a:r>
          </a:p>
        </p:txBody>
      </p:sp>
      <p:graphicFrame>
        <p:nvGraphicFramePr>
          <p:cNvPr id="7" name="Object 6"/>
          <p:cNvGraphicFramePr>
            <a:graphicFrameLocks noChangeAspect="1"/>
          </p:cNvGraphicFramePr>
          <p:nvPr>
            <p:extLst>
              <p:ext uri="{D42A27DB-BD31-4B8C-83A1-F6EECF244321}">
                <p14:modId xmlns:p14="http://schemas.microsoft.com/office/powerpoint/2010/main" val="3060842593"/>
              </p:ext>
            </p:extLst>
          </p:nvPr>
        </p:nvGraphicFramePr>
        <p:xfrm>
          <a:off x="1112838" y="2654300"/>
          <a:ext cx="6540500" cy="850900"/>
        </p:xfrm>
        <a:graphic>
          <a:graphicData uri="http://schemas.openxmlformats.org/presentationml/2006/ole">
            <mc:AlternateContent xmlns:mc="http://schemas.openxmlformats.org/markup-compatibility/2006">
              <mc:Choice xmlns:v="urn:schemas-microsoft-com:vml" Requires="v">
                <p:oleObj spid="_x0000_s43089" name="Equation" r:id="rId3" imgW="6540480" imgH="850680" progId="Equation.DSMT4">
                  <p:embed/>
                </p:oleObj>
              </mc:Choice>
              <mc:Fallback>
                <p:oleObj name="Equation" r:id="rId3" imgW="6540480" imgH="850680" progId="Equation.DSMT4">
                  <p:embed/>
                  <p:pic>
                    <p:nvPicPr>
                      <p:cNvPr id="0" name=""/>
                      <p:cNvPicPr/>
                      <p:nvPr/>
                    </p:nvPicPr>
                    <p:blipFill>
                      <a:blip r:embed="rId4"/>
                      <a:stretch>
                        <a:fillRect/>
                      </a:stretch>
                    </p:blipFill>
                    <p:spPr>
                      <a:xfrm>
                        <a:off x="1112838" y="2654300"/>
                        <a:ext cx="6540500" cy="850900"/>
                      </a:xfrm>
                      <a:prstGeom prst="rect">
                        <a:avLst/>
                      </a:prstGeom>
                    </p:spPr>
                  </p:pic>
                </p:oleObj>
              </mc:Fallback>
            </mc:AlternateContent>
          </a:graphicData>
        </a:graphic>
      </p:graphicFrame>
      <p:pic>
        <p:nvPicPr>
          <p:cNvPr id="8" name="Picture 7" descr="The diagram of a time line showing the deposits and future value."/>
          <p:cNvPicPr>
            <a:picLocks noChangeAspect="1"/>
          </p:cNvPicPr>
          <p:nvPr/>
        </p:nvPicPr>
        <p:blipFill>
          <a:blip r:embed="rId5"/>
          <a:stretch>
            <a:fillRect/>
          </a:stretch>
        </p:blipFill>
        <p:spPr>
          <a:xfrm>
            <a:off x="950662" y="3992588"/>
            <a:ext cx="7242676" cy="981541"/>
          </a:xfrm>
          <a:prstGeom prst="rect">
            <a:avLst/>
          </a:prstGeom>
        </p:spPr>
      </p:pic>
      <p:sp>
        <p:nvSpPr>
          <p:cNvPr id="10" name="Text Placeholder 3">
            <a:extLst>
              <a:ext uri="{FF2B5EF4-FFF2-40B4-BE49-F238E27FC236}">
                <a16:creationId xmlns:a16="http://schemas.microsoft.com/office/drawing/2014/main" xmlns="" id="{5F140556-1E7E-4CE3-B617-2D947EB106BD}"/>
              </a:ext>
            </a:extLst>
          </p:cNvPr>
          <p:cNvSpPr>
            <a:spLocks noGrp="1"/>
          </p:cNvSpPr>
          <p:nvPr>
            <p:ph type="body" sz="quarter" idx="12"/>
          </p:nvPr>
        </p:nvSpPr>
        <p:spPr>
          <a:xfrm>
            <a:off x="3047830" y="6265333"/>
            <a:ext cx="3522303" cy="249767"/>
          </a:xfrm>
        </p:spPr>
        <p:txBody>
          <a:bodyPr/>
          <a:lstStyle/>
          <a:p>
            <a:r>
              <a:rPr lang="en-US" sz="1200" dirty="0">
                <a:hlinkClick r:id="rId6" action="ppaction://hlinksldjump"/>
              </a:rPr>
              <a:t>Access the text alternative for slide images.</a:t>
            </a:r>
            <a:endParaRPr lang="en-US" sz="1200" dirty="0"/>
          </a:p>
        </p:txBody>
      </p:sp>
      <p:sp>
        <p:nvSpPr>
          <p:cNvPr id="6" name="Slide Number Placeholder 5"/>
          <p:cNvSpPr>
            <a:spLocks noGrp="1"/>
          </p:cNvSpPr>
          <p:nvPr>
            <p:ph type="sldNum" sz="quarter" idx="4"/>
          </p:nvPr>
        </p:nvSpPr>
        <p:spPr/>
        <p:txBody>
          <a:bodyPr/>
          <a:lstStyle/>
          <a:p>
            <a:fld id="{68151E55-6873-49E2-B8D5-2F265E6F1973}" type="slidenum">
              <a:rPr lang="en-US" smtClean="0"/>
              <a:pPr/>
              <a:t>8</a:t>
            </a:fld>
            <a:endParaRPr lang="en-US" dirty="0"/>
          </a:p>
        </p:txBody>
      </p:sp>
    </p:spTree>
    <p:extLst>
      <p:ext uri="{BB962C8B-B14F-4D97-AF65-F5344CB8AC3E}">
        <p14:creationId xmlns:p14="http://schemas.microsoft.com/office/powerpoint/2010/main" val="41466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Future Value of a $100 Annuity at 6 Percent</a:t>
            </a:r>
          </a:p>
        </p:txBody>
      </p:sp>
      <p:sp>
        <p:nvSpPr>
          <p:cNvPr id="3" name="Content Placeholder 2"/>
          <p:cNvSpPr>
            <a:spLocks noGrp="1"/>
          </p:cNvSpPr>
          <p:nvPr>
            <p:ph sz="quarter" idx="11"/>
          </p:nvPr>
        </p:nvSpPr>
        <p:spPr>
          <a:xfrm>
            <a:off x="342900" y="1276709"/>
            <a:ext cx="8458200" cy="822679"/>
          </a:xfrm>
        </p:spPr>
        <p:txBody>
          <a:bodyPr/>
          <a:lstStyle/>
          <a:p>
            <a:pPr marL="292608" indent="-292608">
              <a:buFont typeface="Arial" panose="020B0604020202020204" pitchFamily="34" charset="0"/>
              <a:buChar char="•"/>
            </a:pPr>
            <a:r>
              <a:rPr lang="en-US" dirty="0"/>
              <a:t>Longer time periods lead to more total compounding and much more wealth.</a:t>
            </a:r>
          </a:p>
        </p:txBody>
      </p:sp>
      <p:pic>
        <p:nvPicPr>
          <p:cNvPr id="7" name="Picture 6" descr="A bar graph with a line graph through it, showing the future value of a $100 annuity at 6%."/>
          <p:cNvPicPr>
            <a:picLocks noChangeAspect="1"/>
          </p:cNvPicPr>
          <p:nvPr/>
        </p:nvPicPr>
        <p:blipFill>
          <a:blip r:embed="rId2"/>
          <a:stretch>
            <a:fillRect/>
          </a:stretch>
        </p:blipFill>
        <p:spPr>
          <a:xfrm>
            <a:off x="1562099" y="2269251"/>
            <a:ext cx="5908090" cy="3813102"/>
          </a:xfrm>
          <a:prstGeom prst="rect">
            <a:avLst/>
          </a:prstGeom>
        </p:spPr>
      </p:pic>
      <p:sp>
        <p:nvSpPr>
          <p:cNvPr id="8" name="Text Placeholder 3">
            <a:extLst>
              <a:ext uri="{FF2B5EF4-FFF2-40B4-BE49-F238E27FC236}">
                <a16:creationId xmlns:a16="http://schemas.microsoft.com/office/drawing/2014/main" xmlns="" id="{5F140556-1E7E-4CE3-B617-2D947EB106BD}"/>
              </a:ext>
            </a:extLst>
          </p:cNvPr>
          <p:cNvSpPr>
            <a:spLocks noGrp="1"/>
          </p:cNvSpPr>
          <p:nvPr>
            <p:ph type="body" sz="quarter" idx="12"/>
          </p:nvPr>
        </p:nvSpPr>
        <p:spPr>
          <a:xfrm>
            <a:off x="3047830" y="6265333"/>
            <a:ext cx="3522303" cy="249767"/>
          </a:xfrm>
        </p:spPr>
        <p:txBody>
          <a:bodyPr/>
          <a:lstStyle/>
          <a:p>
            <a:r>
              <a:rPr lang="en-US" sz="1200" dirty="0">
                <a:hlinkClick r:id="rId3" action="ppaction://hlinksldjump"/>
              </a:rPr>
              <a:t>Access the text alternative for slide images.</a:t>
            </a:r>
            <a:endParaRPr lang="en-US" sz="1200" dirty="0"/>
          </a:p>
        </p:txBody>
      </p:sp>
      <p:sp>
        <p:nvSpPr>
          <p:cNvPr id="6" name="Slide Number Placeholder 5"/>
          <p:cNvSpPr>
            <a:spLocks noGrp="1"/>
          </p:cNvSpPr>
          <p:nvPr>
            <p:ph type="sldNum" sz="quarter" idx="4"/>
          </p:nvPr>
        </p:nvSpPr>
        <p:spPr/>
        <p:txBody>
          <a:bodyPr/>
          <a:lstStyle/>
          <a:p>
            <a:fld id="{68151E55-6873-49E2-B8D5-2F265E6F1973}" type="slidenum">
              <a:rPr lang="en-US" smtClean="0"/>
              <a:pPr/>
              <a:t>9</a:t>
            </a:fld>
            <a:endParaRPr lang="en-US" dirty="0"/>
          </a:p>
        </p:txBody>
      </p:sp>
    </p:spTree>
    <p:extLst>
      <p:ext uri="{BB962C8B-B14F-4D97-AF65-F5344CB8AC3E}">
        <p14:creationId xmlns:p14="http://schemas.microsoft.com/office/powerpoint/2010/main" val="2851129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Future Value – Multiple Annuities</a:t>
            </a:r>
          </a:p>
        </p:txBody>
      </p:sp>
      <p:sp>
        <p:nvSpPr>
          <p:cNvPr id="3" name="Content Placeholder 2"/>
          <p:cNvSpPr>
            <a:spLocks noGrp="1"/>
          </p:cNvSpPr>
          <p:nvPr>
            <p:ph sz="quarter" idx="11"/>
          </p:nvPr>
        </p:nvSpPr>
        <p:spPr>
          <a:xfrm>
            <a:off x="342900" y="1276710"/>
            <a:ext cx="8458200" cy="1326532"/>
          </a:xfrm>
        </p:spPr>
        <p:txBody>
          <a:bodyPr/>
          <a:lstStyle/>
          <a:p>
            <a:r>
              <a:rPr lang="en-US" dirty="0"/>
              <a:t>How can we use the annuity equation to compute the future value when we have two levels of cash flows?</a:t>
            </a:r>
          </a:p>
          <a:p>
            <a:pPr marL="292608" indent="-292608">
              <a:buFont typeface="Arial" panose="020B0604020202020204" pitchFamily="34" charset="0"/>
              <a:buChar char="•"/>
            </a:pPr>
            <a:r>
              <a:rPr lang="en-US" dirty="0"/>
              <a:t>Cash flow can be categorized as two annuities.</a:t>
            </a:r>
          </a:p>
        </p:txBody>
      </p:sp>
      <p:sp>
        <p:nvSpPr>
          <p:cNvPr id="4" name="Content Placeholder 3"/>
          <p:cNvSpPr>
            <a:spLocks noGrp="1"/>
          </p:cNvSpPr>
          <p:nvPr>
            <p:ph sz="quarter" idx="14"/>
          </p:nvPr>
        </p:nvSpPr>
        <p:spPr>
          <a:xfrm>
            <a:off x="342900" y="2677887"/>
            <a:ext cx="8458200" cy="2146040"/>
          </a:xfrm>
        </p:spPr>
        <p:txBody>
          <a:bodyPr/>
          <a:lstStyle/>
          <a:p>
            <a:r>
              <a:rPr lang="en-US" dirty="0"/>
              <a:t>Reconsider the annual $100 deposits made for five years at 8 percent per year. This time, the deposit can be increased to $150 for the fourth and fifth years.</a:t>
            </a:r>
          </a:p>
          <a:p>
            <a:pPr marL="292608" indent="-292608">
              <a:buFont typeface="Arial" panose="020B0604020202020204" pitchFamily="34" charset="0"/>
              <a:buChar char="•"/>
            </a:pPr>
            <a:r>
              <a:rPr lang="en-US" dirty="0"/>
              <a:t>First annuity is $100 cash flow for five years and second annuity is $50 cash flow for two years.</a:t>
            </a:r>
          </a:p>
        </p:txBody>
      </p:sp>
      <p:sp>
        <p:nvSpPr>
          <p:cNvPr id="7" name="Slide Number Placeholder 6"/>
          <p:cNvSpPr>
            <a:spLocks noGrp="1"/>
          </p:cNvSpPr>
          <p:nvPr>
            <p:ph type="sldNum" sz="quarter" idx="10"/>
          </p:nvPr>
        </p:nvSpPr>
        <p:spPr/>
        <p:txBody>
          <a:bodyPr/>
          <a:lstStyle/>
          <a:p>
            <a:fld id="{68151E55-6873-49E2-B8D5-2F265E6F1973}" type="slidenum">
              <a:rPr lang="en-US" smtClean="0"/>
              <a:t>10</a:t>
            </a:fld>
            <a:endParaRPr lang="en-US"/>
          </a:p>
        </p:txBody>
      </p:sp>
    </p:spTree>
    <p:extLst>
      <p:ext uri="{BB962C8B-B14F-4D97-AF65-F5344CB8AC3E}">
        <p14:creationId xmlns:p14="http://schemas.microsoft.com/office/powerpoint/2010/main" val="1637720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Finding F</a:t>
            </a:r>
            <a:r>
              <a:rPr lang="en-US" sz="100" dirty="0"/>
              <a:t> </a:t>
            </a:r>
            <a:r>
              <a:rPr lang="en-US" sz="3200" dirty="0"/>
              <a:t>V – Multiple Annuities Example</a:t>
            </a:r>
          </a:p>
        </p:txBody>
      </p:sp>
      <p:sp>
        <p:nvSpPr>
          <p:cNvPr id="3" name="Content Placeholder 2"/>
          <p:cNvSpPr>
            <a:spLocks noGrp="1"/>
          </p:cNvSpPr>
          <p:nvPr>
            <p:ph sz="quarter" idx="11"/>
          </p:nvPr>
        </p:nvSpPr>
        <p:spPr>
          <a:xfrm>
            <a:off x="342900" y="1276710"/>
            <a:ext cx="8458200" cy="1326532"/>
          </a:xfrm>
        </p:spPr>
        <p:txBody>
          <a:bodyPr/>
          <a:lstStyle/>
          <a:p>
            <a:r>
              <a:rPr lang="en-US" dirty="0"/>
              <a:t>To find the value of the two annuities, compute the future value of each one separately, and then add them together.</a:t>
            </a:r>
          </a:p>
          <a:p>
            <a:pPr marL="292608" indent="-292608">
              <a:buFont typeface="Arial" panose="020B0604020202020204" pitchFamily="34" charset="0"/>
              <a:buChar char="•"/>
            </a:pPr>
            <a:r>
              <a:rPr lang="en-US" dirty="0"/>
              <a:t>F</a:t>
            </a:r>
            <a:r>
              <a:rPr lang="en-US" sz="100" dirty="0"/>
              <a:t> </a:t>
            </a:r>
            <a:r>
              <a:rPr lang="en-US" dirty="0"/>
              <a:t>V of $100 annuity is $586.66, as calculated previously.</a:t>
            </a:r>
          </a:p>
        </p:txBody>
      </p:sp>
      <p:sp>
        <p:nvSpPr>
          <p:cNvPr id="4" name="Content Placeholder 3"/>
          <p:cNvSpPr>
            <a:spLocks noGrp="1"/>
          </p:cNvSpPr>
          <p:nvPr>
            <p:ph sz="quarter" idx="14"/>
          </p:nvPr>
        </p:nvSpPr>
        <p:spPr>
          <a:xfrm>
            <a:off x="342901" y="2927803"/>
            <a:ext cx="3277378" cy="457200"/>
          </a:xfrm>
        </p:spPr>
        <p:txBody>
          <a:bodyPr/>
          <a:lstStyle/>
          <a:p>
            <a:pPr marL="292608" indent="-292608">
              <a:buFont typeface="Arial" panose="020B0604020202020204" pitchFamily="34" charset="0"/>
              <a:buChar char="•"/>
            </a:pPr>
            <a:r>
              <a:rPr lang="en-US" dirty="0"/>
              <a:t>F</a:t>
            </a:r>
            <a:r>
              <a:rPr lang="en-US" sz="100" dirty="0"/>
              <a:t> </a:t>
            </a:r>
            <a:r>
              <a:rPr lang="en-US" dirty="0"/>
              <a:t>V of $50 annuity is:</a:t>
            </a:r>
          </a:p>
        </p:txBody>
      </p:sp>
      <p:graphicFrame>
        <p:nvGraphicFramePr>
          <p:cNvPr id="12" name="Object 11"/>
          <p:cNvGraphicFramePr>
            <a:graphicFrameLocks noChangeAspect="1"/>
          </p:cNvGraphicFramePr>
          <p:nvPr>
            <p:extLst>
              <p:ext uri="{D42A27DB-BD31-4B8C-83A1-F6EECF244321}">
                <p14:modId xmlns:p14="http://schemas.microsoft.com/office/powerpoint/2010/main" val="2199036565"/>
              </p:ext>
            </p:extLst>
          </p:nvPr>
        </p:nvGraphicFramePr>
        <p:xfrm>
          <a:off x="3620279" y="3576622"/>
          <a:ext cx="3416300" cy="850900"/>
        </p:xfrm>
        <a:graphic>
          <a:graphicData uri="http://schemas.openxmlformats.org/presentationml/2006/ole">
            <mc:AlternateContent xmlns:mc="http://schemas.openxmlformats.org/markup-compatibility/2006">
              <mc:Choice xmlns:v="urn:schemas-microsoft-com:vml" Requires="v">
                <p:oleObj spid="_x0000_s44186" name="Equation" r:id="rId3" imgW="3416040" imgH="850680" progId="Equation.DSMT4">
                  <p:embed/>
                </p:oleObj>
              </mc:Choice>
              <mc:Fallback>
                <p:oleObj name="Equation" r:id="rId3" imgW="3416040" imgH="850680" progId="Equation.DSMT4">
                  <p:embed/>
                  <p:pic>
                    <p:nvPicPr>
                      <p:cNvPr id="0" name=""/>
                      <p:cNvPicPr/>
                      <p:nvPr/>
                    </p:nvPicPr>
                    <p:blipFill>
                      <a:blip r:embed="rId4"/>
                      <a:stretch>
                        <a:fillRect/>
                      </a:stretch>
                    </p:blipFill>
                    <p:spPr>
                      <a:xfrm>
                        <a:off x="3620279" y="3576622"/>
                        <a:ext cx="3416300" cy="850900"/>
                      </a:xfrm>
                      <a:prstGeom prst="rect">
                        <a:avLst/>
                      </a:prstGeom>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1922677933"/>
              </p:ext>
            </p:extLst>
          </p:nvPr>
        </p:nvGraphicFramePr>
        <p:xfrm>
          <a:off x="4403188" y="4688280"/>
          <a:ext cx="2400300" cy="304800"/>
        </p:xfrm>
        <a:graphic>
          <a:graphicData uri="http://schemas.openxmlformats.org/presentationml/2006/ole">
            <mc:AlternateContent xmlns:mc="http://schemas.openxmlformats.org/markup-compatibility/2006">
              <mc:Choice xmlns:v="urn:schemas-microsoft-com:vml" Requires="v">
                <p:oleObj spid="_x0000_s44187" name="Equation" r:id="rId5" imgW="2400120" imgH="304560" progId="Equation.DSMT4">
                  <p:embed/>
                </p:oleObj>
              </mc:Choice>
              <mc:Fallback>
                <p:oleObj name="Equation" r:id="rId5" imgW="2400120" imgH="304560" progId="Equation.DSMT4">
                  <p:embed/>
                  <p:pic>
                    <p:nvPicPr>
                      <p:cNvPr id="0" name=""/>
                      <p:cNvPicPr/>
                      <p:nvPr/>
                    </p:nvPicPr>
                    <p:blipFill>
                      <a:blip r:embed="rId6"/>
                      <a:stretch>
                        <a:fillRect/>
                      </a:stretch>
                    </p:blipFill>
                    <p:spPr>
                      <a:xfrm>
                        <a:off x="4403188" y="4688280"/>
                        <a:ext cx="2400300" cy="304800"/>
                      </a:xfrm>
                      <a:prstGeom prst="rect">
                        <a:avLst/>
                      </a:prstGeom>
                    </p:spPr>
                  </p:pic>
                </p:oleObj>
              </mc:Fallback>
            </mc:AlternateContent>
          </a:graphicData>
        </a:graphic>
      </p:graphicFrame>
      <p:sp>
        <p:nvSpPr>
          <p:cNvPr id="5" name="Content Placeholder 4"/>
          <p:cNvSpPr>
            <a:spLocks noGrp="1"/>
          </p:cNvSpPr>
          <p:nvPr>
            <p:ph sz="quarter" idx="15"/>
          </p:nvPr>
        </p:nvSpPr>
        <p:spPr>
          <a:xfrm>
            <a:off x="342900" y="5470041"/>
            <a:ext cx="8458200" cy="970384"/>
          </a:xfrm>
        </p:spPr>
        <p:txBody>
          <a:bodyPr/>
          <a:lstStyle/>
          <a:p>
            <a:r>
              <a:rPr lang="en-US" dirty="0"/>
              <a:t>F</a:t>
            </a:r>
            <a:r>
              <a:rPr lang="en-US" sz="100" dirty="0"/>
              <a:t> </a:t>
            </a:r>
            <a:r>
              <a:rPr lang="en-US" dirty="0"/>
              <a:t>V of both annuities is calculated as:</a:t>
            </a:r>
          </a:p>
          <a:p>
            <a:pPr marL="292608" indent="-292608">
              <a:buFont typeface="Arial" panose="020B0604020202020204" pitchFamily="34" charset="0"/>
              <a:buChar char="•"/>
            </a:pPr>
            <a:r>
              <a:rPr lang="en-US" b="1" dirty="0"/>
              <a:t>$690.66 </a:t>
            </a:r>
            <a:r>
              <a:rPr lang="en-US" dirty="0"/>
              <a:t>= $586.66 + $104</a:t>
            </a:r>
          </a:p>
        </p:txBody>
      </p:sp>
      <p:sp>
        <p:nvSpPr>
          <p:cNvPr id="11" name="Slide Number Placeholder 10"/>
          <p:cNvSpPr>
            <a:spLocks noGrp="1"/>
          </p:cNvSpPr>
          <p:nvPr>
            <p:ph type="sldNum" sz="quarter" idx="10"/>
          </p:nvPr>
        </p:nvSpPr>
        <p:spPr/>
        <p:txBody>
          <a:bodyPr/>
          <a:lstStyle/>
          <a:p>
            <a:fld id="{68151E55-6873-49E2-B8D5-2F265E6F1973}" type="slidenum">
              <a:rPr lang="en-US" smtClean="0"/>
              <a:t>11</a:t>
            </a:fld>
            <a:endParaRPr lang="en-US" dirty="0"/>
          </a:p>
        </p:txBody>
      </p:sp>
    </p:spTree>
    <p:extLst>
      <p:ext uri="{BB962C8B-B14F-4D97-AF65-F5344CB8AC3E}">
        <p14:creationId xmlns:p14="http://schemas.microsoft.com/office/powerpoint/2010/main" val="2554885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Present Value of Multiple Cash Flows</a:t>
            </a:r>
          </a:p>
        </p:txBody>
      </p:sp>
      <p:sp>
        <p:nvSpPr>
          <p:cNvPr id="3" name="Content Placeholder 2"/>
          <p:cNvSpPr>
            <a:spLocks noGrp="1"/>
          </p:cNvSpPr>
          <p:nvPr>
            <p:ph sz="quarter" idx="11"/>
          </p:nvPr>
        </p:nvSpPr>
        <p:spPr/>
        <p:txBody>
          <a:bodyPr/>
          <a:lstStyle/>
          <a:p>
            <a:pPr marL="292608" indent="-292608">
              <a:buFont typeface="Arial" panose="020B0604020202020204" pitchFamily="34" charset="0"/>
              <a:buChar char="•"/>
            </a:pPr>
            <a:r>
              <a:rPr lang="en-US" dirty="0"/>
              <a:t>The F</a:t>
            </a:r>
            <a:r>
              <a:rPr lang="en-US" sz="100" dirty="0"/>
              <a:t> </a:t>
            </a:r>
            <a:r>
              <a:rPr lang="en-US" dirty="0"/>
              <a:t>V concept is useful to understand how to build wealth for the future.</a:t>
            </a:r>
          </a:p>
          <a:p>
            <a:pPr marL="292608" indent="-292608">
              <a:buFont typeface="Arial" panose="020B0604020202020204" pitchFamily="34" charset="0"/>
              <a:buChar char="•"/>
            </a:pPr>
            <a:r>
              <a:rPr lang="en-US" dirty="0"/>
              <a:t>The P</a:t>
            </a:r>
            <a:r>
              <a:rPr lang="en-US" sz="100" dirty="0"/>
              <a:t> </a:t>
            </a:r>
            <a:r>
              <a:rPr lang="en-US" dirty="0"/>
              <a:t>V concept will help most particularly for personal applications, such as evaluating loans (e.g., car and mortgage loans), and business applications (e.g., determining the value of business opportunities).</a:t>
            </a:r>
          </a:p>
        </p:txBody>
      </p:sp>
      <p:sp>
        <p:nvSpPr>
          <p:cNvPr id="6" name="Slide Number Placeholder 5"/>
          <p:cNvSpPr>
            <a:spLocks noGrp="1"/>
          </p:cNvSpPr>
          <p:nvPr>
            <p:ph type="sldNum" sz="quarter" idx="4"/>
          </p:nvPr>
        </p:nvSpPr>
        <p:spPr/>
        <p:txBody>
          <a:bodyPr/>
          <a:lstStyle/>
          <a:p>
            <a:fld id="{68151E55-6873-49E2-B8D5-2F265E6F1973}" type="slidenum">
              <a:rPr lang="en-US" smtClean="0"/>
              <a:pPr/>
              <a:t>12</a:t>
            </a:fld>
            <a:endParaRPr lang="en-US" dirty="0"/>
          </a:p>
        </p:txBody>
      </p:sp>
    </p:spTree>
    <p:extLst>
      <p:ext uri="{BB962C8B-B14F-4D97-AF65-F5344CB8AC3E}">
        <p14:creationId xmlns:p14="http://schemas.microsoft.com/office/powerpoint/2010/main" val="1574128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567836" cy="903231"/>
          </a:xfrm>
        </p:spPr>
        <p:txBody>
          <a:bodyPr>
            <a:normAutofit/>
          </a:bodyPr>
          <a:lstStyle/>
          <a:p>
            <a:r>
              <a:rPr lang="en-US" sz="3200" dirty="0"/>
              <a:t>Finding PV – Several Cash Flows Example </a:t>
            </a:r>
            <a:r>
              <a:rPr lang="en-US" sz="1000" b="0" dirty="0"/>
              <a:t>1</a:t>
            </a:r>
          </a:p>
        </p:txBody>
      </p:sp>
      <p:sp>
        <p:nvSpPr>
          <p:cNvPr id="3" name="Content Placeholder 2"/>
          <p:cNvSpPr>
            <a:spLocks noGrp="1"/>
          </p:cNvSpPr>
          <p:nvPr>
            <p:ph sz="quarter" idx="11"/>
          </p:nvPr>
        </p:nvSpPr>
        <p:spPr>
          <a:xfrm>
            <a:off x="342900" y="1276710"/>
            <a:ext cx="8458200" cy="1690426"/>
          </a:xfrm>
        </p:spPr>
        <p:txBody>
          <a:bodyPr/>
          <a:lstStyle/>
          <a:p>
            <a:pPr marL="292608" indent="-292608">
              <a:buFont typeface="Arial" panose="020B0604020202020204" pitchFamily="34" charset="0"/>
              <a:buChar char="•"/>
            </a:pPr>
            <a:r>
              <a:rPr lang="en-US" dirty="0"/>
              <a:t>You deposit $100 today, followed by a $125 deposit next year, and a $150 deposit at the end of the second year, and interest rates are 7 percent.</a:t>
            </a:r>
          </a:p>
          <a:p>
            <a:pPr marL="292608" indent="-292608">
              <a:buFont typeface="Arial" panose="020B0604020202020204" pitchFamily="34" charset="0"/>
              <a:buChar char="•"/>
            </a:pPr>
            <a:r>
              <a:rPr lang="en-US" dirty="0"/>
              <a:t>What is the P</a:t>
            </a:r>
            <a:r>
              <a:rPr lang="en-US" sz="100" dirty="0"/>
              <a:t> </a:t>
            </a:r>
            <a:r>
              <a:rPr lang="en-US" dirty="0"/>
              <a:t>V?</a:t>
            </a:r>
          </a:p>
        </p:txBody>
      </p:sp>
      <p:pic>
        <p:nvPicPr>
          <p:cNvPr id="7" name="Picture 6" descr="The diagram of a time line for calculating the present value of several cash flows."/>
          <p:cNvPicPr>
            <a:picLocks noChangeAspect="1"/>
          </p:cNvPicPr>
          <p:nvPr/>
        </p:nvPicPr>
        <p:blipFill>
          <a:blip r:embed="rId2"/>
          <a:stretch>
            <a:fillRect/>
          </a:stretch>
        </p:blipFill>
        <p:spPr>
          <a:xfrm>
            <a:off x="792152" y="3194894"/>
            <a:ext cx="7559695" cy="1450974"/>
          </a:xfrm>
          <a:prstGeom prst="rect">
            <a:avLst/>
          </a:prstGeom>
        </p:spPr>
      </p:pic>
      <p:sp>
        <p:nvSpPr>
          <p:cNvPr id="8" name="Text Placeholder 3">
            <a:extLst>
              <a:ext uri="{FF2B5EF4-FFF2-40B4-BE49-F238E27FC236}">
                <a16:creationId xmlns:a16="http://schemas.microsoft.com/office/drawing/2014/main" xmlns="" id="{5F140556-1E7E-4CE3-B617-2D947EB106BD}"/>
              </a:ext>
            </a:extLst>
          </p:cNvPr>
          <p:cNvSpPr>
            <a:spLocks noGrp="1"/>
          </p:cNvSpPr>
          <p:nvPr>
            <p:ph type="body" sz="quarter" idx="12"/>
          </p:nvPr>
        </p:nvSpPr>
        <p:spPr>
          <a:xfrm>
            <a:off x="3047830" y="6265333"/>
            <a:ext cx="3522303" cy="249767"/>
          </a:xfrm>
        </p:spPr>
        <p:txBody>
          <a:bodyPr/>
          <a:lstStyle/>
          <a:p>
            <a:r>
              <a:rPr lang="en-US" sz="1200" dirty="0">
                <a:hlinkClick r:id="rId3" action="ppaction://hlinksldjump"/>
              </a:rPr>
              <a:t>Access the text alternative for slide images.</a:t>
            </a:r>
            <a:endParaRPr lang="en-US" sz="1200" dirty="0"/>
          </a:p>
        </p:txBody>
      </p:sp>
      <p:sp>
        <p:nvSpPr>
          <p:cNvPr id="6" name="Slide Number Placeholder 5"/>
          <p:cNvSpPr>
            <a:spLocks noGrp="1"/>
          </p:cNvSpPr>
          <p:nvPr>
            <p:ph type="sldNum" sz="quarter" idx="4"/>
          </p:nvPr>
        </p:nvSpPr>
        <p:spPr/>
        <p:txBody>
          <a:bodyPr/>
          <a:lstStyle/>
          <a:p>
            <a:fld id="{68151E55-6873-49E2-B8D5-2F265E6F1973}" type="slidenum">
              <a:rPr lang="en-US" smtClean="0"/>
              <a:pPr/>
              <a:t>13</a:t>
            </a:fld>
            <a:endParaRPr lang="en-US" dirty="0"/>
          </a:p>
        </p:txBody>
      </p:sp>
    </p:spTree>
    <p:extLst>
      <p:ext uri="{BB962C8B-B14F-4D97-AF65-F5344CB8AC3E}">
        <p14:creationId xmlns:p14="http://schemas.microsoft.com/office/powerpoint/2010/main" val="2113463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567836" cy="903231"/>
          </a:xfrm>
        </p:spPr>
        <p:txBody>
          <a:bodyPr>
            <a:normAutofit/>
          </a:bodyPr>
          <a:lstStyle/>
          <a:p>
            <a:r>
              <a:rPr lang="en-US" sz="3200" dirty="0"/>
              <a:t>Finding P</a:t>
            </a:r>
            <a:r>
              <a:rPr lang="en-US" sz="100" dirty="0"/>
              <a:t> </a:t>
            </a:r>
            <a:r>
              <a:rPr lang="en-US" sz="3200" dirty="0"/>
              <a:t>V – Several Cash Flows Example </a:t>
            </a:r>
            <a:r>
              <a:rPr lang="en-US" sz="1000" b="0" dirty="0"/>
              <a:t>2</a:t>
            </a:r>
          </a:p>
        </p:txBody>
      </p:sp>
      <p:sp>
        <p:nvSpPr>
          <p:cNvPr id="3" name="Content Placeholder 2"/>
          <p:cNvSpPr>
            <a:spLocks noGrp="1"/>
          </p:cNvSpPr>
          <p:nvPr>
            <p:ph sz="quarter" idx="11"/>
          </p:nvPr>
        </p:nvSpPr>
        <p:spPr>
          <a:xfrm>
            <a:off x="342900" y="1276710"/>
            <a:ext cx="8458200" cy="1690426"/>
          </a:xfrm>
        </p:spPr>
        <p:txBody>
          <a:bodyPr/>
          <a:lstStyle/>
          <a:p>
            <a:pPr marL="292608" indent="-292608">
              <a:buFont typeface="Arial" panose="020B0604020202020204" pitchFamily="34" charset="0"/>
              <a:buChar char="•"/>
            </a:pPr>
            <a:r>
              <a:rPr lang="en-US" dirty="0"/>
              <a:t>You deposit $100 today, followed by a $125 deposit next year, and a $150 deposit at the end of the second year, and interest rates are 7 percent.</a:t>
            </a:r>
          </a:p>
          <a:p>
            <a:pPr marL="292608" indent="-292608">
              <a:buFont typeface="Arial" panose="020B0604020202020204" pitchFamily="34" charset="0"/>
              <a:buChar char="•"/>
            </a:pPr>
            <a:r>
              <a:rPr lang="en-US" dirty="0"/>
              <a:t>What is the P</a:t>
            </a:r>
            <a:r>
              <a:rPr lang="en-US" sz="100" dirty="0"/>
              <a:t> </a:t>
            </a:r>
            <a:r>
              <a:rPr lang="en-US" dirty="0"/>
              <a:t>V?</a:t>
            </a:r>
          </a:p>
        </p:txBody>
      </p:sp>
      <p:graphicFrame>
        <p:nvGraphicFramePr>
          <p:cNvPr id="5" name="Object 4"/>
          <p:cNvGraphicFramePr>
            <a:graphicFrameLocks noChangeAspect="1"/>
          </p:cNvGraphicFramePr>
          <p:nvPr>
            <p:extLst>
              <p:ext uri="{D42A27DB-BD31-4B8C-83A1-F6EECF244321}">
                <p14:modId xmlns:p14="http://schemas.microsoft.com/office/powerpoint/2010/main" val="3654440904"/>
              </p:ext>
            </p:extLst>
          </p:nvPr>
        </p:nvGraphicFramePr>
        <p:xfrm>
          <a:off x="410418" y="3148125"/>
          <a:ext cx="8432800" cy="609600"/>
        </p:xfrm>
        <a:graphic>
          <a:graphicData uri="http://schemas.openxmlformats.org/presentationml/2006/ole">
            <mc:AlternateContent xmlns:mc="http://schemas.openxmlformats.org/markup-compatibility/2006">
              <mc:Choice xmlns:v="urn:schemas-microsoft-com:vml" Requires="v">
                <p:oleObj spid="_x0000_s45202" name="Equation" r:id="rId3" imgW="8432640" imgH="609480" progId="Equation.DSMT4">
                  <p:embed/>
                </p:oleObj>
              </mc:Choice>
              <mc:Fallback>
                <p:oleObj name="Equation" r:id="rId3" imgW="8432640" imgH="609480" progId="Equation.DSMT4">
                  <p:embed/>
                  <p:pic>
                    <p:nvPicPr>
                      <p:cNvPr id="0" name=""/>
                      <p:cNvPicPr/>
                      <p:nvPr/>
                    </p:nvPicPr>
                    <p:blipFill>
                      <a:blip r:embed="rId4"/>
                      <a:stretch>
                        <a:fillRect/>
                      </a:stretch>
                    </p:blipFill>
                    <p:spPr>
                      <a:xfrm>
                        <a:off x="410418" y="3148125"/>
                        <a:ext cx="8432800" cy="609600"/>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357631404"/>
              </p:ext>
            </p:extLst>
          </p:nvPr>
        </p:nvGraphicFramePr>
        <p:xfrm>
          <a:off x="880836" y="3903122"/>
          <a:ext cx="1257300" cy="304800"/>
        </p:xfrm>
        <a:graphic>
          <a:graphicData uri="http://schemas.openxmlformats.org/presentationml/2006/ole">
            <mc:AlternateContent xmlns:mc="http://schemas.openxmlformats.org/markup-compatibility/2006">
              <mc:Choice xmlns:v="urn:schemas-microsoft-com:vml" Requires="v">
                <p:oleObj spid="_x0000_s45203" name="Equation" r:id="rId5" imgW="1257120" imgH="304560" progId="Equation.DSMT4">
                  <p:embed/>
                </p:oleObj>
              </mc:Choice>
              <mc:Fallback>
                <p:oleObj name="Equation" r:id="rId5" imgW="1257120" imgH="304560" progId="Equation.DSMT4">
                  <p:embed/>
                  <p:pic>
                    <p:nvPicPr>
                      <p:cNvPr id="0" name=""/>
                      <p:cNvPicPr/>
                      <p:nvPr/>
                    </p:nvPicPr>
                    <p:blipFill>
                      <a:blip r:embed="rId6"/>
                      <a:stretch>
                        <a:fillRect/>
                      </a:stretch>
                    </p:blipFill>
                    <p:spPr>
                      <a:xfrm>
                        <a:off x="880836" y="3903122"/>
                        <a:ext cx="1257300" cy="304800"/>
                      </a:xfrm>
                      <a:prstGeom prst="rect">
                        <a:avLst/>
                      </a:prstGeom>
                    </p:spPr>
                  </p:pic>
                </p:oleObj>
              </mc:Fallback>
            </mc:AlternateContent>
          </a:graphicData>
        </a:graphic>
      </p:graphicFrame>
      <p:sp>
        <p:nvSpPr>
          <p:cNvPr id="6" name="Slide Number Placeholder 5"/>
          <p:cNvSpPr>
            <a:spLocks noGrp="1"/>
          </p:cNvSpPr>
          <p:nvPr>
            <p:ph type="sldNum" sz="quarter" idx="4"/>
          </p:nvPr>
        </p:nvSpPr>
        <p:spPr/>
        <p:txBody>
          <a:bodyPr/>
          <a:lstStyle/>
          <a:p>
            <a:fld id="{68151E55-6873-49E2-B8D5-2F265E6F1973}" type="slidenum">
              <a:rPr lang="en-US" smtClean="0"/>
              <a:pPr/>
              <a:t>14</a:t>
            </a:fld>
            <a:endParaRPr lang="en-US" dirty="0"/>
          </a:p>
        </p:txBody>
      </p:sp>
    </p:spTree>
    <p:extLst>
      <p:ext uri="{BB962C8B-B14F-4D97-AF65-F5344CB8AC3E}">
        <p14:creationId xmlns:p14="http://schemas.microsoft.com/office/powerpoint/2010/main" val="1283843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General Equation for Discounting Multiple and Varying Cash Flows</a:t>
            </a:r>
          </a:p>
        </p:txBody>
      </p:sp>
      <p:sp>
        <p:nvSpPr>
          <p:cNvPr id="3" name="Content Placeholder 2"/>
          <p:cNvSpPr>
            <a:spLocks noGrp="1"/>
          </p:cNvSpPr>
          <p:nvPr>
            <p:ph sz="quarter" idx="11"/>
          </p:nvPr>
        </p:nvSpPr>
        <p:spPr>
          <a:xfrm>
            <a:off x="342900" y="1276710"/>
            <a:ext cx="8458200" cy="748033"/>
          </a:xfrm>
        </p:spPr>
        <p:txBody>
          <a:bodyPr/>
          <a:lstStyle/>
          <a:p>
            <a:pPr marL="292608" indent="-292608">
              <a:buFont typeface="Arial" panose="020B0604020202020204" pitchFamily="34" charset="0"/>
              <a:buChar char="•"/>
            </a:pPr>
            <a:r>
              <a:rPr lang="en-US" sz="2200" dirty="0"/>
              <a:t>The general equation for discounting multiple and varying cash flows is:</a:t>
            </a:r>
          </a:p>
        </p:txBody>
      </p:sp>
      <p:graphicFrame>
        <p:nvGraphicFramePr>
          <p:cNvPr id="7" name="Object 6"/>
          <p:cNvGraphicFramePr>
            <a:graphicFrameLocks noChangeAspect="1"/>
          </p:cNvGraphicFramePr>
          <p:nvPr>
            <p:extLst>
              <p:ext uri="{D42A27DB-BD31-4B8C-83A1-F6EECF244321}">
                <p14:modId xmlns:p14="http://schemas.microsoft.com/office/powerpoint/2010/main" val="4239684930"/>
              </p:ext>
            </p:extLst>
          </p:nvPr>
        </p:nvGraphicFramePr>
        <p:xfrm>
          <a:off x="409575" y="2327275"/>
          <a:ext cx="8229600" cy="266700"/>
        </p:xfrm>
        <a:graphic>
          <a:graphicData uri="http://schemas.openxmlformats.org/presentationml/2006/ole">
            <mc:AlternateContent xmlns:mc="http://schemas.openxmlformats.org/markup-compatibility/2006">
              <mc:Choice xmlns:v="urn:schemas-microsoft-com:vml" Requires="v">
                <p:oleObj spid="_x0000_s46295" name="Equation" r:id="rId3" imgW="8229600" imgH="266400" progId="Equation.DSMT4">
                  <p:embed/>
                </p:oleObj>
              </mc:Choice>
              <mc:Fallback>
                <p:oleObj name="Equation" r:id="rId3" imgW="8229600" imgH="266400" progId="Equation.DSMT4">
                  <p:embed/>
                  <p:pic>
                    <p:nvPicPr>
                      <p:cNvPr id="0" name=""/>
                      <p:cNvPicPr/>
                      <p:nvPr/>
                    </p:nvPicPr>
                    <p:blipFill>
                      <a:blip r:embed="rId4"/>
                      <a:stretch>
                        <a:fillRect/>
                      </a:stretch>
                    </p:blipFill>
                    <p:spPr>
                      <a:xfrm>
                        <a:off x="409575" y="2327275"/>
                        <a:ext cx="8229600" cy="266700"/>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045021478"/>
              </p:ext>
            </p:extLst>
          </p:nvPr>
        </p:nvGraphicFramePr>
        <p:xfrm>
          <a:off x="1104382" y="2762669"/>
          <a:ext cx="4038600" cy="266700"/>
        </p:xfrm>
        <a:graphic>
          <a:graphicData uri="http://schemas.openxmlformats.org/presentationml/2006/ole">
            <mc:AlternateContent xmlns:mc="http://schemas.openxmlformats.org/markup-compatibility/2006">
              <mc:Choice xmlns:v="urn:schemas-microsoft-com:vml" Requires="v">
                <p:oleObj spid="_x0000_s46296" name="Equation" r:id="rId5" imgW="4038480" imgH="266400" progId="Equation.DSMT4">
                  <p:embed/>
                </p:oleObj>
              </mc:Choice>
              <mc:Fallback>
                <p:oleObj name="Equation" r:id="rId5" imgW="4038480" imgH="266400" progId="Equation.DSMT4">
                  <p:embed/>
                  <p:pic>
                    <p:nvPicPr>
                      <p:cNvPr id="0" name=""/>
                      <p:cNvPicPr/>
                      <p:nvPr/>
                    </p:nvPicPr>
                    <p:blipFill>
                      <a:blip r:embed="rId6"/>
                      <a:stretch>
                        <a:fillRect/>
                      </a:stretch>
                    </p:blipFill>
                    <p:spPr>
                      <a:xfrm>
                        <a:off x="1104382" y="2762669"/>
                        <a:ext cx="4038600" cy="266700"/>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3870605689"/>
              </p:ext>
            </p:extLst>
          </p:nvPr>
        </p:nvGraphicFramePr>
        <p:xfrm>
          <a:off x="981075" y="3205163"/>
          <a:ext cx="3390900" cy="838200"/>
        </p:xfrm>
        <a:graphic>
          <a:graphicData uri="http://schemas.openxmlformats.org/presentationml/2006/ole">
            <mc:AlternateContent xmlns:mc="http://schemas.openxmlformats.org/markup-compatibility/2006">
              <mc:Choice xmlns:v="urn:schemas-microsoft-com:vml" Requires="v">
                <p:oleObj spid="_x0000_s46297" name="Equation" r:id="rId7" imgW="3390840" imgH="838080" progId="Equation.DSMT4">
                  <p:embed/>
                </p:oleObj>
              </mc:Choice>
              <mc:Fallback>
                <p:oleObj name="Equation" r:id="rId7" imgW="3390840" imgH="838080" progId="Equation.DSMT4">
                  <p:embed/>
                  <p:pic>
                    <p:nvPicPr>
                      <p:cNvPr id="0" name=""/>
                      <p:cNvPicPr/>
                      <p:nvPr/>
                    </p:nvPicPr>
                    <p:blipFill>
                      <a:blip r:embed="rId8"/>
                      <a:stretch>
                        <a:fillRect/>
                      </a:stretch>
                    </p:blipFill>
                    <p:spPr>
                      <a:xfrm>
                        <a:off x="981075" y="3205163"/>
                        <a:ext cx="3390900" cy="838200"/>
                      </a:xfrm>
                      <a:prstGeom prst="rect">
                        <a:avLst/>
                      </a:prstGeom>
                    </p:spPr>
                  </p:pic>
                </p:oleObj>
              </mc:Fallback>
            </mc:AlternateContent>
          </a:graphicData>
        </a:graphic>
      </p:graphicFrame>
      <p:sp>
        <p:nvSpPr>
          <p:cNvPr id="6" name="Slide Number Placeholder 5"/>
          <p:cNvSpPr>
            <a:spLocks noGrp="1"/>
          </p:cNvSpPr>
          <p:nvPr>
            <p:ph type="sldNum" sz="quarter" idx="4"/>
          </p:nvPr>
        </p:nvSpPr>
        <p:spPr/>
        <p:txBody>
          <a:bodyPr/>
          <a:lstStyle/>
          <a:p>
            <a:fld id="{68151E55-6873-49E2-B8D5-2F265E6F1973}" type="slidenum">
              <a:rPr lang="en-US" smtClean="0"/>
              <a:pPr/>
              <a:t>15</a:t>
            </a:fld>
            <a:endParaRPr lang="en-US" dirty="0"/>
          </a:p>
        </p:txBody>
      </p:sp>
    </p:spTree>
    <p:extLst>
      <p:ext uri="{BB962C8B-B14F-4D97-AF65-F5344CB8AC3E}">
        <p14:creationId xmlns:p14="http://schemas.microsoft.com/office/powerpoint/2010/main" val="2330934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Present Value – Level Cash Flows</a:t>
            </a:r>
          </a:p>
        </p:txBody>
      </p:sp>
      <p:sp>
        <p:nvSpPr>
          <p:cNvPr id="3" name="Content Placeholder 2"/>
          <p:cNvSpPr>
            <a:spLocks noGrp="1"/>
          </p:cNvSpPr>
          <p:nvPr>
            <p:ph sz="quarter" idx="11"/>
          </p:nvPr>
        </p:nvSpPr>
        <p:spPr>
          <a:xfrm>
            <a:off x="342900" y="1276710"/>
            <a:ext cx="8458200" cy="2063650"/>
          </a:xfrm>
        </p:spPr>
        <p:txBody>
          <a:bodyPr/>
          <a:lstStyle/>
          <a:p>
            <a:r>
              <a:rPr lang="en-US" dirty="0"/>
              <a:t>Most loans are set up so that the amount borrowed (the present value) is repaid through level payments made every period (the annuity).</a:t>
            </a:r>
          </a:p>
          <a:p>
            <a:pPr marL="292608" indent="-292608">
              <a:buFont typeface="Arial" panose="020B0604020202020204" pitchFamily="34" charset="0"/>
              <a:buChar char="•"/>
            </a:pPr>
            <a:r>
              <a:rPr lang="en-US" dirty="0"/>
              <a:t>Each cash flow is the same, and the borrower pays the cash flow every period.</a:t>
            </a:r>
          </a:p>
        </p:txBody>
      </p:sp>
      <p:graphicFrame>
        <p:nvGraphicFramePr>
          <p:cNvPr id="7" name="Object 6"/>
          <p:cNvGraphicFramePr>
            <a:graphicFrameLocks noChangeAspect="1"/>
          </p:cNvGraphicFramePr>
          <p:nvPr>
            <p:extLst>
              <p:ext uri="{D42A27DB-BD31-4B8C-83A1-F6EECF244321}">
                <p14:modId xmlns:p14="http://schemas.microsoft.com/office/powerpoint/2010/main" val="3228350324"/>
              </p:ext>
            </p:extLst>
          </p:nvPr>
        </p:nvGraphicFramePr>
        <p:xfrm>
          <a:off x="1659942" y="3521349"/>
          <a:ext cx="5372100" cy="342900"/>
        </p:xfrm>
        <a:graphic>
          <a:graphicData uri="http://schemas.openxmlformats.org/presentationml/2006/ole">
            <mc:AlternateContent xmlns:mc="http://schemas.openxmlformats.org/markup-compatibility/2006">
              <mc:Choice xmlns:v="urn:schemas-microsoft-com:vml" Requires="v">
                <p:oleObj spid="_x0000_s47246" name="Equation" r:id="rId3" imgW="5371920" imgH="342720" progId="Equation.DSMT4">
                  <p:embed/>
                </p:oleObj>
              </mc:Choice>
              <mc:Fallback>
                <p:oleObj name="Equation" r:id="rId3" imgW="5371920" imgH="342720" progId="Equation.DSMT4">
                  <p:embed/>
                  <p:pic>
                    <p:nvPicPr>
                      <p:cNvPr id="0" name=""/>
                      <p:cNvPicPr/>
                      <p:nvPr/>
                    </p:nvPicPr>
                    <p:blipFill>
                      <a:blip r:embed="rId4"/>
                      <a:stretch>
                        <a:fillRect/>
                      </a:stretch>
                    </p:blipFill>
                    <p:spPr>
                      <a:xfrm>
                        <a:off x="1659942" y="3521349"/>
                        <a:ext cx="5372100" cy="342900"/>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656390262"/>
              </p:ext>
            </p:extLst>
          </p:nvPr>
        </p:nvGraphicFramePr>
        <p:xfrm>
          <a:off x="2567992" y="4007914"/>
          <a:ext cx="3556000" cy="1778000"/>
        </p:xfrm>
        <a:graphic>
          <a:graphicData uri="http://schemas.openxmlformats.org/presentationml/2006/ole">
            <mc:AlternateContent xmlns:mc="http://schemas.openxmlformats.org/markup-compatibility/2006">
              <mc:Choice xmlns:v="urn:schemas-microsoft-com:vml" Requires="v">
                <p:oleObj spid="_x0000_s47247" name="Equation" r:id="rId5" imgW="3555720" imgH="1777680" progId="Equation.DSMT4">
                  <p:embed/>
                </p:oleObj>
              </mc:Choice>
              <mc:Fallback>
                <p:oleObj name="Equation" r:id="rId5" imgW="3555720" imgH="1777680" progId="Equation.DSMT4">
                  <p:embed/>
                  <p:pic>
                    <p:nvPicPr>
                      <p:cNvPr id="0" name=""/>
                      <p:cNvPicPr/>
                      <p:nvPr/>
                    </p:nvPicPr>
                    <p:blipFill>
                      <a:blip r:embed="rId6"/>
                      <a:stretch>
                        <a:fillRect/>
                      </a:stretch>
                    </p:blipFill>
                    <p:spPr>
                      <a:xfrm>
                        <a:off x="2567992" y="4007914"/>
                        <a:ext cx="3556000" cy="1778000"/>
                      </a:xfrm>
                      <a:prstGeom prst="rect">
                        <a:avLst/>
                      </a:prstGeom>
                    </p:spPr>
                  </p:pic>
                </p:oleObj>
              </mc:Fallback>
            </mc:AlternateContent>
          </a:graphicData>
        </a:graphic>
      </p:graphicFrame>
      <p:sp>
        <p:nvSpPr>
          <p:cNvPr id="6" name="Slide Number Placeholder 5"/>
          <p:cNvSpPr>
            <a:spLocks noGrp="1"/>
          </p:cNvSpPr>
          <p:nvPr>
            <p:ph type="sldNum" sz="quarter" idx="4"/>
          </p:nvPr>
        </p:nvSpPr>
        <p:spPr/>
        <p:txBody>
          <a:bodyPr/>
          <a:lstStyle/>
          <a:p>
            <a:fld id="{68151E55-6873-49E2-B8D5-2F265E6F1973}" type="slidenum">
              <a:rPr lang="en-US" smtClean="0"/>
              <a:pPr/>
              <a:t>16</a:t>
            </a:fld>
            <a:endParaRPr lang="en-US" dirty="0"/>
          </a:p>
        </p:txBody>
      </p:sp>
    </p:spTree>
    <p:extLst>
      <p:ext uri="{BB962C8B-B14F-4D97-AF65-F5344CB8AC3E}">
        <p14:creationId xmlns:p14="http://schemas.microsoft.com/office/powerpoint/2010/main" val="2191597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Finding PV – Level Cash Flows Example</a:t>
            </a:r>
          </a:p>
        </p:txBody>
      </p:sp>
      <p:sp>
        <p:nvSpPr>
          <p:cNvPr id="3" name="Content Placeholder 2"/>
          <p:cNvSpPr>
            <a:spLocks noGrp="1"/>
          </p:cNvSpPr>
          <p:nvPr>
            <p:ph sz="quarter" idx="11"/>
          </p:nvPr>
        </p:nvSpPr>
        <p:spPr>
          <a:xfrm>
            <a:off x="342900" y="1276710"/>
            <a:ext cx="5246137" cy="2100972"/>
          </a:xfrm>
        </p:spPr>
        <p:txBody>
          <a:bodyPr/>
          <a:lstStyle/>
          <a:p>
            <a:pPr marL="292608" indent="-292608">
              <a:buFont typeface="Arial" panose="020B0604020202020204" pitchFamily="34" charset="0"/>
              <a:buChar char="•"/>
            </a:pPr>
            <a:r>
              <a:rPr lang="en-US" dirty="0"/>
              <a:t>Suppose someone makes $100 payments at the end of each year for five years. If interest rates are 8% per year, what is the P</a:t>
            </a:r>
            <a:r>
              <a:rPr lang="en-US" sz="100" dirty="0"/>
              <a:t> </a:t>
            </a:r>
            <a:r>
              <a:rPr lang="en-US" dirty="0"/>
              <a:t>V of this annuity stream?</a:t>
            </a:r>
          </a:p>
        </p:txBody>
      </p:sp>
      <p:pic>
        <p:nvPicPr>
          <p:cNvPr id="7" name="Picture 6" descr="Calculator hints: n = 5; I = 8; PMT = negative 100; F V = 0; C P T, P V = 399.27."/>
          <p:cNvPicPr>
            <a:picLocks noChangeAspect="1"/>
          </p:cNvPicPr>
          <p:nvPr/>
        </p:nvPicPr>
        <p:blipFill>
          <a:blip r:embed="rId3"/>
          <a:stretch>
            <a:fillRect/>
          </a:stretch>
        </p:blipFill>
        <p:spPr>
          <a:xfrm>
            <a:off x="6018432" y="1280204"/>
            <a:ext cx="2083905" cy="2122700"/>
          </a:xfrm>
          <a:prstGeom prst="rect">
            <a:avLst/>
          </a:prstGeom>
        </p:spPr>
      </p:pic>
      <p:pic>
        <p:nvPicPr>
          <p:cNvPr id="8" name="Picture 7" descr="The diagram of a time line 0 to 5 years showing the deposits and future value."/>
          <p:cNvPicPr>
            <a:picLocks noChangeAspect="1"/>
          </p:cNvPicPr>
          <p:nvPr/>
        </p:nvPicPr>
        <p:blipFill>
          <a:blip r:embed="rId4"/>
          <a:stretch>
            <a:fillRect/>
          </a:stretch>
        </p:blipFill>
        <p:spPr>
          <a:xfrm>
            <a:off x="721633" y="3494145"/>
            <a:ext cx="7047587" cy="920576"/>
          </a:xfrm>
          <a:prstGeom prst="rect">
            <a:avLst/>
          </a:prstGeom>
        </p:spPr>
      </p:pic>
      <p:graphicFrame>
        <p:nvGraphicFramePr>
          <p:cNvPr id="9" name="Object 8"/>
          <p:cNvGraphicFramePr>
            <a:graphicFrameLocks noChangeAspect="1"/>
          </p:cNvGraphicFramePr>
          <p:nvPr>
            <p:extLst>
              <p:ext uri="{D42A27DB-BD31-4B8C-83A1-F6EECF244321}">
                <p14:modId xmlns:p14="http://schemas.microsoft.com/office/powerpoint/2010/main" val="3033544264"/>
              </p:ext>
            </p:extLst>
          </p:nvPr>
        </p:nvGraphicFramePr>
        <p:xfrm>
          <a:off x="566738" y="4445000"/>
          <a:ext cx="7086600" cy="1803400"/>
        </p:xfrm>
        <a:graphic>
          <a:graphicData uri="http://schemas.openxmlformats.org/presentationml/2006/ole">
            <mc:AlternateContent xmlns:mc="http://schemas.openxmlformats.org/markup-compatibility/2006">
              <mc:Choice xmlns:v="urn:schemas-microsoft-com:vml" Requires="v">
                <p:oleObj spid="_x0000_s48199" name="Equation" r:id="rId5" imgW="7086600" imgH="1803240" progId="Equation.DSMT4">
                  <p:embed/>
                </p:oleObj>
              </mc:Choice>
              <mc:Fallback>
                <p:oleObj name="Equation" r:id="rId5" imgW="7086600" imgH="1803240" progId="Equation.DSMT4">
                  <p:embed/>
                  <p:pic>
                    <p:nvPicPr>
                      <p:cNvPr id="0" name=""/>
                      <p:cNvPicPr/>
                      <p:nvPr/>
                    </p:nvPicPr>
                    <p:blipFill>
                      <a:blip r:embed="rId6"/>
                      <a:stretch>
                        <a:fillRect/>
                      </a:stretch>
                    </p:blipFill>
                    <p:spPr>
                      <a:xfrm>
                        <a:off x="566738" y="4445000"/>
                        <a:ext cx="7086600" cy="1803400"/>
                      </a:xfrm>
                      <a:prstGeom prst="rect">
                        <a:avLst/>
                      </a:prstGeom>
                    </p:spPr>
                  </p:pic>
                </p:oleObj>
              </mc:Fallback>
            </mc:AlternateContent>
          </a:graphicData>
        </a:graphic>
      </p:graphicFrame>
      <p:sp>
        <p:nvSpPr>
          <p:cNvPr id="10" name="Text Placeholder 4">
            <a:extLst>
              <a:ext uri="{FF2B5EF4-FFF2-40B4-BE49-F238E27FC236}">
                <a16:creationId xmlns:a16="http://schemas.microsoft.com/office/drawing/2014/main" xmlns="" id="{5F140556-1E7E-4CE3-B617-2D947EB106BD}"/>
              </a:ext>
            </a:extLst>
          </p:cNvPr>
          <p:cNvSpPr>
            <a:spLocks noGrp="1"/>
          </p:cNvSpPr>
          <p:nvPr>
            <p:ph type="body" sz="quarter" idx="12"/>
          </p:nvPr>
        </p:nvSpPr>
        <p:spPr>
          <a:xfrm>
            <a:off x="3047830" y="6265333"/>
            <a:ext cx="3522303" cy="249767"/>
          </a:xfrm>
        </p:spPr>
        <p:txBody>
          <a:bodyPr/>
          <a:lstStyle/>
          <a:p>
            <a:r>
              <a:rPr lang="en-US" sz="1200" dirty="0">
                <a:hlinkClick r:id="rId7" action="ppaction://hlinksldjump"/>
              </a:rPr>
              <a:t>Access the text alternative for slide images.</a:t>
            </a:r>
            <a:endParaRPr lang="en-US" sz="1200" dirty="0"/>
          </a:p>
        </p:txBody>
      </p:sp>
      <p:sp>
        <p:nvSpPr>
          <p:cNvPr id="6" name="Slide Number Placeholder 5"/>
          <p:cNvSpPr>
            <a:spLocks noGrp="1"/>
          </p:cNvSpPr>
          <p:nvPr>
            <p:ph type="sldNum" sz="quarter" idx="4"/>
          </p:nvPr>
        </p:nvSpPr>
        <p:spPr/>
        <p:txBody>
          <a:bodyPr/>
          <a:lstStyle/>
          <a:p>
            <a:fld id="{68151E55-6873-49E2-B8D5-2F265E6F1973}" type="slidenum">
              <a:rPr lang="en-US" smtClean="0"/>
              <a:pPr/>
              <a:t>17</a:t>
            </a:fld>
            <a:endParaRPr lang="en-US" dirty="0"/>
          </a:p>
        </p:txBody>
      </p:sp>
    </p:spTree>
    <p:extLst>
      <p:ext uri="{BB962C8B-B14F-4D97-AF65-F5344CB8AC3E}">
        <p14:creationId xmlns:p14="http://schemas.microsoft.com/office/powerpoint/2010/main" val="36037041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Present Value – Multiple Annuities</a:t>
            </a:r>
          </a:p>
        </p:txBody>
      </p:sp>
      <p:sp>
        <p:nvSpPr>
          <p:cNvPr id="3" name="Content Placeholder 2"/>
          <p:cNvSpPr>
            <a:spLocks noGrp="1"/>
          </p:cNvSpPr>
          <p:nvPr>
            <p:ph sz="quarter" idx="11"/>
          </p:nvPr>
        </p:nvSpPr>
        <p:spPr>
          <a:xfrm>
            <a:off x="342900" y="1276710"/>
            <a:ext cx="8458200" cy="2828760"/>
          </a:xfrm>
        </p:spPr>
        <p:txBody>
          <a:bodyPr/>
          <a:lstStyle/>
          <a:p>
            <a:r>
              <a:rPr lang="en-US" dirty="0"/>
              <a:t>We can combine annuities to solve some P</a:t>
            </a:r>
            <a:r>
              <a:rPr lang="en-US" sz="100" dirty="0"/>
              <a:t> </a:t>
            </a:r>
            <a:r>
              <a:rPr lang="en-US" dirty="0"/>
              <a:t>V problems with changing cash flows.</a:t>
            </a:r>
          </a:p>
          <a:p>
            <a:r>
              <a:rPr lang="en-US" dirty="0"/>
              <a:t>Example (David Price’s M</a:t>
            </a:r>
            <a:r>
              <a:rPr lang="en-US" sz="100" dirty="0"/>
              <a:t> </a:t>
            </a:r>
            <a:r>
              <a:rPr lang="en-US" dirty="0"/>
              <a:t>L</a:t>
            </a:r>
            <a:r>
              <a:rPr lang="en-US" sz="100" dirty="0"/>
              <a:t> </a:t>
            </a:r>
            <a:r>
              <a:rPr lang="en-US" dirty="0"/>
              <a:t>B contract).</a:t>
            </a:r>
          </a:p>
          <a:p>
            <a:pPr marL="292608" indent="-292608">
              <a:buFont typeface="Arial" panose="020B0604020202020204" pitchFamily="34" charset="0"/>
              <a:buChar char="•"/>
            </a:pPr>
            <a:r>
              <a:rPr lang="en-US" dirty="0"/>
              <a:t>$30 million per year from 2016 to 2018.</a:t>
            </a:r>
          </a:p>
          <a:p>
            <a:pPr marL="292608" indent="-292608">
              <a:buFont typeface="Arial" panose="020B0604020202020204" pitchFamily="34" charset="0"/>
              <a:buChar char="•"/>
            </a:pPr>
            <a:r>
              <a:rPr lang="en-US" dirty="0"/>
              <a:t>$31 million per year in 2019.</a:t>
            </a:r>
          </a:p>
          <a:p>
            <a:pPr marL="292608" indent="-292608">
              <a:buFont typeface="Arial" panose="020B0604020202020204" pitchFamily="34" charset="0"/>
              <a:buChar char="•"/>
            </a:pPr>
            <a:r>
              <a:rPr lang="en-US" dirty="0"/>
              <a:t>$32 million per year in </a:t>
            </a:r>
            <a:r>
              <a:rPr lang="en-US"/>
              <a:t>2020 to </a:t>
            </a:r>
            <a:r>
              <a:rPr lang="en-US" dirty="0"/>
              <a:t>2022.</a:t>
            </a:r>
          </a:p>
        </p:txBody>
      </p:sp>
      <p:sp>
        <p:nvSpPr>
          <p:cNvPr id="4" name="Content Placeholder 3"/>
          <p:cNvSpPr>
            <a:spLocks noGrp="1"/>
          </p:cNvSpPr>
          <p:nvPr>
            <p:ph sz="quarter" idx="14"/>
          </p:nvPr>
        </p:nvSpPr>
        <p:spPr>
          <a:xfrm>
            <a:off x="342900" y="4189445"/>
            <a:ext cx="8458200" cy="867748"/>
          </a:xfrm>
        </p:spPr>
        <p:txBody>
          <a:bodyPr/>
          <a:lstStyle/>
          <a:p>
            <a:r>
              <a:rPr lang="en-US" dirty="0"/>
              <a:t>Using a 5 percent discount rate, what is the present value of Price’s contract?</a:t>
            </a:r>
          </a:p>
        </p:txBody>
      </p:sp>
      <p:sp>
        <p:nvSpPr>
          <p:cNvPr id="7" name="Slide Number Placeholder 6"/>
          <p:cNvSpPr>
            <a:spLocks noGrp="1"/>
          </p:cNvSpPr>
          <p:nvPr>
            <p:ph type="sldNum" sz="quarter" idx="10"/>
          </p:nvPr>
        </p:nvSpPr>
        <p:spPr/>
        <p:txBody>
          <a:bodyPr/>
          <a:lstStyle/>
          <a:p>
            <a:fld id="{68151E55-6873-49E2-B8D5-2F265E6F1973}" type="slidenum">
              <a:rPr lang="en-US" smtClean="0"/>
              <a:t>18</a:t>
            </a:fld>
            <a:endParaRPr lang="en-US"/>
          </a:p>
        </p:txBody>
      </p:sp>
    </p:spTree>
    <p:extLst>
      <p:ext uri="{BB962C8B-B14F-4D97-AF65-F5344CB8AC3E}">
        <p14:creationId xmlns:p14="http://schemas.microsoft.com/office/powerpoint/2010/main" val="12128315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PV – Multiple Annuities Example </a:t>
            </a:r>
            <a:r>
              <a:rPr lang="en-US" sz="1000" b="0" dirty="0"/>
              <a:t>1</a:t>
            </a:r>
          </a:p>
        </p:txBody>
      </p:sp>
      <p:pic>
        <p:nvPicPr>
          <p:cNvPr id="17" name="Picture 16" descr="The time lines shows PV – Multiple Annuities Example.">
            <a:extLst>
              <a:ext uri="{FF2B5EF4-FFF2-40B4-BE49-F238E27FC236}">
                <a16:creationId xmlns:a16="http://schemas.microsoft.com/office/drawing/2014/main" xmlns="" id="{2D0B3EDA-4128-4580-AAD6-4F5A9C5B75A5}"/>
              </a:ext>
            </a:extLst>
          </p:cNvPr>
          <p:cNvPicPr>
            <a:picLocks noChangeAspect="1"/>
          </p:cNvPicPr>
          <p:nvPr/>
        </p:nvPicPr>
        <p:blipFill>
          <a:blip r:embed="rId3"/>
          <a:stretch>
            <a:fillRect/>
          </a:stretch>
        </p:blipFill>
        <p:spPr>
          <a:xfrm>
            <a:off x="342900" y="1197321"/>
            <a:ext cx="7339570" cy="4788252"/>
          </a:xfrm>
          <a:prstGeom prst="rect">
            <a:avLst/>
          </a:prstGeom>
        </p:spPr>
      </p:pic>
      <p:sp>
        <p:nvSpPr>
          <p:cNvPr id="15" name="Text Placeholder 8">
            <a:extLst>
              <a:ext uri="{FF2B5EF4-FFF2-40B4-BE49-F238E27FC236}">
                <a16:creationId xmlns:a16="http://schemas.microsoft.com/office/drawing/2014/main" xmlns="" id="{5F140556-1E7E-4CE3-B617-2D947EB106BD}"/>
              </a:ext>
            </a:extLst>
          </p:cNvPr>
          <p:cNvSpPr>
            <a:spLocks noGrp="1"/>
          </p:cNvSpPr>
          <p:nvPr>
            <p:ph type="body" sz="quarter" idx="12"/>
          </p:nvPr>
        </p:nvSpPr>
        <p:spPr>
          <a:xfrm>
            <a:off x="3047830" y="6265333"/>
            <a:ext cx="3522303" cy="249767"/>
          </a:xfrm>
        </p:spPr>
        <p:txBody>
          <a:bodyPr/>
          <a:lstStyle/>
          <a:p>
            <a:r>
              <a:rPr lang="en-US" sz="1200" dirty="0">
                <a:hlinkClick r:id="rId4" action="ppaction://hlinksldjump"/>
              </a:rPr>
              <a:t>Access the text alternative for slide images.</a:t>
            </a:r>
            <a:endParaRPr lang="en-US" sz="1200" dirty="0"/>
          </a:p>
        </p:txBody>
      </p:sp>
      <p:sp>
        <p:nvSpPr>
          <p:cNvPr id="11" name="Slide Number Placeholder 10"/>
          <p:cNvSpPr>
            <a:spLocks noGrp="1"/>
          </p:cNvSpPr>
          <p:nvPr>
            <p:ph type="sldNum" sz="quarter" idx="10"/>
          </p:nvPr>
        </p:nvSpPr>
        <p:spPr/>
        <p:txBody>
          <a:bodyPr/>
          <a:lstStyle/>
          <a:p>
            <a:fld id="{68151E55-6873-49E2-B8D5-2F265E6F1973}" type="slidenum">
              <a:rPr lang="en-US" smtClean="0"/>
              <a:t>19</a:t>
            </a:fld>
            <a:endParaRPr lang="en-US" dirty="0"/>
          </a:p>
        </p:txBody>
      </p:sp>
    </p:spTree>
    <p:extLst>
      <p:ext uri="{BB962C8B-B14F-4D97-AF65-F5344CB8AC3E}">
        <p14:creationId xmlns:p14="http://schemas.microsoft.com/office/powerpoint/2010/main" val="874692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PV – Multiple Annuities Example </a:t>
            </a:r>
            <a:r>
              <a:rPr lang="en-US" sz="1000" b="0" dirty="0"/>
              <a:t>2</a:t>
            </a:r>
          </a:p>
        </p:txBody>
      </p:sp>
      <p:graphicFrame>
        <p:nvGraphicFramePr>
          <p:cNvPr id="7" name="Object 6"/>
          <p:cNvGraphicFramePr>
            <a:graphicFrameLocks noChangeAspect="1"/>
          </p:cNvGraphicFramePr>
          <p:nvPr>
            <p:extLst>
              <p:ext uri="{D42A27DB-BD31-4B8C-83A1-F6EECF244321}">
                <p14:modId xmlns:p14="http://schemas.microsoft.com/office/powerpoint/2010/main" val="2976236138"/>
              </p:ext>
            </p:extLst>
          </p:nvPr>
        </p:nvGraphicFramePr>
        <p:xfrm>
          <a:off x="349250" y="1343025"/>
          <a:ext cx="5943600" cy="1358900"/>
        </p:xfrm>
        <a:graphic>
          <a:graphicData uri="http://schemas.openxmlformats.org/presentationml/2006/ole">
            <mc:AlternateContent xmlns:mc="http://schemas.openxmlformats.org/markup-compatibility/2006">
              <mc:Choice xmlns:v="urn:schemas-microsoft-com:vml" Requires="v">
                <p:oleObj spid="_x0000_s49343" name="Equation" r:id="rId3" imgW="5943600" imgH="1358640" progId="Equation.DSMT4">
                  <p:embed/>
                </p:oleObj>
              </mc:Choice>
              <mc:Fallback>
                <p:oleObj name="Equation" r:id="rId3" imgW="5943600" imgH="1358640" progId="Equation.DSMT4">
                  <p:embed/>
                  <p:pic>
                    <p:nvPicPr>
                      <p:cNvPr id="0" name=""/>
                      <p:cNvPicPr/>
                      <p:nvPr/>
                    </p:nvPicPr>
                    <p:blipFill>
                      <a:blip r:embed="rId4"/>
                      <a:stretch>
                        <a:fillRect/>
                      </a:stretch>
                    </p:blipFill>
                    <p:spPr>
                      <a:xfrm>
                        <a:off x="349250" y="1343025"/>
                        <a:ext cx="5943600" cy="1358900"/>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2610108379"/>
              </p:ext>
            </p:extLst>
          </p:nvPr>
        </p:nvGraphicFramePr>
        <p:xfrm>
          <a:off x="323850" y="2741613"/>
          <a:ext cx="5892800" cy="1358900"/>
        </p:xfrm>
        <a:graphic>
          <a:graphicData uri="http://schemas.openxmlformats.org/presentationml/2006/ole">
            <mc:AlternateContent xmlns:mc="http://schemas.openxmlformats.org/markup-compatibility/2006">
              <mc:Choice xmlns:v="urn:schemas-microsoft-com:vml" Requires="v">
                <p:oleObj spid="_x0000_s49344" name="Equation" r:id="rId5" imgW="5892480" imgH="1358640" progId="Equation.DSMT4">
                  <p:embed/>
                </p:oleObj>
              </mc:Choice>
              <mc:Fallback>
                <p:oleObj name="Equation" r:id="rId5" imgW="5892480" imgH="1358640" progId="Equation.DSMT4">
                  <p:embed/>
                  <p:pic>
                    <p:nvPicPr>
                      <p:cNvPr id="0" name=""/>
                      <p:cNvPicPr/>
                      <p:nvPr/>
                    </p:nvPicPr>
                    <p:blipFill>
                      <a:blip r:embed="rId6"/>
                      <a:stretch>
                        <a:fillRect/>
                      </a:stretch>
                    </p:blipFill>
                    <p:spPr>
                      <a:xfrm>
                        <a:off x="323850" y="2741613"/>
                        <a:ext cx="5892800" cy="1358900"/>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454308567"/>
              </p:ext>
            </p:extLst>
          </p:nvPr>
        </p:nvGraphicFramePr>
        <p:xfrm>
          <a:off x="323850" y="4160838"/>
          <a:ext cx="5892800" cy="1358900"/>
        </p:xfrm>
        <a:graphic>
          <a:graphicData uri="http://schemas.openxmlformats.org/presentationml/2006/ole">
            <mc:AlternateContent xmlns:mc="http://schemas.openxmlformats.org/markup-compatibility/2006">
              <mc:Choice xmlns:v="urn:schemas-microsoft-com:vml" Requires="v">
                <p:oleObj spid="_x0000_s49345" name="Equation" r:id="rId7" imgW="5892480" imgH="1358640" progId="Equation.DSMT4">
                  <p:embed/>
                </p:oleObj>
              </mc:Choice>
              <mc:Fallback>
                <p:oleObj name="Equation" r:id="rId7" imgW="5892480" imgH="1358640" progId="Equation.DSMT4">
                  <p:embed/>
                  <p:pic>
                    <p:nvPicPr>
                      <p:cNvPr id="0" name=""/>
                      <p:cNvPicPr/>
                      <p:nvPr/>
                    </p:nvPicPr>
                    <p:blipFill>
                      <a:blip r:embed="rId8"/>
                      <a:stretch>
                        <a:fillRect/>
                      </a:stretch>
                    </p:blipFill>
                    <p:spPr>
                      <a:xfrm>
                        <a:off x="323850" y="4160838"/>
                        <a:ext cx="5892800" cy="1358900"/>
                      </a:xfrm>
                      <a:prstGeom prst="rect">
                        <a:avLst/>
                      </a:prstGeom>
                    </p:spPr>
                  </p:pic>
                </p:oleObj>
              </mc:Fallback>
            </mc:AlternateContent>
          </a:graphicData>
        </a:graphic>
      </p:graphicFrame>
      <p:pic>
        <p:nvPicPr>
          <p:cNvPr id="10" name="Picture 9" descr="Calculator hints button:"/>
          <p:cNvPicPr>
            <a:picLocks noChangeAspect="1"/>
          </p:cNvPicPr>
          <p:nvPr/>
        </p:nvPicPr>
        <p:blipFill>
          <a:blip r:embed="rId9"/>
          <a:stretch>
            <a:fillRect/>
          </a:stretch>
        </p:blipFill>
        <p:spPr>
          <a:xfrm>
            <a:off x="6834033" y="1343025"/>
            <a:ext cx="1792379" cy="3950550"/>
          </a:xfrm>
          <a:prstGeom prst="rect">
            <a:avLst/>
          </a:prstGeom>
        </p:spPr>
      </p:pic>
      <p:sp>
        <p:nvSpPr>
          <p:cNvPr id="3" name="Content Placeholder 2"/>
          <p:cNvSpPr>
            <a:spLocks noGrp="1"/>
          </p:cNvSpPr>
          <p:nvPr>
            <p:ph sz="quarter" idx="11"/>
          </p:nvPr>
        </p:nvSpPr>
        <p:spPr>
          <a:xfrm>
            <a:off x="342900" y="5589035"/>
            <a:ext cx="8458200" cy="622041"/>
          </a:xfrm>
        </p:spPr>
        <p:txBody>
          <a:bodyPr/>
          <a:lstStyle/>
          <a:p>
            <a:pPr marL="292608" indent="-292608">
              <a:buFont typeface="Arial" panose="020B0604020202020204" pitchFamily="34" charset="0"/>
              <a:buChar char="•"/>
            </a:pPr>
            <a:r>
              <a:rPr lang="en-US" sz="1800" dirty="0"/>
              <a:t>Adding the value of the three annuities reveals that the P</a:t>
            </a:r>
            <a:r>
              <a:rPr lang="en-US" sz="100" dirty="0"/>
              <a:t> </a:t>
            </a:r>
            <a:r>
              <a:rPr lang="en-US" sz="1800" dirty="0"/>
              <a:t>V of Price’s salary was </a:t>
            </a:r>
            <a:r>
              <a:rPr lang="en-US" sz="1800" b="1" dirty="0"/>
              <a:t>$178.89 m</a:t>
            </a:r>
            <a:r>
              <a:rPr lang="en-US" sz="1800" dirty="0"/>
              <a:t> (= $185.16m − $3.55m − $2.72m).</a:t>
            </a:r>
          </a:p>
        </p:txBody>
      </p:sp>
      <p:sp>
        <p:nvSpPr>
          <p:cNvPr id="11" name="Text Placeholder 3">
            <a:extLst>
              <a:ext uri="{FF2B5EF4-FFF2-40B4-BE49-F238E27FC236}">
                <a16:creationId xmlns:a16="http://schemas.microsoft.com/office/drawing/2014/main" xmlns="" id="{5F140556-1E7E-4CE3-B617-2D947EB106BD}"/>
              </a:ext>
            </a:extLst>
          </p:cNvPr>
          <p:cNvSpPr>
            <a:spLocks noGrp="1"/>
          </p:cNvSpPr>
          <p:nvPr>
            <p:ph type="body" sz="quarter" idx="12"/>
          </p:nvPr>
        </p:nvSpPr>
        <p:spPr>
          <a:xfrm>
            <a:off x="3047830" y="6265333"/>
            <a:ext cx="3522303" cy="249767"/>
          </a:xfrm>
        </p:spPr>
        <p:txBody>
          <a:bodyPr/>
          <a:lstStyle/>
          <a:p>
            <a:r>
              <a:rPr lang="en-US" sz="1200" dirty="0">
                <a:hlinkClick r:id="rId10" action="ppaction://hlinksldjump"/>
              </a:rPr>
              <a:t>Access the text alternative for slide images.</a:t>
            </a:r>
            <a:endParaRPr lang="en-US" sz="1200" dirty="0"/>
          </a:p>
        </p:txBody>
      </p:sp>
      <p:sp>
        <p:nvSpPr>
          <p:cNvPr id="6" name="Slide Number Placeholder 5"/>
          <p:cNvSpPr>
            <a:spLocks noGrp="1"/>
          </p:cNvSpPr>
          <p:nvPr>
            <p:ph type="sldNum" sz="quarter" idx="4"/>
          </p:nvPr>
        </p:nvSpPr>
        <p:spPr/>
        <p:txBody>
          <a:bodyPr/>
          <a:lstStyle/>
          <a:p>
            <a:fld id="{68151E55-6873-49E2-B8D5-2F265E6F1973}" type="slidenum">
              <a:rPr lang="en-US" smtClean="0"/>
              <a:pPr/>
              <a:t>20</a:t>
            </a:fld>
            <a:endParaRPr lang="en-US" dirty="0"/>
          </a:p>
        </p:txBody>
      </p:sp>
    </p:spTree>
    <p:extLst>
      <p:ext uri="{BB962C8B-B14F-4D97-AF65-F5344CB8AC3E}">
        <p14:creationId xmlns:p14="http://schemas.microsoft.com/office/powerpoint/2010/main" val="12007811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Perpetuity – A Special Annuity</a:t>
            </a:r>
          </a:p>
        </p:txBody>
      </p:sp>
      <p:sp>
        <p:nvSpPr>
          <p:cNvPr id="3" name="Content Placeholder 2"/>
          <p:cNvSpPr>
            <a:spLocks noGrp="1"/>
          </p:cNvSpPr>
          <p:nvPr>
            <p:ph sz="quarter" idx="11"/>
          </p:nvPr>
        </p:nvSpPr>
        <p:spPr>
          <a:xfrm>
            <a:off x="342900" y="1276710"/>
            <a:ext cx="8458200" cy="2175618"/>
          </a:xfrm>
        </p:spPr>
        <p:txBody>
          <a:bodyPr/>
          <a:lstStyle/>
          <a:p>
            <a:r>
              <a:rPr lang="en-US" dirty="0"/>
              <a:t>A </a:t>
            </a:r>
            <a:r>
              <a:rPr lang="en-US" b="1" dirty="0"/>
              <a:t>perpetuity</a:t>
            </a:r>
            <a:r>
              <a:rPr lang="en-US" dirty="0"/>
              <a:t> is an annuity with cash flows that continue forever.</a:t>
            </a:r>
          </a:p>
          <a:p>
            <a:pPr marL="292608" indent="-292608">
              <a:buFont typeface="Arial" panose="020B0604020202020204" pitchFamily="34" charset="0"/>
              <a:buChar char="•"/>
            </a:pPr>
            <a:r>
              <a:rPr lang="en-US" dirty="0"/>
              <a:t>Preferred stocks are an example of perpetuities.</a:t>
            </a:r>
          </a:p>
          <a:p>
            <a:pPr marL="292608" indent="-292608">
              <a:buFont typeface="Arial" panose="020B0604020202020204" pitchFamily="34" charset="0"/>
              <a:buChar char="•"/>
            </a:pPr>
            <a:r>
              <a:rPr lang="en-US" dirty="0"/>
              <a:t>Value of investment is present value of all future annuity payments.</a:t>
            </a:r>
          </a:p>
        </p:txBody>
      </p:sp>
      <p:graphicFrame>
        <p:nvGraphicFramePr>
          <p:cNvPr id="7" name="Object 6"/>
          <p:cNvGraphicFramePr>
            <a:graphicFrameLocks noChangeAspect="1"/>
          </p:cNvGraphicFramePr>
          <p:nvPr>
            <p:extLst>
              <p:ext uri="{D42A27DB-BD31-4B8C-83A1-F6EECF244321}">
                <p14:modId xmlns:p14="http://schemas.microsoft.com/office/powerpoint/2010/main" val="3052743051"/>
              </p:ext>
            </p:extLst>
          </p:nvPr>
        </p:nvGraphicFramePr>
        <p:xfrm>
          <a:off x="1103345" y="3633317"/>
          <a:ext cx="6578600" cy="342900"/>
        </p:xfrm>
        <a:graphic>
          <a:graphicData uri="http://schemas.openxmlformats.org/presentationml/2006/ole">
            <mc:AlternateContent xmlns:mc="http://schemas.openxmlformats.org/markup-compatibility/2006">
              <mc:Choice xmlns:v="urn:schemas-microsoft-com:vml" Requires="v">
                <p:oleObj spid="_x0000_s50302" name="Equation" r:id="rId3" imgW="6578280" imgH="342720" progId="Equation.DSMT4">
                  <p:embed/>
                </p:oleObj>
              </mc:Choice>
              <mc:Fallback>
                <p:oleObj name="Equation" r:id="rId3" imgW="6578280" imgH="342720" progId="Equation.DSMT4">
                  <p:embed/>
                  <p:pic>
                    <p:nvPicPr>
                      <p:cNvPr id="0" name=""/>
                      <p:cNvPicPr/>
                      <p:nvPr/>
                    </p:nvPicPr>
                    <p:blipFill>
                      <a:blip r:embed="rId4"/>
                      <a:stretch>
                        <a:fillRect/>
                      </a:stretch>
                    </p:blipFill>
                    <p:spPr>
                      <a:xfrm>
                        <a:off x="1103345" y="3633317"/>
                        <a:ext cx="6578600" cy="342900"/>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2567206418"/>
              </p:ext>
            </p:extLst>
          </p:nvPr>
        </p:nvGraphicFramePr>
        <p:xfrm>
          <a:off x="2312049" y="4157206"/>
          <a:ext cx="3340100" cy="736600"/>
        </p:xfrm>
        <a:graphic>
          <a:graphicData uri="http://schemas.openxmlformats.org/presentationml/2006/ole">
            <mc:AlternateContent xmlns:mc="http://schemas.openxmlformats.org/markup-compatibility/2006">
              <mc:Choice xmlns:v="urn:schemas-microsoft-com:vml" Requires="v">
                <p:oleObj spid="_x0000_s50303" name="Equation" r:id="rId5" imgW="3340080" imgH="736560" progId="Equation.DSMT4">
                  <p:embed/>
                </p:oleObj>
              </mc:Choice>
              <mc:Fallback>
                <p:oleObj name="Equation" r:id="rId5" imgW="3340080" imgH="736560" progId="Equation.DSMT4">
                  <p:embed/>
                  <p:pic>
                    <p:nvPicPr>
                      <p:cNvPr id="0" name=""/>
                      <p:cNvPicPr/>
                      <p:nvPr/>
                    </p:nvPicPr>
                    <p:blipFill>
                      <a:blip r:embed="rId6"/>
                      <a:stretch>
                        <a:fillRect/>
                      </a:stretch>
                    </p:blipFill>
                    <p:spPr>
                      <a:xfrm>
                        <a:off x="2312049" y="4157206"/>
                        <a:ext cx="3340100" cy="736600"/>
                      </a:xfrm>
                      <a:prstGeom prst="rect">
                        <a:avLst/>
                      </a:prstGeom>
                    </p:spPr>
                  </p:pic>
                </p:oleObj>
              </mc:Fallback>
            </mc:AlternateContent>
          </a:graphicData>
        </a:graphic>
      </p:graphicFrame>
      <p:sp>
        <p:nvSpPr>
          <p:cNvPr id="6" name="Slide Number Placeholder 5"/>
          <p:cNvSpPr>
            <a:spLocks noGrp="1"/>
          </p:cNvSpPr>
          <p:nvPr>
            <p:ph type="sldNum" sz="quarter" idx="4"/>
          </p:nvPr>
        </p:nvSpPr>
        <p:spPr/>
        <p:txBody>
          <a:bodyPr/>
          <a:lstStyle/>
          <a:p>
            <a:fld id="{68151E55-6873-49E2-B8D5-2F265E6F1973}" type="slidenum">
              <a:rPr lang="en-US" smtClean="0"/>
              <a:pPr/>
              <a:t>21</a:t>
            </a:fld>
            <a:endParaRPr lang="en-US" dirty="0"/>
          </a:p>
        </p:txBody>
      </p:sp>
    </p:spTree>
    <p:extLst>
      <p:ext uri="{BB962C8B-B14F-4D97-AF65-F5344CB8AC3E}">
        <p14:creationId xmlns:p14="http://schemas.microsoft.com/office/powerpoint/2010/main" val="3755521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Ordinary Annuity vs. Annuity Due</a:t>
            </a:r>
          </a:p>
        </p:txBody>
      </p:sp>
      <p:sp>
        <p:nvSpPr>
          <p:cNvPr id="3" name="Content Placeholder 2"/>
          <p:cNvSpPr>
            <a:spLocks noGrp="1"/>
          </p:cNvSpPr>
          <p:nvPr>
            <p:ph sz="quarter" idx="11"/>
          </p:nvPr>
        </p:nvSpPr>
        <p:spPr>
          <a:xfrm>
            <a:off x="342900" y="1276710"/>
            <a:ext cx="8458200" cy="1335862"/>
          </a:xfrm>
        </p:spPr>
        <p:txBody>
          <a:bodyPr/>
          <a:lstStyle/>
          <a:p>
            <a:r>
              <a:rPr lang="en-US" dirty="0"/>
              <a:t>Ordinary Annuity</a:t>
            </a:r>
          </a:p>
          <a:p>
            <a:pPr marL="292608" indent="-292608">
              <a:buFont typeface="Arial" panose="020B0604020202020204" pitchFamily="34" charset="0"/>
              <a:buChar char="•"/>
            </a:pPr>
            <a:r>
              <a:rPr lang="en-US" dirty="0"/>
              <a:t>An annuity in which cash flows occur at the end of every time period.</a:t>
            </a:r>
          </a:p>
        </p:txBody>
      </p:sp>
      <p:sp>
        <p:nvSpPr>
          <p:cNvPr id="4" name="Content Placeholder 3"/>
          <p:cNvSpPr>
            <a:spLocks noGrp="1"/>
          </p:cNvSpPr>
          <p:nvPr>
            <p:ph sz="quarter" idx="14"/>
          </p:nvPr>
        </p:nvSpPr>
        <p:spPr>
          <a:xfrm>
            <a:off x="342900" y="2668555"/>
            <a:ext cx="8458200" cy="1380931"/>
          </a:xfrm>
        </p:spPr>
        <p:txBody>
          <a:bodyPr/>
          <a:lstStyle/>
          <a:p>
            <a:r>
              <a:rPr lang="en-US" b="1" dirty="0"/>
              <a:t>Annuity Due</a:t>
            </a:r>
          </a:p>
          <a:p>
            <a:pPr marL="292608" indent="-292608">
              <a:buFont typeface="Arial" panose="020B0604020202020204" pitchFamily="34" charset="0"/>
              <a:buChar char="•"/>
            </a:pPr>
            <a:r>
              <a:rPr lang="en-US" dirty="0"/>
              <a:t>An annuity in which cash flows occur at the </a:t>
            </a:r>
            <a:r>
              <a:rPr lang="en-US" i="1" dirty="0"/>
              <a:t>beginning</a:t>
            </a:r>
            <a:r>
              <a:rPr lang="en-US" dirty="0"/>
              <a:t> of each time period.</a:t>
            </a:r>
          </a:p>
        </p:txBody>
      </p:sp>
      <p:sp>
        <p:nvSpPr>
          <p:cNvPr id="7" name="Slide Number Placeholder 6"/>
          <p:cNvSpPr>
            <a:spLocks noGrp="1"/>
          </p:cNvSpPr>
          <p:nvPr>
            <p:ph type="sldNum" sz="quarter" idx="10"/>
          </p:nvPr>
        </p:nvSpPr>
        <p:spPr/>
        <p:txBody>
          <a:bodyPr/>
          <a:lstStyle/>
          <a:p>
            <a:fld id="{68151E55-6873-49E2-B8D5-2F265E6F1973}" type="slidenum">
              <a:rPr lang="en-US" smtClean="0"/>
              <a:t>22</a:t>
            </a:fld>
            <a:endParaRPr lang="en-US"/>
          </a:p>
        </p:txBody>
      </p:sp>
    </p:spTree>
    <p:extLst>
      <p:ext uri="{BB962C8B-B14F-4D97-AF65-F5344CB8AC3E}">
        <p14:creationId xmlns:p14="http://schemas.microsoft.com/office/powerpoint/2010/main" val="698907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Annuity Due Time Line Example</a:t>
            </a:r>
          </a:p>
        </p:txBody>
      </p:sp>
      <p:sp>
        <p:nvSpPr>
          <p:cNvPr id="3" name="Content Placeholder 2"/>
          <p:cNvSpPr>
            <a:spLocks noGrp="1"/>
          </p:cNvSpPr>
          <p:nvPr>
            <p:ph sz="quarter" idx="11"/>
          </p:nvPr>
        </p:nvSpPr>
        <p:spPr>
          <a:xfrm>
            <a:off x="342900" y="1276710"/>
            <a:ext cx="8458200" cy="449454"/>
          </a:xfrm>
        </p:spPr>
        <p:txBody>
          <a:bodyPr/>
          <a:lstStyle/>
          <a:p>
            <a:pPr marL="292608" indent="-292608">
              <a:buFont typeface="Arial" panose="020B0604020202020204" pitchFamily="34" charset="0"/>
              <a:buChar char="•"/>
            </a:pPr>
            <a:r>
              <a:rPr lang="en-US" dirty="0"/>
              <a:t>Consider the five-year $100 annuity due:</a:t>
            </a:r>
          </a:p>
        </p:txBody>
      </p:sp>
      <p:pic>
        <p:nvPicPr>
          <p:cNvPr id="8" name="Picture 7" descr="The diagram of a time line showing ordinary annuities versus annuities due."/>
          <p:cNvPicPr>
            <a:picLocks noChangeAspect="1"/>
          </p:cNvPicPr>
          <p:nvPr/>
        </p:nvPicPr>
        <p:blipFill>
          <a:blip r:embed="rId2"/>
          <a:stretch>
            <a:fillRect/>
          </a:stretch>
        </p:blipFill>
        <p:spPr>
          <a:xfrm>
            <a:off x="584870" y="1841836"/>
            <a:ext cx="7974259" cy="1060796"/>
          </a:xfrm>
          <a:prstGeom prst="rect">
            <a:avLst/>
          </a:prstGeom>
        </p:spPr>
      </p:pic>
      <p:sp>
        <p:nvSpPr>
          <p:cNvPr id="4" name="Content Placeholder 3"/>
          <p:cNvSpPr>
            <a:spLocks noGrp="1"/>
          </p:cNvSpPr>
          <p:nvPr>
            <p:ph sz="quarter" idx="14"/>
          </p:nvPr>
        </p:nvSpPr>
        <p:spPr>
          <a:xfrm>
            <a:off x="342900" y="3013785"/>
            <a:ext cx="8458200" cy="2593910"/>
          </a:xfrm>
        </p:spPr>
        <p:txBody>
          <a:bodyPr/>
          <a:lstStyle/>
          <a:p>
            <a:pPr marL="292608" indent="-292608">
              <a:buFont typeface="Arial" panose="020B0604020202020204" pitchFamily="34" charset="0"/>
              <a:buChar char="•"/>
            </a:pPr>
            <a:r>
              <a:rPr lang="en-US" dirty="0"/>
              <a:t>Cash flow in the beginning of year 1 looks like it’s actually a cash flow </a:t>
            </a:r>
            <a:r>
              <a:rPr lang="en-US" i="1" dirty="0"/>
              <a:t>today</a:t>
            </a:r>
            <a:r>
              <a:rPr lang="en-US" dirty="0"/>
              <a:t>.</a:t>
            </a:r>
          </a:p>
          <a:p>
            <a:pPr marL="292608" indent="-292608">
              <a:buFont typeface="Arial" panose="020B0604020202020204" pitchFamily="34" charset="0"/>
              <a:buChar char="•"/>
            </a:pPr>
            <a:r>
              <a:rPr lang="en-US" dirty="0"/>
              <a:t>Five annuity-due cash flows are essentially the same as a payment today and a 4-year ordinary annuity.</a:t>
            </a:r>
          </a:p>
          <a:p>
            <a:pPr marL="292608" indent="-292608">
              <a:buFont typeface="Arial" panose="020B0604020202020204" pitchFamily="34" charset="0"/>
              <a:buChar char="•"/>
            </a:pPr>
            <a:r>
              <a:rPr lang="en-US" dirty="0"/>
              <a:t>Payments occur one period sooner than ordinary annuity – earn extra period of interest.</a:t>
            </a:r>
          </a:p>
        </p:txBody>
      </p:sp>
      <p:sp>
        <p:nvSpPr>
          <p:cNvPr id="9" name="Text Placeholder 4">
            <a:extLst>
              <a:ext uri="{FF2B5EF4-FFF2-40B4-BE49-F238E27FC236}">
                <a16:creationId xmlns:a16="http://schemas.microsoft.com/office/drawing/2014/main" xmlns="" id="{5F140556-1E7E-4CE3-B617-2D947EB106BD}"/>
              </a:ext>
            </a:extLst>
          </p:cNvPr>
          <p:cNvSpPr>
            <a:spLocks noGrp="1"/>
          </p:cNvSpPr>
          <p:nvPr>
            <p:ph type="body" sz="quarter" idx="12"/>
          </p:nvPr>
        </p:nvSpPr>
        <p:spPr>
          <a:xfrm>
            <a:off x="3047830" y="6265333"/>
            <a:ext cx="3522303" cy="249767"/>
          </a:xfrm>
        </p:spPr>
        <p:txBody>
          <a:bodyPr/>
          <a:lstStyle/>
          <a:p>
            <a:r>
              <a:rPr lang="en-US" sz="1200" dirty="0">
                <a:hlinkClick r:id="rId3" action="ppaction://hlinksldjump"/>
              </a:rPr>
              <a:t>Access the text alternative for slide images.</a:t>
            </a:r>
            <a:endParaRPr lang="en-US" sz="1200" dirty="0"/>
          </a:p>
        </p:txBody>
      </p:sp>
      <p:sp>
        <p:nvSpPr>
          <p:cNvPr id="7" name="Slide Number Placeholder 6"/>
          <p:cNvSpPr>
            <a:spLocks noGrp="1"/>
          </p:cNvSpPr>
          <p:nvPr>
            <p:ph type="sldNum" sz="quarter" idx="10"/>
          </p:nvPr>
        </p:nvSpPr>
        <p:spPr/>
        <p:txBody>
          <a:bodyPr/>
          <a:lstStyle/>
          <a:p>
            <a:fld id="{68151E55-6873-49E2-B8D5-2F265E6F1973}" type="slidenum">
              <a:rPr lang="en-US" smtClean="0"/>
              <a:t>23</a:t>
            </a:fld>
            <a:endParaRPr lang="en-US"/>
          </a:p>
        </p:txBody>
      </p:sp>
    </p:spTree>
    <p:extLst>
      <p:ext uri="{BB962C8B-B14F-4D97-AF65-F5344CB8AC3E}">
        <p14:creationId xmlns:p14="http://schemas.microsoft.com/office/powerpoint/2010/main" val="1815824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Future Value of Annuity Due</a:t>
            </a:r>
          </a:p>
        </p:txBody>
      </p:sp>
      <p:sp>
        <p:nvSpPr>
          <p:cNvPr id="3" name="Content Placeholder 2"/>
          <p:cNvSpPr>
            <a:spLocks noGrp="1"/>
          </p:cNvSpPr>
          <p:nvPr>
            <p:ph sz="quarter" idx="11"/>
          </p:nvPr>
        </p:nvSpPr>
        <p:spPr>
          <a:xfrm>
            <a:off x="342900" y="1276709"/>
            <a:ext cx="8458200" cy="832009"/>
          </a:xfrm>
        </p:spPr>
        <p:txBody>
          <a:bodyPr/>
          <a:lstStyle/>
          <a:p>
            <a:pPr marL="292608" indent="-292608">
              <a:buFont typeface="Arial" panose="020B0604020202020204" pitchFamily="34" charset="0"/>
              <a:buChar char="•"/>
            </a:pPr>
            <a:r>
              <a:rPr lang="en-US" dirty="0"/>
              <a:t>The future value of an annuity due will simply be the future value of the ordinary annuity multiplied by (1+</a:t>
            </a:r>
            <a:r>
              <a:rPr lang="en-US" i="1" dirty="0"/>
              <a:t>i</a:t>
            </a:r>
            <a:r>
              <a:rPr lang="en-US" dirty="0"/>
              <a:t>).</a:t>
            </a:r>
          </a:p>
        </p:txBody>
      </p:sp>
      <p:graphicFrame>
        <p:nvGraphicFramePr>
          <p:cNvPr id="6" name="Object 5"/>
          <p:cNvGraphicFramePr>
            <a:graphicFrameLocks noChangeAspect="1"/>
          </p:cNvGraphicFramePr>
          <p:nvPr>
            <p:extLst>
              <p:ext uri="{D42A27DB-BD31-4B8C-83A1-F6EECF244321}">
                <p14:modId xmlns:p14="http://schemas.microsoft.com/office/powerpoint/2010/main" val="4090279390"/>
              </p:ext>
            </p:extLst>
          </p:nvPr>
        </p:nvGraphicFramePr>
        <p:xfrm>
          <a:off x="700703" y="2289706"/>
          <a:ext cx="7327900" cy="342900"/>
        </p:xfrm>
        <a:graphic>
          <a:graphicData uri="http://schemas.openxmlformats.org/presentationml/2006/ole">
            <mc:AlternateContent xmlns:mc="http://schemas.openxmlformats.org/markup-compatibility/2006">
              <mc:Choice xmlns:v="urn:schemas-microsoft-com:vml" Requires="v">
                <p:oleObj spid="_x0000_s51379" name="Equation" r:id="rId3" imgW="7327800" imgH="342720" progId="Equation.DSMT4">
                  <p:embed/>
                </p:oleObj>
              </mc:Choice>
              <mc:Fallback>
                <p:oleObj name="Equation" r:id="rId3" imgW="7327800" imgH="342720" progId="Equation.DSMT4">
                  <p:embed/>
                  <p:pic>
                    <p:nvPicPr>
                      <p:cNvPr id="0" name=""/>
                      <p:cNvPicPr/>
                      <p:nvPr/>
                    </p:nvPicPr>
                    <p:blipFill>
                      <a:blip r:embed="rId4"/>
                      <a:stretch>
                        <a:fillRect/>
                      </a:stretch>
                    </p:blipFill>
                    <p:spPr>
                      <a:xfrm>
                        <a:off x="700703" y="2289706"/>
                        <a:ext cx="7327900" cy="342900"/>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553390857"/>
              </p:ext>
            </p:extLst>
          </p:nvPr>
        </p:nvGraphicFramePr>
        <p:xfrm>
          <a:off x="4808505" y="2661888"/>
          <a:ext cx="3441700" cy="342900"/>
        </p:xfrm>
        <a:graphic>
          <a:graphicData uri="http://schemas.openxmlformats.org/presentationml/2006/ole">
            <mc:AlternateContent xmlns:mc="http://schemas.openxmlformats.org/markup-compatibility/2006">
              <mc:Choice xmlns:v="urn:schemas-microsoft-com:vml" Requires="v">
                <p:oleObj spid="_x0000_s51380" name="Equation" r:id="rId5" imgW="3441600" imgH="342720" progId="Equation.DSMT4">
                  <p:embed/>
                </p:oleObj>
              </mc:Choice>
              <mc:Fallback>
                <p:oleObj name="Equation" r:id="rId5" imgW="3441600" imgH="342720" progId="Equation.DSMT4">
                  <p:embed/>
                  <p:pic>
                    <p:nvPicPr>
                      <p:cNvPr id="0" name=""/>
                      <p:cNvPicPr/>
                      <p:nvPr/>
                    </p:nvPicPr>
                    <p:blipFill>
                      <a:blip r:embed="rId6"/>
                      <a:stretch>
                        <a:fillRect/>
                      </a:stretch>
                    </p:blipFill>
                    <p:spPr>
                      <a:xfrm>
                        <a:off x="4808505" y="2661888"/>
                        <a:ext cx="3441700" cy="342900"/>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2912886055"/>
              </p:ext>
            </p:extLst>
          </p:nvPr>
        </p:nvGraphicFramePr>
        <p:xfrm>
          <a:off x="3158281" y="3051022"/>
          <a:ext cx="3225800" cy="431800"/>
        </p:xfrm>
        <a:graphic>
          <a:graphicData uri="http://schemas.openxmlformats.org/presentationml/2006/ole">
            <mc:AlternateContent xmlns:mc="http://schemas.openxmlformats.org/markup-compatibility/2006">
              <mc:Choice xmlns:v="urn:schemas-microsoft-com:vml" Requires="v">
                <p:oleObj spid="_x0000_s51381" name="Equation" r:id="rId7" imgW="3225600" imgH="431640" progId="Equation.DSMT4">
                  <p:embed/>
                </p:oleObj>
              </mc:Choice>
              <mc:Fallback>
                <p:oleObj name="Equation" r:id="rId7" imgW="3225600" imgH="431640" progId="Equation.DSMT4">
                  <p:embed/>
                  <p:pic>
                    <p:nvPicPr>
                      <p:cNvPr id="0" name=""/>
                      <p:cNvPicPr/>
                      <p:nvPr/>
                    </p:nvPicPr>
                    <p:blipFill>
                      <a:blip r:embed="rId8"/>
                      <a:stretch>
                        <a:fillRect/>
                      </a:stretch>
                    </p:blipFill>
                    <p:spPr>
                      <a:xfrm>
                        <a:off x="3158281" y="3051022"/>
                        <a:ext cx="3225800" cy="431800"/>
                      </a:xfrm>
                      <a:prstGeom prst="rect">
                        <a:avLst/>
                      </a:prstGeom>
                    </p:spPr>
                  </p:pic>
                </p:oleObj>
              </mc:Fallback>
            </mc:AlternateContent>
          </a:graphicData>
        </a:graphic>
      </p:graphicFrame>
      <p:sp>
        <p:nvSpPr>
          <p:cNvPr id="4" name="Content Placeholder 3"/>
          <p:cNvSpPr>
            <a:spLocks noGrp="1"/>
          </p:cNvSpPr>
          <p:nvPr>
            <p:ph sz="quarter" idx="14"/>
          </p:nvPr>
        </p:nvSpPr>
        <p:spPr>
          <a:xfrm>
            <a:off x="342900" y="3620271"/>
            <a:ext cx="8458200" cy="1371597"/>
          </a:xfrm>
        </p:spPr>
        <p:txBody>
          <a:bodyPr/>
          <a:lstStyle/>
          <a:p>
            <a:r>
              <a:rPr lang="en-US" dirty="0"/>
              <a:t>Earlier in the chapter, the F</a:t>
            </a:r>
            <a:r>
              <a:rPr lang="en-US" sz="100" dirty="0"/>
              <a:t> </a:t>
            </a:r>
            <a:r>
              <a:rPr lang="en-US" dirty="0"/>
              <a:t>V of a five-year ordinary annuity was shown to be $586.66.</a:t>
            </a:r>
          </a:p>
          <a:p>
            <a:pPr marL="292608" indent="-292608">
              <a:buFont typeface="Arial" panose="020B0604020202020204" pitchFamily="34" charset="0"/>
              <a:buChar char="•"/>
            </a:pPr>
            <a:r>
              <a:rPr lang="en-US" dirty="0"/>
              <a:t>F</a:t>
            </a:r>
            <a:r>
              <a:rPr lang="en-US" sz="100" dirty="0"/>
              <a:t> </a:t>
            </a:r>
            <a:r>
              <a:rPr lang="en-US" dirty="0"/>
              <a:t>V of annuity due is </a:t>
            </a:r>
            <a:r>
              <a:rPr lang="en-US" b="1" dirty="0"/>
              <a:t>$633.59 </a:t>
            </a:r>
            <a:r>
              <a:rPr lang="en-US" dirty="0"/>
              <a:t>(= $586.66×1.08).</a:t>
            </a:r>
          </a:p>
        </p:txBody>
      </p:sp>
      <p:sp>
        <p:nvSpPr>
          <p:cNvPr id="7" name="Slide Number Placeholder 6"/>
          <p:cNvSpPr>
            <a:spLocks noGrp="1"/>
          </p:cNvSpPr>
          <p:nvPr>
            <p:ph type="sldNum" sz="quarter" idx="10"/>
          </p:nvPr>
        </p:nvSpPr>
        <p:spPr/>
        <p:txBody>
          <a:bodyPr/>
          <a:lstStyle/>
          <a:p>
            <a:fld id="{68151E55-6873-49E2-B8D5-2F265E6F1973}" type="slidenum">
              <a:rPr lang="en-US" smtClean="0"/>
              <a:t>24</a:t>
            </a:fld>
            <a:endParaRPr lang="en-US"/>
          </a:p>
        </p:txBody>
      </p:sp>
    </p:spTree>
    <p:extLst>
      <p:ext uri="{BB962C8B-B14F-4D97-AF65-F5344CB8AC3E}">
        <p14:creationId xmlns:p14="http://schemas.microsoft.com/office/powerpoint/2010/main" val="18442638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Present Value of Annuity Due</a:t>
            </a:r>
          </a:p>
        </p:txBody>
      </p:sp>
      <p:sp>
        <p:nvSpPr>
          <p:cNvPr id="3" name="Content Placeholder 2"/>
          <p:cNvSpPr>
            <a:spLocks noGrp="1"/>
          </p:cNvSpPr>
          <p:nvPr>
            <p:ph sz="quarter" idx="11"/>
          </p:nvPr>
        </p:nvSpPr>
        <p:spPr>
          <a:xfrm>
            <a:off x="342900" y="1276709"/>
            <a:ext cx="8458200" cy="832009"/>
          </a:xfrm>
        </p:spPr>
        <p:txBody>
          <a:bodyPr/>
          <a:lstStyle/>
          <a:p>
            <a:pPr marL="292608" indent="-292608">
              <a:buFont typeface="Arial" panose="020B0604020202020204" pitchFamily="34" charset="0"/>
              <a:buChar char="•"/>
            </a:pPr>
            <a:r>
              <a:rPr lang="en-US" dirty="0"/>
              <a:t>The present value of the annuity due is simply the present value of the ordinary annuity multiplied by (1+</a:t>
            </a:r>
            <a:r>
              <a:rPr lang="en-US" i="1" dirty="0"/>
              <a:t>i</a:t>
            </a:r>
            <a:r>
              <a:rPr lang="en-US" dirty="0"/>
              <a:t>).</a:t>
            </a:r>
          </a:p>
        </p:txBody>
      </p:sp>
      <p:graphicFrame>
        <p:nvGraphicFramePr>
          <p:cNvPr id="10" name="Object 9"/>
          <p:cNvGraphicFramePr>
            <a:graphicFrameLocks noChangeAspect="1"/>
          </p:cNvGraphicFramePr>
          <p:nvPr>
            <p:extLst>
              <p:ext uri="{D42A27DB-BD31-4B8C-83A1-F6EECF244321}">
                <p14:modId xmlns:p14="http://schemas.microsoft.com/office/powerpoint/2010/main" val="3412663766"/>
              </p:ext>
            </p:extLst>
          </p:nvPr>
        </p:nvGraphicFramePr>
        <p:xfrm>
          <a:off x="2486477" y="2289706"/>
          <a:ext cx="3225800" cy="431800"/>
        </p:xfrm>
        <a:graphic>
          <a:graphicData uri="http://schemas.openxmlformats.org/presentationml/2006/ole">
            <mc:AlternateContent xmlns:mc="http://schemas.openxmlformats.org/markup-compatibility/2006">
              <mc:Choice xmlns:v="urn:schemas-microsoft-com:vml" Requires="v">
                <p:oleObj spid="_x0000_s52284" name="Equation" r:id="rId3" imgW="3225600" imgH="431640" progId="Equation.DSMT4">
                  <p:embed/>
                </p:oleObj>
              </mc:Choice>
              <mc:Fallback>
                <p:oleObj name="Equation" r:id="rId3" imgW="3225600" imgH="431640" progId="Equation.DSMT4">
                  <p:embed/>
                  <p:pic>
                    <p:nvPicPr>
                      <p:cNvPr id="10" name="Object 9"/>
                      <p:cNvPicPr/>
                      <p:nvPr/>
                    </p:nvPicPr>
                    <p:blipFill>
                      <a:blip r:embed="rId4"/>
                      <a:stretch>
                        <a:fillRect/>
                      </a:stretch>
                    </p:blipFill>
                    <p:spPr>
                      <a:xfrm>
                        <a:off x="2486477" y="2289706"/>
                        <a:ext cx="3225800" cy="431800"/>
                      </a:xfrm>
                      <a:prstGeom prst="rect">
                        <a:avLst/>
                      </a:prstGeom>
                    </p:spPr>
                  </p:pic>
                </p:oleObj>
              </mc:Fallback>
            </mc:AlternateContent>
          </a:graphicData>
        </a:graphic>
      </p:graphicFrame>
      <p:sp>
        <p:nvSpPr>
          <p:cNvPr id="4" name="Content Placeholder 3"/>
          <p:cNvSpPr>
            <a:spLocks noGrp="1"/>
          </p:cNvSpPr>
          <p:nvPr>
            <p:ph sz="quarter" idx="14"/>
          </p:nvPr>
        </p:nvSpPr>
        <p:spPr>
          <a:xfrm>
            <a:off x="342900" y="2920469"/>
            <a:ext cx="8458200" cy="1371597"/>
          </a:xfrm>
        </p:spPr>
        <p:txBody>
          <a:bodyPr/>
          <a:lstStyle/>
          <a:p>
            <a:r>
              <a:rPr lang="en-US" dirty="0"/>
              <a:t>Earlier in the chapter, we discovered that the present value of a five-year ordinary annuity was $399.27.</a:t>
            </a:r>
          </a:p>
          <a:p>
            <a:pPr marL="292608" indent="-292608">
              <a:buFont typeface="Arial" panose="020B0604020202020204" pitchFamily="34" charset="0"/>
              <a:buChar char="•"/>
            </a:pPr>
            <a:r>
              <a:rPr lang="en-US" dirty="0"/>
              <a:t>P</a:t>
            </a:r>
            <a:r>
              <a:rPr lang="en-US" sz="100" dirty="0"/>
              <a:t> </a:t>
            </a:r>
            <a:r>
              <a:rPr lang="en-US" dirty="0"/>
              <a:t>V of annuity due is </a:t>
            </a:r>
            <a:r>
              <a:rPr lang="en-US" b="1" dirty="0"/>
              <a:t>$431.21</a:t>
            </a:r>
            <a:r>
              <a:rPr lang="en-US" dirty="0"/>
              <a:t> (= $399.27×1.08).</a:t>
            </a:r>
          </a:p>
        </p:txBody>
      </p:sp>
      <p:sp>
        <p:nvSpPr>
          <p:cNvPr id="7" name="Slide Number Placeholder 6"/>
          <p:cNvSpPr>
            <a:spLocks noGrp="1"/>
          </p:cNvSpPr>
          <p:nvPr>
            <p:ph type="sldNum" sz="quarter" idx="10"/>
          </p:nvPr>
        </p:nvSpPr>
        <p:spPr/>
        <p:txBody>
          <a:bodyPr/>
          <a:lstStyle/>
          <a:p>
            <a:fld id="{68151E55-6873-49E2-B8D5-2F265E6F1973}" type="slidenum">
              <a:rPr lang="en-US" smtClean="0"/>
              <a:t>25</a:t>
            </a:fld>
            <a:endParaRPr lang="en-US"/>
          </a:p>
        </p:txBody>
      </p:sp>
    </p:spTree>
    <p:extLst>
      <p:ext uri="{BB962C8B-B14F-4D97-AF65-F5344CB8AC3E}">
        <p14:creationId xmlns:p14="http://schemas.microsoft.com/office/powerpoint/2010/main" val="4106303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Compounding Frequency</a:t>
            </a:r>
          </a:p>
        </p:txBody>
      </p:sp>
      <p:sp>
        <p:nvSpPr>
          <p:cNvPr id="3" name="Content Placeholder 2"/>
          <p:cNvSpPr>
            <a:spLocks noGrp="1"/>
          </p:cNvSpPr>
          <p:nvPr>
            <p:ph sz="quarter" idx="11"/>
          </p:nvPr>
        </p:nvSpPr>
        <p:spPr>
          <a:xfrm>
            <a:off x="342900" y="1276709"/>
            <a:ext cx="8458200" cy="4862834"/>
          </a:xfrm>
        </p:spPr>
        <p:txBody>
          <a:bodyPr/>
          <a:lstStyle/>
          <a:p>
            <a:r>
              <a:rPr lang="en-US" dirty="0"/>
              <a:t>Many situations that use cash flow time-value-of-money analysis require more frequent or less frequent time periods than simple yearly entries.</a:t>
            </a:r>
          </a:p>
          <a:p>
            <a:pPr marL="292608" indent="-292608">
              <a:buFont typeface="Arial" panose="020B0604020202020204" pitchFamily="34" charset="0"/>
              <a:buChar char="•"/>
            </a:pPr>
            <a:r>
              <a:rPr lang="en-US" dirty="0"/>
              <a:t>Semiannual bond payments.</a:t>
            </a:r>
          </a:p>
          <a:p>
            <a:pPr marL="292608" indent="-292608">
              <a:buFont typeface="Arial" panose="020B0604020202020204" pitchFamily="34" charset="0"/>
              <a:buChar char="•"/>
            </a:pPr>
            <a:r>
              <a:rPr lang="en-US" dirty="0"/>
              <a:t>Quarterly stock dividends.</a:t>
            </a:r>
          </a:p>
          <a:p>
            <a:pPr marL="292608" indent="-292608">
              <a:buFont typeface="Arial" panose="020B0604020202020204" pitchFamily="34" charset="0"/>
              <a:buChar char="•"/>
            </a:pPr>
            <a:r>
              <a:rPr lang="en-US" dirty="0"/>
              <a:t>Monthly payments on consumer loans.</a:t>
            </a:r>
          </a:p>
        </p:txBody>
      </p:sp>
      <p:sp>
        <p:nvSpPr>
          <p:cNvPr id="6" name="Slide Number Placeholder 5"/>
          <p:cNvSpPr>
            <a:spLocks noGrp="1"/>
          </p:cNvSpPr>
          <p:nvPr>
            <p:ph type="sldNum" sz="quarter" idx="4"/>
          </p:nvPr>
        </p:nvSpPr>
        <p:spPr/>
        <p:txBody>
          <a:bodyPr/>
          <a:lstStyle/>
          <a:p>
            <a:fld id="{68151E55-6873-49E2-B8D5-2F265E6F1973}" type="slidenum">
              <a:rPr lang="en-US" smtClean="0"/>
              <a:pPr/>
              <a:t>26</a:t>
            </a:fld>
            <a:endParaRPr lang="en-US" dirty="0"/>
          </a:p>
        </p:txBody>
      </p:sp>
    </p:spTree>
    <p:extLst>
      <p:ext uri="{BB962C8B-B14F-4D97-AF65-F5344CB8AC3E}">
        <p14:creationId xmlns:p14="http://schemas.microsoft.com/office/powerpoint/2010/main" val="7675532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 of Compounding Frequency </a:t>
            </a:r>
            <a:r>
              <a:rPr lang="en-US" sz="1000" b="0" dirty="0"/>
              <a:t>1</a:t>
            </a:r>
          </a:p>
        </p:txBody>
      </p:sp>
      <p:sp>
        <p:nvSpPr>
          <p:cNvPr id="3" name="Content Placeholder 2"/>
          <p:cNvSpPr>
            <a:spLocks noGrp="1"/>
          </p:cNvSpPr>
          <p:nvPr>
            <p:ph sz="quarter" idx="11"/>
          </p:nvPr>
        </p:nvSpPr>
        <p:spPr>
          <a:xfrm>
            <a:off x="342900" y="1276710"/>
            <a:ext cx="8458200" cy="1671764"/>
          </a:xfrm>
        </p:spPr>
        <p:txBody>
          <a:bodyPr/>
          <a:lstStyle/>
          <a:p>
            <a:pPr marL="292608" indent="-292608">
              <a:buFont typeface="Arial" panose="020B0604020202020204" pitchFamily="34" charset="0"/>
              <a:buChar char="•"/>
            </a:pPr>
            <a:r>
              <a:rPr lang="en-US" dirty="0"/>
              <a:t>Consider a $100 deposit made today with a 12% annual interest rate.</a:t>
            </a:r>
          </a:p>
          <a:p>
            <a:pPr marL="292608" indent="-292608">
              <a:buFont typeface="Arial" panose="020B0604020202020204" pitchFamily="34" charset="0"/>
              <a:buChar char="•"/>
            </a:pPr>
            <a:r>
              <a:rPr lang="en-US" dirty="0"/>
              <a:t>What is the F</a:t>
            </a:r>
            <a:r>
              <a:rPr lang="en-US" sz="100" dirty="0"/>
              <a:t> </a:t>
            </a:r>
            <a:r>
              <a:rPr lang="en-US" dirty="0"/>
              <a:t>V of this deposit in one year using various compounding frequencies?</a:t>
            </a:r>
          </a:p>
        </p:txBody>
      </p:sp>
      <p:graphicFrame>
        <p:nvGraphicFramePr>
          <p:cNvPr id="8" name="Table 7"/>
          <p:cNvGraphicFramePr>
            <a:graphicFrameLocks noGrp="1"/>
          </p:cNvGraphicFramePr>
          <p:nvPr>
            <p:extLst>
              <p:ext uri="{D42A27DB-BD31-4B8C-83A1-F6EECF244321}">
                <p14:modId xmlns:p14="http://schemas.microsoft.com/office/powerpoint/2010/main" val="1521763963"/>
              </p:ext>
            </p:extLst>
          </p:nvPr>
        </p:nvGraphicFramePr>
        <p:xfrm>
          <a:off x="342900" y="3095179"/>
          <a:ext cx="8455867" cy="3053694"/>
        </p:xfrm>
        <a:graphic>
          <a:graphicData uri="http://schemas.openxmlformats.org/drawingml/2006/table">
            <a:tbl>
              <a:tblPr firstRow="1" bandRow="1">
                <a:tableStyleId>{5C22544A-7EE6-4342-B048-85BDC9FD1C3A}</a:tableStyleId>
              </a:tblPr>
              <a:tblGrid>
                <a:gridCol w="403549">
                  <a:extLst>
                    <a:ext uri="{9D8B030D-6E8A-4147-A177-3AD203B41FA5}">
                      <a16:colId xmlns:a16="http://schemas.microsoft.com/office/drawing/2014/main" xmlns="" val="1866718688"/>
                    </a:ext>
                  </a:extLst>
                </a:gridCol>
                <a:gridCol w="1405700">
                  <a:extLst>
                    <a:ext uri="{9D8B030D-6E8A-4147-A177-3AD203B41FA5}">
                      <a16:colId xmlns:a16="http://schemas.microsoft.com/office/drawing/2014/main" xmlns="" val="2133932624"/>
                    </a:ext>
                  </a:extLst>
                </a:gridCol>
                <a:gridCol w="2390117">
                  <a:extLst>
                    <a:ext uri="{9D8B030D-6E8A-4147-A177-3AD203B41FA5}">
                      <a16:colId xmlns:a16="http://schemas.microsoft.com/office/drawing/2014/main" xmlns="" val="1826358648"/>
                    </a:ext>
                  </a:extLst>
                </a:gridCol>
                <a:gridCol w="2647220">
                  <a:extLst>
                    <a:ext uri="{9D8B030D-6E8A-4147-A177-3AD203B41FA5}">
                      <a16:colId xmlns:a16="http://schemas.microsoft.com/office/drawing/2014/main" xmlns="" val="445269201"/>
                    </a:ext>
                  </a:extLst>
                </a:gridCol>
                <a:gridCol w="1609281">
                  <a:extLst>
                    <a:ext uri="{9D8B030D-6E8A-4147-A177-3AD203B41FA5}">
                      <a16:colId xmlns:a16="http://schemas.microsoft.com/office/drawing/2014/main" xmlns="" val="1075399330"/>
                    </a:ext>
                  </a:extLst>
                </a:gridCol>
              </a:tblGrid>
              <a:tr h="370840">
                <a:tc>
                  <a:txBody>
                    <a:bodyPr/>
                    <a:lstStyle/>
                    <a:p>
                      <a:endParaRPr lang="en-US" dirty="0"/>
                    </a:p>
                  </a:txBody>
                  <a:tcPr/>
                </a:tc>
                <a:tc>
                  <a:txBody>
                    <a:bodyPr/>
                    <a:lstStyle/>
                    <a:p>
                      <a:pPr algn="ctr"/>
                      <a:r>
                        <a:rPr lang="en-US" dirty="0"/>
                        <a:t>A</a:t>
                      </a:r>
                    </a:p>
                  </a:txBody>
                  <a:tcPr/>
                </a:tc>
                <a:tc>
                  <a:txBody>
                    <a:bodyPr/>
                    <a:lstStyle/>
                    <a:p>
                      <a:pPr algn="ctr"/>
                      <a:r>
                        <a:rPr lang="en-US" dirty="0"/>
                        <a:t>B</a:t>
                      </a:r>
                    </a:p>
                  </a:txBody>
                  <a:tcPr/>
                </a:tc>
                <a:tc>
                  <a:txBody>
                    <a:bodyPr/>
                    <a:lstStyle/>
                    <a:p>
                      <a:pPr algn="ctr"/>
                      <a:r>
                        <a:rPr lang="en-US" dirty="0"/>
                        <a:t>C</a:t>
                      </a:r>
                    </a:p>
                  </a:txBody>
                  <a:tcPr/>
                </a:tc>
                <a:tc>
                  <a:txBody>
                    <a:bodyPr/>
                    <a:lstStyle/>
                    <a:p>
                      <a:pPr algn="ctr"/>
                      <a:r>
                        <a:rPr lang="en-US" dirty="0"/>
                        <a:t>D</a:t>
                      </a:r>
                    </a:p>
                  </a:txBody>
                  <a:tcPr/>
                </a:tc>
                <a:extLst>
                  <a:ext uri="{0D108BD9-81ED-4DB2-BD59-A6C34878D82A}">
                    <a16:rowId xmlns:a16="http://schemas.microsoft.com/office/drawing/2014/main" xmlns="" val="707178781"/>
                  </a:ext>
                </a:extLst>
              </a:tr>
              <a:tr h="370840">
                <a:tc>
                  <a:txBody>
                    <a:bodyPr/>
                    <a:lstStyle/>
                    <a:p>
                      <a:r>
                        <a:rPr lang="en-US" dirty="0"/>
                        <a:t>1</a:t>
                      </a:r>
                    </a:p>
                  </a:txBody>
                  <a:tcPr/>
                </a:tc>
                <a:tc>
                  <a:txBody>
                    <a:bodyPr/>
                    <a:lstStyle/>
                    <a:p>
                      <a:pPr algn="l"/>
                      <a:r>
                        <a:rPr lang="en-US" b="1" dirty="0"/>
                        <a:t>Frequency</a:t>
                      </a:r>
                    </a:p>
                  </a:txBody>
                  <a:tcPr/>
                </a:tc>
                <a:tc>
                  <a:txBody>
                    <a:bodyPr/>
                    <a:lstStyle/>
                    <a:p>
                      <a:pPr algn="ctr"/>
                      <a:r>
                        <a:rPr lang="en-US" b="1" dirty="0"/>
                        <a:t>Period Interest Rate</a:t>
                      </a:r>
                    </a:p>
                  </a:txBody>
                  <a:tcPr/>
                </a:tc>
                <a:tc>
                  <a:txBody>
                    <a:bodyPr/>
                    <a:lstStyle/>
                    <a:p>
                      <a:pPr algn="ctr"/>
                      <a:r>
                        <a:rPr lang="en-US" b="1" dirty="0"/>
                        <a:t>Future Value Equation</a:t>
                      </a:r>
                    </a:p>
                  </a:txBody>
                  <a:tcPr/>
                </a:tc>
                <a:tc>
                  <a:txBody>
                    <a:bodyPr/>
                    <a:lstStyle/>
                    <a:p>
                      <a:pPr algn="ctr"/>
                      <a:r>
                        <a:rPr lang="en-US" b="1" dirty="0"/>
                        <a:t>Future</a:t>
                      </a:r>
                      <a:r>
                        <a:rPr lang="en-US" b="1" baseline="0" dirty="0"/>
                        <a:t> Value</a:t>
                      </a:r>
                      <a:endParaRPr lang="en-US" b="1" dirty="0"/>
                    </a:p>
                  </a:txBody>
                  <a:tcPr/>
                </a:tc>
                <a:extLst>
                  <a:ext uri="{0D108BD9-81ED-4DB2-BD59-A6C34878D82A}">
                    <a16:rowId xmlns:a16="http://schemas.microsoft.com/office/drawing/2014/main" xmlns="" val="945905384"/>
                  </a:ext>
                </a:extLst>
              </a:tr>
              <a:tr h="370840">
                <a:tc>
                  <a:txBody>
                    <a:bodyPr/>
                    <a:lstStyle/>
                    <a:p>
                      <a:r>
                        <a:rPr lang="en-US" dirty="0"/>
                        <a:t>2</a:t>
                      </a:r>
                    </a:p>
                  </a:txBody>
                  <a:tcPr/>
                </a:tc>
                <a:tc>
                  <a:txBody>
                    <a:bodyPr/>
                    <a:lstStyle/>
                    <a:p>
                      <a:pPr algn="l"/>
                      <a:r>
                        <a:rPr lang="en-US" dirty="0"/>
                        <a:t>Annual</a:t>
                      </a:r>
                    </a:p>
                  </a:txBody>
                  <a:tcPr/>
                </a:tc>
                <a:tc>
                  <a:txBody>
                    <a:bodyPr/>
                    <a:lstStyle/>
                    <a:p>
                      <a:pPr algn="ctr"/>
                      <a:r>
                        <a:rPr lang="en-US" dirty="0"/>
                        <a:t>12%</a:t>
                      </a:r>
                    </a:p>
                  </a:txBody>
                  <a:tcPr/>
                </a:tc>
                <a:tc>
                  <a:txBody>
                    <a:bodyPr/>
                    <a:lstStyle/>
                    <a:p>
                      <a:endParaRPr lang="en-US" dirty="0"/>
                    </a:p>
                  </a:txBody>
                  <a:tcPr/>
                </a:tc>
                <a:tc>
                  <a:txBody>
                    <a:bodyPr/>
                    <a:lstStyle/>
                    <a:p>
                      <a:pPr algn="ctr"/>
                      <a:r>
                        <a:rPr lang="en-US" dirty="0"/>
                        <a:t>$112.00</a:t>
                      </a:r>
                    </a:p>
                  </a:txBody>
                  <a:tcPr/>
                </a:tc>
                <a:extLst>
                  <a:ext uri="{0D108BD9-81ED-4DB2-BD59-A6C34878D82A}">
                    <a16:rowId xmlns:a16="http://schemas.microsoft.com/office/drawing/2014/main" xmlns="" val="4222178149"/>
                  </a:ext>
                </a:extLst>
              </a:tr>
              <a:tr h="370840">
                <a:tc>
                  <a:txBody>
                    <a:bodyPr/>
                    <a:lstStyle/>
                    <a:p>
                      <a:r>
                        <a:rPr lang="en-US" dirty="0"/>
                        <a:t>3</a:t>
                      </a:r>
                    </a:p>
                  </a:txBody>
                  <a:tcPr/>
                </a:tc>
                <a:tc>
                  <a:txBody>
                    <a:bodyPr/>
                    <a:lstStyle/>
                    <a:p>
                      <a:pPr algn="l"/>
                      <a:r>
                        <a:rPr lang="en-US" dirty="0"/>
                        <a:t>Semiannual</a:t>
                      </a:r>
                    </a:p>
                  </a:txBody>
                  <a:tcPr/>
                </a:tc>
                <a:tc>
                  <a:txBody>
                    <a:bodyPr/>
                    <a:lstStyle/>
                    <a:p>
                      <a:pPr algn="ctr"/>
                      <a:r>
                        <a:rPr lang="en-US" dirty="0"/>
                        <a:t>6</a:t>
                      </a:r>
                    </a:p>
                  </a:txBody>
                  <a:tcPr/>
                </a:tc>
                <a:tc>
                  <a:txBody>
                    <a:bodyPr/>
                    <a:lstStyle/>
                    <a:p>
                      <a:endParaRPr lang="en-US"/>
                    </a:p>
                  </a:txBody>
                  <a:tcPr/>
                </a:tc>
                <a:tc>
                  <a:txBody>
                    <a:bodyPr/>
                    <a:lstStyle/>
                    <a:p>
                      <a:pPr algn="ctr"/>
                      <a:r>
                        <a:rPr lang="en-US" dirty="0"/>
                        <a:t>112.36</a:t>
                      </a:r>
                    </a:p>
                  </a:txBody>
                  <a:tcPr/>
                </a:tc>
                <a:extLst>
                  <a:ext uri="{0D108BD9-81ED-4DB2-BD59-A6C34878D82A}">
                    <a16:rowId xmlns:a16="http://schemas.microsoft.com/office/drawing/2014/main" xmlns="" val="2870293423"/>
                  </a:ext>
                </a:extLst>
              </a:tr>
              <a:tr h="370840">
                <a:tc>
                  <a:txBody>
                    <a:bodyPr/>
                    <a:lstStyle/>
                    <a:p>
                      <a:r>
                        <a:rPr lang="en-US" dirty="0"/>
                        <a:t>4</a:t>
                      </a:r>
                    </a:p>
                  </a:txBody>
                  <a:tcPr/>
                </a:tc>
                <a:tc>
                  <a:txBody>
                    <a:bodyPr/>
                    <a:lstStyle/>
                    <a:p>
                      <a:pPr algn="l"/>
                      <a:r>
                        <a:rPr lang="en-US" dirty="0"/>
                        <a:t>Quarterly</a:t>
                      </a:r>
                    </a:p>
                  </a:txBody>
                  <a:tcPr/>
                </a:tc>
                <a:tc>
                  <a:txBody>
                    <a:bodyPr/>
                    <a:lstStyle/>
                    <a:p>
                      <a:pPr algn="ctr"/>
                      <a:r>
                        <a:rPr lang="en-US" dirty="0"/>
                        <a:t>3</a:t>
                      </a:r>
                    </a:p>
                  </a:txBody>
                  <a:tcPr/>
                </a:tc>
                <a:tc>
                  <a:txBody>
                    <a:bodyPr/>
                    <a:lstStyle/>
                    <a:p>
                      <a:endParaRPr lang="en-US" dirty="0"/>
                    </a:p>
                  </a:txBody>
                  <a:tcPr/>
                </a:tc>
                <a:tc>
                  <a:txBody>
                    <a:bodyPr/>
                    <a:lstStyle/>
                    <a:p>
                      <a:pPr algn="ctr"/>
                      <a:r>
                        <a:rPr lang="en-US" dirty="0"/>
                        <a:t>112.55</a:t>
                      </a:r>
                    </a:p>
                  </a:txBody>
                  <a:tcPr/>
                </a:tc>
                <a:extLst>
                  <a:ext uri="{0D108BD9-81ED-4DB2-BD59-A6C34878D82A}">
                    <a16:rowId xmlns:a16="http://schemas.microsoft.com/office/drawing/2014/main" xmlns="" val="2155849225"/>
                  </a:ext>
                </a:extLst>
              </a:tr>
              <a:tr h="406392">
                <a:tc>
                  <a:txBody>
                    <a:bodyPr/>
                    <a:lstStyle/>
                    <a:p>
                      <a:r>
                        <a:rPr lang="en-US" dirty="0"/>
                        <a:t>5</a:t>
                      </a:r>
                    </a:p>
                  </a:txBody>
                  <a:tcPr/>
                </a:tc>
                <a:tc>
                  <a:txBody>
                    <a:bodyPr/>
                    <a:lstStyle/>
                    <a:p>
                      <a:pPr algn="l"/>
                      <a:r>
                        <a:rPr lang="en-US" dirty="0"/>
                        <a:t>Monthly</a:t>
                      </a:r>
                    </a:p>
                  </a:txBody>
                  <a:tcPr/>
                </a:tc>
                <a:tc>
                  <a:txBody>
                    <a:bodyPr/>
                    <a:lstStyle/>
                    <a:p>
                      <a:pPr algn="ctr"/>
                      <a:r>
                        <a:rPr lang="en-US" dirty="0"/>
                        <a:t>1</a:t>
                      </a:r>
                    </a:p>
                  </a:txBody>
                  <a:tcPr/>
                </a:tc>
                <a:tc>
                  <a:txBody>
                    <a:bodyPr/>
                    <a:lstStyle/>
                    <a:p>
                      <a:endParaRPr lang="en-US"/>
                    </a:p>
                  </a:txBody>
                  <a:tcPr/>
                </a:tc>
                <a:tc>
                  <a:txBody>
                    <a:bodyPr/>
                    <a:lstStyle/>
                    <a:p>
                      <a:pPr algn="ctr"/>
                      <a:r>
                        <a:rPr lang="en-US" dirty="0"/>
                        <a:t>112.68</a:t>
                      </a:r>
                    </a:p>
                  </a:txBody>
                  <a:tcPr/>
                </a:tc>
                <a:extLst>
                  <a:ext uri="{0D108BD9-81ED-4DB2-BD59-A6C34878D82A}">
                    <a16:rowId xmlns:a16="http://schemas.microsoft.com/office/drawing/2014/main" xmlns="" val="1904425332"/>
                  </a:ext>
                </a:extLst>
              </a:tr>
              <a:tr h="401217">
                <a:tc>
                  <a:txBody>
                    <a:bodyPr/>
                    <a:lstStyle/>
                    <a:p>
                      <a:r>
                        <a:rPr lang="en-US" dirty="0"/>
                        <a:t>6</a:t>
                      </a:r>
                    </a:p>
                  </a:txBody>
                  <a:tcPr/>
                </a:tc>
                <a:tc>
                  <a:txBody>
                    <a:bodyPr/>
                    <a:lstStyle/>
                    <a:p>
                      <a:pPr algn="l"/>
                      <a:r>
                        <a:rPr lang="en-US" dirty="0"/>
                        <a:t>Daily</a:t>
                      </a:r>
                    </a:p>
                  </a:txBody>
                  <a:tcPr/>
                </a:tc>
                <a:tc>
                  <a:txBody>
                    <a:bodyPr/>
                    <a:lstStyle/>
                    <a:p>
                      <a:pPr algn="ctr"/>
                      <a:r>
                        <a:rPr lang="en-US" dirty="0"/>
                        <a:t>0.032877</a:t>
                      </a:r>
                    </a:p>
                  </a:txBody>
                  <a:tcPr/>
                </a:tc>
                <a:tc>
                  <a:txBody>
                    <a:bodyPr/>
                    <a:lstStyle/>
                    <a:p>
                      <a:endParaRPr lang="en-US" dirty="0"/>
                    </a:p>
                  </a:txBody>
                  <a:tcPr/>
                </a:tc>
                <a:tc>
                  <a:txBody>
                    <a:bodyPr/>
                    <a:lstStyle/>
                    <a:p>
                      <a:pPr algn="ctr"/>
                      <a:r>
                        <a:rPr lang="en-US" dirty="0"/>
                        <a:t>112.748</a:t>
                      </a:r>
                    </a:p>
                  </a:txBody>
                  <a:tcPr/>
                </a:tc>
                <a:extLst>
                  <a:ext uri="{0D108BD9-81ED-4DB2-BD59-A6C34878D82A}">
                    <a16:rowId xmlns:a16="http://schemas.microsoft.com/office/drawing/2014/main" xmlns="" val="3519126945"/>
                  </a:ext>
                </a:extLst>
              </a:tr>
              <a:tr h="391885">
                <a:tc>
                  <a:txBody>
                    <a:bodyPr/>
                    <a:lstStyle/>
                    <a:p>
                      <a:r>
                        <a:rPr lang="en-US" dirty="0"/>
                        <a:t>7</a:t>
                      </a:r>
                    </a:p>
                  </a:txBody>
                  <a:tcPr/>
                </a:tc>
                <a:tc>
                  <a:txBody>
                    <a:bodyPr/>
                    <a:lstStyle/>
                    <a:p>
                      <a:pPr algn="l"/>
                      <a:r>
                        <a:rPr lang="en-US" dirty="0"/>
                        <a:t>Hourly</a:t>
                      </a:r>
                    </a:p>
                  </a:txBody>
                  <a:tcPr/>
                </a:tc>
                <a:tc>
                  <a:txBody>
                    <a:bodyPr/>
                    <a:lstStyle/>
                    <a:p>
                      <a:pPr algn="ctr"/>
                      <a:r>
                        <a:rPr lang="en-US" dirty="0"/>
                        <a:t>0.00136986</a:t>
                      </a:r>
                    </a:p>
                  </a:txBody>
                  <a:tcPr/>
                </a:tc>
                <a:tc>
                  <a:txBody>
                    <a:bodyPr/>
                    <a:lstStyle/>
                    <a:p>
                      <a:endParaRPr lang="en-US" dirty="0"/>
                    </a:p>
                  </a:txBody>
                  <a:tcPr/>
                </a:tc>
                <a:tc>
                  <a:txBody>
                    <a:bodyPr/>
                    <a:lstStyle/>
                    <a:p>
                      <a:pPr algn="ctr"/>
                      <a:r>
                        <a:rPr lang="en-US" dirty="0"/>
                        <a:t>112.749</a:t>
                      </a:r>
                    </a:p>
                  </a:txBody>
                  <a:tcPr/>
                </a:tc>
                <a:extLst>
                  <a:ext uri="{0D108BD9-81ED-4DB2-BD59-A6C34878D82A}">
                    <a16:rowId xmlns:a16="http://schemas.microsoft.com/office/drawing/2014/main" xmlns="" val="1261023365"/>
                  </a:ext>
                </a:extLst>
              </a:tr>
            </a:tbl>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1259662378"/>
              </p:ext>
            </p:extLst>
          </p:nvPr>
        </p:nvGraphicFramePr>
        <p:xfrm>
          <a:off x="4689475" y="3876675"/>
          <a:ext cx="1104900" cy="292100"/>
        </p:xfrm>
        <a:graphic>
          <a:graphicData uri="http://schemas.openxmlformats.org/presentationml/2006/ole">
            <mc:AlternateContent xmlns:mc="http://schemas.openxmlformats.org/markup-compatibility/2006">
              <mc:Choice xmlns:v="urn:schemas-microsoft-com:vml" Requires="v">
                <p:oleObj spid="_x0000_s53580" name="Equation" r:id="rId3" imgW="1104840" imgH="291960" progId="Equation.DSMT4">
                  <p:embed/>
                </p:oleObj>
              </mc:Choice>
              <mc:Fallback>
                <p:oleObj name="Equation" r:id="rId3" imgW="1104840" imgH="291960" progId="Equation.DSMT4">
                  <p:embed/>
                  <p:pic>
                    <p:nvPicPr>
                      <p:cNvPr id="0" name=""/>
                      <p:cNvPicPr/>
                      <p:nvPr/>
                    </p:nvPicPr>
                    <p:blipFill>
                      <a:blip r:embed="rId4"/>
                      <a:stretch>
                        <a:fillRect/>
                      </a:stretch>
                    </p:blipFill>
                    <p:spPr>
                      <a:xfrm>
                        <a:off x="4689475" y="3876675"/>
                        <a:ext cx="1104900" cy="292100"/>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3533510700"/>
              </p:ext>
            </p:extLst>
          </p:nvPr>
        </p:nvGraphicFramePr>
        <p:xfrm>
          <a:off x="4689475" y="4248150"/>
          <a:ext cx="1130300" cy="292100"/>
        </p:xfrm>
        <a:graphic>
          <a:graphicData uri="http://schemas.openxmlformats.org/presentationml/2006/ole">
            <mc:AlternateContent xmlns:mc="http://schemas.openxmlformats.org/markup-compatibility/2006">
              <mc:Choice xmlns:v="urn:schemas-microsoft-com:vml" Requires="v">
                <p:oleObj spid="_x0000_s53581" name="Equation" r:id="rId5" imgW="1130040" imgH="291960" progId="Equation.DSMT4">
                  <p:embed/>
                </p:oleObj>
              </mc:Choice>
              <mc:Fallback>
                <p:oleObj name="Equation" r:id="rId5" imgW="1130040" imgH="291960" progId="Equation.DSMT4">
                  <p:embed/>
                  <p:pic>
                    <p:nvPicPr>
                      <p:cNvPr id="0" name=""/>
                      <p:cNvPicPr/>
                      <p:nvPr/>
                    </p:nvPicPr>
                    <p:blipFill>
                      <a:blip r:embed="rId6"/>
                      <a:stretch>
                        <a:fillRect/>
                      </a:stretch>
                    </p:blipFill>
                    <p:spPr>
                      <a:xfrm>
                        <a:off x="4689475" y="4248150"/>
                        <a:ext cx="1130300" cy="292100"/>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2675446563"/>
              </p:ext>
            </p:extLst>
          </p:nvPr>
        </p:nvGraphicFramePr>
        <p:xfrm>
          <a:off x="4695631" y="4623940"/>
          <a:ext cx="1117600" cy="292100"/>
        </p:xfrm>
        <a:graphic>
          <a:graphicData uri="http://schemas.openxmlformats.org/presentationml/2006/ole">
            <mc:AlternateContent xmlns:mc="http://schemas.openxmlformats.org/markup-compatibility/2006">
              <mc:Choice xmlns:v="urn:schemas-microsoft-com:vml" Requires="v">
                <p:oleObj spid="_x0000_s53582" name="Equation" r:id="rId7" imgW="1117440" imgH="291960" progId="Equation.DSMT4">
                  <p:embed/>
                </p:oleObj>
              </mc:Choice>
              <mc:Fallback>
                <p:oleObj name="Equation" r:id="rId7" imgW="1117440" imgH="291960" progId="Equation.DSMT4">
                  <p:embed/>
                  <p:pic>
                    <p:nvPicPr>
                      <p:cNvPr id="0" name=""/>
                      <p:cNvPicPr/>
                      <p:nvPr/>
                    </p:nvPicPr>
                    <p:blipFill>
                      <a:blip r:embed="rId8"/>
                      <a:stretch>
                        <a:fillRect/>
                      </a:stretch>
                    </p:blipFill>
                    <p:spPr>
                      <a:xfrm>
                        <a:off x="4695631" y="4623940"/>
                        <a:ext cx="1117600" cy="292100"/>
                      </a:xfrm>
                      <a:prstGeom prst="rect">
                        <a:avLst/>
                      </a:prstGeom>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805146147"/>
              </p:ext>
            </p:extLst>
          </p:nvPr>
        </p:nvGraphicFramePr>
        <p:xfrm>
          <a:off x="4695631" y="5008340"/>
          <a:ext cx="1155700" cy="292100"/>
        </p:xfrm>
        <a:graphic>
          <a:graphicData uri="http://schemas.openxmlformats.org/presentationml/2006/ole">
            <mc:AlternateContent xmlns:mc="http://schemas.openxmlformats.org/markup-compatibility/2006">
              <mc:Choice xmlns:v="urn:schemas-microsoft-com:vml" Requires="v">
                <p:oleObj spid="_x0000_s53583" name="Equation" r:id="rId9" imgW="1155600" imgH="291960" progId="Equation.DSMT4">
                  <p:embed/>
                </p:oleObj>
              </mc:Choice>
              <mc:Fallback>
                <p:oleObj name="Equation" r:id="rId9" imgW="1155600" imgH="291960" progId="Equation.DSMT4">
                  <p:embed/>
                  <p:pic>
                    <p:nvPicPr>
                      <p:cNvPr id="0" name=""/>
                      <p:cNvPicPr/>
                      <p:nvPr/>
                    </p:nvPicPr>
                    <p:blipFill>
                      <a:blip r:embed="rId10"/>
                      <a:stretch>
                        <a:fillRect/>
                      </a:stretch>
                    </p:blipFill>
                    <p:spPr>
                      <a:xfrm>
                        <a:off x="4695631" y="5008340"/>
                        <a:ext cx="1155700" cy="292100"/>
                      </a:xfrm>
                      <a:prstGeom prst="rect">
                        <a:avLst/>
                      </a:prstGeom>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3818417754"/>
              </p:ext>
            </p:extLst>
          </p:nvPr>
        </p:nvGraphicFramePr>
        <p:xfrm>
          <a:off x="4695631" y="5417062"/>
          <a:ext cx="1943100" cy="292100"/>
        </p:xfrm>
        <a:graphic>
          <a:graphicData uri="http://schemas.openxmlformats.org/presentationml/2006/ole">
            <mc:AlternateContent xmlns:mc="http://schemas.openxmlformats.org/markup-compatibility/2006">
              <mc:Choice xmlns:v="urn:schemas-microsoft-com:vml" Requires="v">
                <p:oleObj spid="_x0000_s53584" name="Equation" r:id="rId11" imgW="1942920" imgH="291960" progId="Equation.DSMT4">
                  <p:embed/>
                </p:oleObj>
              </mc:Choice>
              <mc:Fallback>
                <p:oleObj name="Equation" r:id="rId11" imgW="1942920" imgH="291960" progId="Equation.DSMT4">
                  <p:embed/>
                  <p:pic>
                    <p:nvPicPr>
                      <p:cNvPr id="0" name=""/>
                      <p:cNvPicPr/>
                      <p:nvPr/>
                    </p:nvPicPr>
                    <p:blipFill>
                      <a:blip r:embed="rId12"/>
                      <a:stretch>
                        <a:fillRect/>
                      </a:stretch>
                    </p:blipFill>
                    <p:spPr>
                      <a:xfrm>
                        <a:off x="4695631" y="5417062"/>
                        <a:ext cx="1943100" cy="292100"/>
                      </a:xfrm>
                      <a:prstGeom prst="rect">
                        <a:avLst/>
                      </a:prstGeom>
                    </p:spPr>
                  </p:pic>
                </p:oleObj>
              </mc:Fallback>
            </mc:AlternateContent>
          </a:graphicData>
        </a:graphic>
      </p:graphicFrame>
      <p:graphicFrame>
        <p:nvGraphicFramePr>
          <p:cNvPr id="14" name="Object 13"/>
          <p:cNvGraphicFramePr>
            <a:graphicFrameLocks noChangeAspect="1"/>
          </p:cNvGraphicFramePr>
          <p:nvPr>
            <p:extLst>
              <p:ext uri="{D42A27DB-BD31-4B8C-83A1-F6EECF244321}">
                <p14:modId xmlns:p14="http://schemas.microsoft.com/office/powerpoint/2010/main" val="2239464255"/>
              </p:ext>
            </p:extLst>
          </p:nvPr>
        </p:nvGraphicFramePr>
        <p:xfrm>
          <a:off x="4707555" y="5801115"/>
          <a:ext cx="2235200" cy="292100"/>
        </p:xfrm>
        <a:graphic>
          <a:graphicData uri="http://schemas.openxmlformats.org/presentationml/2006/ole">
            <mc:AlternateContent xmlns:mc="http://schemas.openxmlformats.org/markup-compatibility/2006">
              <mc:Choice xmlns:v="urn:schemas-microsoft-com:vml" Requires="v">
                <p:oleObj spid="_x0000_s53585" name="Equation" r:id="rId13" imgW="2234880" imgH="291960" progId="Equation.DSMT4">
                  <p:embed/>
                </p:oleObj>
              </mc:Choice>
              <mc:Fallback>
                <p:oleObj name="Equation" r:id="rId13" imgW="2234880" imgH="291960" progId="Equation.DSMT4">
                  <p:embed/>
                  <p:pic>
                    <p:nvPicPr>
                      <p:cNvPr id="0" name=""/>
                      <p:cNvPicPr/>
                      <p:nvPr/>
                    </p:nvPicPr>
                    <p:blipFill>
                      <a:blip r:embed="rId14"/>
                      <a:stretch>
                        <a:fillRect/>
                      </a:stretch>
                    </p:blipFill>
                    <p:spPr>
                      <a:xfrm>
                        <a:off x="4707555" y="5801115"/>
                        <a:ext cx="2235200" cy="292100"/>
                      </a:xfrm>
                      <a:prstGeom prst="rect">
                        <a:avLst/>
                      </a:prstGeom>
                    </p:spPr>
                  </p:pic>
                </p:oleObj>
              </mc:Fallback>
            </mc:AlternateContent>
          </a:graphicData>
        </a:graphic>
      </p:graphicFrame>
      <p:sp>
        <p:nvSpPr>
          <p:cNvPr id="6" name="Slide Number Placeholder 5"/>
          <p:cNvSpPr>
            <a:spLocks noGrp="1"/>
          </p:cNvSpPr>
          <p:nvPr>
            <p:ph type="sldNum" sz="quarter" idx="4"/>
          </p:nvPr>
        </p:nvSpPr>
        <p:spPr/>
        <p:txBody>
          <a:bodyPr/>
          <a:lstStyle/>
          <a:p>
            <a:fld id="{68151E55-6873-49E2-B8D5-2F265E6F1973}" type="slidenum">
              <a:rPr lang="en-US" smtClean="0"/>
              <a:pPr/>
              <a:t>27</a:t>
            </a:fld>
            <a:endParaRPr lang="en-US" dirty="0"/>
          </a:p>
        </p:txBody>
      </p:sp>
    </p:spTree>
    <p:extLst>
      <p:ext uri="{BB962C8B-B14F-4D97-AF65-F5344CB8AC3E}">
        <p14:creationId xmlns:p14="http://schemas.microsoft.com/office/powerpoint/2010/main" val="2760053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Effect of Compounding Frequency </a:t>
            </a:r>
            <a:r>
              <a:rPr lang="en-US" sz="1100" b="0" dirty="0"/>
              <a:t>2</a:t>
            </a:r>
          </a:p>
        </p:txBody>
      </p:sp>
      <p:sp>
        <p:nvSpPr>
          <p:cNvPr id="3" name="Content Placeholder 2"/>
          <p:cNvSpPr>
            <a:spLocks noGrp="1"/>
          </p:cNvSpPr>
          <p:nvPr>
            <p:ph sz="quarter" idx="11"/>
          </p:nvPr>
        </p:nvSpPr>
        <p:spPr>
          <a:xfrm>
            <a:off x="342900" y="1276710"/>
            <a:ext cx="8458200" cy="822678"/>
          </a:xfrm>
        </p:spPr>
        <p:txBody>
          <a:bodyPr/>
          <a:lstStyle/>
          <a:p>
            <a:r>
              <a:rPr lang="en-US" dirty="0"/>
              <a:t>Two important points are highlighted in the table on the previous slide:</a:t>
            </a:r>
          </a:p>
        </p:txBody>
      </p:sp>
      <p:sp>
        <p:nvSpPr>
          <p:cNvPr id="4" name="Content Placeholder 3"/>
          <p:cNvSpPr>
            <a:spLocks noGrp="1"/>
          </p:cNvSpPr>
          <p:nvPr>
            <p:ph sz="quarter" idx="14"/>
          </p:nvPr>
        </p:nvSpPr>
        <p:spPr>
          <a:xfrm>
            <a:off x="342900" y="2183363"/>
            <a:ext cx="8458200" cy="2108719"/>
          </a:xfrm>
        </p:spPr>
        <p:txBody>
          <a:bodyPr/>
          <a:lstStyle/>
          <a:p>
            <a:pPr marL="402336" indent="-402336">
              <a:buFont typeface="+mj-lt"/>
              <a:buAutoNum type="arabicPeriod"/>
            </a:pPr>
            <a:r>
              <a:rPr lang="en-US" dirty="0"/>
              <a:t>The higher the compound frequency, the higher the future value will be.</a:t>
            </a:r>
          </a:p>
          <a:p>
            <a:pPr marL="402336" indent="-402336">
              <a:buFont typeface="+mj-lt"/>
              <a:buAutoNum type="arabicPeriod"/>
            </a:pPr>
            <a:r>
              <a:rPr lang="en-US" dirty="0"/>
              <a:t>The relative increase in value from increasing compounding frequency seems to diminish with increasing frequencies.</a:t>
            </a:r>
          </a:p>
        </p:txBody>
      </p:sp>
      <p:sp>
        <p:nvSpPr>
          <p:cNvPr id="7" name="Slide Number Placeholder 6"/>
          <p:cNvSpPr>
            <a:spLocks noGrp="1"/>
          </p:cNvSpPr>
          <p:nvPr>
            <p:ph type="sldNum" sz="quarter" idx="10"/>
          </p:nvPr>
        </p:nvSpPr>
        <p:spPr/>
        <p:txBody>
          <a:bodyPr/>
          <a:lstStyle/>
          <a:p>
            <a:fld id="{68151E55-6873-49E2-B8D5-2F265E6F1973}" type="slidenum">
              <a:rPr lang="en-US" smtClean="0"/>
              <a:t>28</a:t>
            </a:fld>
            <a:endParaRPr lang="en-US"/>
          </a:p>
        </p:txBody>
      </p:sp>
    </p:spTree>
    <p:extLst>
      <p:ext uri="{BB962C8B-B14F-4D97-AF65-F5344CB8AC3E}">
        <p14:creationId xmlns:p14="http://schemas.microsoft.com/office/powerpoint/2010/main" val="28312349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t>
            </a:r>
            <a:r>
              <a:rPr lang="en-US" sz="100" dirty="0"/>
              <a:t> </a:t>
            </a:r>
            <a:r>
              <a:rPr lang="en-US" dirty="0"/>
              <a:t>A</a:t>
            </a:r>
            <a:r>
              <a:rPr lang="en-US" sz="100" dirty="0"/>
              <a:t> </a:t>
            </a:r>
            <a:r>
              <a:rPr lang="en-US" dirty="0" err="1"/>
              <a:t>Rs</a:t>
            </a:r>
            <a:r>
              <a:rPr lang="en-US" dirty="0"/>
              <a:t> and A</a:t>
            </a:r>
            <a:r>
              <a:rPr lang="en-US" sz="100" dirty="0"/>
              <a:t> </a:t>
            </a:r>
            <a:r>
              <a:rPr lang="en-US" dirty="0"/>
              <a:t>P</a:t>
            </a:r>
            <a:r>
              <a:rPr lang="en-US" sz="100" dirty="0"/>
              <a:t> </a:t>
            </a:r>
            <a:r>
              <a:rPr lang="en-US" dirty="0" err="1"/>
              <a:t>Rs</a:t>
            </a:r>
            <a:endParaRPr lang="en-US" dirty="0"/>
          </a:p>
        </p:txBody>
      </p:sp>
      <p:sp>
        <p:nvSpPr>
          <p:cNvPr id="3" name="Content Placeholder 2"/>
          <p:cNvSpPr>
            <a:spLocks noGrp="1"/>
          </p:cNvSpPr>
          <p:nvPr>
            <p:ph sz="quarter" idx="11"/>
          </p:nvPr>
        </p:nvSpPr>
        <p:spPr>
          <a:xfrm>
            <a:off x="342900" y="1276710"/>
            <a:ext cx="8458200" cy="2548842"/>
          </a:xfrm>
        </p:spPr>
        <p:txBody>
          <a:bodyPr/>
          <a:lstStyle/>
          <a:p>
            <a:pPr marL="292608" indent="-292608">
              <a:buFont typeface="Arial" panose="020B0604020202020204" pitchFamily="34" charset="0"/>
              <a:buChar char="•"/>
            </a:pPr>
            <a:r>
              <a:rPr lang="en-US" dirty="0"/>
              <a:t>The interest rate per period times the number of period in a year is the </a:t>
            </a:r>
            <a:r>
              <a:rPr lang="en-US" b="1" dirty="0"/>
              <a:t>annual percentage rate (A</a:t>
            </a:r>
            <a:r>
              <a:rPr lang="en-US" sz="100" b="1" dirty="0"/>
              <a:t> </a:t>
            </a:r>
            <a:r>
              <a:rPr lang="en-US" b="1" dirty="0"/>
              <a:t>P</a:t>
            </a:r>
            <a:r>
              <a:rPr lang="en-US" sz="100" b="1" dirty="0"/>
              <a:t> </a:t>
            </a:r>
            <a:r>
              <a:rPr lang="en-US" b="1" dirty="0"/>
              <a:t>R).</a:t>
            </a:r>
          </a:p>
          <a:p>
            <a:pPr marL="292608" indent="-292608">
              <a:buFont typeface="Arial" panose="020B0604020202020204" pitchFamily="34" charset="0"/>
              <a:buChar char="•"/>
            </a:pPr>
            <a:r>
              <a:rPr lang="en-US" dirty="0"/>
              <a:t>The </a:t>
            </a:r>
            <a:r>
              <a:rPr lang="en-US" b="1" dirty="0"/>
              <a:t>effective annual rate (E</a:t>
            </a:r>
            <a:r>
              <a:rPr lang="en-US" sz="100" b="1" dirty="0"/>
              <a:t> </a:t>
            </a:r>
            <a:r>
              <a:rPr lang="en-US" b="1" dirty="0"/>
              <a:t>A</a:t>
            </a:r>
            <a:r>
              <a:rPr lang="en-US" sz="100" b="1" dirty="0"/>
              <a:t> </a:t>
            </a:r>
            <a:r>
              <a:rPr lang="en-US" b="1" dirty="0"/>
              <a:t>R) </a:t>
            </a:r>
            <a:r>
              <a:rPr lang="en-US" dirty="0"/>
              <a:t>is a more accurate measurement of what you will actually pay, as it reflects annualizing with compounding figured in.</a:t>
            </a:r>
          </a:p>
          <a:p>
            <a:pPr marL="292608" indent="-292608">
              <a:buFont typeface="Arial" panose="020B0604020202020204" pitchFamily="34" charset="0"/>
              <a:buChar char="•"/>
            </a:pPr>
            <a:r>
              <a:rPr lang="en-US" dirty="0"/>
              <a:t>Relationship between A</a:t>
            </a:r>
            <a:r>
              <a:rPr lang="en-US" sz="100" dirty="0"/>
              <a:t> </a:t>
            </a:r>
            <a:r>
              <a:rPr lang="en-US" dirty="0"/>
              <a:t>P</a:t>
            </a:r>
            <a:r>
              <a:rPr lang="en-US" sz="100" dirty="0"/>
              <a:t> </a:t>
            </a:r>
            <a:r>
              <a:rPr lang="en-US" dirty="0"/>
              <a:t>R and E</a:t>
            </a:r>
            <a:r>
              <a:rPr lang="en-US" sz="100" dirty="0"/>
              <a:t> </a:t>
            </a:r>
            <a:r>
              <a:rPr lang="en-US" dirty="0"/>
              <a:t>A</a:t>
            </a:r>
            <a:r>
              <a:rPr lang="en-US" sz="100" dirty="0"/>
              <a:t> </a:t>
            </a:r>
            <a:r>
              <a:rPr lang="en-US" dirty="0"/>
              <a:t>R:</a:t>
            </a:r>
          </a:p>
        </p:txBody>
      </p:sp>
      <p:graphicFrame>
        <p:nvGraphicFramePr>
          <p:cNvPr id="7" name="Object 6"/>
          <p:cNvGraphicFramePr>
            <a:graphicFrameLocks noChangeAspect="1"/>
          </p:cNvGraphicFramePr>
          <p:nvPr>
            <p:extLst>
              <p:ext uri="{D42A27DB-BD31-4B8C-83A1-F6EECF244321}">
                <p14:modId xmlns:p14="http://schemas.microsoft.com/office/powerpoint/2010/main" val="420325597"/>
              </p:ext>
            </p:extLst>
          </p:nvPr>
        </p:nvGraphicFramePr>
        <p:xfrm>
          <a:off x="2349241" y="3935091"/>
          <a:ext cx="2743200" cy="876300"/>
        </p:xfrm>
        <a:graphic>
          <a:graphicData uri="http://schemas.openxmlformats.org/presentationml/2006/ole">
            <mc:AlternateContent xmlns:mc="http://schemas.openxmlformats.org/markup-compatibility/2006">
              <mc:Choice xmlns:v="urn:schemas-microsoft-com:vml" Requires="v">
                <p:oleObj spid="_x0000_s54325" name="Equation" r:id="rId3" imgW="2743200" imgH="876240" progId="Equation.DSMT4">
                  <p:embed/>
                </p:oleObj>
              </mc:Choice>
              <mc:Fallback>
                <p:oleObj name="Equation" r:id="rId3" imgW="2743200" imgH="876240" progId="Equation.DSMT4">
                  <p:embed/>
                  <p:pic>
                    <p:nvPicPr>
                      <p:cNvPr id="0" name=""/>
                      <p:cNvPicPr/>
                      <p:nvPr/>
                    </p:nvPicPr>
                    <p:blipFill>
                      <a:blip r:embed="rId4"/>
                      <a:stretch>
                        <a:fillRect/>
                      </a:stretch>
                    </p:blipFill>
                    <p:spPr>
                      <a:xfrm>
                        <a:off x="2349241" y="3935091"/>
                        <a:ext cx="2743200" cy="876300"/>
                      </a:xfrm>
                      <a:prstGeom prst="rect">
                        <a:avLst/>
                      </a:prstGeom>
                    </p:spPr>
                  </p:pic>
                </p:oleObj>
              </mc:Fallback>
            </mc:AlternateContent>
          </a:graphicData>
        </a:graphic>
      </p:graphicFrame>
      <p:sp>
        <p:nvSpPr>
          <p:cNvPr id="6" name="Slide Number Placeholder 5"/>
          <p:cNvSpPr>
            <a:spLocks noGrp="1"/>
          </p:cNvSpPr>
          <p:nvPr>
            <p:ph type="sldNum" sz="quarter" idx="4"/>
          </p:nvPr>
        </p:nvSpPr>
        <p:spPr/>
        <p:txBody>
          <a:bodyPr/>
          <a:lstStyle/>
          <a:p>
            <a:fld id="{68151E55-6873-49E2-B8D5-2F265E6F1973}" type="slidenum">
              <a:rPr lang="en-US" smtClean="0"/>
              <a:pPr/>
              <a:t>29</a:t>
            </a:fld>
            <a:endParaRPr lang="en-US" dirty="0"/>
          </a:p>
        </p:txBody>
      </p:sp>
    </p:spTree>
    <p:extLst>
      <p:ext uri="{BB962C8B-B14F-4D97-AF65-F5344CB8AC3E}">
        <p14:creationId xmlns:p14="http://schemas.microsoft.com/office/powerpoint/2010/main" val="29658981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t>
            </a:r>
            <a:r>
              <a:rPr lang="en-US" sz="100" dirty="0"/>
              <a:t> </a:t>
            </a:r>
            <a:r>
              <a:rPr lang="en-US" dirty="0"/>
              <a:t>A</a:t>
            </a:r>
            <a:r>
              <a:rPr lang="en-US" sz="100" dirty="0"/>
              <a:t> </a:t>
            </a:r>
            <a:r>
              <a:rPr lang="en-US" dirty="0"/>
              <a:t>R vs. A</a:t>
            </a:r>
            <a:r>
              <a:rPr lang="en-US" sz="100" dirty="0"/>
              <a:t> </a:t>
            </a:r>
            <a:r>
              <a:rPr lang="en-US" dirty="0"/>
              <a:t>P</a:t>
            </a:r>
            <a:r>
              <a:rPr lang="en-US" sz="100" dirty="0"/>
              <a:t> </a:t>
            </a:r>
            <a:r>
              <a:rPr lang="en-US" dirty="0"/>
              <a:t>R Example</a:t>
            </a:r>
          </a:p>
        </p:txBody>
      </p:sp>
      <p:sp>
        <p:nvSpPr>
          <p:cNvPr id="3" name="Content Placeholder 2"/>
          <p:cNvSpPr>
            <a:spLocks noGrp="1"/>
          </p:cNvSpPr>
          <p:nvPr>
            <p:ph sz="quarter" idx="11"/>
          </p:nvPr>
        </p:nvSpPr>
        <p:spPr/>
        <p:txBody>
          <a:bodyPr/>
          <a:lstStyle/>
          <a:p>
            <a:r>
              <a:rPr lang="en-US" dirty="0"/>
              <a:t>Suppose you borrow $100 today at a 12% interest rate.</a:t>
            </a:r>
          </a:p>
          <a:p>
            <a:pPr marL="292608" indent="-292608">
              <a:buFont typeface="Arial" panose="020B0604020202020204" pitchFamily="34" charset="0"/>
              <a:buChar char="•"/>
            </a:pPr>
            <a:r>
              <a:rPr lang="en-US" dirty="0"/>
              <a:t>A</a:t>
            </a:r>
            <a:r>
              <a:rPr lang="en-US" sz="100" dirty="0"/>
              <a:t> </a:t>
            </a:r>
            <a:r>
              <a:rPr lang="en-US" dirty="0"/>
              <a:t>P</a:t>
            </a:r>
            <a:r>
              <a:rPr lang="en-US" sz="100" dirty="0"/>
              <a:t> </a:t>
            </a:r>
            <a:r>
              <a:rPr lang="en-US" dirty="0"/>
              <a:t>R: Loan compounds annually – you pay 12.00%</a:t>
            </a:r>
          </a:p>
          <a:p>
            <a:pPr marL="292608" indent="-292608">
              <a:buFont typeface="Arial" panose="020B0604020202020204" pitchFamily="34" charset="0"/>
              <a:buChar char="•"/>
            </a:pPr>
            <a:r>
              <a:rPr lang="en-US" dirty="0"/>
              <a:t>E</a:t>
            </a:r>
            <a:r>
              <a:rPr lang="en-US" sz="100" dirty="0"/>
              <a:t> </a:t>
            </a:r>
            <a:r>
              <a:rPr lang="en-US" dirty="0"/>
              <a:t>A</a:t>
            </a:r>
            <a:r>
              <a:rPr lang="en-US" sz="100" dirty="0"/>
              <a:t> </a:t>
            </a:r>
            <a:r>
              <a:rPr lang="en-US" dirty="0"/>
              <a:t>R: Loan compounds monthly – you pay 12.68%</a:t>
            </a:r>
          </a:p>
        </p:txBody>
      </p:sp>
      <p:sp>
        <p:nvSpPr>
          <p:cNvPr id="6" name="Slide Number Placeholder 5"/>
          <p:cNvSpPr>
            <a:spLocks noGrp="1"/>
          </p:cNvSpPr>
          <p:nvPr>
            <p:ph type="sldNum" sz="quarter" idx="4"/>
          </p:nvPr>
        </p:nvSpPr>
        <p:spPr/>
        <p:txBody>
          <a:bodyPr/>
          <a:lstStyle/>
          <a:p>
            <a:fld id="{68151E55-6873-49E2-B8D5-2F265E6F1973}" type="slidenum">
              <a:rPr lang="en-US" smtClean="0"/>
              <a:pPr/>
              <a:t>30</a:t>
            </a:fld>
            <a:endParaRPr lang="en-US" dirty="0"/>
          </a:p>
        </p:txBody>
      </p:sp>
    </p:spTree>
    <p:extLst>
      <p:ext uri="{BB962C8B-B14F-4D97-AF65-F5344CB8AC3E}">
        <p14:creationId xmlns:p14="http://schemas.microsoft.com/office/powerpoint/2010/main" val="20123407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Keep Variables Consistent</a:t>
            </a:r>
          </a:p>
        </p:txBody>
      </p:sp>
      <p:sp>
        <p:nvSpPr>
          <p:cNvPr id="3" name="Content Placeholder 2"/>
          <p:cNvSpPr>
            <a:spLocks noGrp="1"/>
          </p:cNvSpPr>
          <p:nvPr>
            <p:ph sz="quarter" idx="11"/>
          </p:nvPr>
        </p:nvSpPr>
        <p:spPr/>
        <p:txBody>
          <a:bodyPr/>
          <a:lstStyle/>
          <a:p>
            <a:r>
              <a:rPr lang="en-US" dirty="0"/>
              <a:t>When computing T</a:t>
            </a:r>
            <a:r>
              <a:rPr lang="en-US" sz="100" dirty="0"/>
              <a:t> </a:t>
            </a:r>
            <a:r>
              <a:rPr lang="en-US" dirty="0"/>
              <a:t>V</a:t>
            </a:r>
            <a:r>
              <a:rPr lang="en-US" sz="100" dirty="0"/>
              <a:t> </a:t>
            </a:r>
            <a:r>
              <a:rPr lang="en-US" dirty="0"/>
              <a:t>M problems that use intra-year compounding (monthly, quarterly, etc.), be sure to keep all the variables consistent to that compounding:</a:t>
            </a:r>
          </a:p>
          <a:p>
            <a:pPr marL="292608" indent="-292608">
              <a:buFont typeface="Arial" panose="020B0604020202020204" pitchFamily="34" charset="0"/>
              <a:buChar char="•"/>
            </a:pPr>
            <a:r>
              <a:rPr lang="en-US" dirty="0"/>
              <a:t>Monthly loan:</a:t>
            </a:r>
          </a:p>
          <a:p>
            <a:pPr marL="621792" lvl="1" indent="-320040"/>
            <a:r>
              <a:rPr lang="en-US" dirty="0"/>
              <a:t>N is months.</a:t>
            </a:r>
          </a:p>
          <a:p>
            <a:pPr marL="621792" lvl="1" indent="-320040"/>
            <a:r>
              <a:rPr lang="en-US" dirty="0"/>
              <a:t>I/Y is monthly interest rate (A</a:t>
            </a:r>
            <a:r>
              <a:rPr lang="en-US" sz="100" dirty="0"/>
              <a:t> </a:t>
            </a:r>
            <a:r>
              <a:rPr lang="en-US" dirty="0"/>
              <a:t>P</a:t>
            </a:r>
            <a:r>
              <a:rPr lang="en-US" sz="100" dirty="0"/>
              <a:t> </a:t>
            </a:r>
            <a:r>
              <a:rPr lang="en-US" dirty="0"/>
              <a:t>R divided by 12).</a:t>
            </a:r>
          </a:p>
          <a:p>
            <a:pPr marL="621792" lvl="1" indent="-320040"/>
            <a:r>
              <a:rPr lang="en-US" dirty="0"/>
              <a:t>P</a:t>
            </a:r>
            <a:r>
              <a:rPr lang="en-US" sz="100" dirty="0"/>
              <a:t> </a:t>
            </a:r>
            <a:r>
              <a:rPr lang="en-US" dirty="0"/>
              <a:t>M</a:t>
            </a:r>
            <a:r>
              <a:rPr lang="en-US" sz="100" dirty="0"/>
              <a:t> </a:t>
            </a:r>
            <a:r>
              <a:rPr lang="en-US" dirty="0"/>
              <a:t>T is monthly payment.</a:t>
            </a:r>
          </a:p>
        </p:txBody>
      </p:sp>
      <p:sp>
        <p:nvSpPr>
          <p:cNvPr id="6" name="Slide Number Placeholder 5"/>
          <p:cNvSpPr>
            <a:spLocks noGrp="1"/>
          </p:cNvSpPr>
          <p:nvPr>
            <p:ph type="sldNum" sz="quarter" idx="4"/>
          </p:nvPr>
        </p:nvSpPr>
        <p:spPr/>
        <p:txBody>
          <a:bodyPr/>
          <a:lstStyle/>
          <a:p>
            <a:fld id="{68151E55-6873-49E2-B8D5-2F265E6F1973}" type="slidenum">
              <a:rPr lang="en-US" smtClean="0"/>
              <a:pPr/>
              <a:t>31</a:t>
            </a:fld>
            <a:endParaRPr lang="en-US" dirty="0"/>
          </a:p>
        </p:txBody>
      </p:sp>
    </p:spTree>
    <p:extLst>
      <p:ext uri="{BB962C8B-B14F-4D97-AF65-F5344CB8AC3E}">
        <p14:creationId xmlns:p14="http://schemas.microsoft.com/office/powerpoint/2010/main" val="324508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Example 5-5: Car Loan Debt </a:t>
            </a:r>
            <a:r>
              <a:rPr lang="en-US" sz="1000" b="0" dirty="0"/>
              <a:t>1</a:t>
            </a:r>
          </a:p>
        </p:txBody>
      </p:sp>
      <p:sp>
        <p:nvSpPr>
          <p:cNvPr id="3" name="Content Placeholder 2"/>
          <p:cNvSpPr>
            <a:spLocks noGrp="1"/>
          </p:cNvSpPr>
          <p:nvPr>
            <p:ph sz="quarter" idx="11"/>
          </p:nvPr>
        </p:nvSpPr>
        <p:spPr>
          <a:xfrm>
            <a:off x="342900" y="1276710"/>
            <a:ext cx="8458200" cy="1578458"/>
          </a:xfrm>
        </p:spPr>
        <p:txBody>
          <a:bodyPr/>
          <a:lstStyle/>
          <a:p>
            <a:r>
              <a:rPr lang="en-US" sz="1800" b="1" dirty="0"/>
              <a:t>Car Loan Debt</a:t>
            </a:r>
          </a:p>
          <a:p>
            <a:r>
              <a:rPr lang="en-US" sz="1800" dirty="0"/>
              <a:t>Now you would like to buy a car. You have reviewed your budget and determined that you can afford to pay $500 per month as a car payment. How much can you borrow if interest rates are 9 percent and you pay the loan over four years? How much could you borrow if you agree to pay for six years instead?</a:t>
            </a:r>
          </a:p>
        </p:txBody>
      </p:sp>
      <p:sp>
        <p:nvSpPr>
          <p:cNvPr id="4" name="Content Placeholder 3"/>
          <p:cNvSpPr>
            <a:spLocks noGrp="1"/>
          </p:cNvSpPr>
          <p:nvPr>
            <p:ph sz="quarter" idx="14"/>
          </p:nvPr>
        </p:nvSpPr>
        <p:spPr>
          <a:xfrm>
            <a:off x="342900" y="2976465"/>
            <a:ext cx="8458200" cy="1576874"/>
          </a:xfrm>
        </p:spPr>
        <p:txBody>
          <a:bodyPr/>
          <a:lstStyle/>
          <a:p>
            <a:r>
              <a:rPr lang="en-US" sz="1800" b="1" dirty="0"/>
              <a:t>Solution:</a:t>
            </a:r>
          </a:p>
          <a:p>
            <a:r>
              <a:rPr lang="en-US" sz="1800" dirty="0"/>
              <a:t>The loan amount is the present value of the 48-month, $500 annuity. Note that the loan term will be 48 (= 4 x 12) months and the interest rate is 0.75 (= 9 ÷ 12) percent. Using equation 5-4, you discover that you can borrow up to $20,092 to buy a car:</a:t>
            </a:r>
          </a:p>
        </p:txBody>
      </p:sp>
      <p:graphicFrame>
        <p:nvGraphicFramePr>
          <p:cNvPr id="12" name="Object 11"/>
          <p:cNvGraphicFramePr>
            <a:graphicFrameLocks noChangeAspect="1"/>
          </p:cNvGraphicFramePr>
          <p:nvPr>
            <p:extLst>
              <p:ext uri="{D42A27DB-BD31-4B8C-83A1-F6EECF244321}">
                <p14:modId xmlns:p14="http://schemas.microsoft.com/office/powerpoint/2010/main" val="4066262721"/>
              </p:ext>
            </p:extLst>
          </p:nvPr>
        </p:nvGraphicFramePr>
        <p:xfrm>
          <a:off x="1373188" y="4675188"/>
          <a:ext cx="6096000" cy="1358900"/>
        </p:xfrm>
        <a:graphic>
          <a:graphicData uri="http://schemas.openxmlformats.org/presentationml/2006/ole">
            <mc:AlternateContent xmlns:mc="http://schemas.openxmlformats.org/markup-compatibility/2006">
              <mc:Choice xmlns:v="urn:schemas-microsoft-com:vml" Requires="v">
                <p:oleObj spid="_x0000_s57383" name="Equation" r:id="rId3" imgW="6095880" imgH="1358640" progId="Equation.DSMT4">
                  <p:embed/>
                </p:oleObj>
              </mc:Choice>
              <mc:Fallback>
                <p:oleObj name="Equation" r:id="rId3" imgW="6095880" imgH="1358640" progId="Equation.DSMT4">
                  <p:embed/>
                  <p:pic>
                    <p:nvPicPr>
                      <p:cNvPr id="0" name=""/>
                      <p:cNvPicPr/>
                      <p:nvPr/>
                    </p:nvPicPr>
                    <p:blipFill>
                      <a:blip r:embed="rId4"/>
                      <a:stretch>
                        <a:fillRect/>
                      </a:stretch>
                    </p:blipFill>
                    <p:spPr>
                      <a:xfrm>
                        <a:off x="1373188" y="4675188"/>
                        <a:ext cx="6096000" cy="1358900"/>
                      </a:xfrm>
                      <a:prstGeom prst="rect">
                        <a:avLst/>
                      </a:prstGeom>
                    </p:spPr>
                  </p:pic>
                </p:oleObj>
              </mc:Fallback>
            </mc:AlternateContent>
          </a:graphicData>
        </a:graphic>
      </p:graphicFrame>
      <p:sp>
        <p:nvSpPr>
          <p:cNvPr id="11" name="Slide Number Placeholder 10"/>
          <p:cNvSpPr>
            <a:spLocks noGrp="1"/>
          </p:cNvSpPr>
          <p:nvPr>
            <p:ph type="sldNum" sz="quarter" idx="10"/>
          </p:nvPr>
        </p:nvSpPr>
        <p:spPr/>
        <p:txBody>
          <a:bodyPr/>
          <a:lstStyle/>
          <a:p>
            <a:fld id="{68151E55-6873-49E2-B8D5-2F265E6F1973}" type="slidenum">
              <a:rPr lang="en-US" smtClean="0"/>
              <a:t>32</a:t>
            </a:fld>
            <a:endParaRPr lang="en-US" dirty="0"/>
          </a:p>
        </p:txBody>
      </p:sp>
    </p:spTree>
    <p:extLst>
      <p:ext uri="{BB962C8B-B14F-4D97-AF65-F5344CB8AC3E}">
        <p14:creationId xmlns:p14="http://schemas.microsoft.com/office/powerpoint/2010/main" val="14874132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Example 5-5: Car Loan Debt </a:t>
            </a:r>
            <a:r>
              <a:rPr lang="en-US" sz="1000" b="0" dirty="0"/>
              <a:t>2</a:t>
            </a:r>
          </a:p>
        </p:txBody>
      </p:sp>
      <p:sp>
        <p:nvSpPr>
          <p:cNvPr id="5" name="Content Placeholder 4"/>
          <p:cNvSpPr>
            <a:spLocks noGrp="1"/>
          </p:cNvSpPr>
          <p:nvPr>
            <p:ph sz="quarter" idx="15"/>
          </p:nvPr>
        </p:nvSpPr>
        <p:spPr>
          <a:xfrm>
            <a:off x="342900" y="1446246"/>
            <a:ext cx="8458200" cy="1287624"/>
          </a:xfrm>
        </p:spPr>
        <p:txBody>
          <a:bodyPr/>
          <a:lstStyle/>
          <a:p>
            <a:r>
              <a:rPr lang="en-US" sz="1800" dirty="0"/>
              <a:t>If you are willing to borrow money for six years instead of four, the small change to the equation results in your ability to borrow $27,738. Although this would allow you to buy a more expensive car, it would also require two more years of $500 payments (an additional $12,000 of payments!).</a:t>
            </a:r>
          </a:p>
        </p:txBody>
      </p:sp>
      <p:sp>
        <p:nvSpPr>
          <p:cNvPr id="11" name="Slide Number Placeholder 10"/>
          <p:cNvSpPr>
            <a:spLocks noGrp="1"/>
          </p:cNvSpPr>
          <p:nvPr>
            <p:ph type="sldNum" sz="quarter" idx="10"/>
          </p:nvPr>
        </p:nvSpPr>
        <p:spPr/>
        <p:txBody>
          <a:bodyPr/>
          <a:lstStyle/>
          <a:p>
            <a:fld id="{68151E55-6873-49E2-B8D5-2F265E6F1973}" type="slidenum">
              <a:rPr lang="en-US" smtClean="0"/>
              <a:t>33</a:t>
            </a:fld>
            <a:endParaRPr lang="en-US" dirty="0"/>
          </a:p>
        </p:txBody>
      </p:sp>
    </p:spTree>
    <p:extLst>
      <p:ext uri="{BB962C8B-B14F-4D97-AF65-F5344CB8AC3E}">
        <p14:creationId xmlns:p14="http://schemas.microsoft.com/office/powerpoint/2010/main" val="2300002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Example 5-6: Making Monthly Pension Contributions</a:t>
            </a:r>
          </a:p>
        </p:txBody>
      </p:sp>
      <p:sp>
        <p:nvSpPr>
          <p:cNvPr id="3" name="Content Placeholder 2"/>
          <p:cNvSpPr>
            <a:spLocks noGrp="1"/>
          </p:cNvSpPr>
          <p:nvPr>
            <p:ph sz="quarter" idx="11"/>
          </p:nvPr>
        </p:nvSpPr>
        <p:spPr>
          <a:xfrm>
            <a:off x="342900" y="1276709"/>
            <a:ext cx="8458200" cy="1606450"/>
          </a:xfrm>
        </p:spPr>
        <p:txBody>
          <a:bodyPr/>
          <a:lstStyle/>
          <a:p>
            <a:r>
              <a:rPr lang="en-US" sz="1800" b="1" dirty="0"/>
              <a:t>Making Monthly Pension Contributions</a:t>
            </a:r>
          </a:p>
          <a:p>
            <a:r>
              <a:rPr lang="en-US" sz="1800" dirty="0"/>
              <a:t>Reexamine your original plan to contribute to your company retirement plan. Instead of a total contribution of $4,500 per year for 40 years, you are able to contribute monthly. Given your expected 7 percent per year investment return, how much money can you expect in your retirement account?</a:t>
            </a:r>
          </a:p>
        </p:txBody>
      </p:sp>
      <p:sp>
        <p:nvSpPr>
          <p:cNvPr id="4" name="Content Placeholder 3"/>
          <p:cNvSpPr>
            <a:spLocks noGrp="1"/>
          </p:cNvSpPr>
          <p:nvPr>
            <p:ph sz="quarter" idx="14"/>
          </p:nvPr>
        </p:nvSpPr>
        <p:spPr>
          <a:xfrm>
            <a:off x="342900" y="2976462"/>
            <a:ext cx="8458200" cy="1352938"/>
          </a:xfrm>
        </p:spPr>
        <p:txBody>
          <a:bodyPr/>
          <a:lstStyle/>
          <a:p>
            <a:r>
              <a:rPr lang="en-US" sz="1800" b="1" dirty="0"/>
              <a:t>Solution:</a:t>
            </a:r>
          </a:p>
          <a:p>
            <a:r>
              <a:rPr lang="en-US" sz="1800" dirty="0"/>
              <a:t>Now your total monthly contribution will be $375 (= $4,500 ÷ 12), which will continue for 480 months and earn a 0.58333 (= 7 ÷ 12) percent monthly return. The results of equation 5-2 show that the future value of this annuity is</a:t>
            </a:r>
          </a:p>
        </p:txBody>
      </p:sp>
      <p:graphicFrame>
        <p:nvGraphicFramePr>
          <p:cNvPr id="12" name="Object 11"/>
          <p:cNvGraphicFramePr>
            <a:graphicFrameLocks noChangeAspect="1"/>
          </p:cNvGraphicFramePr>
          <p:nvPr>
            <p:extLst>
              <p:ext uri="{D42A27DB-BD31-4B8C-83A1-F6EECF244321}">
                <p14:modId xmlns:p14="http://schemas.microsoft.com/office/powerpoint/2010/main" val="1267751201"/>
              </p:ext>
            </p:extLst>
          </p:nvPr>
        </p:nvGraphicFramePr>
        <p:xfrm>
          <a:off x="1238250" y="4637539"/>
          <a:ext cx="6667500" cy="685800"/>
        </p:xfrm>
        <a:graphic>
          <a:graphicData uri="http://schemas.openxmlformats.org/presentationml/2006/ole">
            <mc:AlternateContent xmlns:mc="http://schemas.openxmlformats.org/markup-compatibility/2006">
              <mc:Choice xmlns:v="urn:schemas-microsoft-com:vml" Requires="v">
                <p:oleObj spid="_x0000_s58404" name="Equation" r:id="rId3" imgW="6667200" imgH="685800" progId="Equation.DSMT4">
                  <p:embed/>
                </p:oleObj>
              </mc:Choice>
              <mc:Fallback>
                <p:oleObj name="Equation" r:id="rId3" imgW="6667200" imgH="685800" progId="Equation.DSMT4">
                  <p:embed/>
                  <p:pic>
                    <p:nvPicPr>
                      <p:cNvPr id="0" name=""/>
                      <p:cNvPicPr/>
                      <p:nvPr/>
                    </p:nvPicPr>
                    <p:blipFill>
                      <a:blip r:embed="rId4"/>
                      <a:stretch>
                        <a:fillRect/>
                      </a:stretch>
                    </p:blipFill>
                    <p:spPr>
                      <a:xfrm>
                        <a:off x="1238250" y="4637539"/>
                        <a:ext cx="6667500" cy="685800"/>
                      </a:xfrm>
                      <a:prstGeom prst="rect">
                        <a:avLst/>
                      </a:prstGeom>
                    </p:spPr>
                  </p:pic>
                </p:oleObj>
              </mc:Fallback>
            </mc:AlternateContent>
          </a:graphicData>
        </a:graphic>
      </p:graphicFrame>
      <p:sp>
        <p:nvSpPr>
          <p:cNvPr id="11" name="Slide Number Placeholder 10"/>
          <p:cNvSpPr>
            <a:spLocks noGrp="1"/>
          </p:cNvSpPr>
          <p:nvPr>
            <p:ph type="sldNum" sz="quarter" idx="10"/>
          </p:nvPr>
        </p:nvSpPr>
        <p:spPr/>
        <p:txBody>
          <a:bodyPr/>
          <a:lstStyle/>
          <a:p>
            <a:fld id="{68151E55-6873-49E2-B8D5-2F265E6F1973}" type="slidenum">
              <a:rPr lang="en-US" smtClean="0"/>
              <a:t>34</a:t>
            </a:fld>
            <a:endParaRPr lang="en-US" dirty="0"/>
          </a:p>
        </p:txBody>
      </p:sp>
    </p:spTree>
    <p:extLst>
      <p:ext uri="{BB962C8B-B14F-4D97-AF65-F5344CB8AC3E}">
        <p14:creationId xmlns:p14="http://schemas.microsoft.com/office/powerpoint/2010/main" val="33426009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Annuity Loans</a:t>
            </a:r>
          </a:p>
        </p:txBody>
      </p:sp>
      <p:sp>
        <p:nvSpPr>
          <p:cNvPr id="3" name="Content Placeholder 2"/>
          <p:cNvSpPr>
            <a:spLocks noGrp="1"/>
          </p:cNvSpPr>
          <p:nvPr>
            <p:ph sz="quarter" idx="11"/>
          </p:nvPr>
        </p:nvSpPr>
        <p:spPr/>
        <p:txBody>
          <a:bodyPr/>
          <a:lstStyle/>
          <a:p>
            <a:pPr marL="292608" indent="-292608">
              <a:buFont typeface="Arial" panose="020B0604020202020204" pitchFamily="34" charset="0"/>
              <a:buChar char="•"/>
            </a:pPr>
            <a:r>
              <a:rPr lang="en-US" dirty="0"/>
              <a:t>In many cases, future and present values of annuities are already known and we need to compare the payments or implied interest rate.</a:t>
            </a:r>
          </a:p>
          <a:p>
            <a:pPr marL="292608" indent="-292608">
              <a:buFont typeface="Arial" panose="020B0604020202020204" pitchFamily="34" charset="0"/>
              <a:buChar char="•"/>
            </a:pPr>
            <a:r>
              <a:rPr lang="en-US" dirty="0"/>
              <a:t>No general, easy equation to solve for the interest rate, even when given the cost of an investment, the annuity cash flows, and the time period.</a:t>
            </a:r>
          </a:p>
        </p:txBody>
      </p:sp>
      <p:sp>
        <p:nvSpPr>
          <p:cNvPr id="6" name="Slide Number Placeholder 5"/>
          <p:cNvSpPr>
            <a:spLocks noGrp="1"/>
          </p:cNvSpPr>
          <p:nvPr>
            <p:ph type="sldNum" sz="quarter" idx="4"/>
          </p:nvPr>
        </p:nvSpPr>
        <p:spPr/>
        <p:txBody>
          <a:bodyPr/>
          <a:lstStyle/>
          <a:p>
            <a:fld id="{68151E55-6873-49E2-B8D5-2F265E6F1973}" type="slidenum">
              <a:rPr lang="en-US" smtClean="0"/>
              <a:pPr/>
              <a:t>35</a:t>
            </a:fld>
            <a:endParaRPr lang="en-US" dirty="0"/>
          </a:p>
        </p:txBody>
      </p:sp>
    </p:spTree>
    <p:extLst>
      <p:ext uri="{BB962C8B-B14F-4D97-AF65-F5344CB8AC3E}">
        <p14:creationId xmlns:p14="http://schemas.microsoft.com/office/powerpoint/2010/main" val="30079875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Finding Payments on Amortized Loan</a:t>
            </a:r>
          </a:p>
        </p:txBody>
      </p:sp>
      <p:sp>
        <p:nvSpPr>
          <p:cNvPr id="3" name="Content Placeholder 2"/>
          <p:cNvSpPr>
            <a:spLocks noGrp="1"/>
          </p:cNvSpPr>
          <p:nvPr>
            <p:ph sz="quarter" idx="11"/>
          </p:nvPr>
        </p:nvSpPr>
        <p:spPr>
          <a:xfrm>
            <a:off x="342900" y="1276709"/>
            <a:ext cx="8458200" cy="1429169"/>
          </a:xfrm>
        </p:spPr>
        <p:txBody>
          <a:bodyPr/>
          <a:lstStyle/>
          <a:p>
            <a:pPr marL="292608" indent="-292608">
              <a:buFont typeface="Arial" panose="020B0604020202020204" pitchFamily="34" charset="0"/>
              <a:buChar char="•"/>
            </a:pPr>
            <a:r>
              <a:rPr lang="en-US" dirty="0"/>
              <a:t>An </a:t>
            </a:r>
            <a:r>
              <a:rPr lang="en-US" b="1" dirty="0"/>
              <a:t>amortized loan </a:t>
            </a:r>
            <a:r>
              <a:rPr lang="en-US" dirty="0"/>
              <a:t>is characterized by a borrower paying both interest and principal over time.</a:t>
            </a:r>
          </a:p>
          <a:p>
            <a:pPr marL="292608" indent="-292608">
              <a:buFont typeface="Arial" panose="020B0604020202020204" pitchFamily="34" charset="0"/>
              <a:buChar char="•"/>
            </a:pPr>
            <a:r>
              <a:rPr lang="en-US" dirty="0"/>
              <a:t>Rearrange P</a:t>
            </a:r>
            <a:r>
              <a:rPr lang="en-US" sz="100" dirty="0"/>
              <a:t> </a:t>
            </a:r>
            <a:r>
              <a:rPr lang="en-US" dirty="0"/>
              <a:t>V of annuity formula to solve for the payment:</a:t>
            </a:r>
          </a:p>
        </p:txBody>
      </p:sp>
      <p:graphicFrame>
        <p:nvGraphicFramePr>
          <p:cNvPr id="4" name="Object 3"/>
          <p:cNvGraphicFramePr>
            <a:graphicFrameLocks noChangeAspect="1"/>
          </p:cNvGraphicFramePr>
          <p:nvPr>
            <p:extLst>
              <p:ext uri="{D42A27DB-BD31-4B8C-83A1-F6EECF244321}">
                <p14:modId xmlns:p14="http://schemas.microsoft.com/office/powerpoint/2010/main" val="1564759124"/>
              </p:ext>
            </p:extLst>
          </p:nvPr>
        </p:nvGraphicFramePr>
        <p:xfrm>
          <a:off x="1490695" y="2886866"/>
          <a:ext cx="4889500" cy="342900"/>
        </p:xfrm>
        <a:graphic>
          <a:graphicData uri="http://schemas.openxmlformats.org/presentationml/2006/ole">
            <mc:AlternateContent xmlns:mc="http://schemas.openxmlformats.org/markup-compatibility/2006">
              <mc:Choice xmlns:v="urn:schemas-microsoft-com:vml" Requires="v">
                <p:oleObj spid="_x0000_s55390" name="Equation" r:id="rId3" imgW="4889160" imgH="342720" progId="Equation.DSMT4">
                  <p:embed/>
                </p:oleObj>
              </mc:Choice>
              <mc:Fallback>
                <p:oleObj name="Equation" r:id="rId3" imgW="4889160" imgH="342720" progId="Equation.DSMT4">
                  <p:embed/>
                  <p:pic>
                    <p:nvPicPr>
                      <p:cNvPr id="0" name=""/>
                      <p:cNvPicPr/>
                      <p:nvPr/>
                    </p:nvPicPr>
                    <p:blipFill>
                      <a:blip r:embed="rId4"/>
                      <a:stretch>
                        <a:fillRect/>
                      </a:stretch>
                    </p:blipFill>
                    <p:spPr>
                      <a:xfrm>
                        <a:off x="1490695" y="2886866"/>
                        <a:ext cx="4889500" cy="34290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2255669990"/>
              </p:ext>
            </p:extLst>
          </p:nvPr>
        </p:nvGraphicFramePr>
        <p:xfrm>
          <a:off x="1792126" y="3308253"/>
          <a:ext cx="3390900" cy="1778000"/>
        </p:xfrm>
        <a:graphic>
          <a:graphicData uri="http://schemas.openxmlformats.org/presentationml/2006/ole">
            <mc:AlternateContent xmlns:mc="http://schemas.openxmlformats.org/markup-compatibility/2006">
              <mc:Choice xmlns:v="urn:schemas-microsoft-com:vml" Requires="v">
                <p:oleObj spid="_x0000_s55391" name="Equation" r:id="rId5" imgW="3390840" imgH="1777680" progId="Equation.DSMT4">
                  <p:embed/>
                </p:oleObj>
              </mc:Choice>
              <mc:Fallback>
                <p:oleObj name="Equation" r:id="rId5" imgW="3390840" imgH="1777680" progId="Equation.DSMT4">
                  <p:embed/>
                  <p:pic>
                    <p:nvPicPr>
                      <p:cNvPr id="0" name=""/>
                      <p:cNvPicPr/>
                      <p:nvPr/>
                    </p:nvPicPr>
                    <p:blipFill>
                      <a:blip r:embed="rId6"/>
                      <a:stretch>
                        <a:fillRect/>
                      </a:stretch>
                    </p:blipFill>
                    <p:spPr>
                      <a:xfrm>
                        <a:off x="1792126" y="3308253"/>
                        <a:ext cx="3390900" cy="1778000"/>
                      </a:xfrm>
                      <a:prstGeom prst="rect">
                        <a:avLst/>
                      </a:prstGeom>
                    </p:spPr>
                  </p:pic>
                </p:oleObj>
              </mc:Fallback>
            </mc:AlternateContent>
          </a:graphicData>
        </a:graphic>
      </p:graphicFrame>
      <p:sp>
        <p:nvSpPr>
          <p:cNvPr id="6" name="Slide Number Placeholder 5"/>
          <p:cNvSpPr>
            <a:spLocks noGrp="1"/>
          </p:cNvSpPr>
          <p:nvPr>
            <p:ph type="sldNum" sz="quarter" idx="4"/>
          </p:nvPr>
        </p:nvSpPr>
        <p:spPr/>
        <p:txBody>
          <a:bodyPr/>
          <a:lstStyle/>
          <a:p>
            <a:fld id="{68151E55-6873-49E2-B8D5-2F265E6F1973}" type="slidenum">
              <a:rPr lang="en-US" smtClean="0"/>
              <a:pPr/>
              <a:t>36</a:t>
            </a:fld>
            <a:endParaRPr lang="en-US" dirty="0"/>
          </a:p>
        </p:txBody>
      </p:sp>
    </p:spTree>
    <p:extLst>
      <p:ext uri="{BB962C8B-B14F-4D97-AF65-F5344CB8AC3E}">
        <p14:creationId xmlns:p14="http://schemas.microsoft.com/office/powerpoint/2010/main" val="11640870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Finding Payments on Amortized Loan Example</a:t>
            </a:r>
          </a:p>
        </p:txBody>
      </p:sp>
      <p:sp>
        <p:nvSpPr>
          <p:cNvPr id="3" name="Content Placeholder 2"/>
          <p:cNvSpPr>
            <a:spLocks noGrp="1"/>
          </p:cNvSpPr>
          <p:nvPr>
            <p:ph sz="quarter" idx="11"/>
          </p:nvPr>
        </p:nvSpPr>
        <p:spPr>
          <a:xfrm>
            <a:off x="342901" y="1276710"/>
            <a:ext cx="5134168" cy="2399552"/>
          </a:xfrm>
        </p:spPr>
        <p:txBody>
          <a:bodyPr/>
          <a:lstStyle/>
          <a:p>
            <a:r>
              <a:rPr lang="en-US" sz="2200" dirty="0"/>
              <a:t>Assume you need a $10,000 loan to buy a car.</a:t>
            </a:r>
          </a:p>
          <a:p>
            <a:pPr marL="292608" indent="-292608">
              <a:buFont typeface="Arial" panose="020B0604020202020204" pitchFamily="34" charset="0"/>
              <a:buChar char="•"/>
            </a:pPr>
            <a:r>
              <a:rPr lang="en-US" sz="2200" dirty="0"/>
              <a:t>Loan is for four years, and interest rates are 9 percent per year A</a:t>
            </a:r>
            <a:r>
              <a:rPr lang="en-US" sz="100" dirty="0"/>
              <a:t> </a:t>
            </a:r>
            <a:r>
              <a:rPr lang="en-US" sz="2200" dirty="0"/>
              <a:t>P</a:t>
            </a:r>
            <a:r>
              <a:rPr lang="en-US" sz="100" dirty="0"/>
              <a:t> </a:t>
            </a:r>
            <a:r>
              <a:rPr lang="en-US" sz="2200" dirty="0"/>
              <a:t>R.</a:t>
            </a:r>
          </a:p>
          <a:p>
            <a:pPr marL="292608" indent="-292608">
              <a:buFont typeface="Arial" panose="020B0604020202020204" pitchFamily="34" charset="0"/>
              <a:buChar char="•"/>
            </a:pPr>
            <a:r>
              <a:rPr lang="en-US" sz="2200" dirty="0"/>
              <a:t>Use an interest rate of 0.75 percent (= 9/12) and 48 periods (= 4×12):</a:t>
            </a:r>
          </a:p>
        </p:txBody>
      </p:sp>
      <p:pic>
        <p:nvPicPr>
          <p:cNvPr id="7" name="Picture 6" descr="Calculator hints: n = 48; I = 0.75; P V = 10000; F V = 0; C P T, P M T = negative 248.85."/>
          <p:cNvPicPr>
            <a:picLocks noChangeAspect="1"/>
          </p:cNvPicPr>
          <p:nvPr/>
        </p:nvPicPr>
        <p:blipFill>
          <a:blip r:embed="rId4"/>
          <a:stretch>
            <a:fillRect/>
          </a:stretch>
        </p:blipFill>
        <p:spPr>
          <a:xfrm>
            <a:off x="5774654" y="1276710"/>
            <a:ext cx="2432515" cy="2597121"/>
          </a:xfrm>
          <a:prstGeom prst="rect">
            <a:avLst/>
          </a:prstGeom>
        </p:spPr>
      </p:pic>
      <p:graphicFrame>
        <p:nvGraphicFramePr>
          <p:cNvPr id="8" name="Object 7"/>
          <p:cNvGraphicFramePr>
            <a:graphicFrameLocks noChangeAspect="1"/>
          </p:cNvGraphicFramePr>
          <p:nvPr>
            <p:extLst>
              <p:ext uri="{D42A27DB-BD31-4B8C-83A1-F6EECF244321}">
                <p14:modId xmlns:p14="http://schemas.microsoft.com/office/powerpoint/2010/main" val="3962135597"/>
              </p:ext>
            </p:extLst>
          </p:nvPr>
        </p:nvGraphicFramePr>
        <p:xfrm>
          <a:off x="657225" y="4083050"/>
          <a:ext cx="7950200" cy="1638300"/>
        </p:xfrm>
        <a:graphic>
          <a:graphicData uri="http://schemas.openxmlformats.org/presentationml/2006/ole">
            <mc:AlternateContent xmlns:mc="http://schemas.openxmlformats.org/markup-compatibility/2006">
              <mc:Choice xmlns:v="urn:schemas-microsoft-com:vml" Requires="v">
                <p:oleObj spid="_x0000_s56367" name="Equation" r:id="rId5" imgW="7949880" imgH="1638000" progId="Equation.DSMT4">
                  <p:embed/>
                </p:oleObj>
              </mc:Choice>
              <mc:Fallback>
                <p:oleObj name="Equation" r:id="rId5" imgW="7949880" imgH="1638000" progId="Equation.DSMT4">
                  <p:embed/>
                  <p:pic>
                    <p:nvPicPr>
                      <p:cNvPr id="0" name=""/>
                      <p:cNvPicPr/>
                      <p:nvPr/>
                    </p:nvPicPr>
                    <p:blipFill>
                      <a:blip r:embed="rId6"/>
                      <a:stretch>
                        <a:fillRect/>
                      </a:stretch>
                    </p:blipFill>
                    <p:spPr>
                      <a:xfrm>
                        <a:off x="657225" y="4083050"/>
                        <a:ext cx="7950200" cy="1638300"/>
                      </a:xfrm>
                      <a:prstGeom prst="rect">
                        <a:avLst/>
                      </a:prstGeom>
                    </p:spPr>
                  </p:pic>
                </p:oleObj>
              </mc:Fallback>
            </mc:AlternateContent>
          </a:graphicData>
        </a:graphic>
      </p:graphicFrame>
      <p:sp>
        <p:nvSpPr>
          <p:cNvPr id="6" name="Slide Number Placeholder 5"/>
          <p:cNvSpPr>
            <a:spLocks noGrp="1"/>
          </p:cNvSpPr>
          <p:nvPr>
            <p:ph type="sldNum" sz="quarter" idx="4"/>
          </p:nvPr>
        </p:nvSpPr>
        <p:spPr/>
        <p:txBody>
          <a:bodyPr/>
          <a:lstStyle/>
          <a:p>
            <a:fld id="{68151E55-6873-49E2-B8D5-2F265E6F1973}" type="slidenum">
              <a:rPr lang="en-US" smtClean="0"/>
              <a:pPr/>
              <a:t>37</a:t>
            </a:fld>
            <a:endParaRPr lang="en-US" dirty="0"/>
          </a:p>
        </p:txBody>
      </p:sp>
    </p:spTree>
    <p:extLst>
      <p:ext uri="{BB962C8B-B14F-4D97-AF65-F5344CB8AC3E}">
        <p14:creationId xmlns:p14="http://schemas.microsoft.com/office/powerpoint/2010/main" val="23896074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Amortized Loan Schedules</a:t>
            </a:r>
          </a:p>
        </p:txBody>
      </p:sp>
      <p:sp>
        <p:nvSpPr>
          <p:cNvPr id="3" name="Content Placeholder 2"/>
          <p:cNvSpPr>
            <a:spLocks noGrp="1"/>
          </p:cNvSpPr>
          <p:nvPr>
            <p:ph sz="quarter" idx="11"/>
          </p:nvPr>
        </p:nvSpPr>
        <p:spPr/>
        <p:txBody>
          <a:bodyPr/>
          <a:lstStyle/>
          <a:p>
            <a:r>
              <a:rPr lang="en-US" dirty="0"/>
              <a:t>An </a:t>
            </a:r>
            <a:r>
              <a:rPr lang="en-US" b="1" dirty="0"/>
              <a:t>amortization schedule </a:t>
            </a:r>
            <a:r>
              <a:rPr lang="en-US" dirty="0"/>
              <a:t>is a table detailing the periodic loan payment, interest payment, and debt balance over the life of the loan.</a:t>
            </a:r>
          </a:p>
          <a:p>
            <a:pPr marL="292608" indent="-292608">
              <a:buFont typeface="Arial" panose="020B0604020202020204" pitchFamily="34" charset="0"/>
              <a:buChar char="•"/>
            </a:pPr>
            <a:r>
              <a:rPr lang="en-US" b="1" dirty="0"/>
              <a:t>Loan principal </a:t>
            </a:r>
            <a:r>
              <a:rPr lang="en-US" dirty="0"/>
              <a:t>is the balance yet to be paid on a loan.</a:t>
            </a:r>
          </a:p>
          <a:p>
            <a:pPr marL="292608" indent="-292608">
              <a:buFont typeface="Arial" panose="020B0604020202020204" pitchFamily="34" charset="0"/>
              <a:buChar char="•"/>
            </a:pPr>
            <a:r>
              <a:rPr lang="en-US" dirty="0"/>
              <a:t>An interest-only loan allows the borrower to make payments that consist totally of interest payments, so none of the debt is reduced.</a:t>
            </a:r>
          </a:p>
        </p:txBody>
      </p:sp>
      <p:sp>
        <p:nvSpPr>
          <p:cNvPr id="6" name="Slide Number Placeholder 5"/>
          <p:cNvSpPr>
            <a:spLocks noGrp="1"/>
          </p:cNvSpPr>
          <p:nvPr>
            <p:ph type="sldNum" sz="quarter" idx="4"/>
          </p:nvPr>
        </p:nvSpPr>
        <p:spPr/>
        <p:txBody>
          <a:bodyPr/>
          <a:lstStyle/>
          <a:p>
            <a:fld id="{68151E55-6873-49E2-B8D5-2F265E6F1973}" type="slidenum">
              <a:rPr lang="en-US" smtClean="0"/>
              <a:pPr/>
              <a:t>38</a:t>
            </a:fld>
            <a:endParaRPr lang="en-US" dirty="0"/>
          </a:p>
        </p:txBody>
      </p:sp>
    </p:spTree>
    <p:extLst>
      <p:ext uri="{BB962C8B-B14F-4D97-AF65-F5344CB8AC3E}">
        <p14:creationId xmlns:p14="http://schemas.microsoft.com/office/powerpoint/2010/main" val="35369905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539844" cy="903231"/>
          </a:xfrm>
        </p:spPr>
        <p:txBody>
          <a:bodyPr>
            <a:normAutofit fontScale="90000"/>
          </a:bodyPr>
          <a:lstStyle/>
          <a:p>
            <a:r>
              <a:rPr lang="en-US" sz="3600" dirty="0"/>
              <a:t>Example 5-9: Monthly Mortgage Payments </a:t>
            </a:r>
            <a:r>
              <a:rPr lang="en-US" sz="1100" b="0" dirty="0"/>
              <a:t>1</a:t>
            </a:r>
          </a:p>
        </p:txBody>
      </p:sp>
      <p:sp>
        <p:nvSpPr>
          <p:cNvPr id="3" name="Content Placeholder 2"/>
          <p:cNvSpPr>
            <a:spLocks noGrp="1"/>
          </p:cNvSpPr>
          <p:nvPr>
            <p:ph sz="quarter" idx="11"/>
          </p:nvPr>
        </p:nvSpPr>
        <p:spPr>
          <a:xfrm>
            <a:off x="342900" y="1276709"/>
            <a:ext cx="8458200" cy="2128963"/>
          </a:xfrm>
        </p:spPr>
        <p:txBody>
          <a:bodyPr/>
          <a:lstStyle/>
          <a:p>
            <a:r>
              <a:rPr lang="en-US" sz="1800" b="1" dirty="0"/>
              <a:t>Monthly Mortgage Payments</a:t>
            </a:r>
          </a:p>
          <a:p>
            <a:r>
              <a:rPr lang="en-US" sz="1800" dirty="0"/>
              <a:t>Say that you have your heart set on purchasing a beautiful, old Tudor–style house for $250,000. A mortgage broker says that you can qualify for a mortgage for 80 percent (or $200,000) of the price. If you get a 15–year mortgage, the interest rate will be 6.1 percent A</a:t>
            </a:r>
            <a:r>
              <a:rPr lang="en-US" sz="100" dirty="0"/>
              <a:t> </a:t>
            </a:r>
            <a:r>
              <a:rPr lang="en-US" sz="1800" dirty="0"/>
              <a:t>P</a:t>
            </a:r>
            <a:r>
              <a:rPr lang="en-US" sz="100" dirty="0"/>
              <a:t> </a:t>
            </a:r>
            <a:r>
              <a:rPr lang="en-US" sz="1800" dirty="0"/>
              <a:t>R. A 30–year mortgage costs 6.4 percent. One of the factors that will help you decide which mortgage to take is the magnitude of the monthly payments. What will they be?</a:t>
            </a:r>
            <a:r>
              <a:rPr lang="en-US" sz="1800" baseline="30000" dirty="0"/>
              <a:t>3</a:t>
            </a:r>
            <a:endParaRPr lang="en-US" sz="1800" dirty="0"/>
          </a:p>
        </p:txBody>
      </p:sp>
      <p:sp>
        <p:nvSpPr>
          <p:cNvPr id="4" name="Content Placeholder 3"/>
          <p:cNvSpPr>
            <a:spLocks noGrp="1"/>
          </p:cNvSpPr>
          <p:nvPr>
            <p:ph sz="quarter" idx="14"/>
          </p:nvPr>
        </p:nvSpPr>
        <p:spPr>
          <a:xfrm>
            <a:off x="342900" y="3679968"/>
            <a:ext cx="8458200" cy="1853085"/>
          </a:xfrm>
        </p:spPr>
        <p:txBody>
          <a:bodyPr/>
          <a:lstStyle/>
          <a:p>
            <a:r>
              <a:rPr lang="en-US" sz="1800" b="1" dirty="0"/>
              <a:t>Solution:</a:t>
            </a:r>
          </a:p>
          <a:p>
            <a:r>
              <a:rPr lang="en-US" sz="1800" dirty="0"/>
              <a:t>To pay off the mortgage in only 15 years, the payments would have to be larger than for the 30–year mortgage. The higher payment will be eased somewhat because the interest rate is lower on the 15–year mortgage. The interest rate would be </a:t>
            </a:r>
            <a:r>
              <a:rPr lang="en-US" sz="1800" i="1" dirty="0" err="1"/>
              <a:t>i</a:t>
            </a:r>
            <a:r>
              <a:rPr lang="en-US" sz="1800" dirty="0"/>
              <a:t> = 0.061 ÷ 12 = 0.0050833, or 0.50833% per month. The payment for the 15-year mortgage is</a:t>
            </a:r>
          </a:p>
        </p:txBody>
      </p:sp>
      <p:sp>
        <p:nvSpPr>
          <p:cNvPr id="11" name="Slide Number Placeholder 10"/>
          <p:cNvSpPr>
            <a:spLocks noGrp="1"/>
          </p:cNvSpPr>
          <p:nvPr>
            <p:ph type="sldNum" sz="quarter" idx="10"/>
          </p:nvPr>
        </p:nvSpPr>
        <p:spPr/>
        <p:txBody>
          <a:bodyPr/>
          <a:lstStyle/>
          <a:p>
            <a:fld id="{68151E55-6873-49E2-B8D5-2F265E6F1973}" type="slidenum">
              <a:rPr lang="en-US" smtClean="0"/>
              <a:t>39</a:t>
            </a:fld>
            <a:endParaRPr lang="en-US" dirty="0"/>
          </a:p>
        </p:txBody>
      </p:sp>
    </p:spTree>
    <p:extLst>
      <p:ext uri="{BB962C8B-B14F-4D97-AF65-F5344CB8AC3E}">
        <p14:creationId xmlns:p14="http://schemas.microsoft.com/office/powerpoint/2010/main" val="42848894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539844" cy="903231"/>
          </a:xfrm>
        </p:spPr>
        <p:txBody>
          <a:bodyPr>
            <a:normAutofit fontScale="90000"/>
          </a:bodyPr>
          <a:lstStyle/>
          <a:p>
            <a:r>
              <a:rPr lang="en-US" sz="3600" dirty="0"/>
              <a:t>Example 5-9: Monthly Mortgage Payments </a:t>
            </a:r>
            <a:r>
              <a:rPr lang="en-US" sz="1100" b="0" dirty="0"/>
              <a:t>2</a:t>
            </a:r>
          </a:p>
        </p:txBody>
      </p:sp>
      <p:graphicFrame>
        <p:nvGraphicFramePr>
          <p:cNvPr id="12" name="Object 11"/>
          <p:cNvGraphicFramePr>
            <a:graphicFrameLocks noChangeAspect="1"/>
          </p:cNvGraphicFramePr>
          <p:nvPr>
            <p:extLst>
              <p:ext uri="{D42A27DB-BD31-4B8C-83A1-F6EECF244321}">
                <p14:modId xmlns:p14="http://schemas.microsoft.com/office/powerpoint/2010/main" val="1899431056"/>
              </p:ext>
            </p:extLst>
          </p:nvPr>
        </p:nvGraphicFramePr>
        <p:xfrm>
          <a:off x="860425" y="1446213"/>
          <a:ext cx="7505700" cy="1358900"/>
        </p:xfrm>
        <a:graphic>
          <a:graphicData uri="http://schemas.openxmlformats.org/presentationml/2006/ole">
            <mc:AlternateContent xmlns:mc="http://schemas.openxmlformats.org/markup-compatibility/2006">
              <mc:Choice xmlns:v="urn:schemas-microsoft-com:vml" Requires="v">
                <p:oleObj spid="_x0000_s59459" name="Equation" r:id="rId3" imgW="7505640" imgH="1358640" progId="Equation.DSMT4">
                  <p:embed/>
                </p:oleObj>
              </mc:Choice>
              <mc:Fallback>
                <p:oleObj name="Equation" r:id="rId3" imgW="7505640" imgH="1358640" progId="Equation.DSMT4">
                  <p:embed/>
                  <p:pic>
                    <p:nvPicPr>
                      <p:cNvPr id="12" name="Object 11"/>
                      <p:cNvPicPr/>
                      <p:nvPr/>
                    </p:nvPicPr>
                    <p:blipFill>
                      <a:blip r:embed="rId4"/>
                      <a:stretch>
                        <a:fillRect/>
                      </a:stretch>
                    </p:blipFill>
                    <p:spPr>
                      <a:xfrm>
                        <a:off x="860425" y="1446213"/>
                        <a:ext cx="7505700" cy="1358900"/>
                      </a:xfrm>
                      <a:prstGeom prst="rect">
                        <a:avLst/>
                      </a:prstGeom>
                    </p:spPr>
                  </p:pic>
                </p:oleObj>
              </mc:Fallback>
            </mc:AlternateContent>
          </a:graphicData>
        </a:graphic>
      </p:graphicFrame>
      <p:sp>
        <p:nvSpPr>
          <p:cNvPr id="3" name="Content Placeholder 2"/>
          <p:cNvSpPr>
            <a:spLocks noGrp="1"/>
          </p:cNvSpPr>
          <p:nvPr>
            <p:ph sz="quarter" idx="11"/>
          </p:nvPr>
        </p:nvSpPr>
        <p:spPr>
          <a:xfrm>
            <a:off x="342899" y="3023120"/>
            <a:ext cx="8448869" cy="354563"/>
          </a:xfrm>
        </p:spPr>
        <p:txBody>
          <a:bodyPr/>
          <a:lstStyle/>
          <a:p>
            <a:r>
              <a:rPr lang="en-US" sz="1800" dirty="0"/>
              <a:t> The payment for the 30–year mortgage would be</a:t>
            </a:r>
          </a:p>
        </p:txBody>
      </p:sp>
      <p:graphicFrame>
        <p:nvGraphicFramePr>
          <p:cNvPr id="13" name="Object 12"/>
          <p:cNvGraphicFramePr>
            <a:graphicFrameLocks noChangeAspect="1"/>
          </p:cNvGraphicFramePr>
          <p:nvPr>
            <p:extLst>
              <p:ext uri="{D42A27DB-BD31-4B8C-83A1-F6EECF244321}">
                <p14:modId xmlns:p14="http://schemas.microsoft.com/office/powerpoint/2010/main" val="1110166435"/>
              </p:ext>
            </p:extLst>
          </p:nvPr>
        </p:nvGraphicFramePr>
        <p:xfrm>
          <a:off x="746125" y="3675063"/>
          <a:ext cx="7620000" cy="1358900"/>
        </p:xfrm>
        <a:graphic>
          <a:graphicData uri="http://schemas.openxmlformats.org/presentationml/2006/ole">
            <mc:AlternateContent xmlns:mc="http://schemas.openxmlformats.org/markup-compatibility/2006">
              <mc:Choice xmlns:v="urn:schemas-microsoft-com:vml" Requires="v">
                <p:oleObj spid="_x0000_s59460" name="Equation" r:id="rId5" imgW="7619760" imgH="1358640" progId="Equation.DSMT4">
                  <p:embed/>
                </p:oleObj>
              </mc:Choice>
              <mc:Fallback>
                <p:oleObj name="Equation" r:id="rId5" imgW="7619760" imgH="1358640" progId="Equation.DSMT4">
                  <p:embed/>
                  <p:pic>
                    <p:nvPicPr>
                      <p:cNvPr id="0" name=""/>
                      <p:cNvPicPr/>
                      <p:nvPr/>
                    </p:nvPicPr>
                    <p:blipFill>
                      <a:blip r:embed="rId6"/>
                      <a:stretch>
                        <a:fillRect/>
                      </a:stretch>
                    </p:blipFill>
                    <p:spPr>
                      <a:xfrm>
                        <a:off x="746125" y="3675063"/>
                        <a:ext cx="7620000" cy="1358900"/>
                      </a:xfrm>
                      <a:prstGeom prst="rect">
                        <a:avLst/>
                      </a:prstGeom>
                    </p:spPr>
                  </p:pic>
                </p:oleObj>
              </mc:Fallback>
            </mc:AlternateContent>
          </a:graphicData>
        </a:graphic>
      </p:graphicFrame>
      <p:sp>
        <p:nvSpPr>
          <p:cNvPr id="11" name="Slide Number Placeholder 10"/>
          <p:cNvSpPr>
            <a:spLocks noGrp="1"/>
          </p:cNvSpPr>
          <p:nvPr>
            <p:ph type="sldNum" sz="quarter" idx="10"/>
          </p:nvPr>
        </p:nvSpPr>
        <p:spPr/>
        <p:txBody>
          <a:bodyPr/>
          <a:lstStyle/>
          <a:p>
            <a:fld id="{68151E55-6873-49E2-B8D5-2F265E6F1973}" type="slidenum">
              <a:rPr lang="en-US" smtClean="0"/>
              <a:t>40</a:t>
            </a:fld>
            <a:endParaRPr lang="en-US" dirty="0"/>
          </a:p>
        </p:txBody>
      </p:sp>
    </p:spTree>
    <p:extLst>
      <p:ext uri="{BB962C8B-B14F-4D97-AF65-F5344CB8AC3E}">
        <p14:creationId xmlns:p14="http://schemas.microsoft.com/office/powerpoint/2010/main" val="5229775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Compute the Time Period</a:t>
            </a:r>
          </a:p>
        </p:txBody>
      </p:sp>
      <p:sp>
        <p:nvSpPr>
          <p:cNvPr id="3" name="Content Placeholder 2"/>
          <p:cNvSpPr>
            <a:spLocks noGrp="1"/>
          </p:cNvSpPr>
          <p:nvPr>
            <p:ph sz="quarter" idx="11"/>
          </p:nvPr>
        </p:nvSpPr>
        <p:spPr>
          <a:xfrm>
            <a:off x="342900" y="1276710"/>
            <a:ext cx="8458200" cy="617404"/>
          </a:xfrm>
        </p:spPr>
        <p:txBody>
          <a:bodyPr/>
          <a:lstStyle/>
          <a:p>
            <a:pPr marL="292608" indent="-292608">
              <a:buFont typeface="Arial" panose="020B0604020202020204" pitchFamily="34" charset="0"/>
              <a:buChar char="•"/>
            </a:pPr>
            <a:r>
              <a:rPr lang="en-US" sz="1800" dirty="0"/>
              <a:t>You might also find it useful to know how long it will take to pay off a loan with specific annuity payments.</a:t>
            </a:r>
          </a:p>
        </p:txBody>
      </p:sp>
      <p:sp>
        <p:nvSpPr>
          <p:cNvPr id="4" name="Content Placeholder 3"/>
          <p:cNvSpPr>
            <a:spLocks noGrp="1"/>
          </p:cNvSpPr>
          <p:nvPr>
            <p:ph sz="quarter" idx="14"/>
          </p:nvPr>
        </p:nvSpPr>
        <p:spPr>
          <a:xfrm>
            <a:off x="342900" y="2015413"/>
            <a:ext cx="8458200" cy="1586203"/>
          </a:xfrm>
        </p:spPr>
        <p:txBody>
          <a:bodyPr/>
          <a:lstStyle/>
          <a:p>
            <a:r>
              <a:rPr lang="en-US" sz="1800" b="1" dirty="0"/>
              <a:t>Time to Pay Off a Credit Card Balance.</a:t>
            </a:r>
          </a:p>
          <a:p>
            <a:r>
              <a:rPr lang="en-US" sz="1800" dirty="0"/>
              <a:t>Through poor financial management, your friend has racked up $5,000 in debt on his credit card. The card charges a 19 percent A</a:t>
            </a:r>
            <a:r>
              <a:rPr lang="en-US" sz="100" dirty="0"/>
              <a:t> </a:t>
            </a:r>
            <a:r>
              <a:rPr lang="en-US" sz="1800" dirty="0"/>
              <a:t>P</a:t>
            </a:r>
            <a:r>
              <a:rPr lang="en-US" sz="100" dirty="0"/>
              <a:t> </a:t>
            </a:r>
            <a:r>
              <a:rPr lang="en-US" sz="1800" dirty="0"/>
              <a:t>R and compounds monthly. His latest bill shows that he must pay a minimum of $150 this month. At this rate, how long will it take your friend to pay off his credit card debt?</a:t>
            </a:r>
          </a:p>
        </p:txBody>
      </p:sp>
      <p:sp>
        <p:nvSpPr>
          <p:cNvPr id="5" name="Content Placeholder 4"/>
          <p:cNvSpPr>
            <a:spLocks noGrp="1"/>
          </p:cNvSpPr>
          <p:nvPr>
            <p:ph sz="quarter" idx="15"/>
          </p:nvPr>
        </p:nvSpPr>
        <p:spPr>
          <a:xfrm>
            <a:off x="342900" y="3722916"/>
            <a:ext cx="8458200" cy="2435288"/>
          </a:xfrm>
        </p:spPr>
        <p:txBody>
          <a:bodyPr/>
          <a:lstStyle/>
          <a:p>
            <a:r>
              <a:rPr lang="en-US" sz="1800" b="1" dirty="0"/>
              <a:t>Solution:</a:t>
            </a:r>
          </a:p>
          <a:p>
            <a:r>
              <a:rPr lang="en-US" sz="1800" dirty="0"/>
              <a:t>Using the financial calculator, input I = 1.58333 (= 19/12), P</a:t>
            </a:r>
            <a:r>
              <a:rPr lang="en-US" sz="100" dirty="0"/>
              <a:t> </a:t>
            </a:r>
            <a:r>
              <a:rPr lang="en-US" sz="1800" dirty="0"/>
              <a:t>V = 5000, P</a:t>
            </a:r>
            <a:r>
              <a:rPr lang="en-US" sz="100" dirty="0"/>
              <a:t> </a:t>
            </a:r>
            <a:r>
              <a:rPr lang="en-US" sz="1800" dirty="0"/>
              <a:t>M</a:t>
            </a:r>
            <a:r>
              <a:rPr lang="en-US" sz="100" dirty="0"/>
              <a:t> </a:t>
            </a:r>
            <a:r>
              <a:rPr lang="en-US" sz="1800" dirty="0"/>
              <a:t>T = −150, F</a:t>
            </a:r>
            <a:r>
              <a:rPr lang="en-US" sz="100" dirty="0"/>
              <a:t> </a:t>
            </a:r>
            <a:r>
              <a:rPr lang="en-US" sz="1800" dirty="0"/>
              <a:t>V = 0. The answer is 48 months, or 4 years. If the friend pays the minimum payment, then it will be a long time before he will be out of debt. The credit card company is very content to continue to earn the high return for many years–essentially, the interest on the loan and a very small portion of the principal. Your friend should pay more than the minimum charge to reduce his debt quicker.</a:t>
            </a:r>
          </a:p>
        </p:txBody>
      </p:sp>
      <p:sp>
        <p:nvSpPr>
          <p:cNvPr id="11" name="Slide Number Placeholder 10"/>
          <p:cNvSpPr>
            <a:spLocks noGrp="1"/>
          </p:cNvSpPr>
          <p:nvPr>
            <p:ph type="sldNum" sz="quarter" idx="10"/>
          </p:nvPr>
        </p:nvSpPr>
        <p:spPr/>
        <p:txBody>
          <a:bodyPr/>
          <a:lstStyle/>
          <a:p>
            <a:fld id="{68151E55-6873-49E2-B8D5-2F265E6F1973}" type="slidenum">
              <a:rPr lang="en-US" smtClean="0"/>
              <a:t>41</a:t>
            </a:fld>
            <a:endParaRPr lang="en-US" dirty="0"/>
          </a:p>
        </p:txBody>
      </p:sp>
    </p:spTree>
    <p:extLst>
      <p:ext uri="{BB962C8B-B14F-4D97-AF65-F5344CB8AC3E}">
        <p14:creationId xmlns:p14="http://schemas.microsoft.com/office/powerpoint/2010/main" val="13755308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2552223-CD1B-4E39-9608-076D7C2D75A0}"/>
              </a:ext>
            </a:extLst>
          </p:cNvPr>
          <p:cNvSpPr>
            <a:spLocks noGrp="1"/>
          </p:cNvSpPr>
          <p:nvPr>
            <p:ph type="title"/>
          </p:nvPr>
        </p:nvSpPr>
        <p:spPr/>
        <p:txBody>
          <a:bodyPr>
            <a:normAutofit/>
          </a:bodyPr>
          <a:lstStyle/>
          <a:p>
            <a:r>
              <a:rPr lang="en-US" sz="3600" dirty="0"/>
              <a:t>Add-On Interest</a:t>
            </a:r>
          </a:p>
        </p:txBody>
      </p:sp>
      <p:sp>
        <p:nvSpPr>
          <p:cNvPr id="3" name="Content Placeholder 2">
            <a:extLst>
              <a:ext uri="{FF2B5EF4-FFF2-40B4-BE49-F238E27FC236}">
                <a16:creationId xmlns:a16="http://schemas.microsoft.com/office/drawing/2014/main" xmlns="" id="{75495670-2FA2-4FCA-A6B9-FD4B79CEBF90}"/>
              </a:ext>
            </a:extLst>
          </p:cNvPr>
          <p:cNvSpPr>
            <a:spLocks noGrp="1"/>
          </p:cNvSpPr>
          <p:nvPr>
            <p:ph sz="quarter" idx="11"/>
          </p:nvPr>
        </p:nvSpPr>
        <p:spPr>
          <a:xfrm>
            <a:off x="342900" y="1276710"/>
            <a:ext cx="8458200" cy="1710330"/>
          </a:xfrm>
        </p:spPr>
        <p:txBody>
          <a:bodyPr/>
          <a:lstStyle/>
          <a:p>
            <a:r>
              <a:rPr lang="en-US" b="1" dirty="0"/>
              <a:t>Add-on interest</a:t>
            </a:r>
            <a:r>
              <a:rPr lang="en-US" dirty="0"/>
              <a:t> is a calculation of the amount of interest determined at the beginning of the loan and then added to the principal.</a:t>
            </a:r>
          </a:p>
          <a:p>
            <a:pPr marL="292608" indent="-292608">
              <a:buFont typeface="Arial" panose="020B0604020202020204" pitchFamily="34" charset="0"/>
              <a:buChar char="•"/>
            </a:pPr>
            <a:r>
              <a:rPr lang="en-US" dirty="0"/>
              <a:t>Popular in payday lending.</a:t>
            </a:r>
          </a:p>
        </p:txBody>
      </p:sp>
      <p:sp>
        <p:nvSpPr>
          <p:cNvPr id="4" name="Content Placeholder 3">
            <a:extLst>
              <a:ext uri="{FF2B5EF4-FFF2-40B4-BE49-F238E27FC236}">
                <a16:creationId xmlns:a16="http://schemas.microsoft.com/office/drawing/2014/main" xmlns="" id="{DD32DFCB-4D79-4FCA-8C1C-96C386C5BB38}"/>
              </a:ext>
            </a:extLst>
          </p:cNvPr>
          <p:cNvSpPr>
            <a:spLocks noGrp="1"/>
          </p:cNvSpPr>
          <p:nvPr>
            <p:ph sz="quarter" idx="14"/>
          </p:nvPr>
        </p:nvSpPr>
        <p:spPr>
          <a:xfrm>
            <a:off x="342900" y="3076336"/>
            <a:ext cx="8458200" cy="1312784"/>
          </a:xfrm>
        </p:spPr>
        <p:txBody>
          <a:bodyPr/>
          <a:lstStyle/>
          <a:p>
            <a:r>
              <a:rPr lang="en-US" dirty="0"/>
              <a:t>Consider a $1,000 loan to be paid with 9% add-on interest and repaid in 6 monthly payments.</a:t>
            </a:r>
          </a:p>
          <a:p>
            <a:pPr marL="292608" indent="-292608">
              <a:buFont typeface="Arial" panose="020B0604020202020204" pitchFamily="34" charset="0"/>
              <a:buChar char="•"/>
            </a:pPr>
            <a:r>
              <a:rPr lang="en-US" dirty="0"/>
              <a:t>Total interest for this loan is computed as 9% of $1,000 for</a:t>
            </a:r>
          </a:p>
        </p:txBody>
      </p:sp>
      <p:sp>
        <p:nvSpPr>
          <p:cNvPr id="5" name="Content Placeholder 4">
            <a:extLst>
              <a:ext uri="{FF2B5EF4-FFF2-40B4-BE49-F238E27FC236}">
                <a16:creationId xmlns:a16="http://schemas.microsoft.com/office/drawing/2014/main" xmlns="" id="{66B50444-7685-45BA-B5D8-00C856614092}"/>
              </a:ext>
            </a:extLst>
          </p:cNvPr>
          <p:cNvSpPr>
            <a:spLocks noGrp="1"/>
          </p:cNvSpPr>
          <p:nvPr>
            <p:ph sz="quarter" idx="15"/>
          </p:nvPr>
        </p:nvSpPr>
        <p:spPr>
          <a:xfrm>
            <a:off x="342901" y="4592584"/>
            <a:ext cx="3093267" cy="406136"/>
          </a:xfrm>
        </p:spPr>
        <p:txBody>
          <a:bodyPr tIns="0" rIns="0"/>
          <a:lstStyle/>
          <a:p>
            <a:pPr marL="292608"/>
            <a:r>
              <a:rPr lang="en-US" dirty="0"/>
              <a:t>six months, or $45</a:t>
            </a:r>
          </a:p>
        </p:txBody>
      </p:sp>
      <p:graphicFrame>
        <p:nvGraphicFramePr>
          <p:cNvPr id="20" name="Object 19">
            <a:extLst>
              <a:ext uri="{FF2B5EF4-FFF2-40B4-BE49-F238E27FC236}">
                <a16:creationId xmlns:a16="http://schemas.microsoft.com/office/drawing/2014/main" xmlns="" id="{52E72E99-95D1-462A-BEA5-080B1575A152}"/>
              </a:ext>
            </a:extLst>
          </p:cNvPr>
          <p:cNvGraphicFramePr>
            <a:graphicFrameLocks noChangeAspect="1"/>
          </p:cNvGraphicFramePr>
          <p:nvPr>
            <p:extLst>
              <p:ext uri="{D42A27DB-BD31-4B8C-83A1-F6EECF244321}">
                <p14:modId xmlns:p14="http://schemas.microsoft.com/office/powerpoint/2010/main" val="2326209183"/>
              </p:ext>
            </p:extLst>
          </p:nvPr>
        </p:nvGraphicFramePr>
        <p:xfrm>
          <a:off x="3282950" y="4381783"/>
          <a:ext cx="2578100" cy="804862"/>
        </p:xfrm>
        <a:graphic>
          <a:graphicData uri="http://schemas.openxmlformats.org/presentationml/2006/ole">
            <mc:AlternateContent xmlns:mc="http://schemas.openxmlformats.org/markup-compatibility/2006">
              <mc:Choice xmlns:v="urn:schemas-microsoft-com:vml" Requires="v">
                <p:oleObj spid="_x0000_s60466" name="Equation" r:id="rId3" imgW="2603160" imgH="812520" progId="Equation.DSMT4">
                  <p:embed/>
                </p:oleObj>
              </mc:Choice>
              <mc:Fallback>
                <p:oleObj name="Equation" r:id="rId3" imgW="2603160" imgH="812520" progId="Equation.DSMT4">
                  <p:embed/>
                  <p:pic>
                    <p:nvPicPr>
                      <p:cNvPr id="0" name=""/>
                      <p:cNvPicPr/>
                      <p:nvPr/>
                    </p:nvPicPr>
                    <p:blipFill>
                      <a:blip r:embed="rId4"/>
                      <a:stretch>
                        <a:fillRect/>
                      </a:stretch>
                    </p:blipFill>
                    <p:spPr>
                      <a:xfrm>
                        <a:off x="3282950" y="4381783"/>
                        <a:ext cx="2578100" cy="804862"/>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xmlns="" id="{5FA56683-8CC4-4653-9F90-00D2D1DAD0F1}"/>
              </a:ext>
            </a:extLst>
          </p:cNvPr>
          <p:cNvSpPr>
            <a:spLocks noGrp="1"/>
          </p:cNvSpPr>
          <p:nvPr>
            <p:ph sz="quarter" idx="16"/>
          </p:nvPr>
        </p:nvSpPr>
        <p:spPr>
          <a:xfrm>
            <a:off x="342900" y="5294594"/>
            <a:ext cx="8458200" cy="466126"/>
          </a:xfrm>
        </p:spPr>
        <p:txBody>
          <a:bodyPr/>
          <a:lstStyle/>
          <a:p>
            <a:pPr marL="292608" indent="-292608">
              <a:buFont typeface="Arial" panose="020B0604020202020204" pitchFamily="34" charset="0"/>
              <a:buChar char="•"/>
            </a:pPr>
            <a:r>
              <a:rPr lang="en-US" dirty="0"/>
              <a:t>This is added to the principal for a total of $1,045.</a:t>
            </a:r>
          </a:p>
        </p:txBody>
      </p:sp>
      <p:sp>
        <p:nvSpPr>
          <p:cNvPr id="7" name="Content Placeholder 6">
            <a:extLst>
              <a:ext uri="{FF2B5EF4-FFF2-40B4-BE49-F238E27FC236}">
                <a16:creationId xmlns:a16="http://schemas.microsoft.com/office/drawing/2014/main" xmlns="" id="{59E13AC7-1CB2-4CF5-8E6C-135F326D9438}"/>
              </a:ext>
            </a:extLst>
          </p:cNvPr>
          <p:cNvSpPr>
            <a:spLocks noGrp="1"/>
          </p:cNvSpPr>
          <p:nvPr>
            <p:ph sz="quarter" idx="17"/>
          </p:nvPr>
        </p:nvSpPr>
        <p:spPr>
          <a:xfrm>
            <a:off x="342900" y="5823884"/>
            <a:ext cx="4442459" cy="485476"/>
          </a:xfrm>
        </p:spPr>
        <p:txBody>
          <a:bodyPr/>
          <a:lstStyle/>
          <a:p>
            <a:pPr marL="292608" indent="-292608">
              <a:buFont typeface="Arial" panose="020B0604020202020204" pitchFamily="34" charset="0"/>
              <a:buChar char="•"/>
            </a:pPr>
            <a:r>
              <a:rPr lang="en-US" dirty="0"/>
              <a:t>Each of the payments is then</a:t>
            </a:r>
          </a:p>
        </p:txBody>
      </p:sp>
      <p:graphicFrame>
        <p:nvGraphicFramePr>
          <p:cNvPr id="21" name="Object 20">
            <a:extLst>
              <a:ext uri="{FF2B5EF4-FFF2-40B4-BE49-F238E27FC236}">
                <a16:creationId xmlns:a16="http://schemas.microsoft.com/office/drawing/2014/main" xmlns="" id="{C9D56814-C739-4FC8-BBBA-872E5E010E9B}"/>
              </a:ext>
            </a:extLst>
          </p:cNvPr>
          <p:cNvGraphicFramePr>
            <a:graphicFrameLocks noChangeAspect="1"/>
          </p:cNvGraphicFramePr>
          <p:nvPr>
            <p:extLst>
              <p:ext uri="{D42A27DB-BD31-4B8C-83A1-F6EECF244321}">
                <p14:modId xmlns:p14="http://schemas.microsoft.com/office/powerpoint/2010/main" val="3839182311"/>
              </p:ext>
            </p:extLst>
          </p:nvPr>
        </p:nvGraphicFramePr>
        <p:xfrm>
          <a:off x="4848860" y="5910898"/>
          <a:ext cx="2565400" cy="342900"/>
        </p:xfrm>
        <a:graphic>
          <a:graphicData uri="http://schemas.openxmlformats.org/presentationml/2006/ole">
            <mc:AlternateContent xmlns:mc="http://schemas.openxmlformats.org/markup-compatibility/2006">
              <mc:Choice xmlns:v="urn:schemas-microsoft-com:vml" Requires="v">
                <p:oleObj spid="_x0000_s60467" name="Equation" r:id="rId5" imgW="2565360" imgH="342720" progId="Equation.DSMT4">
                  <p:embed/>
                </p:oleObj>
              </mc:Choice>
              <mc:Fallback>
                <p:oleObj name="Equation" r:id="rId5" imgW="2565360" imgH="342720" progId="Equation.DSMT4">
                  <p:embed/>
                  <p:pic>
                    <p:nvPicPr>
                      <p:cNvPr id="0" name=""/>
                      <p:cNvPicPr/>
                      <p:nvPr/>
                    </p:nvPicPr>
                    <p:blipFill>
                      <a:blip r:embed="rId6"/>
                      <a:stretch>
                        <a:fillRect/>
                      </a:stretch>
                    </p:blipFill>
                    <p:spPr>
                      <a:xfrm>
                        <a:off x="4848860" y="5910898"/>
                        <a:ext cx="2565400" cy="342900"/>
                      </a:xfrm>
                      <a:prstGeom prst="rect">
                        <a:avLst/>
                      </a:prstGeom>
                    </p:spPr>
                  </p:pic>
                </p:oleObj>
              </mc:Fallback>
            </mc:AlternateContent>
          </a:graphicData>
        </a:graphic>
      </p:graphicFrame>
      <p:sp>
        <p:nvSpPr>
          <p:cNvPr id="17" name="Slide Number Placeholder 16">
            <a:extLst>
              <a:ext uri="{FF2B5EF4-FFF2-40B4-BE49-F238E27FC236}">
                <a16:creationId xmlns:a16="http://schemas.microsoft.com/office/drawing/2014/main" xmlns="" id="{B3C86F6B-919D-4E8F-A46D-927C4E6E456E}"/>
              </a:ext>
            </a:extLst>
          </p:cNvPr>
          <p:cNvSpPr>
            <a:spLocks noGrp="1"/>
          </p:cNvSpPr>
          <p:nvPr>
            <p:ph type="sldNum" sz="quarter" idx="10"/>
          </p:nvPr>
        </p:nvSpPr>
        <p:spPr/>
        <p:txBody>
          <a:bodyPr/>
          <a:lstStyle/>
          <a:p>
            <a:fld id="{68151E55-6873-49E2-B8D5-2F265E6F1973}" type="slidenum">
              <a:rPr lang="en-US" smtClean="0"/>
              <a:t>42</a:t>
            </a:fld>
            <a:endParaRPr lang="en-US"/>
          </a:p>
        </p:txBody>
      </p:sp>
    </p:spTree>
    <p:extLst>
      <p:ext uri="{BB962C8B-B14F-4D97-AF65-F5344CB8AC3E}">
        <p14:creationId xmlns:p14="http://schemas.microsoft.com/office/powerpoint/2010/main" val="35233357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xmlns="" id="{6F92C4D4-C867-4E2F-BF62-33A518B42728}"/>
              </a:ext>
            </a:extLst>
          </p:cNvPr>
          <p:cNvSpPr>
            <a:spLocks noGrp="1"/>
          </p:cNvSpPr>
          <p:nvPr>
            <p:ph type="title"/>
          </p:nvPr>
        </p:nvSpPr>
        <p:spPr/>
        <p:txBody>
          <a:bodyPr/>
          <a:lstStyle/>
          <a:p>
            <a:r>
              <a:rPr lang="en-US" noProof="0" dirty="0"/>
              <a:t>End of Main Content</a:t>
            </a:r>
          </a:p>
        </p:txBody>
      </p:sp>
      <p:sp>
        <p:nvSpPr>
          <p:cNvPr id="4" name="Content Placeholder 3">
            <a:extLst>
              <a:ext uri="{FF2B5EF4-FFF2-40B4-BE49-F238E27FC236}">
                <a16:creationId xmlns:a16="http://schemas.microsoft.com/office/drawing/2014/main" xmlns="" id="{9946A61A-BFE6-4A7C-8D2C-21B89B6A8546}"/>
              </a:ext>
            </a:extLst>
          </p:cNvPr>
          <p:cNvSpPr>
            <a:spLocks noGrp="1"/>
          </p:cNvSpPr>
          <p:nvPr>
            <p:ph sz="quarter" idx="10"/>
          </p:nvPr>
        </p:nvSpPr>
        <p:spPr>
          <a:xfrm>
            <a:off x="218768" y="6563339"/>
            <a:ext cx="8715375" cy="187325"/>
          </a:xfrm>
        </p:spPr>
        <p:txBody>
          <a:bodyPr anchor="ctr"/>
          <a:lstStyle/>
          <a:p>
            <a:pPr algn="ctr"/>
            <a:r>
              <a:rPr lang="en-US" sz="1200" noProof="0"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38482663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0B6140-A63B-4D20-A758-54BAF6E00ACE}"/>
              </a:ext>
            </a:extLst>
          </p:cNvPr>
          <p:cNvSpPr>
            <a:spLocks noGrp="1"/>
          </p:cNvSpPr>
          <p:nvPr>
            <p:ph type="title"/>
          </p:nvPr>
        </p:nvSpPr>
        <p:spPr/>
        <p:txBody>
          <a:bodyPr/>
          <a:lstStyle/>
          <a:p>
            <a:r>
              <a:rPr lang="en-US" noProof="0" dirty="0"/>
              <a:t>Accessibility Content: Text Alternatives for Images</a:t>
            </a:r>
          </a:p>
        </p:txBody>
      </p:sp>
      <p:sp>
        <p:nvSpPr>
          <p:cNvPr id="3" name="Slide Number Placeholder 5">
            <a:extLst>
              <a:ext uri="{FF2B5EF4-FFF2-40B4-BE49-F238E27FC236}">
                <a16:creationId xmlns:a16="http://schemas.microsoft.com/office/drawing/2014/main" xmlns="" id="{99425F5E-218C-4E40-933D-8D72AE70AC8F}"/>
              </a:ext>
            </a:extLst>
          </p:cNvPr>
          <p:cNvSpPr>
            <a:spLocks noGrp="1"/>
          </p:cNvSpPr>
          <p:nvPr>
            <p:ph type="sldNum" sz="quarter" idx="10"/>
          </p:nvPr>
        </p:nvSpPr>
        <p:spPr>
          <a:xfrm>
            <a:off x="8626412" y="6673531"/>
            <a:ext cx="355840" cy="161396"/>
          </a:xfrm>
        </p:spPr>
        <p:txBody>
          <a:bodyPr/>
          <a:lstStyle/>
          <a:p>
            <a:fld id="{68151E55-6873-49E2-B8D5-2F265E6F1973}" type="slidenum">
              <a:rPr lang="en-US" sz="800" smtClean="0"/>
              <a:t>44</a:t>
            </a:fld>
            <a:endParaRPr lang="en-US" sz="800" dirty="0"/>
          </a:p>
        </p:txBody>
      </p:sp>
    </p:spTree>
    <p:extLst>
      <p:ext uri="{BB962C8B-B14F-4D97-AF65-F5344CB8AC3E}">
        <p14:creationId xmlns:p14="http://schemas.microsoft.com/office/powerpoint/2010/main" val="424501654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000" dirty="0"/>
              <a:t>Finding FV – Several Cash Flows Example – Text Alternative</a:t>
            </a:r>
          </a:p>
        </p:txBody>
      </p:sp>
      <p:sp>
        <p:nvSpPr>
          <p:cNvPr id="3" name="Text Placeholder 2"/>
          <p:cNvSpPr>
            <a:spLocks noGrp="1"/>
          </p:cNvSpPr>
          <p:nvPr>
            <p:ph type="body" sz="quarter" idx="14"/>
          </p:nvPr>
        </p:nvSpPr>
        <p:spPr/>
        <p:txBody>
          <a:bodyPr/>
          <a:lstStyle/>
          <a:p>
            <a:r>
              <a:rPr lang="en-US" dirty="0">
                <a:hlinkClick r:id="rId2" action="ppaction://hlinksldjump"/>
              </a:rPr>
              <a:t>Return to parent-slide containing images.</a:t>
            </a:r>
            <a:endParaRPr lang="en-US" dirty="0"/>
          </a:p>
        </p:txBody>
      </p:sp>
      <p:sp>
        <p:nvSpPr>
          <p:cNvPr id="4" name="Content Placeholder 3"/>
          <p:cNvSpPr>
            <a:spLocks noGrp="1"/>
          </p:cNvSpPr>
          <p:nvPr>
            <p:ph sz="quarter" idx="11"/>
          </p:nvPr>
        </p:nvSpPr>
        <p:spPr/>
        <p:txBody>
          <a:bodyPr/>
          <a:lstStyle/>
          <a:p>
            <a:r>
              <a:rPr lang="en-US" dirty="0"/>
              <a:t>On the time line are period from 0 to 3 years from left to right, then cash flow made: 0, negative 100; 1, negative 125; 2, negative 150; and F V is unknown on the third year. </a:t>
            </a:r>
            <a:r>
              <a:rPr lang="en-US"/>
              <a:t>The time line shows the deposits and future value of an annuity with 7 percent interest rate.</a:t>
            </a:r>
            <a:endParaRPr lang="en-US" dirty="0"/>
          </a:p>
        </p:txBody>
      </p:sp>
      <p:sp>
        <p:nvSpPr>
          <p:cNvPr id="5" name="Text Placeholder 4"/>
          <p:cNvSpPr>
            <a:spLocks noGrp="1"/>
          </p:cNvSpPr>
          <p:nvPr>
            <p:ph type="body" sz="quarter" idx="15"/>
          </p:nvPr>
        </p:nvSpPr>
        <p:spPr/>
        <p:txBody>
          <a:bodyPr/>
          <a:lstStyle/>
          <a:p>
            <a:pPr algn="ctr"/>
            <a:r>
              <a:rPr lang="en-US" dirty="0">
                <a:hlinkClick r:id="rId2" action="ppaction://hlinksldjump"/>
              </a:rPr>
              <a:t>Return to parent-slide containing images.</a:t>
            </a:r>
            <a:endParaRPr lang="en-US" dirty="0"/>
          </a:p>
        </p:txBody>
      </p:sp>
      <p:sp>
        <p:nvSpPr>
          <p:cNvPr id="6" name="Slide Number Placeholder 5"/>
          <p:cNvSpPr>
            <a:spLocks noGrp="1"/>
          </p:cNvSpPr>
          <p:nvPr>
            <p:ph type="sldNum" sz="quarter" idx="10"/>
          </p:nvPr>
        </p:nvSpPr>
        <p:spPr/>
        <p:txBody>
          <a:bodyPr/>
          <a:lstStyle/>
          <a:p>
            <a:fld id="{68151E55-6873-49E2-B8D5-2F265E6F1973}" type="slidenum">
              <a:rPr lang="en-US" sz="800" smtClean="0"/>
              <a:t>45</a:t>
            </a:fld>
            <a:endParaRPr lang="en-US" sz="800" dirty="0"/>
          </a:p>
        </p:txBody>
      </p:sp>
    </p:spTree>
    <p:extLst>
      <p:ext uri="{BB962C8B-B14F-4D97-AF65-F5344CB8AC3E}">
        <p14:creationId xmlns:p14="http://schemas.microsoft.com/office/powerpoint/2010/main" val="32420200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000" dirty="0"/>
              <a:t>Finding FV – Level Cash Flows Example – Text Alternative</a:t>
            </a:r>
          </a:p>
        </p:txBody>
      </p:sp>
      <p:sp>
        <p:nvSpPr>
          <p:cNvPr id="3" name="Text Placeholder 2"/>
          <p:cNvSpPr>
            <a:spLocks noGrp="1"/>
          </p:cNvSpPr>
          <p:nvPr>
            <p:ph type="body" sz="quarter" idx="14"/>
          </p:nvPr>
        </p:nvSpPr>
        <p:spPr/>
        <p:txBody>
          <a:bodyPr/>
          <a:lstStyle/>
          <a:p>
            <a:r>
              <a:rPr lang="en-US" dirty="0">
                <a:hlinkClick r:id="rId2" action="ppaction://hlinksldjump"/>
              </a:rPr>
              <a:t>Return to parent-slide containing images.</a:t>
            </a:r>
            <a:endParaRPr lang="en-US" dirty="0"/>
          </a:p>
        </p:txBody>
      </p:sp>
      <p:sp>
        <p:nvSpPr>
          <p:cNvPr id="4" name="Content Placeholder 3"/>
          <p:cNvSpPr>
            <a:spLocks noGrp="1"/>
          </p:cNvSpPr>
          <p:nvPr>
            <p:ph sz="quarter" idx="11"/>
          </p:nvPr>
        </p:nvSpPr>
        <p:spPr/>
        <p:txBody>
          <a:bodyPr/>
          <a:lstStyle/>
          <a:p>
            <a:r>
              <a:rPr lang="en-US" dirty="0"/>
              <a:t>On the time line are period from 0 to 5 years from left to right, then cash flow made minus 100 each year, and F V equal to 586.66 is on the fifth year. The time line shows the deposits and future value of an annuity with 8 percent interest rate.</a:t>
            </a:r>
          </a:p>
        </p:txBody>
      </p:sp>
      <p:sp>
        <p:nvSpPr>
          <p:cNvPr id="5" name="Text Placeholder 4"/>
          <p:cNvSpPr>
            <a:spLocks noGrp="1"/>
          </p:cNvSpPr>
          <p:nvPr>
            <p:ph type="body" sz="quarter" idx="15"/>
          </p:nvPr>
        </p:nvSpPr>
        <p:spPr/>
        <p:txBody>
          <a:bodyPr/>
          <a:lstStyle/>
          <a:p>
            <a:pPr algn="ctr"/>
            <a:r>
              <a:rPr lang="en-US" dirty="0">
                <a:hlinkClick r:id="rId2" action="ppaction://hlinksldjump"/>
              </a:rPr>
              <a:t>Return to parent-slide containing images.</a:t>
            </a:r>
            <a:endParaRPr lang="en-US" dirty="0"/>
          </a:p>
        </p:txBody>
      </p:sp>
      <p:sp>
        <p:nvSpPr>
          <p:cNvPr id="6" name="Slide Number Placeholder 5"/>
          <p:cNvSpPr>
            <a:spLocks noGrp="1"/>
          </p:cNvSpPr>
          <p:nvPr>
            <p:ph type="sldNum" sz="quarter" idx="10"/>
          </p:nvPr>
        </p:nvSpPr>
        <p:spPr/>
        <p:txBody>
          <a:bodyPr/>
          <a:lstStyle/>
          <a:p>
            <a:fld id="{68151E55-6873-49E2-B8D5-2F265E6F1973}" type="slidenum">
              <a:rPr lang="en-US" sz="800" smtClean="0"/>
              <a:t>46</a:t>
            </a:fld>
            <a:endParaRPr lang="en-US" sz="800"/>
          </a:p>
        </p:txBody>
      </p:sp>
    </p:spTree>
    <p:extLst>
      <p:ext uri="{BB962C8B-B14F-4D97-AF65-F5344CB8AC3E}">
        <p14:creationId xmlns:p14="http://schemas.microsoft.com/office/powerpoint/2010/main" val="23105502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000" dirty="0"/>
              <a:t>Future Value of a $100 Annuity at 6 Percent – Text Alternative</a:t>
            </a:r>
          </a:p>
        </p:txBody>
      </p:sp>
      <p:sp>
        <p:nvSpPr>
          <p:cNvPr id="3" name="Text Placeholder 2"/>
          <p:cNvSpPr>
            <a:spLocks noGrp="1"/>
          </p:cNvSpPr>
          <p:nvPr>
            <p:ph type="body" sz="quarter" idx="14"/>
          </p:nvPr>
        </p:nvSpPr>
        <p:spPr/>
        <p:txBody>
          <a:bodyPr/>
          <a:lstStyle/>
          <a:p>
            <a:r>
              <a:rPr lang="en-US" dirty="0">
                <a:hlinkClick r:id="rId2" action="ppaction://hlinksldjump"/>
              </a:rPr>
              <a:t>Return to parent-slide containing images.</a:t>
            </a:r>
            <a:endParaRPr lang="en-US" dirty="0"/>
          </a:p>
        </p:txBody>
      </p:sp>
      <p:sp>
        <p:nvSpPr>
          <p:cNvPr id="4" name="Content Placeholder 3"/>
          <p:cNvSpPr>
            <a:spLocks noGrp="1"/>
          </p:cNvSpPr>
          <p:nvPr>
            <p:ph sz="quarter" idx="11"/>
          </p:nvPr>
        </p:nvSpPr>
        <p:spPr/>
        <p:txBody>
          <a:bodyPr/>
          <a:lstStyle/>
          <a:p>
            <a:r>
              <a:rPr lang="en-US" dirty="0"/>
              <a:t>On the x-axis are years, 1 to 40; on the y-axis is value, 0 to $16,000 in increments of $2,000. The line is the principal contributed, and increases at a steady rate of $100 per year. The bar graph represents the value of the annuity, which increases more quickly than the line. Values given are (20, $3,678.56) and (40, $15,476.20).</a:t>
            </a:r>
          </a:p>
        </p:txBody>
      </p:sp>
      <p:sp>
        <p:nvSpPr>
          <p:cNvPr id="5" name="Text Placeholder 4"/>
          <p:cNvSpPr>
            <a:spLocks noGrp="1"/>
          </p:cNvSpPr>
          <p:nvPr>
            <p:ph type="body" sz="quarter" idx="15"/>
          </p:nvPr>
        </p:nvSpPr>
        <p:spPr/>
        <p:txBody>
          <a:bodyPr/>
          <a:lstStyle/>
          <a:p>
            <a:pPr algn="ctr"/>
            <a:r>
              <a:rPr lang="en-US" dirty="0">
                <a:hlinkClick r:id="rId2" action="ppaction://hlinksldjump"/>
              </a:rPr>
              <a:t>Return to parent-slide containing images.</a:t>
            </a:r>
            <a:endParaRPr lang="en-US" dirty="0"/>
          </a:p>
        </p:txBody>
      </p:sp>
      <p:sp>
        <p:nvSpPr>
          <p:cNvPr id="6" name="Slide Number Placeholder 5"/>
          <p:cNvSpPr>
            <a:spLocks noGrp="1"/>
          </p:cNvSpPr>
          <p:nvPr>
            <p:ph type="sldNum" sz="quarter" idx="10"/>
          </p:nvPr>
        </p:nvSpPr>
        <p:spPr/>
        <p:txBody>
          <a:bodyPr/>
          <a:lstStyle/>
          <a:p>
            <a:fld id="{68151E55-6873-49E2-B8D5-2F265E6F1973}" type="slidenum">
              <a:rPr lang="en-US" sz="800" smtClean="0"/>
              <a:t>47</a:t>
            </a:fld>
            <a:endParaRPr lang="en-US" sz="800"/>
          </a:p>
        </p:txBody>
      </p:sp>
    </p:spTree>
    <p:extLst>
      <p:ext uri="{BB962C8B-B14F-4D97-AF65-F5344CB8AC3E}">
        <p14:creationId xmlns:p14="http://schemas.microsoft.com/office/powerpoint/2010/main" val="81762508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000" dirty="0"/>
              <a:t>Finding PV – Several Cash Flows Example </a:t>
            </a:r>
            <a:r>
              <a:rPr lang="en-US" sz="1000" b="0" dirty="0"/>
              <a:t>1</a:t>
            </a:r>
            <a:r>
              <a:rPr lang="en-US" sz="3000" b="0" dirty="0"/>
              <a:t> </a:t>
            </a:r>
            <a:r>
              <a:rPr lang="en-US" sz="3000" dirty="0"/>
              <a:t>– Text Alternative</a:t>
            </a:r>
          </a:p>
        </p:txBody>
      </p:sp>
      <p:sp>
        <p:nvSpPr>
          <p:cNvPr id="3" name="Text Placeholder 2"/>
          <p:cNvSpPr>
            <a:spLocks noGrp="1"/>
          </p:cNvSpPr>
          <p:nvPr>
            <p:ph type="body" sz="quarter" idx="14"/>
          </p:nvPr>
        </p:nvSpPr>
        <p:spPr/>
        <p:txBody>
          <a:bodyPr/>
          <a:lstStyle/>
          <a:p>
            <a:r>
              <a:rPr lang="en-US" dirty="0">
                <a:hlinkClick r:id="rId2" action="ppaction://hlinksldjump"/>
              </a:rPr>
              <a:t>Return to parent-slide containing images.</a:t>
            </a:r>
            <a:endParaRPr lang="en-US" dirty="0"/>
          </a:p>
        </p:txBody>
      </p:sp>
      <p:sp>
        <p:nvSpPr>
          <p:cNvPr id="4" name="Content Placeholder 3"/>
          <p:cNvSpPr>
            <a:spLocks noGrp="1"/>
          </p:cNvSpPr>
          <p:nvPr>
            <p:ph sz="quarter" idx="11"/>
          </p:nvPr>
        </p:nvSpPr>
        <p:spPr/>
        <p:txBody>
          <a:bodyPr/>
          <a:lstStyle/>
          <a:p>
            <a:r>
              <a:rPr lang="en-US" dirty="0"/>
              <a:t>On the time line are period from 0 to 2 years from left to right, then cash flow from minus 100 to minus 150 in increments of negative 25, and P V equal to question mark on the left. The time line shows the calculation of present value of several cash flows at 7 percent interest rate.</a:t>
            </a:r>
          </a:p>
        </p:txBody>
      </p:sp>
      <p:sp>
        <p:nvSpPr>
          <p:cNvPr id="5" name="Text Placeholder 4"/>
          <p:cNvSpPr>
            <a:spLocks noGrp="1"/>
          </p:cNvSpPr>
          <p:nvPr>
            <p:ph type="body" sz="quarter" idx="15"/>
          </p:nvPr>
        </p:nvSpPr>
        <p:spPr/>
        <p:txBody>
          <a:bodyPr/>
          <a:lstStyle/>
          <a:p>
            <a:pPr algn="ctr"/>
            <a:r>
              <a:rPr lang="en-US" dirty="0">
                <a:hlinkClick r:id="rId2" action="ppaction://hlinksldjump"/>
              </a:rPr>
              <a:t>Return to parent-slide containing images.</a:t>
            </a:r>
            <a:endParaRPr lang="en-US" dirty="0"/>
          </a:p>
        </p:txBody>
      </p:sp>
      <p:sp>
        <p:nvSpPr>
          <p:cNvPr id="6" name="Slide Number Placeholder 5"/>
          <p:cNvSpPr>
            <a:spLocks noGrp="1"/>
          </p:cNvSpPr>
          <p:nvPr>
            <p:ph type="sldNum" sz="quarter" idx="10"/>
          </p:nvPr>
        </p:nvSpPr>
        <p:spPr/>
        <p:txBody>
          <a:bodyPr/>
          <a:lstStyle/>
          <a:p>
            <a:fld id="{68151E55-6873-49E2-B8D5-2F265E6F1973}" type="slidenum">
              <a:rPr lang="en-US" sz="800" smtClean="0"/>
              <a:t>48</a:t>
            </a:fld>
            <a:endParaRPr lang="en-US" sz="800"/>
          </a:p>
        </p:txBody>
      </p:sp>
    </p:spTree>
    <p:extLst>
      <p:ext uri="{BB962C8B-B14F-4D97-AF65-F5344CB8AC3E}">
        <p14:creationId xmlns:p14="http://schemas.microsoft.com/office/powerpoint/2010/main" val="385069290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000" dirty="0"/>
              <a:t>Finding PV – Level Cash Flows Example – Text Alternative</a:t>
            </a:r>
          </a:p>
        </p:txBody>
      </p:sp>
      <p:sp>
        <p:nvSpPr>
          <p:cNvPr id="3" name="Text Placeholder 2"/>
          <p:cNvSpPr>
            <a:spLocks noGrp="1"/>
          </p:cNvSpPr>
          <p:nvPr>
            <p:ph type="body" sz="quarter" idx="14"/>
          </p:nvPr>
        </p:nvSpPr>
        <p:spPr/>
        <p:txBody>
          <a:bodyPr/>
          <a:lstStyle/>
          <a:p>
            <a:r>
              <a:rPr lang="en-US" dirty="0">
                <a:hlinkClick r:id="rId2" action="ppaction://hlinksldjump"/>
              </a:rPr>
              <a:t>Return to parent-slide containing images.</a:t>
            </a:r>
            <a:endParaRPr lang="en-US" dirty="0"/>
          </a:p>
        </p:txBody>
      </p:sp>
      <p:sp>
        <p:nvSpPr>
          <p:cNvPr id="4" name="Content Placeholder 3"/>
          <p:cNvSpPr>
            <a:spLocks noGrp="1"/>
          </p:cNvSpPr>
          <p:nvPr>
            <p:ph sz="quarter" idx="11"/>
          </p:nvPr>
        </p:nvSpPr>
        <p:spPr/>
        <p:txBody>
          <a:bodyPr/>
          <a:lstStyle/>
          <a:p>
            <a:r>
              <a:rPr lang="en-US" dirty="0"/>
              <a:t>On the time line are period from 0 to 5 years from left to right, then cash flow is minus 100 each year, and P V equal to 399.27 on the left. The time line shows the present value of cash flow with 8 percent interest rate.</a:t>
            </a:r>
          </a:p>
        </p:txBody>
      </p:sp>
      <p:sp>
        <p:nvSpPr>
          <p:cNvPr id="5" name="Text Placeholder 4"/>
          <p:cNvSpPr>
            <a:spLocks noGrp="1"/>
          </p:cNvSpPr>
          <p:nvPr>
            <p:ph type="body" sz="quarter" idx="15"/>
          </p:nvPr>
        </p:nvSpPr>
        <p:spPr/>
        <p:txBody>
          <a:bodyPr/>
          <a:lstStyle/>
          <a:p>
            <a:pPr algn="ctr"/>
            <a:r>
              <a:rPr lang="en-US" dirty="0">
                <a:hlinkClick r:id="rId2" action="ppaction://hlinksldjump"/>
              </a:rPr>
              <a:t>Return to parent-slide containing images.</a:t>
            </a:r>
            <a:endParaRPr lang="en-US" dirty="0"/>
          </a:p>
        </p:txBody>
      </p:sp>
      <p:sp>
        <p:nvSpPr>
          <p:cNvPr id="6" name="Slide Number Placeholder 5"/>
          <p:cNvSpPr>
            <a:spLocks noGrp="1"/>
          </p:cNvSpPr>
          <p:nvPr>
            <p:ph type="sldNum" sz="quarter" idx="10"/>
          </p:nvPr>
        </p:nvSpPr>
        <p:spPr/>
        <p:txBody>
          <a:bodyPr/>
          <a:lstStyle/>
          <a:p>
            <a:fld id="{68151E55-6873-49E2-B8D5-2F265E6F1973}" type="slidenum">
              <a:rPr lang="en-US" sz="800" smtClean="0"/>
              <a:t>49</a:t>
            </a:fld>
            <a:endParaRPr lang="en-US" sz="800"/>
          </a:p>
        </p:txBody>
      </p:sp>
    </p:spTree>
    <p:extLst>
      <p:ext uri="{BB962C8B-B14F-4D97-AF65-F5344CB8AC3E}">
        <p14:creationId xmlns:p14="http://schemas.microsoft.com/office/powerpoint/2010/main" val="5953993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PV – Multiple Annuities Example </a:t>
            </a:r>
            <a:r>
              <a:rPr lang="en-US" sz="900" b="0" dirty="0"/>
              <a:t>1</a:t>
            </a:r>
            <a:r>
              <a:rPr lang="en-US" sz="3000" dirty="0"/>
              <a:t> – Text Alternative</a:t>
            </a:r>
          </a:p>
        </p:txBody>
      </p:sp>
      <p:sp>
        <p:nvSpPr>
          <p:cNvPr id="3" name="Text Placeholder 2"/>
          <p:cNvSpPr>
            <a:spLocks noGrp="1"/>
          </p:cNvSpPr>
          <p:nvPr>
            <p:ph type="body" sz="quarter" idx="14"/>
          </p:nvPr>
        </p:nvSpPr>
        <p:spPr/>
        <p:txBody>
          <a:bodyPr/>
          <a:lstStyle/>
          <a:p>
            <a:r>
              <a:rPr lang="en-US" dirty="0">
                <a:hlinkClick r:id="rId2" action="ppaction://hlinksldjump"/>
              </a:rPr>
              <a:t>Return to parent-slide containing images.</a:t>
            </a:r>
            <a:endParaRPr lang="en-US" dirty="0"/>
          </a:p>
        </p:txBody>
      </p:sp>
      <p:sp>
        <p:nvSpPr>
          <p:cNvPr id="4" name="Content Placeholder 3"/>
          <p:cNvSpPr>
            <a:spLocks noGrp="1"/>
          </p:cNvSpPr>
          <p:nvPr>
            <p:ph sz="quarter" idx="11"/>
          </p:nvPr>
        </p:nvSpPr>
        <p:spPr/>
        <p:txBody>
          <a:bodyPr>
            <a:noAutofit/>
          </a:bodyPr>
          <a:lstStyle/>
          <a:p>
            <a:r>
              <a:rPr lang="en-US" sz="1700" dirty="0"/>
              <a:t>There are three time lines. The first time line shows the overall salary cash flows. The time line starts with a period from left to right from 0 to 7 in increments of 1 unit. Below the time line is the cash flow with the following at each time period from left to right: P V = ?; 30; 30; 30; 31; 32; 32; 32. Between the time period of 2 and 3, 5% is entered. The second time line states first create a $32 million, 7-year annuity. The time line starts with a period from left to right from 0 to 7 in increments of 1 unit. Below the time line is the cash flow with the following at each time period from left to right: P V = ?; 32; 32; 32; 32; 32; 32; 32. Below the cash flow row are the following values under the values related to the periods 1 to 4: negative 2; negative 2; negative 2; negative 1. Between the time period of 2 and 3, 5% is entered. The third time line states now create a negative 1 million, 4-year annuity. The time line starts with a period from left to right from 0 to 7 in increments of 1 unit. Below the time line is the cash flow with the following at each time period from left to right: P V = ?; 32; 32; 32; 32; 32; 32; 32. Below the cash flow row are the following values under the values related to the periods 1 to 4: negative 1; negative 1; negative 1; negative 1. The bottom row under the time periods 1 to 3 are as follows: negative 1; negative 1; negative 1. Between the time period of 2 and 3, 5% is entered.</a:t>
            </a:r>
          </a:p>
        </p:txBody>
      </p:sp>
      <p:sp>
        <p:nvSpPr>
          <p:cNvPr id="5" name="Text Placeholder 4"/>
          <p:cNvSpPr>
            <a:spLocks noGrp="1"/>
          </p:cNvSpPr>
          <p:nvPr>
            <p:ph type="body" sz="quarter" idx="15"/>
          </p:nvPr>
        </p:nvSpPr>
        <p:spPr/>
        <p:txBody>
          <a:bodyPr/>
          <a:lstStyle/>
          <a:p>
            <a:pPr algn="ctr"/>
            <a:r>
              <a:rPr lang="en-US" dirty="0">
                <a:hlinkClick r:id="rId2" action="ppaction://hlinksldjump"/>
              </a:rPr>
              <a:t>Return to parent-slide containing images.</a:t>
            </a:r>
            <a:endParaRPr lang="en-US" dirty="0"/>
          </a:p>
        </p:txBody>
      </p:sp>
      <p:sp>
        <p:nvSpPr>
          <p:cNvPr id="6" name="Slide Number Placeholder 5"/>
          <p:cNvSpPr>
            <a:spLocks noGrp="1"/>
          </p:cNvSpPr>
          <p:nvPr>
            <p:ph type="sldNum" sz="quarter" idx="10"/>
          </p:nvPr>
        </p:nvSpPr>
        <p:spPr/>
        <p:txBody>
          <a:bodyPr/>
          <a:lstStyle/>
          <a:p>
            <a:fld id="{68151E55-6873-49E2-B8D5-2F265E6F1973}" type="slidenum">
              <a:rPr lang="en-US" sz="800" smtClean="0"/>
              <a:t>50</a:t>
            </a:fld>
            <a:endParaRPr lang="en-US" sz="800"/>
          </a:p>
        </p:txBody>
      </p:sp>
    </p:spTree>
    <p:extLst>
      <p:ext uri="{BB962C8B-B14F-4D97-AF65-F5344CB8AC3E}">
        <p14:creationId xmlns:p14="http://schemas.microsoft.com/office/powerpoint/2010/main" val="362478269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000" dirty="0"/>
              <a:t>PV – Multiple Annuities Example </a:t>
            </a:r>
            <a:r>
              <a:rPr lang="en-US" sz="1000" b="0" dirty="0"/>
              <a:t>2</a:t>
            </a:r>
            <a:r>
              <a:rPr lang="en-US" sz="3000" b="0" dirty="0"/>
              <a:t> </a:t>
            </a:r>
            <a:r>
              <a:rPr lang="en-US" sz="3000" dirty="0"/>
              <a:t>– Text Alternative</a:t>
            </a:r>
          </a:p>
        </p:txBody>
      </p:sp>
      <p:sp>
        <p:nvSpPr>
          <p:cNvPr id="3" name="Text Placeholder 2"/>
          <p:cNvSpPr>
            <a:spLocks noGrp="1"/>
          </p:cNvSpPr>
          <p:nvPr>
            <p:ph type="body" sz="quarter" idx="14"/>
          </p:nvPr>
        </p:nvSpPr>
        <p:spPr/>
        <p:txBody>
          <a:bodyPr/>
          <a:lstStyle/>
          <a:p>
            <a:r>
              <a:rPr lang="en-US" dirty="0">
                <a:hlinkClick r:id="rId2" action="ppaction://hlinksldjump"/>
              </a:rPr>
              <a:t>Return to parent-slide containing images.</a:t>
            </a:r>
            <a:endParaRPr lang="en-US" dirty="0"/>
          </a:p>
        </p:txBody>
      </p:sp>
      <p:sp>
        <p:nvSpPr>
          <p:cNvPr id="4" name="Content Placeholder 3"/>
          <p:cNvSpPr>
            <a:spLocks noGrp="1"/>
          </p:cNvSpPr>
          <p:nvPr>
            <p:ph sz="quarter" idx="11"/>
          </p:nvPr>
        </p:nvSpPr>
        <p:spPr/>
        <p:txBody>
          <a:bodyPr/>
          <a:lstStyle/>
          <a:p>
            <a:r>
              <a:rPr lang="en-US" dirty="0"/>
              <a:t>Calculator hints button: n = 7; I = 5; PMT = negative 32; F V = 0; C P T, P V = 185.16. Now change to: n = 4; PMT = 1; C P T, P V = negative 3.55. Now change to: n = 3; C P T, P V = negative 2.72.</a:t>
            </a:r>
          </a:p>
        </p:txBody>
      </p:sp>
      <p:sp>
        <p:nvSpPr>
          <p:cNvPr id="5" name="Text Placeholder 4"/>
          <p:cNvSpPr>
            <a:spLocks noGrp="1"/>
          </p:cNvSpPr>
          <p:nvPr>
            <p:ph type="body" sz="quarter" idx="15"/>
          </p:nvPr>
        </p:nvSpPr>
        <p:spPr/>
        <p:txBody>
          <a:bodyPr/>
          <a:lstStyle/>
          <a:p>
            <a:pPr algn="ctr"/>
            <a:r>
              <a:rPr lang="en-US" dirty="0">
                <a:hlinkClick r:id="rId2" action="ppaction://hlinksldjump"/>
              </a:rPr>
              <a:t>Return to parent-slide containing images.</a:t>
            </a:r>
            <a:endParaRPr lang="en-US" dirty="0"/>
          </a:p>
        </p:txBody>
      </p:sp>
      <p:sp>
        <p:nvSpPr>
          <p:cNvPr id="6" name="Slide Number Placeholder 5"/>
          <p:cNvSpPr>
            <a:spLocks noGrp="1"/>
          </p:cNvSpPr>
          <p:nvPr>
            <p:ph type="sldNum" sz="quarter" idx="10"/>
          </p:nvPr>
        </p:nvSpPr>
        <p:spPr/>
        <p:txBody>
          <a:bodyPr/>
          <a:lstStyle/>
          <a:p>
            <a:fld id="{68151E55-6873-49E2-B8D5-2F265E6F1973}" type="slidenum">
              <a:rPr lang="en-US" sz="800" smtClean="0"/>
              <a:t>51</a:t>
            </a:fld>
            <a:endParaRPr lang="en-US" sz="800"/>
          </a:p>
        </p:txBody>
      </p:sp>
    </p:spTree>
    <p:extLst>
      <p:ext uri="{BB962C8B-B14F-4D97-AF65-F5344CB8AC3E}">
        <p14:creationId xmlns:p14="http://schemas.microsoft.com/office/powerpoint/2010/main" val="18206247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000" dirty="0"/>
              <a:t>Annuity Due Time Line Example – Text Alternative</a:t>
            </a:r>
          </a:p>
        </p:txBody>
      </p:sp>
      <p:sp>
        <p:nvSpPr>
          <p:cNvPr id="3" name="Text Placeholder 2"/>
          <p:cNvSpPr>
            <a:spLocks noGrp="1"/>
          </p:cNvSpPr>
          <p:nvPr>
            <p:ph type="body" sz="quarter" idx="14"/>
          </p:nvPr>
        </p:nvSpPr>
        <p:spPr/>
        <p:txBody>
          <a:bodyPr/>
          <a:lstStyle/>
          <a:p>
            <a:r>
              <a:rPr lang="en-US" dirty="0">
                <a:hlinkClick r:id="rId2" action="ppaction://hlinksldjump"/>
              </a:rPr>
              <a:t>Return to parent-slide containing images.</a:t>
            </a:r>
            <a:endParaRPr lang="en-US" dirty="0"/>
          </a:p>
        </p:txBody>
      </p:sp>
      <p:sp>
        <p:nvSpPr>
          <p:cNvPr id="4" name="Content Placeholder 3"/>
          <p:cNvSpPr>
            <a:spLocks noGrp="1"/>
          </p:cNvSpPr>
          <p:nvPr>
            <p:ph sz="quarter" idx="11"/>
          </p:nvPr>
        </p:nvSpPr>
        <p:spPr/>
        <p:txBody>
          <a:bodyPr/>
          <a:lstStyle/>
          <a:p>
            <a:r>
              <a:rPr lang="en-US" dirty="0"/>
              <a:t>On the time line are period from 0 to 5 years with I = 8% and cash flow of minus 100 each year. The five annuity-due cash flows are the same as a payment today and a four-year ordinary annuity.</a:t>
            </a:r>
          </a:p>
        </p:txBody>
      </p:sp>
      <p:sp>
        <p:nvSpPr>
          <p:cNvPr id="5" name="Text Placeholder 4"/>
          <p:cNvSpPr>
            <a:spLocks noGrp="1"/>
          </p:cNvSpPr>
          <p:nvPr>
            <p:ph type="body" sz="quarter" idx="15"/>
          </p:nvPr>
        </p:nvSpPr>
        <p:spPr/>
        <p:txBody>
          <a:bodyPr/>
          <a:lstStyle/>
          <a:p>
            <a:pPr algn="ctr"/>
            <a:r>
              <a:rPr lang="en-US" dirty="0">
                <a:hlinkClick r:id="rId2" action="ppaction://hlinksldjump"/>
              </a:rPr>
              <a:t>Return to parent-slide containing images.</a:t>
            </a:r>
            <a:endParaRPr lang="en-US" dirty="0"/>
          </a:p>
        </p:txBody>
      </p:sp>
      <p:sp>
        <p:nvSpPr>
          <p:cNvPr id="6" name="Slide Number Placeholder 5"/>
          <p:cNvSpPr>
            <a:spLocks noGrp="1"/>
          </p:cNvSpPr>
          <p:nvPr>
            <p:ph type="sldNum" sz="quarter" idx="10"/>
          </p:nvPr>
        </p:nvSpPr>
        <p:spPr/>
        <p:txBody>
          <a:bodyPr/>
          <a:lstStyle/>
          <a:p>
            <a:fld id="{68151E55-6873-49E2-B8D5-2F265E6F1973}" type="slidenum">
              <a:rPr lang="en-US" sz="800" smtClean="0"/>
              <a:t>52</a:t>
            </a:fld>
            <a:endParaRPr lang="en-US" sz="800"/>
          </a:p>
        </p:txBody>
      </p:sp>
    </p:spTree>
    <p:extLst>
      <p:ext uri="{BB962C8B-B14F-4D97-AF65-F5344CB8AC3E}">
        <p14:creationId xmlns:p14="http://schemas.microsoft.com/office/powerpoint/2010/main" val="183390901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84F6219E-3D47-41AC-9893-1108D06AA07D}"/>
    </a:ext>
  </a:extLst>
</a:theme>
</file>

<file path=ppt/theme/theme2.xml><?xml version="1.0" encoding="utf-8"?>
<a:theme xmlns:a="http://schemas.openxmlformats.org/drawingml/2006/main" name="MainContentSlideMaster">
  <a:themeElements>
    <a:clrScheme name="Custom 164">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FEE61EC3-6634-45B5-BF77-FBC9B835BC79}"/>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A15A20A0-BEE6-47A5-BC6B-F87134FBF13C}"/>
    </a:ext>
  </a:extLst>
</a:theme>
</file>

<file path=ppt/theme/theme5.xml><?xml version="1.0" encoding="utf-8"?>
<a:theme xmlns:a="http://schemas.openxmlformats.org/drawingml/2006/main" name="ImageDescriptionAppendixSlideMaster">
  <a:themeElements>
    <a:clrScheme name="Custom 16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22313DF8-AA3F-4A8D-9652-6DDC53D759E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Nickels_UB13e_PPT_Instructor_Ch03</Template>
  <TotalTime>2404</TotalTime>
  <Words>3809</Words>
  <Application>Microsoft Office PowerPoint</Application>
  <PresentationFormat>On-screen Show (4:3)</PresentationFormat>
  <Paragraphs>301</Paragraphs>
  <Slides>52</Slides>
  <Notes>4</Notes>
  <HiddenSlides>9</HiddenSlides>
  <MMClips>0</MMClips>
  <ScaleCrop>false</ScaleCrop>
  <HeadingPairs>
    <vt:vector size="8" baseType="variant">
      <vt:variant>
        <vt:lpstr>Fonts Used</vt:lpstr>
      </vt:variant>
      <vt:variant>
        <vt:i4>3</vt:i4>
      </vt:variant>
      <vt:variant>
        <vt:lpstr>Theme</vt:lpstr>
      </vt:variant>
      <vt:variant>
        <vt:i4>5</vt:i4>
      </vt:variant>
      <vt:variant>
        <vt:lpstr>Embedded OLE Servers</vt:lpstr>
      </vt:variant>
      <vt:variant>
        <vt:i4>1</vt:i4>
      </vt:variant>
      <vt:variant>
        <vt:lpstr>Slide Titles</vt:lpstr>
      </vt:variant>
      <vt:variant>
        <vt:i4>52</vt:i4>
      </vt:variant>
    </vt:vector>
  </HeadingPairs>
  <TitlesOfParts>
    <vt:vector size="61" baseType="lpstr">
      <vt:lpstr>Arial</vt:lpstr>
      <vt:lpstr>Calibri</vt:lpstr>
      <vt:lpstr>nimbus</vt:lpstr>
      <vt:lpstr>Title Slides Master</vt:lpstr>
      <vt:lpstr>MainContentSlideMaster</vt:lpstr>
      <vt:lpstr>ClosingMaster</vt:lpstr>
      <vt:lpstr>DividerSlideMaster</vt:lpstr>
      <vt:lpstr>ImageDescriptionAppendixSlideMaster</vt:lpstr>
      <vt:lpstr>Equation</vt:lpstr>
      <vt:lpstr>Chapter 5</vt:lpstr>
      <vt:lpstr>Learning Goals</vt:lpstr>
      <vt:lpstr>Introduction</vt:lpstr>
      <vt:lpstr>Future Value of Multiple Cash Flows</vt:lpstr>
      <vt:lpstr>Finding FV – Several Cash Flows Example</vt:lpstr>
      <vt:lpstr>General Equation</vt:lpstr>
      <vt:lpstr>Future Value – Level Cash Flows</vt:lpstr>
      <vt:lpstr>Finding FV – Level Cash Flows Example</vt:lpstr>
      <vt:lpstr>Future Value of a $100 Annuity at 6 Percent</vt:lpstr>
      <vt:lpstr>Future Value – Multiple Annuities</vt:lpstr>
      <vt:lpstr>Finding F V – Multiple Annuities Example</vt:lpstr>
      <vt:lpstr>Present Value of Multiple Cash Flows</vt:lpstr>
      <vt:lpstr>Finding PV – Several Cash Flows Example 1</vt:lpstr>
      <vt:lpstr>Finding P V – Several Cash Flows Example 2</vt:lpstr>
      <vt:lpstr>General Equation for Discounting Multiple and Varying Cash Flows</vt:lpstr>
      <vt:lpstr>Present Value – Level Cash Flows</vt:lpstr>
      <vt:lpstr>Finding PV – Level Cash Flows Example</vt:lpstr>
      <vt:lpstr>Present Value – Multiple Annuities</vt:lpstr>
      <vt:lpstr>PV – Multiple Annuities Example 1</vt:lpstr>
      <vt:lpstr>PV – Multiple Annuities Example 2</vt:lpstr>
      <vt:lpstr>Perpetuity – A Special Annuity</vt:lpstr>
      <vt:lpstr>Ordinary Annuity vs. Annuity Due</vt:lpstr>
      <vt:lpstr>Annuity Due Time Line Example</vt:lpstr>
      <vt:lpstr>Future Value of Annuity Due</vt:lpstr>
      <vt:lpstr>Present Value of Annuity Due</vt:lpstr>
      <vt:lpstr>Compounding Frequency</vt:lpstr>
      <vt:lpstr>Effect of Compounding Frequency 1</vt:lpstr>
      <vt:lpstr>Effect of Compounding Frequency 2</vt:lpstr>
      <vt:lpstr>E A Rs and A P Rs</vt:lpstr>
      <vt:lpstr>E A R vs. A P R Example</vt:lpstr>
      <vt:lpstr>Keep Variables Consistent</vt:lpstr>
      <vt:lpstr>Example 5-5: Car Loan Debt 1</vt:lpstr>
      <vt:lpstr>Example 5-5: Car Loan Debt 2</vt:lpstr>
      <vt:lpstr>Example 5-6: Making Monthly Pension Contributions</vt:lpstr>
      <vt:lpstr>Annuity Loans</vt:lpstr>
      <vt:lpstr>Finding Payments on Amortized Loan</vt:lpstr>
      <vt:lpstr>Finding Payments on Amortized Loan Example</vt:lpstr>
      <vt:lpstr>Amortized Loan Schedules</vt:lpstr>
      <vt:lpstr>Example 5-9: Monthly Mortgage Payments 1</vt:lpstr>
      <vt:lpstr>Example 5-9: Monthly Mortgage Payments 2</vt:lpstr>
      <vt:lpstr>Compute the Time Period</vt:lpstr>
      <vt:lpstr>Add-On Interest</vt:lpstr>
      <vt:lpstr>End of Main Content</vt:lpstr>
      <vt:lpstr>Accessibility Content: Text Alternatives for Images</vt:lpstr>
      <vt:lpstr>Finding FV – Several Cash Flows Example – Text Alternative</vt:lpstr>
      <vt:lpstr>Finding FV – Level Cash Flows Example – Text Alternative</vt:lpstr>
      <vt:lpstr>Future Value of a $100 Annuity at 6 Percent – Text Alternative</vt:lpstr>
      <vt:lpstr>Finding PV – Several Cash Flows Example 1 – Text Alternative</vt:lpstr>
      <vt:lpstr>Finding PV – Level Cash Flows Example – Text Alternative</vt:lpstr>
      <vt:lpstr>PV – Multiple Annuities Example 1 – Text Alternative</vt:lpstr>
      <vt:lpstr>PV – Multiple Annuities Example 2 – Text Alternative</vt:lpstr>
      <vt:lpstr>Annuity Due Time Line Example – Text Alternative</vt:lpstr>
    </vt:vector>
  </TitlesOfParts>
  <Company>McGraw Hill</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dc:title>
  <dc:creator/>
  <cp:keywords/>
  <cp:lastModifiedBy>Gunasundari Kuppan</cp:lastModifiedBy>
  <cp:revision>524</cp:revision>
  <dcterms:created xsi:type="dcterms:W3CDTF">2020-12-08T04:00:13Z</dcterms:created>
  <dcterms:modified xsi:type="dcterms:W3CDTF">2022-11-24T06:32:26Z</dcterms:modified>
</cp:coreProperties>
</file>