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46"/>
  </p:notesMasterIdLst>
  <p:sldIdLst>
    <p:sldId id="701" r:id="rId6"/>
    <p:sldId id="666" r:id="rId7"/>
    <p:sldId id="667" r:id="rId8"/>
    <p:sldId id="668" r:id="rId9"/>
    <p:sldId id="669" r:id="rId10"/>
    <p:sldId id="670" r:id="rId11"/>
    <p:sldId id="671" r:id="rId12"/>
    <p:sldId id="672" r:id="rId13"/>
    <p:sldId id="673" r:id="rId14"/>
    <p:sldId id="674" r:id="rId15"/>
    <p:sldId id="675" r:id="rId16"/>
    <p:sldId id="676" r:id="rId17"/>
    <p:sldId id="677" r:id="rId18"/>
    <p:sldId id="678" r:id="rId19"/>
    <p:sldId id="679" r:id="rId20"/>
    <p:sldId id="680" r:id="rId21"/>
    <p:sldId id="681" r:id="rId22"/>
    <p:sldId id="682" r:id="rId23"/>
    <p:sldId id="683" r:id="rId24"/>
    <p:sldId id="684" r:id="rId25"/>
    <p:sldId id="685" r:id="rId26"/>
    <p:sldId id="686" r:id="rId27"/>
    <p:sldId id="687" r:id="rId28"/>
    <p:sldId id="688" r:id="rId29"/>
    <p:sldId id="689" r:id="rId30"/>
    <p:sldId id="690" r:id="rId31"/>
    <p:sldId id="691" r:id="rId32"/>
    <p:sldId id="692" r:id="rId33"/>
    <p:sldId id="693" r:id="rId34"/>
    <p:sldId id="694" r:id="rId35"/>
    <p:sldId id="695" r:id="rId36"/>
    <p:sldId id="696" r:id="rId37"/>
    <p:sldId id="697" r:id="rId38"/>
    <p:sldId id="698" r:id="rId39"/>
    <p:sldId id="699" r:id="rId40"/>
    <p:sldId id="700" r:id="rId41"/>
    <p:sldId id="442" r:id="rId42"/>
    <p:sldId id="258" r:id="rId43"/>
    <p:sldId id="702" r:id="rId44"/>
    <p:sldId id="703"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701"/>
            <p14:sldId id="666"/>
            <p14:sldId id="667"/>
            <p14:sldId id="668"/>
            <p14:sldId id="669"/>
            <p14:sldId id="670"/>
            <p14:sldId id="671"/>
            <p14:sldId id="672"/>
            <p14:sldId id="673"/>
            <p14:sldId id="674"/>
            <p14:sldId id="675"/>
            <p14:sldId id="676"/>
            <p14:sldId id="677"/>
            <p14:sldId id="678"/>
            <p14:sldId id="679"/>
            <p14:sldId id="680"/>
            <p14:sldId id="681"/>
            <p14:sldId id="682"/>
            <p14:sldId id="683"/>
            <p14:sldId id="684"/>
            <p14:sldId id="685"/>
            <p14:sldId id="686"/>
            <p14:sldId id="687"/>
            <p14:sldId id="688"/>
            <p14:sldId id="689"/>
            <p14:sldId id="690"/>
            <p14:sldId id="691"/>
            <p14:sldId id="692"/>
            <p14:sldId id="693"/>
            <p14:sldId id="694"/>
            <p14:sldId id="695"/>
            <p14:sldId id="696"/>
            <p14:sldId id="697"/>
            <p14:sldId id="698"/>
            <p14:sldId id="699"/>
            <p14:sldId id="700"/>
            <p14:sldId id="442"/>
          </p14:sldIdLst>
        </p14:section>
        <p14:section name="Appendix: Image Descriptions for Unsighted Students" id="{9E859B0B-078E-463E-89A6-21C20DD280C4}">
          <p14:sldIdLst>
            <p14:sldId id="258"/>
            <p14:sldId id="702"/>
            <p14:sldId id="703"/>
          </p14:sldIdLst>
        </p14:section>
      </p14:sectionLst>
    </p:ext>
    <p:ext uri="{EFAFB233-063F-42B5-8137-9DF3F51BA10A}">
      <p15:sldGuideLst xmlns:p15="http://schemas.microsoft.com/office/powerpoint/2012/main">
        <p15:guide id="2" pos="3240" userDrawn="1">
          <p15:clr>
            <a:srgbClr val="A4A3A4"/>
          </p15:clr>
        </p15:guide>
        <p15:guide id="3" orient="horz" pos="2256" userDrawn="1">
          <p15:clr>
            <a:srgbClr val="A4A3A4"/>
          </p15:clr>
        </p15:guide>
        <p15:guide id="4" pos="5640" userDrawn="1">
          <p15:clr>
            <a:srgbClr val="A4A3A4"/>
          </p15:clr>
        </p15:guide>
        <p15:guide id="5" pos="4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A"/>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3" autoAdjust="0"/>
    <p:restoredTop sz="92579" autoAdjust="0"/>
  </p:normalViewPr>
  <p:slideViewPr>
    <p:cSldViewPr snapToGrid="0" showGuides="1">
      <p:cViewPr varScale="1">
        <p:scale>
          <a:sx n="57" d="100"/>
          <a:sy n="57" d="100"/>
        </p:scale>
        <p:origin x="78" y="210"/>
      </p:cViewPr>
      <p:guideLst>
        <p:guide pos="3240"/>
        <p:guide orient="horz" pos="2256"/>
        <p:guide pos="5640"/>
        <p:guide pos="456"/>
      </p:guideLst>
    </p:cSldViewPr>
  </p:slideViewPr>
  <p:outlineViewPr>
    <p:cViewPr>
      <p:scale>
        <a:sx n="33" d="100"/>
        <a:sy n="33" d="100"/>
      </p:scale>
      <p:origin x="0" y="-22692"/>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8/23/2024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real environment, some level of monopoly power, special knowledge, and expertise possibly can make such projects worth more than they cost. Investors, however, are trading financial assets in financial markets, where the assets are more likely to be worth, on average, exactly what they cost.</a:t>
            </a:r>
          </a:p>
          <a:p>
            <a:endParaRPr lang="en-US" dirty="0"/>
          </a:p>
        </p:txBody>
      </p:sp>
      <p:sp>
        <p:nvSpPr>
          <p:cNvPr id="4" name="Slide Number Placeholder 3"/>
          <p:cNvSpPr>
            <a:spLocks noGrp="1"/>
          </p:cNvSpPr>
          <p:nvPr>
            <p:ph type="sldNum" sz="quarter" idx="10"/>
          </p:nvPr>
        </p:nvSpPr>
        <p:spPr/>
        <p:txBody>
          <a:bodyPr/>
          <a:lstStyle/>
          <a:p>
            <a:fld id="{969E8D09-9492-4554-9C8F-456CB81F32A8}" type="slidenum">
              <a:rPr lang="en-US" smtClean="0"/>
              <a:t>14</a:t>
            </a:fld>
            <a:endParaRPr lang="en-US"/>
          </a:p>
        </p:txBody>
      </p:sp>
    </p:spTree>
    <p:extLst>
      <p:ext uri="{BB962C8B-B14F-4D97-AF65-F5344CB8AC3E}">
        <p14:creationId xmlns:p14="http://schemas.microsoft.com/office/powerpoint/2010/main" val="2130741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LPs offer single taxation and limited liability to the </a:t>
            </a:r>
            <a:r>
              <a:rPr lang="en-US" i="1" dirty="0"/>
              <a:t>limited partners</a:t>
            </a:r>
            <a:r>
              <a:rPr lang="en-US" dirty="0"/>
              <a:t>, but also have </a:t>
            </a:r>
            <a:r>
              <a:rPr lang="en-US" i="1" dirty="0"/>
              <a:t>general partners</a:t>
            </a:r>
            <a:r>
              <a:rPr lang="en-US" dirty="0"/>
              <a:t>, who benefit from single taxation but also must bear personal liability for the firm’s debts.</a:t>
            </a:r>
          </a:p>
          <a:p>
            <a:endParaRPr lang="en-US" dirty="0"/>
          </a:p>
        </p:txBody>
      </p:sp>
      <p:sp>
        <p:nvSpPr>
          <p:cNvPr id="4" name="Slide Number Placeholder 3"/>
          <p:cNvSpPr>
            <a:spLocks noGrp="1"/>
          </p:cNvSpPr>
          <p:nvPr>
            <p:ph type="sldNum" sz="quarter" idx="10"/>
          </p:nvPr>
        </p:nvSpPr>
        <p:spPr/>
        <p:txBody>
          <a:bodyPr/>
          <a:lstStyle/>
          <a:p>
            <a:fld id="{969E8D09-9492-4554-9C8F-456CB81F32A8}" type="slidenum">
              <a:rPr lang="en-US" smtClean="0"/>
              <a:t>24</a:t>
            </a:fld>
            <a:endParaRPr lang="en-US"/>
          </a:p>
        </p:txBody>
      </p:sp>
    </p:spTree>
    <p:extLst>
      <p:ext uri="{BB962C8B-B14F-4D97-AF65-F5344CB8AC3E}">
        <p14:creationId xmlns:p14="http://schemas.microsoft.com/office/powerpoint/2010/main" val="3567684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r>
              <a:rPr lang="en-US" dirty="0"/>
              <a:t>Financial practitioners and academics now tend to believe that the manager’s primary responsibility should be to maximize shareholder wealth and give only secondary consideration to other stakeholders’ welfare. </a:t>
            </a:r>
          </a:p>
        </p:txBody>
      </p:sp>
      <p:sp>
        <p:nvSpPr>
          <p:cNvPr id="4" name="Slide Number Placeholder 3"/>
          <p:cNvSpPr>
            <a:spLocks noGrp="1"/>
          </p:cNvSpPr>
          <p:nvPr>
            <p:ph type="sldNum" sz="quarter" idx="10"/>
          </p:nvPr>
        </p:nvSpPr>
        <p:spPr/>
        <p:txBody>
          <a:bodyPr/>
          <a:lstStyle/>
          <a:p>
            <a:fld id="{969E8D09-9492-4554-9C8F-456CB81F32A8}" type="slidenum">
              <a:rPr lang="en-US" smtClean="0"/>
              <a:t>25</a:t>
            </a:fld>
            <a:endParaRPr lang="en-US"/>
          </a:p>
        </p:txBody>
      </p:sp>
    </p:spTree>
    <p:extLst>
      <p:ext uri="{BB962C8B-B14F-4D97-AF65-F5344CB8AC3E}">
        <p14:creationId xmlns:p14="http://schemas.microsoft.com/office/powerpoint/2010/main" val="4206376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Corporate governance balances the needs of stockholders and managers. Inside the public firm, the members of the board of directors monitor how the firm is run. Outside the firm, auditors, analysts, investment banks, and credit rating agencies act as monitors.</a:t>
            </a:r>
          </a:p>
          <a:p>
            <a:endParaRPr lang="en-US" dirty="0"/>
          </a:p>
        </p:txBody>
      </p:sp>
      <p:sp>
        <p:nvSpPr>
          <p:cNvPr id="4" name="Slide Number Placeholder 3"/>
          <p:cNvSpPr>
            <a:spLocks noGrp="1"/>
          </p:cNvSpPr>
          <p:nvPr>
            <p:ph type="sldNum" sz="quarter" idx="10"/>
          </p:nvPr>
        </p:nvSpPr>
        <p:spPr/>
        <p:txBody>
          <a:bodyPr/>
          <a:lstStyle/>
          <a:p>
            <a:fld id="{969E8D09-9492-4554-9C8F-456CB81F32A8}" type="slidenum">
              <a:rPr lang="en-US" smtClean="0"/>
              <a:t>31</a:t>
            </a:fld>
            <a:endParaRPr lang="en-US"/>
          </a:p>
        </p:txBody>
      </p:sp>
    </p:spTree>
    <p:extLst>
      <p:ext uri="{BB962C8B-B14F-4D97-AF65-F5344CB8AC3E}">
        <p14:creationId xmlns:p14="http://schemas.microsoft.com/office/powerpoint/2010/main" val="3665714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E8D09-9492-4554-9C8F-456CB81F32A8}" type="slidenum">
              <a:rPr lang="en-US" smtClean="0"/>
              <a:t>32</a:t>
            </a:fld>
            <a:endParaRPr lang="en-US"/>
          </a:p>
        </p:txBody>
      </p:sp>
    </p:spTree>
    <p:extLst>
      <p:ext uri="{BB962C8B-B14F-4D97-AF65-F5344CB8AC3E}">
        <p14:creationId xmlns:p14="http://schemas.microsoft.com/office/powerpoint/2010/main" val="1401843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E8D09-9492-4554-9C8F-456CB81F32A8}" type="slidenum">
              <a:rPr lang="en-US" smtClean="0"/>
              <a:t>33</a:t>
            </a:fld>
            <a:endParaRPr lang="en-US"/>
          </a:p>
        </p:txBody>
      </p:sp>
    </p:spTree>
    <p:extLst>
      <p:ext uri="{BB962C8B-B14F-4D97-AF65-F5344CB8AC3E}">
        <p14:creationId xmlns:p14="http://schemas.microsoft.com/office/powerpoint/2010/main" val="2159769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unique services and products that financial institutions provide allow them to make money.</a:t>
            </a:r>
          </a:p>
          <a:p>
            <a:endParaRPr lang="en-US" dirty="0"/>
          </a:p>
        </p:txBody>
      </p:sp>
      <p:sp>
        <p:nvSpPr>
          <p:cNvPr id="4" name="Slide Number Placeholder 3"/>
          <p:cNvSpPr>
            <a:spLocks noGrp="1"/>
          </p:cNvSpPr>
          <p:nvPr>
            <p:ph type="sldNum" sz="quarter" idx="10"/>
          </p:nvPr>
        </p:nvSpPr>
        <p:spPr/>
        <p:txBody>
          <a:bodyPr/>
          <a:lstStyle/>
          <a:p>
            <a:fld id="{969E8D09-9492-4554-9C8F-456CB81F32A8}" type="slidenum">
              <a:rPr lang="en-US" smtClean="0"/>
              <a:t>34</a:t>
            </a:fld>
            <a:endParaRPr lang="en-US"/>
          </a:p>
        </p:txBody>
      </p:sp>
    </p:spTree>
    <p:extLst>
      <p:ext uri="{BB962C8B-B14F-4D97-AF65-F5344CB8AC3E}">
        <p14:creationId xmlns:p14="http://schemas.microsoft.com/office/powerpoint/2010/main" val="2202761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E8D09-9492-4554-9C8F-456CB81F32A8}" type="slidenum">
              <a:rPr lang="en-US" smtClean="0"/>
              <a:t>36</a:t>
            </a:fld>
            <a:endParaRPr lang="en-US"/>
          </a:p>
        </p:txBody>
      </p:sp>
    </p:spTree>
    <p:extLst>
      <p:ext uri="{BB962C8B-B14F-4D97-AF65-F5344CB8AC3E}">
        <p14:creationId xmlns:p14="http://schemas.microsoft.com/office/powerpoint/2010/main" val="4058949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37</a:t>
            </a:fld>
            <a:endParaRPr lang="en-US"/>
          </a:p>
        </p:txBody>
      </p:sp>
    </p:spTree>
    <p:extLst>
      <p:ext uri="{BB962C8B-B14F-4D97-AF65-F5344CB8AC3E}">
        <p14:creationId xmlns:p14="http://schemas.microsoft.com/office/powerpoint/2010/main" val="400574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13" name="Content Placeholder 5">
            <a:extLst>
              <a:ext uri="{FF2B5EF4-FFF2-40B4-BE49-F238E27FC236}">
                <a16:creationId xmlns:a16="http://schemas.microsoft.com/office/drawing/2014/main" id="{94676E63-5785-42C5-94C7-249B828FABD8}"/>
              </a:ext>
            </a:extLst>
          </p:cNvPr>
          <p:cNvSpPr>
            <a:spLocks noGrp="1"/>
          </p:cNvSpPr>
          <p:nvPr>
            <p:ph sz="quarter" idx="13"/>
          </p:nvPr>
        </p:nvSpPr>
        <p:spPr>
          <a:xfrm>
            <a:off x="365125" y="6543675"/>
            <a:ext cx="8421688" cy="173038"/>
          </a:xfrm>
          <a:prstGeom prst="rect">
            <a:avLst/>
          </a:prstGeom>
        </p:spPr>
        <p:txBody>
          <a:bodyPr/>
          <a:lstStyle/>
          <a:p>
            <a:pPr lvl="0"/>
            <a:endParaRPr lang="en-US" dirty="0"/>
          </a:p>
        </p:txBody>
      </p:sp>
      <p:pic>
        <p:nvPicPr>
          <p:cNvPr id="16" name="Picture 15">
            <a:extLst>
              <a:ext uri="{FF2B5EF4-FFF2-40B4-BE49-F238E27FC236}">
                <a16:creationId xmlns:a16="http://schemas.microsoft.com/office/drawing/2014/main" id="{16DF2CD8-062D-4687-BF42-E13D933CC184}"/>
              </a:ext>
            </a:extLst>
          </p:cNvPr>
          <p:cNvPicPr>
            <a:picLocks noChangeAspect="1"/>
          </p:cNvPicPr>
          <p:nvPr userDrawn="1"/>
        </p:nvPicPr>
        <p:blipFill>
          <a:blip r:embed="rId2"/>
          <a:stretch>
            <a:fillRect/>
          </a:stretch>
        </p:blipFill>
        <p:spPr>
          <a:xfrm>
            <a:off x="5555673" y="2110507"/>
            <a:ext cx="2919836" cy="3957784"/>
          </a:xfrm>
          <a:prstGeom prst="rect">
            <a:avLst/>
          </a:prstGeom>
        </p:spPr>
      </p:pic>
    </p:spTree>
    <p:extLst>
      <p:ext uri="{BB962C8B-B14F-4D97-AF65-F5344CB8AC3E}">
        <p14:creationId xmlns:p14="http://schemas.microsoft.com/office/powerpoint/2010/main" val="2957990575"/>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704" r:id="rId5"/>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 LLC.</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Lst>
  <p:hf hdr="0" dt="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 LLC.</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 LLC.</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slide" Target="slide3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slide" Target="slide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110A4-893E-44B7-9258-124381EAE51F}"/>
              </a:ext>
            </a:extLst>
          </p:cNvPr>
          <p:cNvSpPr>
            <a:spLocks noGrp="1"/>
          </p:cNvSpPr>
          <p:nvPr>
            <p:ph type="ctrTitle"/>
          </p:nvPr>
        </p:nvSpPr>
        <p:spPr/>
        <p:txBody>
          <a:bodyPr/>
          <a:lstStyle/>
          <a:p>
            <a:r>
              <a:rPr lang="en-US" noProof="0" dirty="0"/>
              <a:t>Chapter 1</a:t>
            </a:r>
          </a:p>
        </p:txBody>
      </p:sp>
      <p:sp>
        <p:nvSpPr>
          <p:cNvPr id="3" name="Subtitle 2">
            <a:extLst>
              <a:ext uri="{FF2B5EF4-FFF2-40B4-BE49-F238E27FC236}">
                <a16:creationId xmlns:a16="http://schemas.microsoft.com/office/drawing/2014/main" id="{2786B553-05E0-412C-9B5D-1847FF136472}"/>
              </a:ext>
            </a:extLst>
          </p:cNvPr>
          <p:cNvSpPr>
            <a:spLocks noGrp="1"/>
          </p:cNvSpPr>
          <p:nvPr>
            <p:ph type="subTitle" idx="1"/>
          </p:nvPr>
        </p:nvSpPr>
        <p:spPr/>
        <p:txBody>
          <a:bodyPr/>
          <a:lstStyle/>
          <a:p>
            <a:r>
              <a:rPr lang="en-US" dirty="0"/>
              <a:t>Introduction to Financial Management</a:t>
            </a:r>
          </a:p>
        </p:txBody>
      </p:sp>
      <p:sp>
        <p:nvSpPr>
          <p:cNvPr id="9" name="Text Placeholder 8">
            <a:extLst>
              <a:ext uri="{FF2B5EF4-FFF2-40B4-BE49-F238E27FC236}">
                <a16:creationId xmlns:a16="http://schemas.microsoft.com/office/drawing/2014/main" id="{57D52967-8320-4F3F-9825-B5B5369DA824}"/>
              </a:ext>
            </a:extLst>
          </p:cNvPr>
          <p:cNvSpPr>
            <a:spLocks noGrp="1"/>
          </p:cNvSpPr>
          <p:nvPr>
            <p:ph type="body" sz="quarter" idx="10"/>
          </p:nvPr>
        </p:nvSpPr>
        <p:spPr/>
        <p:txBody>
          <a:bodyPr/>
          <a:lstStyle/>
          <a:p>
            <a:pPr>
              <a:spcAft>
                <a:spcPts val="500"/>
              </a:spcAft>
            </a:pPr>
            <a:r>
              <a:rPr lang="en-US" sz="1400" noProof="0" dirty="0"/>
              <a:t>Finance 6th Edition</a:t>
            </a:r>
          </a:p>
          <a:p>
            <a:pPr>
              <a:spcAft>
                <a:spcPts val="500"/>
              </a:spcAft>
            </a:pPr>
            <a:r>
              <a:rPr lang="en-US" sz="1400" noProof="0" dirty="0"/>
              <a:t>Cornett, Adair, and Nofsinger</a:t>
            </a:r>
          </a:p>
        </p:txBody>
      </p:sp>
      <p:sp>
        <p:nvSpPr>
          <p:cNvPr id="7" name="Content Placeholder 6">
            <a:extLst>
              <a:ext uri="{FF2B5EF4-FFF2-40B4-BE49-F238E27FC236}">
                <a16:creationId xmlns:a16="http://schemas.microsoft.com/office/drawing/2014/main" id="{066E6BAC-61C2-4AC9-9F62-B8F5C6E7A8B6}"/>
              </a:ext>
            </a:extLst>
          </p:cNvPr>
          <p:cNvSpPr>
            <a:spLocks noGrp="1"/>
          </p:cNvSpPr>
          <p:nvPr>
            <p:ph sz="quarter" idx="13"/>
          </p:nvPr>
        </p:nvSpPr>
        <p:spPr>
          <a:xfrm>
            <a:off x="175846" y="6546894"/>
            <a:ext cx="8968153" cy="222574"/>
          </a:xfrm>
        </p:spPr>
        <p:txBody>
          <a:bodyPr/>
          <a:lstStyle/>
          <a:p>
            <a:pPr algn="ctr"/>
            <a:r>
              <a:rPr lang="en-US" sz="1200" noProof="0"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918751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CA8E8-C200-4F36-BD85-CDCDC38F4F75}"/>
              </a:ext>
            </a:extLst>
          </p:cNvPr>
          <p:cNvSpPr>
            <a:spLocks noGrp="1"/>
          </p:cNvSpPr>
          <p:nvPr>
            <p:ph type="title"/>
          </p:nvPr>
        </p:nvSpPr>
        <p:spPr/>
        <p:txBody>
          <a:bodyPr>
            <a:normAutofit/>
          </a:bodyPr>
          <a:lstStyle/>
          <a:p>
            <a:r>
              <a:rPr lang="en-IN" sz="3600" dirty="0"/>
              <a:t>Learning Goals</a:t>
            </a:r>
            <a:endParaRPr lang="en-US" sz="3600" dirty="0"/>
          </a:p>
        </p:txBody>
      </p:sp>
      <p:sp>
        <p:nvSpPr>
          <p:cNvPr id="3" name="Content Placeholder 2">
            <a:extLst>
              <a:ext uri="{FF2B5EF4-FFF2-40B4-BE49-F238E27FC236}">
                <a16:creationId xmlns:a16="http://schemas.microsoft.com/office/drawing/2014/main" id="{CBC11DEC-CA42-4C55-8DC6-819200BA6921}"/>
              </a:ext>
            </a:extLst>
          </p:cNvPr>
          <p:cNvSpPr>
            <a:spLocks noGrp="1"/>
          </p:cNvSpPr>
          <p:nvPr>
            <p:ph sz="quarter" idx="11"/>
          </p:nvPr>
        </p:nvSpPr>
        <p:spPr>
          <a:xfrm>
            <a:off x="342899" y="1276709"/>
            <a:ext cx="3967844" cy="5208067"/>
          </a:xfrm>
        </p:spPr>
        <p:txBody>
          <a:bodyPr/>
          <a:lstStyle/>
          <a:p>
            <a:pPr marL="292608" indent="-292608">
              <a:buFont typeface="Arial" panose="020B0604020202020204" pitchFamily="34" charset="0"/>
              <a:buChar char="•"/>
            </a:pPr>
            <a:r>
              <a:rPr lang="en-US" sz="2000" dirty="0"/>
              <a:t>Define the major areas of finance as they apply to corporate financial management.</a:t>
            </a:r>
          </a:p>
          <a:p>
            <a:pPr marL="292608" indent="-292608">
              <a:buFont typeface="Arial" panose="020B0604020202020204" pitchFamily="34" charset="0"/>
              <a:buChar char="•"/>
            </a:pPr>
            <a:r>
              <a:rPr lang="en-US" sz="2000" dirty="0"/>
              <a:t>Show how finance is at the heart of sound business decisions.</a:t>
            </a:r>
          </a:p>
          <a:p>
            <a:pPr marL="292608" indent="-292608">
              <a:buFont typeface="Arial" panose="020B0604020202020204" pitchFamily="34" charset="0"/>
              <a:buChar char="•"/>
            </a:pPr>
            <a:r>
              <a:rPr lang="en-US" sz="2000" dirty="0"/>
              <a:t>Learn the financial principles that govern your personal decisions.</a:t>
            </a:r>
          </a:p>
          <a:p>
            <a:pPr marL="292608" indent="-292608">
              <a:buFont typeface="Arial" panose="020B0604020202020204" pitchFamily="34" charset="0"/>
              <a:buChar char="•"/>
            </a:pPr>
            <a:r>
              <a:rPr lang="en-US" sz="2000" dirty="0"/>
              <a:t>Examine the three most common forms of business organization in the United States today.</a:t>
            </a:r>
          </a:p>
        </p:txBody>
      </p:sp>
      <p:sp>
        <p:nvSpPr>
          <p:cNvPr id="4" name="Content Placeholder 3">
            <a:extLst>
              <a:ext uri="{FF2B5EF4-FFF2-40B4-BE49-F238E27FC236}">
                <a16:creationId xmlns:a16="http://schemas.microsoft.com/office/drawing/2014/main" id="{B3EEA71E-F60A-4291-A3E7-13DCC12C65E8}"/>
              </a:ext>
            </a:extLst>
          </p:cNvPr>
          <p:cNvSpPr>
            <a:spLocks noGrp="1"/>
          </p:cNvSpPr>
          <p:nvPr>
            <p:ph sz="quarter" idx="14"/>
          </p:nvPr>
        </p:nvSpPr>
        <p:spPr>
          <a:xfrm>
            <a:off x="4432041" y="1276709"/>
            <a:ext cx="4369059" cy="5208067"/>
          </a:xfrm>
        </p:spPr>
        <p:txBody>
          <a:bodyPr/>
          <a:lstStyle/>
          <a:p>
            <a:pPr marL="292608" indent="-292608">
              <a:buFont typeface="Arial" panose="020B0604020202020204" pitchFamily="34" charset="0"/>
              <a:buChar char="•"/>
            </a:pPr>
            <a:r>
              <a:rPr lang="en-US" sz="2000" dirty="0"/>
              <a:t>Distinguish among appropriate and inappropriate goals for financial managers.</a:t>
            </a:r>
          </a:p>
          <a:p>
            <a:pPr marL="292608" indent="-292608">
              <a:buFont typeface="Arial" panose="020B0604020202020204" pitchFamily="34" charset="0"/>
              <a:buChar char="•"/>
            </a:pPr>
            <a:r>
              <a:rPr lang="en-US" sz="2000" dirty="0"/>
              <a:t>Identify a firm’s primary agency relationship and discuss the possible conflicts that may arise.</a:t>
            </a:r>
          </a:p>
          <a:p>
            <a:pPr marL="292608" indent="-292608">
              <a:buFont typeface="Arial" panose="020B0604020202020204" pitchFamily="34" charset="0"/>
              <a:buChar char="•"/>
            </a:pPr>
            <a:r>
              <a:rPr lang="en-US" sz="2000" dirty="0"/>
              <a:t>Discuss how ethical decision making is part of the study of financial management.</a:t>
            </a:r>
          </a:p>
          <a:p>
            <a:pPr marL="292608" indent="-292608">
              <a:buFont typeface="Arial" panose="020B0604020202020204" pitchFamily="34" charset="0"/>
              <a:buChar char="•"/>
            </a:pPr>
            <a:r>
              <a:rPr lang="en-US" sz="2000" dirty="0"/>
              <a:t>Describe the complex, necessary relationships among firms, financial institutions, and financial markets.</a:t>
            </a:r>
          </a:p>
          <a:p>
            <a:pPr marL="292608" indent="-292608">
              <a:buFont typeface="Arial" panose="020B0604020202020204" pitchFamily="34" charset="0"/>
              <a:buChar char="•"/>
            </a:pPr>
            <a:r>
              <a:rPr lang="en-US" sz="2000" dirty="0"/>
              <a:t>Understand how the new tax law impacts financial decision making.</a:t>
            </a:r>
          </a:p>
        </p:txBody>
      </p:sp>
      <p:sp>
        <p:nvSpPr>
          <p:cNvPr id="7" name="Slide Number Placeholder 6">
            <a:extLst>
              <a:ext uri="{FF2B5EF4-FFF2-40B4-BE49-F238E27FC236}">
                <a16:creationId xmlns:a16="http://schemas.microsoft.com/office/drawing/2014/main" id="{7666E563-8C72-461E-88CE-5C2063981036}"/>
              </a:ext>
            </a:extLst>
          </p:cNvPr>
          <p:cNvSpPr>
            <a:spLocks noGrp="1"/>
          </p:cNvSpPr>
          <p:nvPr>
            <p:ph type="sldNum" sz="quarter" idx="10"/>
          </p:nvPr>
        </p:nvSpPr>
        <p:spPr/>
        <p:txBody>
          <a:bodyPr/>
          <a:lstStyle/>
          <a:p>
            <a:fld id="{68151E55-6873-49E2-B8D5-2F265E6F1973}" type="slidenum">
              <a:rPr lang="en-US" smtClean="0"/>
              <a:t>2</a:t>
            </a:fld>
            <a:endParaRPr lang="en-US"/>
          </a:p>
        </p:txBody>
      </p:sp>
    </p:spTree>
    <p:extLst>
      <p:ext uri="{BB962C8B-B14F-4D97-AF65-F5344CB8AC3E}">
        <p14:creationId xmlns:p14="http://schemas.microsoft.com/office/powerpoint/2010/main" val="2197764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Introduction</a:t>
            </a:r>
          </a:p>
        </p:txBody>
      </p:sp>
      <p:sp>
        <p:nvSpPr>
          <p:cNvPr id="3" name="Content Placeholder 2"/>
          <p:cNvSpPr>
            <a:spLocks noGrp="1"/>
          </p:cNvSpPr>
          <p:nvPr>
            <p:ph sz="quarter" idx="11"/>
          </p:nvPr>
        </p:nvSpPr>
        <p:spPr>
          <a:xfrm>
            <a:off x="342900" y="1276710"/>
            <a:ext cx="8458200" cy="1699756"/>
          </a:xfrm>
        </p:spPr>
        <p:txBody>
          <a:bodyPr/>
          <a:lstStyle/>
          <a:p>
            <a:r>
              <a:rPr lang="en-US" b="1" dirty="0"/>
              <a:t>Finance</a:t>
            </a:r>
            <a:r>
              <a:rPr lang="en-US" dirty="0"/>
              <a:t> is the study of </a:t>
            </a:r>
            <a:r>
              <a:rPr lang="en-US" i="1" dirty="0"/>
              <a:t>applying specific value </a:t>
            </a:r>
            <a:r>
              <a:rPr lang="en-US" dirty="0"/>
              <a:t>to things we own, services we use, and decisions we make.</a:t>
            </a:r>
          </a:p>
          <a:p>
            <a:pPr marL="292608" indent="-292608">
              <a:buFont typeface="Arial" panose="020B0604020202020204" pitchFamily="34" charset="0"/>
              <a:buChar char="•"/>
            </a:pPr>
            <a:r>
              <a:rPr lang="en-US" b="1" dirty="0"/>
              <a:t>Financial management </a:t>
            </a:r>
            <a:r>
              <a:rPr lang="en-US" dirty="0"/>
              <a:t>concentrates on valuing things from the perspective of a company or firm.</a:t>
            </a:r>
          </a:p>
        </p:txBody>
      </p:sp>
      <p:sp>
        <p:nvSpPr>
          <p:cNvPr id="4" name="Content Placeholder 3"/>
          <p:cNvSpPr>
            <a:spLocks noGrp="1"/>
          </p:cNvSpPr>
          <p:nvPr>
            <p:ph sz="quarter" idx="14"/>
          </p:nvPr>
        </p:nvSpPr>
        <p:spPr>
          <a:xfrm>
            <a:off x="342900" y="3079102"/>
            <a:ext cx="8458200" cy="3169298"/>
          </a:xfrm>
        </p:spPr>
        <p:txBody>
          <a:bodyPr/>
          <a:lstStyle/>
          <a:p>
            <a:r>
              <a:rPr lang="en-US" dirty="0"/>
              <a:t>Variables that have significant impact on the firm’s financial decisions.</a:t>
            </a:r>
          </a:p>
          <a:p>
            <a:pPr marL="292608" indent="-292608">
              <a:buFont typeface="Arial" panose="020B0604020202020204" pitchFamily="34" charset="0"/>
              <a:buChar char="•"/>
            </a:pPr>
            <a:r>
              <a:rPr lang="en-US" dirty="0"/>
              <a:t>Organizational form of the business.</a:t>
            </a:r>
          </a:p>
          <a:p>
            <a:pPr marL="292608" indent="-292608">
              <a:buFont typeface="Arial" panose="020B0604020202020204" pitchFamily="34" charset="0"/>
              <a:buChar char="•"/>
            </a:pPr>
            <a:r>
              <a:rPr lang="en-US" dirty="0"/>
              <a:t>Agency relationship between managers and owners.</a:t>
            </a:r>
          </a:p>
          <a:p>
            <a:pPr marL="292608" indent="-292608">
              <a:buFont typeface="Arial" panose="020B0604020202020204" pitchFamily="34" charset="0"/>
              <a:buChar char="•"/>
            </a:pPr>
            <a:r>
              <a:rPr lang="en-US" dirty="0"/>
              <a:t>Ethical considerations.</a:t>
            </a:r>
          </a:p>
        </p:txBody>
      </p:sp>
      <p:sp>
        <p:nvSpPr>
          <p:cNvPr id="7" name="Slide Number Placeholder 6"/>
          <p:cNvSpPr>
            <a:spLocks noGrp="1"/>
          </p:cNvSpPr>
          <p:nvPr>
            <p:ph type="sldNum" sz="quarter" idx="10"/>
          </p:nvPr>
        </p:nvSpPr>
        <p:spPr/>
        <p:txBody>
          <a:bodyPr/>
          <a:lstStyle/>
          <a:p>
            <a:fld id="{68151E55-6873-49E2-B8D5-2F265E6F1973}" type="slidenum">
              <a:rPr lang="en-US" smtClean="0"/>
              <a:t>3</a:t>
            </a:fld>
            <a:endParaRPr lang="en-US"/>
          </a:p>
        </p:txBody>
      </p:sp>
    </p:spTree>
    <p:extLst>
      <p:ext uri="{BB962C8B-B14F-4D97-AF65-F5344CB8AC3E}">
        <p14:creationId xmlns:p14="http://schemas.microsoft.com/office/powerpoint/2010/main" val="1381170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Finance in Business and in Life</a:t>
            </a:r>
          </a:p>
        </p:txBody>
      </p:sp>
      <p:sp>
        <p:nvSpPr>
          <p:cNvPr id="3" name="Content Placeholder 2"/>
          <p:cNvSpPr>
            <a:spLocks noGrp="1"/>
          </p:cNvSpPr>
          <p:nvPr>
            <p:ph sz="quarter" idx="11"/>
          </p:nvPr>
        </p:nvSpPr>
        <p:spPr/>
        <p:txBody>
          <a:bodyPr/>
          <a:lstStyle/>
          <a:p>
            <a:r>
              <a:rPr lang="en-US" i="1" dirty="0"/>
              <a:t>Cash flow </a:t>
            </a:r>
            <a:r>
              <a:rPr lang="en-US" dirty="0"/>
              <a:t>is the term that describes the process of paying and receiving money.</a:t>
            </a:r>
          </a:p>
          <a:p>
            <a:r>
              <a:rPr lang="en-US" dirty="0"/>
              <a:t>Money flows from individuals who want to improve their financial future to businesses that want to expand the scale or scope of their operations.</a:t>
            </a:r>
          </a:p>
          <a:p>
            <a:r>
              <a:rPr lang="en-US" dirty="0"/>
              <a:t>These financial exchanges lead to.</a:t>
            </a:r>
          </a:p>
          <a:p>
            <a:pPr marL="292608" indent="-292608">
              <a:buFont typeface="Arial" panose="020B0604020202020204" pitchFamily="34" charset="0"/>
              <a:buChar char="•"/>
            </a:pPr>
            <a:r>
              <a:rPr lang="en-US" dirty="0"/>
              <a:t>A more productive economy.</a:t>
            </a:r>
          </a:p>
          <a:p>
            <a:pPr marL="292608" indent="-292608">
              <a:buFont typeface="Arial" panose="020B0604020202020204" pitchFamily="34" charset="0"/>
              <a:buChar char="•"/>
            </a:pPr>
            <a:r>
              <a:rPr lang="en-US" dirty="0"/>
              <a:t>The growth of individuals’ wealth.</a:t>
            </a:r>
          </a:p>
        </p:txBody>
      </p:sp>
      <p:sp>
        <p:nvSpPr>
          <p:cNvPr id="6" name="Slide Number Placeholder 5"/>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127322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Participants</a:t>
            </a:r>
          </a:p>
        </p:txBody>
      </p:sp>
      <p:sp>
        <p:nvSpPr>
          <p:cNvPr id="3" name="Content Placeholder 2"/>
          <p:cNvSpPr>
            <a:spLocks noGrp="1"/>
          </p:cNvSpPr>
          <p:nvPr>
            <p:ph sz="quarter" idx="11"/>
          </p:nvPr>
        </p:nvSpPr>
        <p:spPr>
          <a:xfrm>
            <a:off x="342900" y="1276710"/>
            <a:ext cx="8458200" cy="2968720"/>
          </a:xfrm>
        </p:spPr>
        <p:txBody>
          <a:bodyPr/>
          <a:lstStyle/>
          <a:p>
            <a:r>
              <a:rPr lang="en-US" dirty="0"/>
              <a:t>Group all of an economy’s participants along two dimensions.</a:t>
            </a:r>
          </a:p>
          <a:p>
            <a:pPr marL="292608" indent="-292608">
              <a:buFont typeface="Arial" panose="020B0604020202020204" pitchFamily="34" charset="0"/>
              <a:buChar char="•"/>
            </a:pPr>
            <a:r>
              <a:rPr lang="en-US" dirty="0"/>
              <a:t>First dimension is made up of those who may have “extra” money for investment.</a:t>
            </a:r>
          </a:p>
          <a:p>
            <a:pPr marL="292608" indent="-292608">
              <a:buFont typeface="Arial" panose="020B0604020202020204" pitchFamily="34" charset="0"/>
              <a:buChar char="•"/>
            </a:pPr>
            <a:r>
              <a:rPr lang="en-US" dirty="0"/>
              <a:t>Second dimension is made up of those who have an ability to develop viable business ideas, a sense of business creativity.</a:t>
            </a:r>
          </a:p>
        </p:txBody>
      </p:sp>
      <p:graphicFrame>
        <p:nvGraphicFramePr>
          <p:cNvPr id="5" name="Table 4"/>
          <p:cNvGraphicFramePr>
            <a:graphicFrameLocks noGrp="1"/>
          </p:cNvGraphicFramePr>
          <p:nvPr>
            <p:extLst>
              <p:ext uri="{D42A27DB-BD31-4B8C-83A1-F6EECF244321}">
                <p14:modId xmlns:p14="http://schemas.microsoft.com/office/powerpoint/2010/main" val="2054285331"/>
              </p:ext>
            </p:extLst>
          </p:nvPr>
        </p:nvGraphicFramePr>
        <p:xfrm>
          <a:off x="342899" y="4346960"/>
          <a:ext cx="8458200" cy="1529080"/>
        </p:xfrm>
        <a:graphic>
          <a:graphicData uri="http://schemas.openxmlformats.org/drawingml/2006/table">
            <a:tbl>
              <a:tblPr firstRow="1" bandRow="1">
                <a:tableStyleId>{5C22544A-7EE6-4342-B048-85BDC9FD1C3A}</a:tableStyleId>
              </a:tblPr>
              <a:tblGrid>
                <a:gridCol w="3137419">
                  <a:extLst>
                    <a:ext uri="{9D8B030D-6E8A-4147-A177-3AD203B41FA5}">
                      <a16:colId xmlns:a16="http://schemas.microsoft.com/office/drawing/2014/main" val="3065081506"/>
                    </a:ext>
                  </a:extLst>
                </a:gridCol>
                <a:gridCol w="2603241">
                  <a:extLst>
                    <a:ext uri="{9D8B030D-6E8A-4147-A177-3AD203B41FA5}">
                      <a16:colId xmlns:a16="http://schemas.microsoft.com/office/drawing/2014/main" val="1036989839"/>
                    </a:ext>
                  </a:extLst>
                </a:gridCol>
                <a:gridCol w="2717540">
                  <a:extLst>
                    <a:ext uri="{9D8B030D-6E8A-4147-A177-3AD203B41FA5}">
                      <a16:colId xmlns:a16="http://schemas.microsoft.com/office/drawing/2014/main" val="3462331713"/>
                    </a:ext>
                  </a:extLst>
                </a:gridCol>
              </a:tblGrid>
              <a:tr h="370840">
                <a:tc>
                  <a:txBody>
                    <a:bodyPr/>
                    <a:lstStyle/>
                    <a:p>
                      <a:endParaRPr lang="en-US" sz="1600" dirty="0"/>
                    </a:p>
                  </a:txBody>
                  <a:tcPr/>
                </a:tc>
                <a:tc>
                  <a:txBody>
                    <a:bodyPr/>
                    <a:lstStyle/>
                    <a:p>
                      <a:r>
                        <a:rPr lang="en-US" sz="1600" dirty="0"/>
                        <a:t>No Extra Money</a:t>
                      </a:r>
                    </a:p>
                  </a:txBody>
                  <a:tcPr/>
                </a:tc>
                <a:tc>
                  <a:txBody>
                    <a:bodyPr/>
                    <a:lstStyle/>
                    <a:p>
                      <a:r>
                        <a:rPr lang="en-US" sz="1600" dirty="0"/>
                        <a:t>Extra Money</a:t>
                      </a:r>
                    </a:p>
                  </a:txBody>
                  <a:tcPr/>
                </a:tc>
                <a:extLst>
                  <a:ext uri="{0D108BD9-81ED-4DB2-BD59-A6C34878D82A}">
                    <a16:rowId xmlns:a16="http://schemas.microsoft.com/office/drawing/2014/main" val="2431401523"/>
                  </a:ext>
                </a:extLst>
              </a:tr>
              <a:tr h="370840">
                <a:tc>
                  <a:txBody>
                    <a:bodyPr/>
                    <a:lstStyle/>
                    <a:p>
                      <a:r>
                        <a:rPr lang="en-US" sz="1600" b="1" dirty="0"/>
                        <a:t>No Economically Viable Business Ideas</a:t>
                      </a:r>
                    </a:p>
                  </a:txBody>
                  <a:tcPr/>
                </a:tc>
                <a:tc>
                  <a:txBody>
                    <a:bodyPr/>
                    <a:lstStyle/>
                    <a:p>
                      <a:r>
                        <a:rPr lang="en-US" sz="1600" dirty="0"/>
                        <a:t>Type 1: No money and no ideas</a:t>
                      </a:r>
                    </a:p>
                  </a:txBody>
                  <a:tcPr/>
                </a:tc>
                <a:tc>
                  <a:txBody>
                    <a:bodyPr/>
                    <a:lstStyle/>
                    <a:p>
                      <a:r>
                        <a:rPr lang="en-US" sz="1600" dirty="0"/>
                        <a:t>Type 2: Money but no ideas</a:t>
                      </a:r>
                    </a:p>
                  </a:txBody>
                  <a:tcPr/>
                </a:tc>
                <a:extLst>
                  <a:ext uri="{0D108BD9-81ED-4DB2-BD59-A6C34878D82A}">
                    <a16:rowId xmlns:a16="http://schemas.microsoft.com/office/drawing/2014/main" val="2850274194"/>
                  </a:ext>
                </a:extLst>
              </a:tr>
              <a:tr h="370840">
                <a:tc>
                  <a:txBody>
                    <a:bodyPr/>
                    <a:lstStyle/>
                    <a:p>
                      <a:r>
                        <a:rPr lang="en-US" sz="1600" b="1" dirty="0"/>
                        <a:t>Economically Viable Business Ideas</a:t>
                      </a:r>
                    </a:p>
                  </a:txBody>
                  <a:tcPr/>
                </a:tc>
                <a:tc>
                  <a:txBody>
                    <a:bodyPr/>
                    <a:lstStyle/>
                    <a:p>
                      <a:r>
                        <a:rPr lang="en-US" sz="1600" dirty="0"/>
                        <a:t>Type 3: No money but ideas</a:t>
                      </a:r>
                    </a:p>
                  </a:txBody>
                  <a:tcPr/>
                </a:tc>
                <a:tc>
                  <a:txBody>
                    <a:bodyPr/>
                    <a:lstStyle/>
                    <a:p>
                      <a:r>
                        <a:rPr lang="en-US" sz="1600" dirty="0"/>
                        <a:t>Type 4: Both money and ideas</a:t>
                      </a:r>
                    </a:p>
                  </a:txBody>
                  <a:tcPr/>
                </a:tc>
                <a:extLst>
                  <a:ext uri="{0D108BD9-81ED-4DB2-BD59-A6C34878D82A}">
                    <a16:rowId xmlns:a16="http://schemas.microsoft.com/office/drawing/2014/main" val="4105930259"/>
                  </a:ext>
                </a:extLst>
              </a:tr>
            </a:tbl>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1309010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Participants – Type 1</a:t>
            </a:r>
          </a:p>
        </p:txBody>
      </p:sp>
      <p:sp>
        <p:nvSpPr>
          <p:cNvPr id="3" name="Content Placeholder 2"/>
          <p:cNvSpPr>
            <a:spLocks noGrp="1"/>
          </p:cNvSpPr>
          <p:nvPr>
            <p:ph sz="quarter" idx="11"/>
          </p:nvPr>
        </p:nvSpPr>
        <p:spPr/>
        <p:txBody>
          <a:bodyPr/>
          <a:lstStyle/>
          <a:p>
            <a:r>
              <a:rPr lang="en-US" dirty="0"/>
              <a:t>Type 1 participants.</a:t>
            </a:r>
          </a:p>
          <a:p>
            <a:pPr marL="292608" indent="-292608">
              <a:buFont typeface="Arial" panose="020B0604020202020204" pitchFamily="34" charset="0"/>
              <a:buChar char="•"/>
            </a:pPr>
            <a:r>
              <a:rPr lang="en-US" dirty="0"/>
              <a:t>Do not lend significant sums of money (</a:t>
            </a:r>
            <a:r>
              <a:rPr lang="en-US" i="1" dirty="0"/>
              <a:t>capital</a:t>
            </a:r>
            <a:r>
              <a:rPr lang="en-US" dirty="0"/>
              <a:t>) or spend much money in business context.</a:t>
            </a:r>
          </a:p>
          <a:p>
            <a:pPr marL="621792" lvl="1" indent="-320040"/>
            <a:r>
              <a:rPr lang="en-US" dirty="0"/>
              <a:t>No direct role in financial markets.</a:t>
            </a:r>
          </a:p>
          <a:p>
            <a:pPr marL="292608" indent="-292608">
              <a:buFont typeface="Arial" panose="020B0604020202020204" pitchFamily="34" charset="0"/>
              <a:buChar char="•"/>
            </a:pPr>
            <a:r>
              <a:rPr lang="en-US" dirty="0"/>
              <a:t>Play an indirect role by providing labor to economic enterprises or by consuming their products.</a:t>
            </a:r>
          </a:p>
        </p:txBody>
      </p:sp>
      <p:sp>
        <p:nvSpPr>
          <p:cNvPr id="6" name="Slide Number Placeholder 5"/>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588013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Participants – Type 4</a:t>
            </a:r>
          </a:p>
        </p:txBody>
      </p:sp>
      <p:sp>
        <p:nvSpPr>
          <p:cNvPr id="3" name="Content Placeholder 2"/>
          <p:cNvSpPr>
            <a:spLocks noGrp="1"/>
          </p:cNvSpPr>
          <p:nvPr>
            <p:ph sz="quarter" idx="11"/>
          </p:nvPr>
        </p:nvSpPr>
        <p:spPr/>
        <p:txBody>
          <a:bodyPr/>
          <a:lstStyle/>
          <a:p>
            <a:r>
              <a:rPr lang="en-US" dirty="0"/>
              <a:t>Type 4 participants.</a:t>
            </a:r>
          </a:p>
          <a:p>
            <a:pPr marL="292608" indent="-292608">
              <a:buFont typeface="Arial" panose="020B0604020202020204" pitchFamily="34" charset="0"/>
              <a:buChar char="•"/>
            </a:pPr>
            <a:r>
              <a:rPr lang="en-US" dirty="0"/>
              <a:t>Use financial tools to evaluate their own business concepts and then choose the ideas with the most potential.</a:t>
            </a:r>
          </a:p>
          <a:p>
            <a:pPr marL="292608" indent="-292608">
              <a:buFont typeface="Arial" panose="020B0604020202020204" pitchFamily="34" charset="0"/>
              <a:buChar char="•"/>
            </a:pPr>
            <a:r>
              <a:rPr lang="en-US" dirty="0"/>
              <a:t>Self-funded, so they have no need for financial markets.</a:t>
            </a:r>
          </a:p>
          <a:p>
            <a:pPr marL="292608" indent="-292608">
              <a:buFont typeface="Arial" panose="020B0604020202020204" pitchFamily="34" charset="0"/>
              <a:buChar char="•"/>
            </a:pPr>
            <a:r>
              <a:rPr lang="en-US" dirty="0"/>
              <a:t>Financial tools used and types of decisions made are narrowly focused to their own purposes.</a:t>
            </a:r>
          </a:p>
        </p:txBody>
      </p:sp>
      <p:sp>
        <p:nvSpPr>
          <p:cNvPr id="6" name="Slide Number Placeholder 5"/>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1798385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Economic Participants – Types 2 and 3</a:t>
            </a:r>
          </a:p>
        </p:txBody>
      </p:sp>
      <p:sp>
        <p:nvSpPr>
          <p:cNvPr id="3" name="Content Placeholder 2"/>
          <p:cNvSpPr>
            <a:spLocks noGrp="1"/>
          </p:cNvSpPr>
          <p:nvPr>
            <p:ph sz="quarter" idx="11"/>
          </p:nvPr>
        </p:nvSpPr>
        <p:spPr/>
        <p:txBody>
          <a:bodyPr/>
          <a:lstStyle/>
          <a:p>
            <a:r>
              <a:rPr lang="en-US" dirty="0"/>
              <a:t>Types 2 and 3 participants.</a:t>
            </a:r>
          </a:p>
          <a:p>
            <a:pPr marL="292608" indent="-292608">
              <a:buFont typeface="Arial" panose="020B0604020202020204" pitchFamily="34" charset="0"/>
              <a:buChar char="•"/>
            </a:pPr>
            <a:r>
              <a:rPr lang="en-US" dirty="0"/>
              <a:t>Financial markets and financial institutions allow these people to participate in a mutually advantageous exchange.</a:t>
            </a:r>
          </a:p>
          <a:p>
            <a:pPr marL="621792" lvl="1" indent="-320040"/>
            <a:r>
              <a:rPr lang="en-US" dirty="0"/>
              <a:t>Type 2 participants, who are usually individual investors, make temporary loans to type 3 participants, who put that money to use with their good business ideas.</a:t>
            </a:r>
          </a:p>
          <a:p>
            <a:pPr marL="621792" lvl="1" indent="-320040"/>
            <a:r>
              <a:rPr lang="en-US" dirty="0"/>
              <a:t>Type 3 participants are idea generators, typically companies with research and development (R&amp;D) departments.</a:t>
            </a:r>
          </a:p>
        </p:txBody>
      </p:sp>
      <p:sp>
        <p:nvSpPr>
          <p:cNvPr id="6" name="Slide Number Placeholder 5"/>
          <p:cNvSpPr>
            <a:spLocks noGrp="1"/>
          </p:cNvSpPr>
          <p:nvPr>
            <p:ph type="sldNum" sz="quarter" idx="4"/>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538486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Where Does the Cash Go?</a:t>
            </a:r>
          </a:p>
        </p:txBody>
      </p:sp>
      <p:sp>
        <p:nvSpPr>
          <p:cNvPr id="3" name="Content Placeholder 2"/>
          <p:cNvSpPr>
            <a:spLocks noGrp="1"/>
          </p:cNvSpPr>
          <p:nvPr>
            <p:ph sz="quarter" idx="11"/>
          </p:nvPr>
        </p:nvSpPr>
        <p:spPr/>
        <p:txBody>
          <a:bodyPr/>
          <a:lstStyle/>
          <a:p>
            <a:r>
              <a:rPr lang="en-US" dirty="0"/>
              <a:t>Investors lend “extra” capital to companies, who use the capital to fund expansion projects.</a:t>
            </a:r>
          </a:p>
          <a:p>
            <a:r>
              <a:rPr lang="en-US" dirty="0"/>
              <a:t>Successful projects will eventually be able to repay the money (plus profit) to investors.</a:t>
            </a:r>
          </a:p>
          <a:p>
            <a:pPr marL="292608" indent="-292608">
              <a:buFont typeface="Arial" panose="020B0604020202020204" pitchFamily="34" charset="0"/>
              <a:buChar char="•"/>
            </a:pPr>
            <a:r>
              <a:rPr lang="en-US" dirty="0"/>
              <a:t>Sources of friction arise, as not all cash is returned to investors.</a:t>
            </a:r>
          </a:p>
          <a:p>
            <a:pPr marL="621792" lvl="1" indent="-320040"/>
            <a:r>
              <a:rPr lang="en-US" b="1" dirty="0"/>
              <a:t>Retained earnings </a:t>
            </a:r>
            <a:r>
              <a:rPr lang="en-US" dirty="0"/>
              <a:t>are funds the firm keeps for its ongoing operations.</a:t>
            </a:r>
          </a:p>
          <a:p>
            <a:pPr marL="621792" lvl="1" indent="-320040"/>
            <a:r>
              <a:rPr lang="en-US" dirty="0"/>
              <a:t>Taxes are imposed on corporations and individuals by the government to help fund public services.</a:t>
            </a:r>
          </a:p>
        </p:txBody>
      </p:sp>
      <p:sp>
        <p:nvSpPr>
          <p:cNvPr id="6" name="Slide Number Placeholder 5"/>
          <p:cNvSpPr>
            <a:spLocks noGrp="1"/>
          </p:cNvSpPr>
          <p:nvPr>
            <p:ph type="sldNum" sz="quarter" idx="4"/>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4103212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Subareas of Finance </a:t>
            </a:r>
            <a:r>
              <a:rPr lang="en-US" sz="1000" b="0" dirty="0"/>
              <a:t>1</a:t>
            </a:r>
          </a:p>
        </p:txBody>
      </p:sp>
      <p:sp>
        <p:nvSpPr>
          <p:cNvPr id="3" name="Content Placeholder 2"/>
          <p:cNvSpPr>
            <a:spLocks noGrp="1"/>
          </p:cNvSpPr>
          <p:nvPr>
            <p:ph sz="quarter" idx="11"/>
          </p:nvPr>
        </p:nvSpPr>
        <p:spPr/>
        <p:txBody>
          <a:bodyPr/>
          <a:lstStyle/>
          <a:p>
            <a:r>
              <a:rPr lang="en-US" b="1" dirty="0"/>
              <a:t>Investments</a:t>
            </a:r>
            <a:r>
              <a:rPr lang="en-US" dirty="0"/>
              <a:t> is the subarea of finance that involves methods and techniques for making decisions about the following:</a:t>
            </a:r>
          </a:p>
          <a:p>
            <a:pPr marL="292608" indent="-292608">
              <a:buFont typeface="Arial" panose="020B0604020202020204" pitchFamily="34" charset="0"/>
              <a:buChar char="•"/>
            </a:pPr>
            <a:r>
              <a:rPr lang="en-US" dirty="0"/>
              <a:t>What kinds of securities to own (e.g., bonds or stocks).</a:t>
            </a:r>
          </a:p>
          <a:p>
            <a:pPr marL="292608" indent="-292608">
              <a:buFont typeface="Arial" panose="020B0604020202020204" pitchFamily="34" charset="0"/>
              <a:buChar char="•"/>
            </a:pPr>
            <a:r>
              <a:rPr lang="en-US" dirty="0"/>
              <a:t>Which firms’ securities to buy.</a:t>
            </a:r>
          </a:p>
          <a:p>
            <a:pPr marL="292608" indent="-292608">
              <a:buFont typeface="Arial" panose="020B0604020202020204" pitchFamily="34" charset="0"/>
              <a:buChar char="•"/>
            </a:pPr>
            <a:r>
              <a:rPr lang="en-US" dirty="0"/>
              <a:t>How to pay the investor back in the form that the investor wishes (e.g., the timing and certainty of the promised cash flows).</a:t>
            </a:r>
          </a:p>
        </p:txBody>
      </p:sp>
      <p:sp>
        <p:nvSpPr>
          <p:cNvPr id="6" name="Slide Number Placeholder 5"/>
          <p:cNvSpPr>
            <a:spLocks noGrp="1"/>
          </p:cNvSpPr>
          <p:nvPr>
            <p:ph type="sldNum" sz="quarter" idx="4"/>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3294610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Subareas of Finance </a:t>
            </a:r>
            <a:r>
              <a:rPr lang="en-US" sz="1000" b="0" dirty="0"/>
              <a:t>2</a:t>
            </a:r>
          </a:p>
        </p:txBody>
      </p:sp>
      <p:sp>
        <p:nvSpPr>
          <p:cNvPr id="3" name="Content Placeholder 2"/>
          <p:cNvSpPr>
            <a:spLocks noGrp="1"/>
          </p:cNvSpPr>
          <p:nvPr>
            <p:ph sz="quarter" idx="11"/>
          </p:nvPr>
        </p:nvSpPr>
        <p:spPr>
          <a:xfrm>
            <a:off x="342900" y="1276710"/>
            <a:ext cx="8458200" cy="4918818"/>
          </a:xfrm>
        </p:spPr>
        <p:txBody>
          <a:bodyPr/>
          <a:lstStyle/>
          <a:p>
            <a:r>
              <a:rPr lang="en-US" sz="2200" b="1" dirty="0"/>
              <a:t>Financial management </a:t>
            </a:r>
            <a:r>
              <a:rPr lang="en-US" sz="2200" dirty="0"/>
              <a:t>is the subarea of finance that deals with a firm’s decisions in acquiring and using the cash that is received from investors or from retained earnings.</a:t>
            </a:r>
          </a:p>
          <a:p>
            <a:pPr marL="292608" indent="-292608">
              <a:buFont typeface="Arial" panose="020B0604020202020204" pitchFamily="34" charset="0"/>
              <a:buChar char="•"/>
            </a:pPr>
            <a:r>
              <a:rPr lang="en-US" sz="2200" dirty="0"/>
              <a:t>Involves decisions about the following:</a:t>
            </a:r>
          </a:p>
          <a:p>
            <a:pPr marL="621792" lvl="1" indent="-320040"/>
            <a:r>
              <a:rPr lang="en-US" sz="2200" dirty="0"/>
              <a:t>How to organize the firm in a manner that will attract capital.</a:t>
            </a:r>
          </a:p>
          <a:p>
            <a:pPr marL="621792" lvl="1" indent="-320040"/>
            <a:r>
              <a:rPr lang="en-US" sz="2200" dirty="0"/>
              <a:t>How to raise capital (e.g., bonds versus stocks).</a:t>
            </a:r>
          </a:p>
          <a:p>
            <a:pPr marL="621792" lvl="1" indent="-320040"/>
            <a:r>
              <a:rPr lang="en-US" sz="2200" dirty="0"/>
              <a:t>Which projects to fund.</a:t>
            </a:r>
          </a:p>
          <a:p>
            <a:pPr marL="621792" lvl="1" indent="-320040"/>
            <a:r>
              <a:rPr lang="en-US" sz="2200" dirty="0"/>
              <a:t>How much capital to retain for ongoing operations and new projects.</a:t>
            </a:r>
          </a:p>
          <a:p>
            <a:pPr marL="621792" lvl="1" indent="-320040"/>
            <a:r>
              <a:rPr lang="en-US" sz="2200" dirty="0"/>
              <a:t>How to minimize taxation.</a:t>
            </a:r>
          </a:p>
          <a:p>
            <a:pPr marL="621792" lvl="1" indent="-320040"/>
            <a:r>
              <a:rPr lang="en-US" sz="2200" dirty="0"/>
              <a:t>How to pay back capital providers.</a:t>
            </a:r>
          </a:p>
        </p:txBody>
      </p:sp>
      <p:sp>
        <p:nvSpPr>
          <p:cNvPr id="6" name="Slide Number Placeholder 5"/>
          <p:cNvSpPr>
            <a:spLocks noGrp="1"/>
          </p:cNvSpPr>
          <p:nvPr>
            <p:ph type="sldNum" sz="quarter" idx="4"/>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3232227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Subareas of Finance (Concluded)</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b="1" dirty="0"/>
              <a:t>Financial institutions and markets </a:t>
            </a:r>
            <a:r>
              <a:rPr lang="en-US" dirty="0"/>
              <a:t>are organizations that facilitate the flow of capital between investors and companies.</a:t>
            </a:r>
          </a:p>
          <a:p>
            <a:r>
              <a:rPr lang="en-US" b="1" dirty="0"/>
              <a:t>International finance </a:t>
            </a:r>
            <a:r>
              <a:rPr lang="en-US" dirty="0"/>
              <a:t>is the use of finance theory in a global business environment.</a:t>
            </a:r>
          </a:p>
          <a:p>
            <a:pPr marL="292608" indent="-292608">
              <a:buFont typeface="Arial" panose="020B0604020202020204" pitchFamily="34" charset="0"/>
              <a:buChar char="•"/>
            </a:pPr>
            <a:r>
              <a:rPr lang="en-US" dirty="0"/>
              <a:t>Decisions are complicated by the uncertainty about future exchange rates, political risk, and changing business laws across the globe.</a:t>
            </a:r>
          </a:p>
        </p:txBody>
      </p:sp>
      <p:sp>
        <p:nvSpPr>
          <p:cNvPr id="6" name="Slide Number Placeholder 5"/>
          <p:cNvSpPr>
            <a:spLocks noGrp="1"/>
          </p:cNvSpPr>
          <p:nvPr>
            <p:ph type="sldNum" sz="quarter" idx="4"/>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3265604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Application and Theory </a:t>
            </a:r>
            <a:r>
              <a:rPr lang="en-US" sz="1000" b="0" dirty="0"/>
              <a:t>1</a:t>
            </a:r>
          </a:p>
        </p:txBody>
      </p:sp>
      <p:sp>
        <p:nvSpPr>
          <p:cNvPr id="3" name="Content Placeholder 2"/>
          <p:cNvSpPr>
            <a:spLocks noGrp="1"/>
          </p:cNvSpPr>
          <p:nvPr>
            <p:ph sz="quarter" idx="11"/>
          </p:nvPr>
        </p:nvSpPr>
        <p:spPr>
          <a:xfrm>
            <a:off x="342900" y="1276710"/>
            <a:ext cx="8458200" cy="1699756"/>
          </a:xfrm>
        </p:spPr>
        <p:txBody>
          <a:bodyPr/>
          <a:lstStyle/>
          <a:p>
            <a:r>
              <a:rPr lang="en-US" dirty="0"/>
              <a:t>Future cash flows are uncertain in terms of both timing and size.</a:t>
            </a:r>
          </a:p>
          <a:p>
            <a:pPr marL="292608" indent="-292608">
              <a:buFont typeface="Arial" panose="020B0604020202020204" pitchFamily="34" charset="0"/>
              <a:buChar char="•"/>
            </a:pPr>
            <a:r>
              <a:rPr lang="en-US" b="1" dirty="0"/>
              <a:t>Risk</a:t>
            </a:r>
            <a:r>
              <a:rPr lang="en-US" dirty="0"/>
              <a:t> is a potential negative impact to value and/or cash flows.</a:t>
            </a:r>
          </a:p>
        </p:txBody>
      </p:sp>
      <p:sp>
        <p:nvSpPr>
          <p:cNvPr id="4" name="Content Placeholder 3"/>
          <p:cNvSpPr>
            <a:spLocks noGrp="1"/>
          </p:cNvSpPr>
          <p:nvPr>
            <p:ph sz="quarter" idx="14"/>
          </p:nvPr>
        </p:nvSpPr>
        <p:spPr>
          <a:xfrm>
            <a:off x="342900" y="3079102"/>
            <a:ext cx="8458200" cy="3169298"/>
          </a:xfrm>
        </p:spPr>
        <p:txBody>
          <a:bodyPr/>
          <a:lstStyle/>
          <a:p>
            <a:r>
              <a:rPr lang="en-US" dirty="0"/>
              <a:t>Comparing rewards with risks often involves assessing the value today of cash flows that are expected to be received in the future.</a:t>
            </a:r>
          </a:p>
          <a:p>
            <a:pPr marL="292608" indent="-292608">
              <a:buFont typeface="Arial" panose="020B0604020202020204" pitchFamily="34" charset="0"/>
              <a:buChar char="•"/>
            </a:pPr>
            <a:r>
              <a:rPr lang="en-US" dirty="0"/>
              <a:t>Price of a </a:t>
            </a:r>
            <a:r>
              <a:rPr lang="en-US" b="1" dirty="0"/>
              <a:t>financial asset </a:t>
            </a:r>
            <a:r>
              <a:rPr lang="en-US" dirty="0"/>
              <a:t>(i.e., something worth money, such as a stock or bond) should depend on the cash flows you expect to receive from that asset in the future.</a:t>
            </a:r>
          </a:p>
        </p:txBody>
      </p:sp>
      <p:sp>
        <p:nvSpPr>
          <p:cNvPr id="7" name="Slide Number Placeholder 6"/>
          <p:cNvSpPr>
            <a:spLocks noGrp="1"/>
          </p:cNvSpPr>
          <p:nvPr>
            <p:ph type="sldNum" sz="quarter" idx="10"/>
          </p:nvPr>
        </p:nvSpPr>
        <p:spPr/>
        <p:txBody>
          <a:bodyPr/>
          <a:lstStyle/>
          <a:p>
            <a:fld id="{68151E55-6873-49E2-B8D5-2F265E6F1973}" type="slidenum">
              <a:rPr lang="en-US" smtClean="0"/>
              <a:t>13</a:t>
            </a:fld>
            <a:endParaRPr lang="en-US"/>
          </a:p>
        </p:txBody>
      </p:sp>
    </p:spTree>
    <p:extLst>
      <p:ext uri="{BB962C8B-B14F-4D97-AF65-F5344CB8AC3E}">
        <p14:creationId xmlns:p14="http://schemas.microsoft.com/office/powerpoint/2010/main" val="2465748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Application and Theory </a:t>
            </a:r>
            <a:r>
              <a:rPr lang="en-US" sz="1000" b="0" dirty="0"/>
              <a:t>2</a:t>
            </a:r>
          </a:p>
        </p:txBody>
      </p:sp>
      <p:sp>
        <p:nvSpPr>
          <p:cNvPr id="3" name="Content Placeholder 2"/>
          <p:cNvSpPr>
            <a:spLocks noGrp="1"/>
          </p:cNvSpPr>
          <p:nvPr>
            <p:ph sz="quarter" idx="11"/>
          </p:nvPr>
        </p:nvSpPr>
        <p:spPr>
          <a:xfrm>
            <a:off x="342900" y="1276709"/>
            <a:ext cx="8458200" cy="3024703"/>
          </a:xfrm>
        </p:spPr>
        <p:txBody>
          <a:bodyPr/>
          <a:lstStyle/>
          <a:p>
            <a:r>
              <a:rPr lang="en-US" dirty="0"/>
              <a:t>Firms are more likely to find “bargain” projects than investors are to find underpriced stocks.</a:t>
            </a:r>
          </a:p>
          <a:p>
            <a:r>
              <a:rPr lang="en-US" dirty="0"/>
              <a:t>Business projects involve real assets trading in real markets.</a:t>
            </a:r>
          </a:p>
          <a:p>
            <a:pPr marL="292608" indent="-292608">
              <a:buFont typeface="Arial" panose="020B0604020202020204" pitchFamily="34" charset="0"/>
              <a:buChar char="•"/>
            </a:pPr>
            <a:r>
              <a:rPr lang="en-US" b="1" dirty="0"/>
              <a:t>Real assets </a:t>
            </a:r>
            <a:r>
              <a:rPr lang="en-US" dirty="0"/>
              <a:t>are physical property like gold, machinery, equipment, or real estate.</a:t>
            </a:r>
          </a:p>
          <a:p>
            <a:pPr marL="292608" indent="-292608">
              <a:buFont typeface="Arial" panose="020B0604020202020204" pitchFamily="34" charset="0"/>
              <a:buChar char="•"/>
            </a:pPr>
            <a:r>
              <a:rPr lang="en-US" b="1" dirty="0"/>
              <a:t>Real markets </a:t>
            </a:r>
            <a:r>
              <a:rPr lang="en-US" dirty="0"/>
              <a:t>are places/processes that facilitate the trading of real assets.</a:t>
            </a:r>
          </a:p>
        </p:txBody>
      </p:sp>
      <p:sp>
        <p:nvSpPr>
          <p:cNvPr id="4" name="Content Placeholder 3"/>
          <p:cNvSpPr>
            <a:spLocks noGrp="1"/>
          </p:cNvSpPr>
          <p:nvPr>
            <p:ph sz="quarter" idx="14"/>
          </p:nvPr>
        </p:nvSpPr>
        <p:spPr>
          <a:xfrm>
            <a:off x="342900" y="4404049"/>
            <a:ext cx="8458200" cy="1026367"/>
          </a:xfrm>
        </p:spPr>
        <p:txBody>
          <a:bodyPr/>
          <a:lstStyle/>
          <a:p>
            <a:r>
              <a:rPr lang="en-US" b="1" dirty="0"/>
              <a:t>Time value of money (T</a:t>
            </a:r>
            <a:r>
              <a:rPr lang="en-US" sz="100" b="1" dirty="0"/>
              <a:t> </a:t>
            </a:r>
            <a:r>
              <a:rPr lang="en-US" b="1" dirty="0"/>
              <a:t>V</a:t>
            </a:r>
            <a:r>
              <a:rPr lang="en-US" sz="100" b="1" dirty="0"/>
              <a:t> </a:t>
            </a:r>
            <a:r>
              <a:rPr lang="en-US" b="1" dirty="0"/>
              <a:t>M)</a:t>
            </a:r>
            <a:r>
              <a:rPr lang="en-US" dirty="0"/>
              <a:t> involves valuing cash flows at various points in time</a:t>
            </a:r>
          </a:p>
        </p:txBody>
      </p:sp>
      <p:sp>
        <p:nvSpPr>
          <p:cNvPr id="7" name="Slide Number Placeholder 6"/>
          <p:cNvSpPr>
            <a:spLocks noGrp="1"/>
          </p:cNvSpPr>
          <p:nvPr>
            <p:ph type="sldNum" sz="quarter" idx="10"/>
          </p:nvPr>
        </p:nvSpPr>
        <p:spPr/>
        <p:txBody>
          <a:bodyPr/>
          <a:lstStyle/>
          <a:p>
            <a:fld id="{68151E55-6873-49E2-B8D5-2F265E6F1973}" type="slidenum">
              <a:rPr lang="en-US" smtClean="0"/>
              <a:t>14</a:t>
            </a:fld>
            <a:endParaRPr lang="en-US"/>
          </a:p>
        </p:txBody>
      </p:sp>
    </p:spTree>
    <p:extLst>
      <p:ext uri="{BB962C8B-B14F-4D97-AF65-F5344CB8AC3E}">
        <p14:creationId xmlns:p14="http://schemas.microsoft.com/office/powerpoint/2010/main" val="2048450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Finance vs. Accounting</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dirty="0"/>
              <a:t>Financial function is usually closely associated with the accounting function.</a:t>
            </a:r>
          </a:p>
          <a:p>
            <a:pPr marL="292608" indent="-292608">
              <a:buFont typeface="Arial" panose="020B0604020202020204" pitchFamily="34" charset="0"/>
              <a:buChar char="•"/>
            </a:pPr>
            <a:r>
              <a:rPr lang="en-US" dirty="0"/>
              <a:t>Accountant’s job is to keep track of what happened </a:t>
            </a:r>
            <a:r>
              <a:rPr lang="en-US" i="1" dirty="0"/>
              <a:t>in the past</a:t>
            </a:r>
            <a:r>
              <a:rPr lang="en-US" dirty="0"/>
              <a:t> to the firm’s money.</a:t>
            </a:r>
          </a:p>
          <a:p>
            <a:pPr marL="292608" indent="-292608">
              <a:buFont typeface="Arial" panose="020B0604020202020204" pitchFamily="34" charset="0"/>
              <a:buChar char="•"/>
            </a:pPr>
            <a:r>
              <a:rPr lang="en-US" dirty="0"/>
              <a:t>Finance job uses historical figures with current information to determine what should happen </a:t>
            </a:r>
            <a:r>
              <a:rPr lang="en-US" i="1" dirty="0"/>
              <a:t>now and in the future </a:t>
            </a:r>
            <a:r>
              <a:rPr lang="en-US" dirty="0"/>
              <a:t>with the firm’s money.</a:t>
            </a:r>
          </a:p>
        </p:txBody>
      </p:sp>
      <p:sp>
        <p:nvSpPr>
          <p:cNvPr id="6" name="Slide Number Placeholder 5"/>
          <p:cNvSpPr>
            <a:spLocks noGrp="1"/>
          </p:cNvSpPr>
          <p:nvPr>
            <p:ph type="sldNum" sz="quarter" idx="4"/>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3489456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Financial Manager</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dirty="0"/>
              <a:t>Chief financial officer, or C</a:t>
            </a:r>
            <a:r>
              <a:rPr lang="en-US" sz="100" dirty="0"/>
              <a:t> </a:t>
            </a:r>
            <a:r>
              <a:rPr lang="en-US" dirty="0"/>
              <a:t>F</a:t>
            </a:r>
            <a:r>
              <a:rPr lang="en-US" sz="100" dirty="0"/>
              <a:t> </a:t>
            </a:r>
            <a:r>
              <a:rPr lang="en-US" dirty="0"/>
              <a:t>O, is usually the firm’s highest–level financial manager.</a:t>
            </a:r>
          </a:p>
          <a:p>
            <a:r>
              <a:rPr lang="en-US" dirty="0"/>
              <a:t>Controller and treasurer report to C</a:t>
            </a:r>
            <a:r>
              <a:rPr lang="en-US" sz="100" dirty="0"/>
              <a:t> </a:t>
            </a:r>
            <a:r>
              <a:rPr lang="en-US" dirty="0"/>
              <a:t>F</a:t>
            </a:r>
            <a:r>
              <a:rPr lang="en-US" sz="100" dirty="0"/>
              <a:t> </a:t>
            </a:r>
            <a:r>
              <a:rPr lang="en-US" dirty="0"/>
              <a:t>O.</a:t>
            </a:r>
          </a:p>
          <a:p>
            <a:pPr marL="292608" indent="-292608">
              <a:buFont typeface="Arial" panose="020B0604020202020204" pitchFamily="34" charset="0"/>
              <a:buChar char="•"/>
            </a:pPr>
            <a:r>
              <a:rPr lang="en-US" dirty="0"/>
              <a:t>Controller oversees accounting function.</a:t>
            </a:r>
          </a:p>
          <a:p>
            <a:pPr marL="292608" indent="-292608">
              <a:buFont typeface="Arial" panose="020B0604020202020204" pitchFamily="34" charset="0"/>
              <a:buChar char="•"/>
            </a:pPr>
            <a:r>
              <a:rPr lang="en-US" dirty="0"/>
              <a:t>Treasurer is usually responsible for these tasks:</a:t>
            </a:r>
          </a:p>
          <a:p>
            <a:pPr marL="621792" lvl="1" indent="-320040"/>
            <a:r>
              <a:rPr lang="en-US" dirty="0"/>
              <a:t>Managing cash and credit.</a:t>
            </a:r>
          </a:p>
          <a:p>
            <a:pPr marL="621792" lvl="1" indent="-320040"/>
            <a:r>
              <a:rPr lang="en-US" dirty="0"/>
              <a:t>Issuing and repurchasing financial securities.</a:t>
            </a:r>
          </a:p>
          <a:p>
            <a:pPr marL="621792" lvl="1" indent="-320040"/>
            <a:r>
              <a:rPr lang="en-US" dirty="0"/>
              <a:t>Deciding how and when to spend capital for new and existing projects.</a:t>
            </a:r>
          </a:p>
          <a:p>
            <a:pPr marL="621792" lvl="1" indent="-320040"/>
            <a:r>
              <a:rPr lang="en-US" dirty="0"/>
              <a:t>Hedging against changes in F</a:t>
            </a:r>
            <a:r>
              <a:rPr lang="en-US" sz="100" dirty="0"/>
              <a:t> </a:t>
            </a:r>
            <a:r>
              <a:rPr lang="en-US" dirty="0"/>
              <a:t>X and interest rates.</a:t>
            </a:r>
          </a:p>
        </p:txBody>
      </p:sp>
      <p:sp>
        <p:nvSpPr>
          <p:cNvPr id="6" name="Slide Number Placeholder 5"/>
          <p:cNvSpPr>
            <a:spLocks noGrp="1"/>
          </p:cNvSpPr>
          <p:nvPr>
            <p:ph type="sldNum" sz="quarter" idx="4"/>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1589423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Finance in Other Business Functions</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dirty="0"/>
              <a:t>Finance permeates the entire organization.</a:t>
            </a:r>
          </a:p>
          <a:p>
            <a:pPr marL="292608" indent="-292608">
              <a:buFont typeface="Arial" panose="020B0604020202020204" pitchFamily="34" charset="0"/>
              <a:buChar char="•"/>
            </a:pPr>
            <a:r>
              <a:rPr lang="en-US" dirty="0"/>
              <a:t>Operational managers.</a:t>
            </a:r>
          </a:p>
          <a:p>
            <a:pPr marL="621792" lvl="1" indent="-320040"/>
            <a:r>
              <a:rPr lang="en-US" dirty="0"/>
              <a:t>Determine how much overtime labor to use.</a:t>
            </a:r>
          </a:p>
          <a:p>
            <a:pPr marL="621792" lvl="1" indent="-320040"/>
            <a:r>
              <a:rPr lang="en-US" dirty="0"/>
              <a:t>Perform cost/benefit analysis when they consider new production lines or methods.</a:t>
            </a:r>
          </a:p>
          <a:p>
            <a:pPr marL="292608" indent="-292608">
              <a:buFont typeface="Arial" panose="020B0604020202020204" pitchFamily="34" charset="0"/>
              <a:buChar char="•"/>
            </a:pPr>
            <a:r>
              <a:rPr lang="en-US" dirty="0"/>
              <a:t>Marketing managers.</a:t>
            </a:r>
          </a:p>
          <a:p>
            <a:pPr marL="621792" lvl="1" indent="-320040"/>
            <a:r>
              <a:rPr lang="en-US" dirty="0"/>
              <a:t>Assess cost–effectiveness of follow–up marketing surveys.</a:t>
            </a:r>
          </a:p>
          <a:p>
            <a:pPr marL="292608" indent="-292608">
              <a:buFont typeface="Arial" panose="020B0604020202020204" pitchFamily="34" charset="0"/>
              <a:buChar char="•"/>
            </a:pPr>
            <a:r>
              <a:rPr lang="en-US" dirty="0"/>
              <a:t>Human resource managers.</a:t>
            </a:r>
          </a:p>
          <a:p>
            <a:pPr marL="621792" lvl="1" indent="-320040"/>
            <a:r>
              <a:rPr lang="en-US" dirty="0"/>
              <a:t>Evaluate cost for various employee benefit packages.</a:t>
            </a:r>
          </a:p>
        </p:txBody>
      </p:sp>
      <p:sp>
        <p:nvSpPr>
          <p:cNvPr id="6" name="Slide Number Placeholder 5"/>
          <p:cNvSpPr>
            <a:spLocks noGrp="1"/>
          </p:cNvSpPr>
          <p:nvPr>
            <p:ph type="sldNum" sz="quarter" idx="4"/>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3963760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Finance in your Personal Life</a:t>
            </a:r>
            <a:endParaRPr lang="en-US" sz="1000" b="0" dirty="0"/>
          </a:p>
        </p:txBody>
      </p:sp>
      <p:sp>
        <p:nvSpPr>
          <p:cNvPr id="3" name="Content Placeholder 2"/>
          <p:cNvSpPr>
            <a:spLocks noGrp="1"/>
          </p:cNvSpPr>
          <p:nvPr>
            <p:ph sz="quarter" idx="11"/>
          </p:nvPr>
        </p:nvSpPr>
        <p:spPr>
          <a:xfrm>
            <a:off x="342900" y="1276710"/>
            <a:ext cx="8458200" cy="2418212"/>
          </a:xfrm>
        </p:spPr>
        <p:txBody>
          <a:bodyPr/>
          <a:lstStyle/>
          <a:p>
            <a:r>
              <a:rPr lang="en-US" dirty="0"/>
              <a:t>Finance can help with personal financial decisions.</a:t>
            </a:r>
          </a:p>
          <a:p>
            <a:pPr marL="292608" indent="-292608">
              <a:buFont typeface="Arial" panose="020B0604020202020204" pitchFamily="34" charset="0"/>
              <a:buChar char="•"/>
            </a:pPr>
            <a:r>
              <a:rPr lang="en-US" dirty="0"/>
              <a:t>Borrowing money to buy a new car.</a:t>
            </a:r>
          </a:p>
          <a:p>
            <a:pPr marL="292608" indent="-292608">
              <a:buFont typeface="Arial" panose="020B0604020202020204" pitchFamily="34" charset="0"/>
              <a:buChar char="•"/>
            </a:pPr>
            <a:r>
              <a:rPr lang="en-US" dirty="0"/>
              <a:t>Refinancing home mortgage at lower rate.</a:t>
            </a:r>
          </a:p>
          <a:p>
            <a:pPr marL="292608" indent="-292608">
              <a:buFont typeface="Arial" panose="020B0604020202020204" pitchFamily="34" charset="0"/>
              <a:buChar char="•"/>
            </a:pPr>
            <a:r>
              <a:rPr lang="en-US" dirty="0"/>
              <a:t>Making credit card or student loan payments.</a:t>
            </a:r>
          </a:p>
          <a:p>
            <a:pPr marL="292608" indent="-292608">
              <a:buFont typeface="Arial" panose="020B0604020202020204" pitchFamily="34" charset="0"/>
              <a:buChar char="•"/>
            </a:pPr>
            <a:r>
              <a:rPr lang="en-US" dirty="0"/>
              <a:t>Saving for retirement.</a:t>
            </a:r>
          </a:p>
        </p:txBody>
      </p:sp>
      <p:sp>
        <p:nvSpPr>
          <p:cNvPr id="4" name="Content Placeholder 3"/>
          <p:cNvSpPr>
            <a:spLocks noGrp="1"/>
          </p:cNvSpPr>
          <p:nvPr>
            <p:ph sz="quarter" idx="14"/>
          </p:nvPr>
        </p:nvSpPr>
        <p:spPr>
          <a:xfrm>
            <a:off x="342900" y="3769566"/>
            <a:ext cx="8458200" cy="2478833"/>
          </a:xfrm>
        </p:spPr>
        <p:txBody>
          <a:bodyPr/>
          <a:lstStyle/>
          <a:p>
            <a:r>
              <a:rPr lang="en-US" dirty="0"/>
              <a:t>Recent changes make financial knowledge even more valuable.</a:t>
            </a:r>
          </a:p>
          <a:p>
            <a:pPr marL="292608" indent="-292608">
              <a:buFont typeface="Arial" panose="020B0604020202020204" pitchFamily="34" charset="0"/>
              <a:buChar char="•"/>
            </a:pPr>
            <a:r>
              <a:rPr lang="en-US" dirty="0"/>
              <a:t>Most companies have switched from providing employees </a:t>
            </a:r>
            <a:r>
              <a:rPr lang="en-US" b="1" dirty="0"/>
              <a:t>defined benefit </a:t>
            </a:r>
            <a:r>
              <a:rPr lang="en-US" dirty="0"/>
              <a:t>plans to offering </a:t>
            </a:r>
            <a:r>
              <a:rPr lang="en-US" b="1" dirty="0"/>
              <a:t>defined contribution </a:t>
            </a:r>
            <a:r>
              <a:rPr lang="en-US" dirty="0"/>
              <a:t>plans (such as </a:t>
            </a:r>
            <a:r>
              <a:rPr lang="en-US" b="1" dirty="0"/>
              <a:t>401k plans</a:t>
            </a:r>
            <a:r>
              <a:rPr lang="en-US" dirty="0"/>
              <a:t>) and self–funded plans like </a:t>
            </a:r>
            <a:r>
              <a:rPr lang="en-US" b="1" dirty="0"/>
              <a:t>Individual Retirement Accounts (I</a:t>
            </a:r>
            <a:r>
              <a:rPr lang="en-US" sz="100" b="1" dirty="0"/>
              <a:t> </a:t>
            </a:r>
            <a:r>
              <a:rPr lang="en-US" b="1" dirty="0"/>
              <a:t>R</a:t>
            </a:r>
            <a:r>
              <a:rPr lang="en-US" sz="100" b="1" dirty="0"/>
              <a:t> </a:t>
            </a:r>
            <a:r>
              <a:rPr lang="en-US" b="1" dirty="0"/>
              <a:t>As).</a:t>
            </a:r>
          </a:p>
        </p:txBody>
      </p:sp>
      <p:sp>
        <p:nvSpPr>
          <p:cNvPr id="7" name="Slide Number Placeholder 6"/>
          <p:cNvSpPr>
            <a:spLocks noGrp="1"/>
          </p:cNvSpPr>
          <p:nvPr>
            <p:ph type="sldNum" sz="quarter" idx="10"/>
          </p:nvPr>
        </p:nvSpPr>
        <p:spPr/>
        <p:txBody>
          <a:bodyPr/>
          <a:lstStyle/>
          <a:p>
            <a:fld id="{68151E55-6873-49E2-B8D5-2F265E6F1973}" type="slidenum">
              <a:rPr lang="en-US" smtClean="0"/>
              <a:t>18</a:t>
            </a:fld>
            <a:endParaRPr lang="en-US"/>
          </a:p>
        </p:txBody>
      </p:sp>
    </p:spTree>
    <p:extLst>
      <p:ext uri="{BB962C8B-B14F-4D97-AF65-F5344CB8AC3E}">
        <p14:creationId xmlns:p14="http://schemas.microsoft.com/office/powerpoint/2010/main" val="2816370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Business Organization</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dirty="0"/>
              <a:t>Number of owners is the key to how business structures are classified.</a:t>
            </a:r>
          </a:p>
          <a:p>
            <a:r>
              <a:rPr lang="en-US" dirty="0"/>
              <a:t>Single owners, partners, and corporations operate businesses.</a:t>
            </a:r>
          </a:p>
          <a:p>
            <a:r>
              <a:rPr lang="en-US" dirty="0"/>
              <a:t>Advantages and disadvantages related to the following:</a:t>
            </a:r>
          </a:p>
          <a:p>
            <a:pPr marL="292608" indent="-292608">
              <a:buFont typeface="Arial" panose="020B0604020202020204" pitchFamily="34" charset="0"/>
              <a:buChar char="•"/>
            </a:pPr>
            <a:r>
              <a:rPr lang="en-US" dirty="0"/>
              <a:t>Control and ownership of firm.</a:t>
            </a:r>
          </a:p>
          <a:p>
            <a:pPr marL="292608" indent="-292608">
              <a:buFont typeface="Arial" panose="020B0604020202020204" pitchFamily="34" charset="0"/>
              <a:buChar char="•"/>
            </a:pPr>
            <a:r>
              <a:rPr lang="en-US" dirty="0"/>
              <a:t>Owners’ risks.</a:t>
            </a:r>
          </a:p>
          <a:p>
            <a:pPr marL="292608" indent="-292608">
              <a:buFont typeface="Arial" panose="020B0604020202020204" pitchFamily="34" charset="0"/>
              <a:buChar char="•"/>
            </a:pPr>
            <a:r>
              <a:rPr lang="en-US" dirty="0"/>
              <a:t>Access to capital and tax ramifications.</a:t>
            </a:r>
          </a:p>
        </p:txBody>
      </p:sp>
      <p:sp>
        <p:nvSpPr>
          <p:cNvPr id="6" name="Slide Number Placeholder 5"/>
          <p:cNvSpPr>
            <a:spLocks noGrp="1"/>
          </p:cNvSpPr>
          <p:nvPr>
            <p:ph type="sldNum" sz="quarter" idx="4"/>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340508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Characteristics of Business Organizations</a:t>
            </a:r>
          </a:p>
        </p:txBody>
      </p:sp>
      <p:graphicFrame>
        <p:nvGraphicFramePr>
          <p:cNvPr id="9" name="Table 8"/>
          <p:cNvGraphicFramePr>
            <a:graphicFrameLocks noGrp="1"/>
          </p:cNvGraphicFramePr>
          <p:nvPr>
            <p:extLst>
              <p:ext uri="{D42A27DB-BD31-4B8C-83A1-F6EECF244321}">
                <p14:modId xmlns:p14="http://schemas.microsoft.com/office/powerpoint/2010/main" val="3993243813"/>
              </p:ext>
            </p:extLst>
          </p:nvPr>
        </p:nvGraphicFramePr>
        <p:xfrm>
          <a:off x="342899" y="1713141"/>
          <a:ext cx="8458200" cy="2479040"/>
        </p:xfrm>
        <a:graphic>
          <a:graphicData uri="http://schemas.openxmlformats.org/drawingml/2006/table">
            <a:tbl>
              <a:tblPr firstRow="1" bandRow="1">
                <a:tableStyleId>{5C22544A-7EE6-4342-B048-85BDC9FD1C3A}</a:tableStyleId>
              </a:tblPr>
              <a:tblGrid>
                <a:gridCol w="1364603">
                  <a:extLst>
                    <a:ext uri="{9D8B030D-6E8A-4147-A177-3AD203B41FA5}">
                      <a16:colId xmlns:a16="http://schemas.microsoft.com/office/drawing/2014/main" val="3447624221"/>
                    </a:ext>
                  </a:extLst>
                </a:gridCol>
                <a:gridCol w="1567543">
                  <a:extLst>
                    <a:ext uri="{9D8B030D-6E8A-4147-A177-3AD203B41FA5}">
                      <a16:colId xmlns:a16="http://schemas.microsoft.com/office/drawing/2014/main" val="2223717825"/>
                    </a:ext>
                  </a:extLst>
                </a:gridCol>
                <a:gridCol w="951722">
                  <a:extLst>
                    <a:ext uri="{9D8B030D-6E8A-4147-A177-3AD203B41FA5}">
                      <a16:colId xmlns:a16="http://schemas.microsoft.com/office/drawing/2014/main" val="3109833059"/>
                    </a:ext>
                  </a:extLst>
                </a:gridCol>
                <a:gridCol w="1604866">
                  <a:extLst>
                    <a:ext uri="{9D8B030D-6E8A-4147-A177-3AD203B41FA5}">
                      <a16:colId xmlns:a16="http://schemas.microsoft.com/office/drawing/2014/main" val="1661853637"/>
                    </a:ext>
                  </a:extLst>
                </a:gridCol>
                <a:gridCol w="1483567">
                  <a:extLst>
                    <a:ext uri="{9D8B030D-6E8A-4147-A177-3AD203B41FA5}">
                      <a16:colId xmlns:a16="http://schemas.microsoft.com/office/drawing/2014/main" val="2107771793"/>
                    </a:ext>
                  </a:extLst>
                </a:gridCol>
                <a:gridCol w="1485899">
                  <a:extLst>
                    <a:ext uri="{9D8B030D-6E8A-4147-A177-3AD203B41FA5}">
                      <a16:colId xmlns:a16="http://schemas.microsoft.com/office/drawing/2014/main" val="77543796"/>
                    </a:ext>
                  </a:extLst>
                </a:gridCol>
              </a:tblGrid>
              <a:tr h="370840">
                <a:tc>
                  <a:txBody>
                    <a:bodyPr/>
                    <a:lstStyle/>
                    <a:p>
                      <a:pPr algn="ctr"/>
                      <a:endParaRPr lang="en-US" sz="1200" b="1" dirty="0"/>
                    </a:p>
                  </a:txBody>
                  <a:tcPr/>
                </a:tc>
                <a:tc>
                  <a:txBody>
                    <a:bodyPr/>
                    <a:lstStyle/>
                    <a:p>
                      <a:pPr algn="ctr"/>
                      <a:r>
                        <a:rPr lang="en-US" sz="1200" dirty="0"/>
                        <a:t>Ownership</a:t>
                      </a:r>
                    </a:p>
                  </a:txBody>
                  <a:tcPr anchor="b"/>
                </a:tc>
                <a:tc>
                  <a:txBody>
                    <a:bodyPr/>
                    <a:lstStyle/>
                    <a:p>
                      <a:pPr algn="ctr"/>
                      <a:r>
                        <a:rPr lang="en-US" sz="1200" dirty="0"/>
                        <a:t>Control</a:t>
                      </a:r>
                    </a:p>
                  </a:txBody>
                  <a:tcPr anchor="b"/>
                </a:tc>
                <a:tc>
                  <a:txBody>
                    <a:bodyPr/>
                    <a:lstStyle/>
                    <a:p>
                      <a:pPr algn="ctr"/>
                      <a:r>
                        <a:rPr lang="en-US" sz="1200" dirty="0"/>
                        <a:t>Ownership Risk</a:t>
                      </a:r>
                    </a:p>
                  </a:txBody>
                  <a:tcPr anchor="b"/>
                </a:tc>
                <a:tc>
                  <a:txBody>
                    <a:bodyPr/>
                    <a:lstStyle/>
                    <a:p>
                      <a:pPr algn="ctr"/>
                      <a:r>
                        <a:rPr lang="en-US" sz="1200" dirty="0"/>
                        <a:t>Access to Capital</a:t>
                      </a:r>
                    </a:p>
                  </a:txBody>
                  <a:tcPr anchor="b"/>
                </a:tc>
                <a:tc>
                  <a:txBody>
                    <a:bodyPr/>
                    <a:lstStyle/>
                    <a:p>
                      <a:pPr algn="ctr"/>
                      <a:r>
                        <a:rPr lang="en-US" sz="1200" dirty="0"/>
                        <a:t>Taxes</a:t>
                      </a:r>
                    </a:p>
                  </a:txBody>
                  <a:tcPr anchor="b"/>
                </a:tc>
                <a:extLst>
                  <a:ext uri="{0D108BD9-81ED-4DB2-BD59-A6C34878D82A}">
                    <a16:rowId xmlns:a16="http://schemas.microsoft.com/office/drawing/2014/main" val="385450744"/>
                  </a:ext>
                </a:extLst>
              </a:tr>
              <a:tr h="370840">
                <a:tc>
                  <a:txBody>
                    <a:bodyPr/>
                    <a:lstStyle/>
                    <a:p>
                      <a:r>
                        <a:rPr lang="en-US" sz="1200" b="1" dirty="0"/>
                        <a:t>Sole Proprietor</a:t>
                      </a:r>
                    </a:p>
                  </a:txBody>
                  <a:tcPr/>
                </a:tc>
                <a:tc>
                  <a:txBody>
                    <a:bodyPr/>
                    <a:lstStyle/>
                    <a:p>
                      <a:r>
                        <a:rPr lang="en-US" sz="1200" dirty="0"/>
                        <a:t>Single individual</a:t>
                      </a:r>
                    </a:p>
                  </a:txBody>
                  <a:tcPr/>
                </a:tc>
                <a:tc>
                  <a:txBody>
                    <a:bodyPr/>
                    <a:lstStyle/>
                    <a:p>
                      <a:r>
                        <a:rPr lang="en-US" sz="1200" dirty="0"/>
                        <a:t>Proprietor</a:t>
                      </a:r>
                    </a:p>
                  </a:txBody>
                  <a:tcPr/>
                </a:tc>
                <a:tc>
                  <a:txBody>
                    <a:bodyPr/>
                    <a:lstStyle/>
                    <a:p>
                      <a:r>
                        <a:rPr lang="en-US" sz="1200" dirty="0"/>
                        <a:t>Unlimited liability</a:t>
                      </a:r>
                    </a:p>
                  </a:txBody>
                  <a:tcPr/>
                </a:tc>
                <a:tc>
                  <a:txBody>
                    <a:bodyPr/>
                    <a:lstStyle/>
                    <a:p>
                      <a:r>
                        <a:rPr lang="en-US" sz="1200" dirty="0"/>
                        <a:t>Very limited</a:t>
                      </a:r>
                    </a:p>
                  </a:txBody>
                  <a:tcPr/>
                </a:tc>
                <a:tc>
                  <a:txBody>
                    <a:bodyPr/>
                    <a:lstStyle/>
                    <a:p>
                      <a:r>
                        <a:rPr lang="en-US" sz="1200" dirty="0"/>
                        <a:t>Paid by owner</a:t>
                      </a:r>
                    </a:p>
                  </a:txBody>
                  <a:tcPr/>
                </a:tc>
                <a:extLst>
                  <a:ext uri="{0D108BD9-81ED-4DB2-BD59-A6C34878D82A}">
                    <a16:rowId xmlns:a16="http://schemas.microsoft.com/office/drawing/2014/main" val="310111977"/>
                  </a:ext>
                </a:extLst>
              </a:tr>
              <a:tr h="370840">
                <a:tc>
                  <a:txBody>
                    <a:bodyPr/>
                    <a:lstStyle/>
                    <a:p>
                      <a:r>
                        <a:rPr lang="en-US" sz="1200" b="1" dirty="0"/>
                        <a:t>Partnership</a:t>
                      </a:r>
                    </a:p>
                  </a:txBody>
                  <a:tcPr/>
                </a:tc>
                <a:tc>
                  <a:txBody>
                    <a:bodyPr/>
                    <a:lstStyle/>
                    <a:p>
                      <a:r>
                        <a:rPr lang="en-US" sz="1200" dirty="0"/>
                        <a:t>Multiple people</a:t>
                      </a:r>
                    </a:p>
                  </a:txBody>
                  <a:tcPr/>
                </a:tc>
                <a:tc>
                  <a:txBody>
                    <a:bodyPr/>
                    <a:lstStyle/>
                    <a:p>
                      <a:r>
                        <a:rPr lang="en-US" sz="1200" dirty="0"/>
                        <a:t>Shared by partners</a:t>
                      </a:r>
                    </a:p>
                  </a:txBody>
                  <a:tcPr/>
                </a:tc>
                <a:tc>
                  <a:txBody>
                    <a:bodyPr/>
                    <a:lstStyle/>
                    <a:p>
                      <a:r>
                        <a:rPr lang="en-US" sz="1200" dirty="0"/>
                        <a:t>Unlimited liability</a:t>
                      </a:r>
                    </a:p>
                  </a:txBody>
                  <a:tcPr/>
                </a:tc>
                <a:tc>
                  <a:txBody>
                    <a:bodyPr/>
                    <a:lstStyle/>
                    <a:p>
                      <a:r>
                        <a:rPr lang="en-US" sz="1200" dirty="0"/>
                        <a:t>Limited</a:t>
                      </a:r>
                    </a:p>
                  </a:txBody>
                  <a:tcPr/>
                </a:tc>
                <a:tc>
                  <a:txBody>
                    <a:bodyPr/>
                    <a:lstStyle/>
                    <a:p>
                      <a:r>
                        <a:rPr lang="en-US" sz="1200" dirty="0"/>
                        <a:t>Paid by partners</a:t>
                      </a:r>
                    </a:p>
                  </a:txBody>
                  <a:tcPr/>
                </a:tc>
                <a:extLst>
                  <a:ext uri="{0D108BD9-81ED-4DB2-BD59-A6C34878D82A}">
                    <a16:rowId xmlns:a16="http://schemas.microsoft.com/office/drawing/2014/main" val="2493778741"/>
                  </a:ext>
                </a:extLst>
              </a:tr>
              <a:tr h="370840">
                <a:tc>
                  <a:txBody>
                    <a:bodyPr/>
                    <a:lstStyle/>
                    <a:p>
                      <a:r>
                        <a:rPr lang="en-US" sz="1200" b="1" dirty="0"/>
                        <a:t>Corporation</a:t>
                      </a:r>
                    </a:p>
                  </a:txBody>
                  <a:tcPr/>
                </a:tc>
                <a:tc>
                  <a:txBody>
                    <a:bodyPr/>
                    <a:lstStyle/>
                    <a:p>
                      <a:r>
                        <a:rPr lang="en-US" sz="1200" dirty="0"/>
                        <a:t>Public investors who own the stock</a:t>
                      </a:r>
                    </a:p>
                  </a:txBody>
                  <a:tcPr/>
                </a:tc>
                <a:tc>
                  <a:txBody>
                    <a:bodyPr/>
                    <a:lstStyle/>
                    <a:p>
                      <a:r>
                        <a:rPr lang="en-US" sz="1200" dirty="0"/>
                        <a:t>Company managers</a:t>
                      </a:r>
                    </a:p>
                  </a:txBody>
                  <a:tcPr/>
                </a:tc>
                <a:tc>
                  <a:txBody>
                    <a:bodyPr/>
                    <a:lstStyle/>
                    <a:p>
                      <a:r>
                        <a:rPr lang="en-US" sz="1200" dirty="0"/>
                        <a:t> Stockholders can only lose their investment in the firm</a:t>
                      </a:r>
                    </a:p>
                  </a:txBody>
                  <a:tcPr/>
                </a:tc>
                <a:tc>
                  <a:txBody>
                    <a:bodyPr/>
                    <a:lstStyle/>
                    <a:p>
                      <a:r>
                        <a:rPr lang="en-US" sz="1200" dirty="0"/>
                        <a:t>Easy access</a:t>
                      </a:r>
                    </a:p>
                  </a:txBody>
                  <a:tcPr/>
                </a:tc>
                <a:tc>
                  <a:txBody>
                    <a:bodyPr/>
                    <a:lstStyle/>
                    <a:p>
                      <a:r>
                        <a:rPr lang="en-US" sz="1200" dirty="0"/>
                        <a:t>Corporation pays income tax and stockholders pay taxes on dividends</a:t>
                      </a:r>
                    </a:p>
                  </a:txBody>
                  <a:tcPr/>
                </a:tc>
                <a:extLst>
                  <a:ext uri="{0D108BD9-81ED-4DB2-BD59-A6C34878D82A}">
                    <a16:rowId xmlns:a16="http://schemas.microsoft.com/office/drawing/2014/main" val="3559043368"/>
                  </a:ext>
                </a:extLst>
              </a:tr>
              <a:tr h="370840">
                <a:tc>
                  <a:txBody>
                    <a:bodyPr/>
                    <a:lstStyle/>
                    <a:p>
                      <a:r>
                        <a:rPr lang="en-US" sz="1200" b="1" dirty="0"/>
                        <a:t>Hybrids: S </a:t>
                      </a:r>
                      <a:r>
                        <a:rPr lang="en-US" sz="1200" b="1" dirty="0" err="1"/>
                        <a:t>corp</a:t>
                      </a:r>
                      <a:r>
                        <a:rPr lang="en-US" sz="1200" b="1" dirty="0"/>
                        <a:t>, L</a:t>
                      </a:r>
                      <a:r>
                        <a:rPr lang="en-US" sz="100" b="1" dirty="0"/>
                        <a:t> </a:t>
                      </a:r>
                      <a:r>
                        <a:rPr lang="en-US" sz="1200" b="1" dirty="0" err="1"/>
                        <a:t>L</a:t>
                      </a:r>
                      <a:r>
                        <a:rPr lang="en-US" sz="100" b="1" dirty="0"/>
                        <a:t> </a:t>
                      </a:r>
                      <a:r>
                        <a:rPr lang="en-US" sz="1200" b="1" dirty="0"/>
                        <a:t>P, L</a:t>
                      </a:r>
                      <a:r>
                        <a:rPr lang="en-US" sz="100" b="1" dirty="0"/>
                        <a:t> </a:t>
                      </a:r>
                      <a:r>
                        <a:rPr lang="en-US" sz="1200" b="1" dirty="0" err="1"/>
                        <a:t>L</a:t>
                      </a:r>
                      <a:r>
                        <a:rPr lang="en-US" sz="100" b="1" dirty="0"/>
                        <a:t> </a:t>
                      </a:r>
                      <a:r>
                        <a:rPr lang="en-US" sz="1200" b="1" dirty="0"/>
                        <a:t>C, L</a:t>
                      </a:r>
                      <a:r>
                        <a:rPr lang="en-US" sz="100" b="1" dirty="0"/>
                        <a:t> </a:t>
                      </a:r>
                      <a:r>
                        <a:rPr lang="en-US" sz="1200" b="1" dirty="0"/>
                        <a:t>P</a:t>
                      </a:r>
                    </a:p>
                  </a:txBody>
                  <a:tcPr/>
                </a:tc>
                <a:tc>
                  <a:txBody>
                    <a:bodyPr/>
                    <a:lstStyle/>
                    <a:p>
                      <a:r>
                        <a:rPr lang="en-US" sz="1200" dirty="0"/>
                        <a:t>Partners or shareholders</a:t>
                      </a:r>
                    </a:p>
                  </a:txBody>
                  <a:tcPr/>
                </a:tc>
                <a:tc>
                  <a:txBody>
                    <a:bodyPr/>
                    <a:lstStyle/>
                    <a:p>
                      <a:r>
                        <a:rPr lang="en-US" sz="1200" dirty="0"/>
                        <a:t>Shared</a:t>
                      </a:r>
                    </a:p>
                  </a:txBody>
                  <a:tcPr/>
                </a:tc>
                <a:tc>
                  <a:txBody>
                    <a:bodyPr/>
                    <a:lstStyle/>
                    <a:p>
                      <a:r>
                        <a:rPr lang="en-US" sz="1200" dirty="0"/>
                        <a:t>Mostly limited</a:t>
                      </a:r>
                    </a:p>
                  </a:txBody>
                  <a:tcPr/>
                </a:tc>
                <a:tc>
                  <a:txBody>
                    <a:bodyPr/>
                    <a:lstStyle/>
                    <a:p>
                      <a:r>
                        <a:rPr lang="en-US" sz="1200" dirty="0"/>
                        <a:t>Limited by firm size restrictions</a:t>
                      </a:r>
                    </a:p>
                  </a:txBody>
                  <a:tcPr/>
                </a:tc>
                <a:tc>
                  <a:txBody>
                    <a:bodyPr/>
                    <a:lstStyle/>
                    <a:p>
                      <a:r>
                        <a:rPr lang="en-US" sz="1200" dirty="0"/>
                        <a:t>Paid by partners or shareholders</a:t>
                      </a:r>
                    </a:p>
                  </a:txBody>
                  <a:tcPr/>
                </a:tc>
                <a:extLst>
                  <a:ext uri="{0D108BD9-81ED-4DB2-BD59-A6C34878D82A}">
                    <a16:rowId xmlns:a16="http://schemas.microsoft.com/office/drawing/2014/main" val="2605753343"/>
                  </a:ext>
                </a:extLst>
              </a:tr>
            </a:tbl>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2550967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Sole Proprietorships</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b="1" dirty="0"/>
              <a:t>Sole proprietorship </a:t>
            </a:r>
            <a:r>
              <a:rPr lang="en-US" dirty="0"/>
              <a:t>is any unincorporated business owned by a single individual.</a:t>
            </a:r>
          </a:p>
          <a:p>
            <a:pPr marL="292608" indent="-292608">
              <a:buFont typeface="Arial" panose="020B0604020202020204" pitchFamily="34" charset="0"/>
              <a:buChar char="•"/>
            </a:pPr>
            <a:r>
              <a:rPr lang="en-US" dirty="0"/>
              <a:t>Most common type of business in the U.S.</a:t>
            </a:r>
          </a:p>
          <a:p>
            <a:pPr marL="292608" indent="-292608">
              <a:buFont typeface="Arial" panose="020B0604020202020204" pitchFamily="34" charset="0"/>
              <a:buChar char="•"/>
            </a:pPr>
            <a:r>
              <a:rPr lang="en-US" dirty="0"/>
              <a:t>Advantages include being easy to start, being subject to a relatively lighter regulatory and paperwork burden, and owner having complete control of the firm’s activities.</a:t>
            </a:r>
          </a:p>
          <a:p>
            <a:pPr marL="292608" indent="-292608">
              <a:buFont typeface="Arial" panose="020B0604020202020204" pitchFamily="34" charset="0"/>
              <a:buChar char="•"/>
            </a:pPr>
            <a:r>
              <a:rPr lang="en-US" dirty="0"/>
              <a:t>Disadvantages include unlimited liability for company’s debts and actions and difficulty in raising capital.</a:t>
            </a:r>
          </a:p>
        </p:txBody>
      </p:sp>
      <p:sp>
        <p:nvSpPr>
          <p:cNvPr id="6" name="Slide Number Placeholder 5"/>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2538451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General Partnerships</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b="1" dirty="0"/>
              <a:t>General partnership </a:t>
            </a:r>
            <a:r>
              <a:rPr lang="en-US" dirty="0"/>
              <a:t>is an organizational form that features multiple individual owners.</a:t>
            </a:r>
          </a:p>
          <a:p>
            <a:pPr marL="292608" indent="-292608">
              <a:buFont typeface="Arial" panose="020B0604020202020204" pitchFamily="34" charset="0"/>
              <a:buChar char="•"/>
            </a:pPr>
            <a:r>
              <a:rPr lang="en-US" dirty="0"/>
              <a:t>Each partner can own different percentage of firm.</a:t>
            </a:r>
          </a:p>
          <a:p>
            <a:pPr marL="292608" indent="-292608">
              <a:buFont typeface="Arial" panose="020B0604020202020204" pitchFamily="34" charset="0"/>
              <a:buChar char="•"/>
            </a:pPr>
            <a:r>
              <a:rPr lang="en-US" dirty="0"/>
              <a:t>Profits are split among partners according to prearranged agreement.</a:t>
            </a:r>
          </a:p>
          <a:p>
            <a:pPr marL="292608" indent="-292608">
              <a:buFont typeface="Arial" panose="020B0604020202020204" pitchFamily="34" charset="0"/>
              <a:buChar char="•"/>
            </a:pPr>
            <a:r>
              <a:rPr lang="en-US" dirty="0"/>
              <a:t>Partners jointly share unlimited personal liability for debts of the firm.</a:t>
            </a:r>
          </a:p>
          <a:p>
            <a:pPr marL="292608" indent="-292608">
              <a:buFont typeface="Arial" panose="020B0604020202020204" pitchFamily="34" charset="0"/>
              <a:buChar char="•"/>
            </a:pPr>
            <a:r>
              <a:rPr lang="en-US" dirty="0"/>
              <a:t>Easier to raise capital than sole proprietorships.</a:t>
            </a:r>
          </a:p>
          <a:p>
            <a:pPr marL="292608" indent="-292608">
              <a:buFont typeface="Arial" panose="020B0604020202020204" pitchFamily="34" charset="0"/>
              <a:buChar char="•"/>
            </a:pPr>
            <a:r>
              <a:rPr lang="en-US" dirty="0"/>
              <a:t>To raise enough capital for substantial growth, partnerships often change into public corporations.</a:t>
            </a:r>
          </a:p>
        </p:txBody>
      </p:sp>
      <p:sp>
        <p:nvSpPr>
          <p:cNvPr id="6" name="Slide Number Placeholder 5"/>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3409706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Public Corporations</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b="1" dirty="0"/>
              <a:t>Public corporation </a:t>
            </a:r>
            <a:r>
              <a:rPr lang="en-US" dirty="0"/>
              <a:t>is a legally independent entity entirely separate from its owners.</a:t>
            </a:r>
          </a:p>
          <a:p>
            <a:pPr marL="292608" indent="-292608">
              <a:buFont typeface="Arial" panose="020B0604020202020204" pitchFamily="34" charset="0"/>
              <a:buChar char="•"/>
            </a:pPr>
            <a:r>
              <a:rPr lang="en-US" dirty="0"/>
              <a:t>Hold many rights and obligations of individual persons (e.g., ability to own property, sign binding contracts, and pay taxes).</a:t>
            </a:r>
          </a:p>
          <a:p>
            <a:pPr marL="292608" indent="-292608">
              <a:buFont typeface="Arial" panose="020B0604020202020204" pitchFamily="34" charset="0"/>
              <a:buChar char="•"/>
            </a:pPr>
            <a:r>
              <a:rPr lang="en-US" dirty="0"/>
              <a:t>Shareholders are subject to </a:t>
            </a:r>
            <a:r>
              <a:rPr lang="en-US" b="1" dirty="0"/>
              <a:t>double taxation.</a:t>
            </a:r>
          </a:p>
          <a:p>
            <a:pPr marL="292608" indent="-292608">
              <a:buFont typeface="Arial" panose="020B0604020202020204" pitchFamily="34" charset="0"/>
              <a:buChar char="•"/>
            </a:pPr>
            <a:r>
              <a:rPr lang="en-US" dirty="0"/>
              <a:t>Managers control the company, as corporations typically have thousands of stockholders.</a:t>
            </a:r>
          </a:p>
          <a:p>
            <a:pPr marL="292608" indent="-292608">
              <a:buFont typeface="Arial" panose="020B0604020202020204" pitchFamily="34" charset="0"/>
              <a:buChar char="•"/>
            </a:pPr>
            <a:r>
              <a:rPr lang="en-US" dirty="0"/>
              <a:t>Shareholders have </a:t>
            </a:r>
            <a:r>
              <a:rPr lang="en-US" b="1" dirty="0"/>
              <a:t>limited liability.</a:t>
            </a:r>
          </a:p>
          <a:p>
            <a:pPr marL="292608" indent="-292608">
              <a:buFont typeface="Arial" panose="020B0604020202020204" pitchFamily="34" charset="0"/>
              <a:buChar char="•"/>
            </a:pPr>
            <a:r>
              <a:rPr lang="en-US" dirty="0"/>
              <a:t>Relatively simple to raise capital.</a:t>
            </a:r>
          </a:p>
        </p:txBody>
      </p:sp>
      <p:sp>
        <p:nvSpPr>
          <p:cNvPr id="6" name="Slide Number Placeholder 5"/>
          <p:cNvSpPr>
            <a:spLocks noGrp="1"/>
          </p:cNvSpPr>
          <p:nvPr>
            <p:ph type="sldNum" sz="quarter" idx="4"/>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1716196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Hybrid Organizations</a:t>
            </a:r>
            <a:endParaRPr lang="en-US" sz="1000" b="0" dirty="0"/>
          </a:p>
        </p:txBody>
      </p:sp>
      <p:sp>
        <p:nvSpPr>
          <p:cNvPr id="3" name="Content Placeholder 2"/>
          <p:cNvSpPr>
            <a:spLocks noGrp="1"/>
          </p:cNvSpPr>
          <p:nvPr>
            <p:ph sz="quarter" idx="11"/>
          </p:nvPr>
        </p:nvSpPr>
        <p:spPr>
          <a:xfrm>
            <a:off x="342900" y="1276710"/>
            <a:ext cx="8458200" cy="2810098"/>
          </a:xfrm>
        </p:spPr>
        <p:txBody>
          <a:bodyPr/>
          <a:lstStyle/>
          <a:p>
            <a:r>
              <a:rPr lang="en-US" dirty="0"/>
              <a:t>Hybrid organizations offer single taxation and limited liability to all owners.</a:t>
            </a:r>
          </a:p>
          <a:p>
            <a:pPr marL="292608" indent="-292608">
              <a:buFont typeface="Arial" panose="020B0604020202020204" pitchFamily="34" charset="0"/>
              <a:buChar char="•"/>
            </a:pPr>
            <a:r>
              <a:rPr lang="en-US" dirty="0"/>
              <a:t>S corporations.</a:t>
            </a:r>
          </a:p>
          <a:p>
            <a:pPr marL="292608" indent="-292608">
              <a:buFont typeface="Arial" panose="020B0604020202020204" pitchFamily="34" charset="0"/>
              <a:buChar char="•"/>
            </a:pPr>
            <a:r>
              <a:rPr lang="en-US" dirty="0"/>
              <a:t>Limited liability partnerships (L</a:t>
            </a:r>
            <a:r>
              <a:rPr lang="en-US" sz="100" dirty="0"/>
              <a:t> </a:t>
            </a:r>
            <a:r>
              <a:rPr lang="en-US" dirty="0" err="1"/>
              <a:t>L</a:t>
            </a:r>
            <a:r>
              <a:rPr lang="en-US" sz="100" dirty="0"/>
              <a:t> </a:t>
            </a:r>
            <a:r>
              <a:rPr lang="en-US" dirty="0"/>
              <a:t>Ps).</a:t>
            </a:r>
          </a:p>
          <a:p>
            <a:pPr marL="292608" indent="-292608">
              <a:buFont typeface="Arial" panose="020B0604020202020204" pitchFamily="34" charset="0"/>
              <a:buChar char="•"/>
            </a:pPr>
            <a:r>
              <a:rPr lang="en-US" dirty="0"/>
              <a:t>Limited liability companies (L</a:t>
            </a:r>
            <a:r>
              <a:rPr lang="en-US" sz="100" dirty="0"/>
              <a:t> </a:t>
            </a:r>
            <a:r>
              <a:rPr lang="en-US" dirty="0" err="1"/>
              <a:t>L</a:t>
            </a:r>
            <a:r>
              <a:rPr lang="en-US" sz="100" dirty="0"/>
              <a:t> </a:t>
            </a:r>
            <a:r>
              <a:rPr lang="en-US" dirty="0"/>
              <a:t>Cs).</a:t>
            </a:r>
          </a:p>
          <a:p>
            <a:pPr marL="292608" indent="-292608">
              <a:buFont typeface="Arial" panose="020B0604020202020204" pitchFamily="34" charset="0"/>
              <a:buChar char="•"/>
            </a:pPr>
            <a:r>
              <a:rPr lang="en-US" dirty="0"/>
              <a:t>Limited partnerships (L</a:t>
            </a:r>
            <a:r>
              <a:rPr lang="en-US" sz="100" dirty="0"/>
              <a:t> </a:t>
            </a:r>
            <a:r>
              <a:rPr lang="en-US" dirty="0"/>
              <a:t>Ps).</a:t>
            </a:r>
          </a:p>
        </p:txBody>
      </p:sp>
      <p:sp>
        <p:nvSpPr>
          <p:cNvPr id="4" name="Content Placeholder 3"/>
          <p:cNvSpPr>
            <a:spLocks noGrp="1"/>
          </p:cNvSpPr>
          <p:nvPr>
            <p:ph sz="quarter" idx="14"/>
          </p:nvPr>
        </p:nvSpPr>
        <p:spPr>
          <a:xfrm>
            <a:off x="342900" y="4198777"/>
            <a:ext cx="8458200" cy="1259632"/>
          </a:xfrm>
        </p:spPr>
        <p:txBody>
          <a:bodyPr/>
          <a:lstStyle/>
          <a:p>
            <a:r>
              <a:rPr lang="en-US" dirty="0"/>
              <a:t>To promote the growth of small business, the U.S. government usually restricts hybrid organization status to relatively small firms.</a:t>
            </a:r>
          </a:p>
        </p:txBody>
      </p:sp>
      <p:sp>
        <p:nvSpPr>
          <p:cNvPr id="7" name="Slide Number Placeholder 6"/>
          <p:cNvSpPr>
            <a:spLocks noGrp="1"/>
          </p:cNvSpPr>
          <p:nvPr>
            <p:ph type="sldNum" sz="quarter" idx="10"/>
          </p:nvPr>
        </p:nvSpPr>
        <p:spPr/>
        <p:txBody>
          <a:bodyPr/>
          <a:lstStyle/>
          <a:p>
            <a:fld id="{68151E55-6873-49E2-B8D5-2F265E6F1973}" type="slidenum">
              <a:rPr lang="en-US" smtClean="0"/>
              <a:t>24</a:t>
            </a:fld>
            <a:endParaRPr lang="en-US"/>
          </a:p>
        </p:txBody>
      </p:sp>
    </p:spTree>
    <p:extLst>
      <p:ext uri="{BB962C8B-B14F-4D97-AF65-F5344CB8AC3E}">
        <p14:creationId xmlns:p14="http://schemas.microsoft.com/office/powerpoint/2010/main" val="797975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Firm Goals</a:t>
            </a:r>
            <a:endParaRPr lang="en-US" sz="1000" b="0" dirty="0"/>
          </a:p>
        </p:txBody>
      </p:sp>
      <p:sp>
        <p:nvSpPr>
          <p:cNvPr id="3" name="Content Placeholder 2"/>
          <p:cNvSpPr>
            <a:spLocks noGrp="1"/>
          </p:cNvSpPr>
          <p:nvPr>
            <p:ph sz="quarter" idx="11"/>
          </p:nvPr>
        </p:nvSpPr>
        <p:spPr>
          <a:xfrm>
            <a:off x="342900" y="1276710"/>
            <a:ext cx="8458200" cy="2931396"/>
          </a:xfrm>
        </p:spPr>
        <p:txBody>
          <a:bodyPr/>
          <a:lstStyle/>
          <a:p>
            <a:r>
              <a:rPr lang="en-US" dirty="0"/>
              <a:t>What should corporate goals be?</a:t>
            </a:r>
          </a:p>
          <a:p>
            <a:pPr marL="402336" indent="-402336">
              <a:buFont typeface="+mj-lt"/>
              <a:buAutoNum type="arabicPeriod"/>
            </a:pPr>
            <a:r>
              <a:rPr lang="en-US" dirty="0"/>
              <a:t>Owners’ perspective says the appropriate goal is to </a:t>
            </a:r>
            <a:r>
              <a:rPr lang="en-US" b="1" dirty="0"/>
              <a:t>maximize shareholder wealth </a:t>
            </a:r>
            <a:r>
              <a:rPr lang="en-US" dirty="0"/>
              <a:t>(i.e., maximizing the current value per share, or </a:t>
            </a:r>
            <a:r>
              <a:rPr lang="en-US" b="1" dirty="0"/>
              <a:t>stock price</a:t>
            </a:r>
            <a:r>
              <a:rPr lang="en-US" dirty="0"/>
              <a:t>, of existing shares).</a:t>
            </a:r>
          </a:p>
          <a:p>
            <a:pPr marL="402336" indent="-402336">
              <a:buFont typeface="+mj-lt"/>
              <a:buAutoNum type="arabicPeriod"/>
            </a:pPr>
            <a:r>
              <a:rPr lang="en-US" b="1" dirty="0"/>
              <a:t>Stakeholders</a:t>
            </a:r>
            <a:r>
              <a:rPr lang="en-US" dirty="0"/>
              <a:t>’ perspective emphasizes social responsibility over profitability.</a:t>
            </a:r>
          </a:p>
        </p:txBody>
      </p:sp>
      <p:sp>
        <p:nvSpPr>
          <p:cNvPr id="4" name="Content Placeholder 3"/>
          <p:cNvSpPr>
            <a:spLocks noGrp="1"/>
          </p:cNvSpPr>
          <p:nvPr>
            <p:ph sz="quarter" idx="14"/>
          </p:nvPr>
        </p:nvSpPr>
        <p:spPr>
          <a:xfrm>
            <a:off x="342900" y="4310748"/>
            <a:ext cx="8458200" cy="1996745"/>
          </a:xfrm>
        </p:spPr>
        <p:txBody>
          <a:bodyPr/>
          <a:lstStyle/>
          <a:p>
            <a:pPr marL="621792" lvl="1" indent="-320040"/>
            <a:r>
              <a:rPr lang="en-US" dirty="0"/>
              <a:t>Maintains that managers must maximize the total satisfaction of all stakeholders in a business, including the owners and shareholders, but also including the business’s customers, employees, and local communities.</a:t>
            </a:r>
          </a:p>
        </p:txBody>
      </p:sp>
      <p:sp>
        <p:nvSpPr>
          <p:cNvPr id="7" name="Slide Number Placeholder 6"/>
          <p:cNvSpPr>
            <a:spLocks noGrp="1"/>
          </p:cNvSpPr>
          <p:nvPr>
            <p:ph type="sldNum" sz="quarter" idx="10"/>
          </p:nvPr>
        </p:nvSpPr>
        <p:spPr/>
        <p:txBody>
          <a:bodyPr/>
          <a:lstStyle/>
          <a:p>
            <a:fld id="{68151E55-6873-49E2-B8D5-2F265E6F1973}" type="slidenum">
              <a:rPr lang="en-US" smtClean="0"/>
              <a:t>25</a:t>
            </a:fld>
            <a:endParaRPr lang="en-US"/>
          </a:p>
        </p:txBody>
      </p:sp>
    </p:spTree>
    <p:extLst>
      <p:ext uri="{BB962C8B-B14F-4D97-AF65-F5344CB8AC3E}">
        <p14:creationId xmlns:p14="http://schemas.microsoft.com/office/powerpoint/2010/main" val="356568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Agency Problem </a:t>
            </a:r>
            <a:r>
              <a:rPr lang="en-US" sz="1000" b="0" dirty="0"/>
              <a:t>1</a:t>
            </a:r>
          </a:p>
        </p:txBody>
      </p:sp>
      <p:sp>
        <p:nvSpPr>
          <p:cNvPr id="3" name="Content Placeholder 2"/>
          <p:cNvSpPr>
            <a:spLocks noGrp="1"/>
          </p:cNvSpPr>
          <p:nvPr>
            <p:ph sz="quarter" idx="11"/>
          </p:nvPr>
        </p:nvSpPr>
        <p:spPr>
          <a:xfrm>
            <a:off x="342900" y="1276710"/>
            <a:ext cx="8458200" cy="4918818"/>
          </a:xfrm>
        </p:spPr>
        <p:txBody>
          <a:bodyPr/>
          <a:lstStyle/>
          <a:p>
            <a:pPr marL="292608" indent="-292608">
              <a:buFont typeface="Arial" panose="020B0604020202020204" pitchFamily="34" charset="0"/>
              <a:buChar char="•"/>
            </a:pPr>
            <a:r>
              <a:rPr lang="en-US" dirty="0"/>
              <a:t>Stockholders hire managers to run the company, but managers may be tempted to act in their own best interests.</a:t>
            </a:r>
          </a:p>
          <a:p>
            <a:pPr marL="292608" indent="-292608">
              <a:buFont typeface="Arial" panose="020B0604020202020204" pitchFamily="34" charset="0"/>
              <a:buChar char="•"/>
            </a:pPr>
            <a:r>
              <a:rPr lang="en-US" b="1" dirty="0"/>
              <a:t>Agency problem </a:t>
            </a:r>
            <a:r>
              <a:rPr lang="en-US" dirty="0"/>
              <a:t>refers to the difficulties that arise when a principal (shareholder) hires an agent (manager) and cannot carefully monitor the agent’s actions.</a:t>
            </a:r>
          </a:p>
          <a:p>
            <a:pPr marL="292608" indent="-292608">
              <a:buFont typeface="Arial" panose="020B0604020202020204" pitchFamily="34" charset="0"/>
              <a:buChar char="•"/>
            </a:pPr>
            <a:r>
              <a:rPr lang="en-US" dirty="0"/>
              <a:t>Manager’s interest may not be aligned with shareholder goals.</a:t>
            </a:r>
          </a:p>
        </p:txBody>
      </p:sp>
      <p:sp>
        <p:nvSpPr>
          <p:cNvPr id="6" name="Slide Number Placeholder 5"/>
          <p:cNvSpPr>
            <a:spLocks noGrp="1"/>
          </p:cNvSpPr>
          <p:nvPr>
            <p:ph type="sldNum" sz="quarter" idx="4"/>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311804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Agency Problem </a:t>
            </a:r>
            <a:r>
              <a:rPr lang="en-US" sz="1000" b="0" dirty="0"/>
              <a:t>2</a:t>
            </a:r>
          </a:p>
        </p:txBody>
      </p:sp>
      <p:sp>
        <p:nvSpPr>
          <p:cNvPr id="3" name="Content Placeholder 2"/>
          <p:cNvSpPr>
            <a:spLocks noGrp="1"/>
          </p:cNvSpPr>
          <p:nvPr>
            <p:ph sz="quarter" idx="11"/>
          </p:nvPr>
        </p:nvSpPr>
        <p:spPr>
          <a:xfrm>
            <a:off x="342900" y="1276710"/>
            <a:ext cx="8458200" cy="962637"/>
          </a:xfrm>
        </p:spPr>
        <p:txBody>
          <a:bodyPr/>
          <a:lstStyle/>
          <a:p>
            <a:r>
              <a:rPr lang="en-US" dirty="0"/>
              <a:t>Three approaches to minimizing this conflict of interest.</a:t>
            </a:r>
          </a:p>
          <a:p>
            <a:pPr marL="402336" indent="-402336">
              <a:buFont typeface="+mj-lt"/>
              <a:buAutoNum type="arabicPeriod"/>
            </a:pPr>
            <a:r>
              <a:rPr lang="en-US" dirty="0"/>
              <a:t>Ignore it.</a:t>
            </a:r>
          </a:p>
        </p:txBody>
      </p:sp>
      <p:sp>
        <p:nvSpPr>
          <p:cNvPr id="4" name="Content Placeholder 3"/>
          <p:cNvSpPr>
            <a:spLocks noGrp="1"/>
          </p:cNvSpPr>
          <p:nvPr>
            <p:ph sz="quarter" idx="14"/>
          </p:nvPr>
        </p:nvSpPr>
        <p:spPr>
          <a:xfrm>
            <a:off x="342900" y="2313997"/>
            <a:ext cx="8458200" cy="1184988"/>
          </a:xfrm>
        </p:spPr>
        <p:txBody>
          <a:bodyPr/>
          <a:lstStyle/>
          <a:p>
            <a:pPr marL="621792" lvl="1" indent="-320040"/>
            <a:r>
              <a:rPr lang="en-US" dirty="0"/>
              <a:t>Research suggests allowing the manager a certain amount of perks might enhance owner value because it may boost managers’ productivity.</a:t>
            </a:r>
          </a:p>
        </p:txBody>
      </p:sp>
      <p:sp>
        <p:nvSpPr>
          <p:cNvPr id="5" name="Content Placeholder 4"/>
          <p:cNvSpPr>
            <a:spLocks noGrp="1"/>
          </p:cNvSpPr>
          <p:nvPr>
            <p:ph sz="quarter" idx="15"/>
          </p:nvPr>
        </p:nvSpPr>
        <p:spPr>
          <a:xfrm>
            <a:off x="342900" y="3573623"/>
            <a:ext cx="8458200" cy="1324946"/>
          </a:xfrm>
        </p:spPr>
        <p:txBody>
          <a:bodyPr/>
          <a:lstStyle/>
          <a:p>
            <a:pPr marL="402336" indent="-402336">
              <a:buFont typeface="+mj-lt"/>
              <a:buAutoNum type="arabicPeriod" startAt="2"/>
            </a:pPr>
            <a:r>
              <a:rPr lang="en-US" dirty="0"/>
              <a:t>Monitor managers’ actions.</a:t>
            </a:r>
          </a:p>
          <a:p>
            <a:pPr marL="402336" indent="-402336">
              <a:buFont typeface="+mj-lt"/>
              <a:buAutoNum type="arabicPeriod" startAt="2"/>
            </a:pPr>
            <a:r>
              <a:rPr lang="en-US" dirty="0"/>
              <a:t>Make the managers owners to align their personal interest with those of owners.</a:t>
            </a:r>
          </a:p>
        </p:txBody>
      </p:sp>
      <p:sp>
        <p:nvSpPr>
          <p:cNvPr id="6" name="Content Placeholder 5"/>
          <p:cNvSpPr>
            <a:spLocks noGrp="1"/>
          </p:cNvSpPr>
          <p:nvPr>
            <p:ph sz="quarter" idx="16"/>
          </p:nvPr>
        </p:nvSpPr>
        <p:spPr>
          <a:xfrm>
            <a:off x="342900" y="4973214"/>
            <a:ext cx="8458200" cy="522515"/>
          </a:xfrm>
        </p:spPr>
        <p:txBody>
          <a:bodyPr/>
          <a:lstStyle/>
          <a:p>
            <a:pPr marL="621792" lvl="1" indent="-320040"/>
            <a:r>
              <a:rPr lang="en-US" dirty="0"/>
              <a:t>Offer managers an equity stake in the firm.</a:t>
            </a:r>
          </a:p>
        </p:txBody>
      </p:sp>
      <p:sp>
        <p:nvSpPr>
          <p:cNvPr id="11" name="Slide Number Placeholder 10"/>
          <p:cNvSpPr>
            <a:spLocks noGrp="1"/>
          </p:cNvSpPr>
          <p:nvPr>
            <p:ph type="sldNum" sz="quarter" idx="10"/>
          </p:nvPr>
        </p:nvSpPr>
        <p:spPr/>
        <p:txBody>
          <a:bodyPr/>
          <a:lstStyle/>
          <a:p>
            <a:fld id="{68151E55-6873-49E2-B8D5-2F265E6F1973}" type="slidenum">
              <a:rPr lang="en-US" smtClean="0"/>
              <a:t>27</a:t>
            </a:fld>
            <a:endParaRPr lang="en-US" dirty="0"/>
          </a:p>
        </p:txBody>
      </p:sp>
    </p:spTree>
    <p:extLst>
      <p:ext uri="{BB962C8B-B14F-4D97-AF65-F5344CB8AC3E}">
        <p14:creationId xmlns:p14="http://schemas.microsoft.com/office/powerpoint/2010/main" val="2239745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Corporate Governance</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dirty="0"/>
              <a:t>The process of monitoring managers and aligning their incentives with shareholder goals is known as </a:t>
            </a:r>
            <a:r>
              <a:rPr lang="en-US" b="1" dirty="0"/>
              <a:t>corporate governance.</a:t>
            </a:r>
          </a:p>
          <a:p>
            <a:pPr marL="292608" indent="-292608">
              <a:buFont typeface="Arial" panose="020B0604020202020204" pitchFamily="34" charset="0"/>
              <a:buChar char="•"/>
            </a:pPr>
            <a:r>
              <a:rPr lang="en-US" dirty="0"/>
              <a:t>Corporate governance involves the set of laws, policies, incentives, and monitors designed to handle the issues arising from the separation of ownership and control.</a:t>
            </a:r>
          </a:p>
        </p:txBody>
      </p:sp>
      <p:sp>
        <p:nvSpPr>
          <p:cNvPr id="6" name="Slide Number Placeholder 5"/>
          <p:cNvSpPr>
            <a:spLocks noGrp="1"/>
          </p:cNvSpPr>
          <p:nvPr>
            <p:ph type="sldNum" sz="quarter" idx="4"/>
          </p:nvPr>
        </p:nvSpPr>
        <p:spPr/>
        <p:txBody>
          <a:bodyPr/>
          <a:lstStyle/>
          <a:p>
            <a:fld id="{68151E55-6873-49E2-B8D5-2F265E6F1973}" type="slidenum">
              <a:rPr lang="en-US" smtClean="0"/>
              <a:pPr/>
              <a:t>28</a:t>
            </a:fld>
            <a:endParaRPr lang="en-US" dirty="0"/>
          </a:p>
        </p:txBody>
      </p:sp>
    </p:spTree>
    <p:extLst>
      <p:ext uri="{BB962C8B-B14F-4D97-AF65-F5344CB8AC3E}">
        <p14:creationId xmlns:p14="http://schemas.microsoft.com/office/powerpoint/2010/main" val="1427806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Corporate Governance – Inside Monitors</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dirty="0"/>
              <a:t>Inside monitors.</a:t>
            </a:r>
          </a:p>
          <a:p>
            <a:pPr marL="292608" indent="-292608">
              <a:buFont typeface="Arial" panose="020B0604020202020204" pitchFamily="34" charset="0"/>
              <a:buChar char="•"/>
            </a:pPr>
            <a:r>
              <a:rPr lang="en-US" b="1" dirty="0"/>
              <a:t>Board of directors</a:t>
            </a:r>
            <a:r>
              <a:rPr lang="en-US" dirty="0"/>
              <a:t> are elected by stockholders to oversee management in a corporation.</a:t>
            </a:r>
          </a:p>
          <a:p>
            <a:pPr marL="292608" indent="-292608">
              <a:buFont typeface="Arial" panose="020B0604020202020204" pitchFamily="34" charset="0"/>
              <a:buChar char="•"/>
            </a:pPr>
            <a:r>
              <a:rPr lang="en-US" dirty="0"/>
              <a:t>Activities involve the following:</a:t>
            </a:r>
          </a:p>
          <a:p>
            <a:pPr marL="621792" lvl="1" indent="-320040"/>
            <a:r>
              <a:rPr lang="en-US" dirty="0"/>
              <a:t>Hiring the C</a:t>
            </a:r>
            <a:r>
              <a:rPr lang="en-US" sz="100" dirty="0"/>
              <a:t> </a:t>
            </a:r>
            <a:r>
              <a:rPr lang="en-US" dirty="0"/>
              <a:t>E</a:t>
            </a:r>
            <a:r>
              <a:rPr lang="en-US" sz="100" dirty="0"/>
              <a:t> </a:t>
            </a:r>
            <a:r>
              <a:rPr lang="en-US" dirty="0"/>
              <a:t>O.</a:t>
            </a:r>
          </a:p>
          <a:p>
            <a:pPr marL="621792" lvl="1" indent="-320040"/>
            <a:r>
              <a:rPr lang="en-US" dirty="0"/>
              <a:t>Evaluating management.</a:t>
            </a:r>
          </a:p>
          <a:p>
            <a:pPr marL="621792" lvl="1" indent="-320040"/>
            <a:r>
              <a:rPr lang="en-US" dirty="0"/>
              <a:t>Designing compensation contracts to tie management’s salaries to firm performance.</a:t>
            </a:r>
          </a:p>
        </p:txBody>
      </p:sp>
      <p:sp>
        <p:nvSpPr>
          <p:cNvPr id="6" name="Slide Number Placeholder 5"/>
          <p:cNvSpPr>
            <a:spLocks noGrp="1"/>
          </p:cNvSpPr>
          <p:nvPr>
            <p:ph type="sldNum" sz="quarter" idx="4"/>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528695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Corporate Governance – Outside Monitors</a:t>
            </a:r>
            <a:endParaRPr lang="en-US" sz="1000" b="0" dirty="0"/>
          </a:p>
        </p:txBody>
      </p:sp>
      <p:sp>
        <p:nvSpPr>
          <p:cNvPr id="3" name="Content Placeholder 2"/>
          <p:cNvSpPr>
            <a:spLocks noGrp="1"/>
          </p:cNvSpPr>
          <p:nvPr>
            <p:ph sz="quarter" idx="11"/>
          </p:nvPr>
        </p:nvSpPr>
        <p:spPr>
          <a:xfrm>
            <a:off x="342900" y="1276710"/>
            <a:ext cx="8458200" cy="4918818"/>
          </a:xfrm>
        </p:spPr>
        <p:txBody>
          <a:bodyPr/>
          <a:lstStyle/>
          <a:p>
            <a:r>
              <a:rPr lang="en-US" dirty="0"/>
              <a:t>Outside monitors.</a:t>
            </a:r>
          </a:p>
          <a:p>
            <a:pPr marL="292608" indent="-292608">
              <a:buFont typeface="Arial" panose="020B0604020202020204" pitchFamily="34" charset="0"/>
              <a:buChar char="•"/>
            </a:pPr>
            <a:r>
              <a:rPr lang="en-US" b="1" dirty="0"/>
              <a:t>Auditors</a:t>
            </a:r>
            <a:r>
              <a:rPr lang="en-US" dirty="0"/>
              <a:t> examine the firm’s accounting systems and comment on whether financial statements fairly represent the firm’s financial position.</a:t>
            </a:r>
          </a:p>
          <a:p>
            <a:pPr marL="292608" indent="-292608">
              <a:buFont typeface="Arial" panose="020B0604020202020204" pitchFamily="34" charset="0"/>
              <a:buChar char="•"/>
            </a:pPr>
            <a:r>
              <a:rPr lang="en-US" b="1" dirty="0"/>
              <a:t>Investment analysts </a:t>
            </a:r>
            <a:r>
              <a:rPr lang="en-US" dirty="0"/>
              <a:t>follow a firm, conduct their own evaluations, and report to the investment community.</a:t>
            </a:r>
          </a:p>
          <a:p>
            <a:pPr marL="292608" indent="-292608">
              <a:buFont typeface="Arial" panose="020B0604020202020204" pitchFamily="34" charset="0"/>
              <a:buChar char="•"/>
            </a:pPr>
            <a:r>
              <a:rPr lang="en-US" b="1" dirty="0"/>
              <a:t>Investment banks </a:t>
            </a:r>
            <a:r>
              <a:rPr lang="en-US" dirty="0"/>
              <a:t>help firms access capital markets.</a:t>
            </a:r>
          </a:p>
          <a:p>
            <a:pPr marL="292608" indent="-292608">
              <a:buFont typeface="Arial" panose="020B0604020202020204" pitchFamily="34" charset="0"/>
              <a:buChar char="•"/>
            </a:pPr>
            <a:r>
              <a:rPr lang="en-US" b="1" dirty="0"/>
              <a:t>Credit analysts </a:t>
            </a:r>
            <a:r>
              <a:rPr lang="en-US" dirty="0"/>
              <a:t>examine a firm’s financial strength for its debt holders.</a:t>
            </a:r>
          </a:p>
          <a:p>
            <a:pPr marL="292608" indent="-292608">
              <a:buFont typeface="Arial" panose="020B0604020202020204" pitchFamily="34" charset="0"/>
              <a:buChar char="•"/>
            </a:pPr>
            <a:r>
              <a:rPr lang="en-US" dirty="0"/>
              <a:t>Government also monitors activities via S</a:t>
            </a:r>
            <a:r>
              <a:rPr lang="en-US" sz="100" dirty="0"/>
              <a:t> </a:t>
            </a:r>
            <a:r>
              <a:rPr lang="en-US" dirty="0"/>
              <a:t>E</a:t>
            </a:r>
            <a:r>
              <a:rPr lang="en-US" sz="100" dirty="0"/>
              <a:t> </a:t>
            </a:r>
            <a:r>
              <a:rPr lang="en-US" dirty="0"/>
              <a:t>C and I</a:t>
            </a:r>
            <a:r>
              <a:rPr lang="en-US" sz="100" dirty="0"/>
              <a:t> </a:t>
            </a:r>
            <a:r>
              <a:rPr lang="en-US" dirty="0"/>
              <a:t>R</a:t>
            </a:r>
            <a:r>
              <a:rPr lang="en-US" sz="100" dirty="0"/>
              <a:t> </a:t>
            </a:r>
            <a:r>
              <a:rPr lang="en-US" dirty="0"/>
              <a:t>S.</a:t>
            </a:r>
          </a:p>
        </p:txBody>
      </p:sp>
      <p:sp>
        <p:nvSpPr>
          <p:cNvPr id="6" name="Slide Number Placeholder 5"/>
          <p:cNvSpPr>
            <a:spLocks noGrp="1"/>
          </p:cNvSpPr>
          <p:nvPr>
            <p:ph type="sldNum" sz="quarter" idx="4"/>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3989815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Corporate Governance Monitors</a:t>
            </a:r>
          </a:p>
        </p:txBody>
      </p:sp>
      <p:pic>
        <p:nvPicPr>
          <p:cNvPr id="7" name="Picture 6" descr="A diagram showing Corporate Governance Monitors."/>
          <p:cNvPicPr>
            <a:picLocks noChangeAspect="1"/>
          </p:cNvPicPr>
          <p:nvPr/>
        </p:nvPicPr>
        <p:blipFill>
          <a:blip r:embed="rId3"/>
          <a:stretch>
            <a:fillRect/>
          </a:stretch>
        </p:blipFill>
        <p:spPr>
          <a:xfrm>
            <a:off x="1642894" y="1493241"/>
            <a:ext cx="5858210" cy="4433839"/>
          </a:xfrm>
          <a:prstGeom prst="rect">
            <a:avLst/>
          </a:prstGeom>
        </p:spPr>
      </p:pic>
      <p:sp>
        <p:nvSpPr>
          <p:cNvPr id="4" name="Text Placeholder 3">
            <a:extLst>
              <a:ext uri="{FF2B5EF4-FFF2-40B4-BE49-F238E27FC236}">
                <a16:creationId xmlns:a16="http://schemas.microsoft.com/office/drawing/2014/main" id="{01D1480C-34F4-4A13-9D98-74FF8B478173}"/>
              </a:ext>
            </a:extLst>
          </p:cNvPr>
          <p:cNvSpPr>
            <a:spLocks noGrp="1"/>
          </p:cNvSpPr>
          <p:nvPr>
            <p:ph type="body" sz="quarter" idx="12"/>
          </p:nvPr>
        </p:nvSpPr>
        <p:spPr>
          <a:xfrm>
            <a:off x="2849881" y="6202680"/>
            <a:ext cx="3688080" cy="312420"/>
          </a:xfrm>
        </p:spPr>
        <p:txBody>
          <a:bodyPr/>
          <a:lstStyle/>
          <a:p>
            <a:r>
              <a:rPr lang="en-US" sz="1200" dirty="0">
                <a:hlinkClick r:id="rId4" action="ppaction://hlinksldjump"/>
              </a:rPr>
              <a:t>Access the text alternative for slide images.</a:t>
            </a:r>
            <a:endParaRPr lang="en-US" sz="1200" dirty="0"/>
          </a:p>
        </p:txBody>
      </p:sp>
      <p:sp>
        <p:nvSpPr>
          <p:cNvPr id="6" name="Slide Number Placeholder 5"/>
          <p:cNvSpPr>
            <a:spLocks noGrp="1"/>
          </p:cNvSpPr>
          <p:nvPr>
            <p:ph type="sldNum" sz="quarter" idx="4"/>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12016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The Role of Ethics</a:t>
            </a:r>
            <a:endParaRPr lang="en-US" sz="1000" b="0" dirty="0"/>
          </a:p>
        </p:txBody>
      </p:sp>
      <p:sp>
        <p:nvSpPr>
          <p:cNvPr id="3" name="Content Placeholder 2"/>
          <p:cNvSpPr>
            <a:spLocks noGrp="1"/>
          </p:cNvSpPr>
          <p:nvPr>
            <p:ph sz="quarter" idx="11"/>
          </p:nvPr>
        </p:nvSpPr>
        <p:spPr>
          <a:xfrm>
            <a:off x="342900" y="1276710"/>
            <a:ext cx="8458200" cy="2324906"/>
          </a:xfrm>
        </p:spPr>
        <p:txBody>
          <a:bodyPr/>
          <a:lstStyle/>
          <a:p>
            <a:r>
              <a:rPr lang="en-US" dirty="0"/>
              <a:t>Financial professionals commonly manage other people’s money, creating a </a:t>
            </a:r>
            <a:r>
              <a:rPr lang="en-US" b="1" dirty="0"/>
              <a:t>fiduciary relationship</a:t>
            </a:r>
            <a:r>
              <a:rPr lang="en-US" dirty="0"/>
              <a:t>.</a:t>
            </a:r>
          </a:p>
          <a:p>
            <a:pPr marL="292608" indent="-292608">
              <a:buFont typeface="Arial" panose="020B0604020202020204" pitchFamily="34" charset="0"/>
              <a:buChar char="•"/>
            </a:pPr>
            <a:r>
              <a:rPr lang="en-US" dirty="0"/>
              <a:t>Corporate managers control the stockholder’s firm.</a:t>
            </a:r>
          </a:p>
          <a:p>
            <a:pPr marL="292608" indent="-292608">
              <a:buFont typeface="Arial" panose="020B0604020202020204" pitchFamily="34" charset="0"/>
              <a:buChar char="•"/>
            </a:pPr>
            <a:r>
              <a:rPr lang="en-US" dirty="0"/>
              <a:t>Bank employees manage deposits.</a:t>
            </a:r>
          </a:p>
          <a:p>
            <a:pPr marL="292608" indent="-292608">
              <a:buFont typeface="Arial" panose="020B0604020202020204" pitchFamily="34" charset="0"/>
              <a:buChar char="•"/>
            </a:pPr>
            <a:r>
              <a:rPr lang="en-US" dirty="0"/>
              <a:t>Investment advisors manage people’s portfolios.</a:t>
            </a:r>
          </a:p>
        </p:txBody>
      </p:sp>
      <p:sp>
        <p:nvSpPr>
          <p:cNvPr id="4" name="Content Placeholder 3"/>
          <p:cNvSpPr>
            <a:spLocks noGrp="1"/>
          </p:cNvSpPr>
          <p:nvPr>
            <p:ph sz="quarter" idx="14"/>
          </p:nvPr>
        </p:nvSpPr>
        <p:spPr>
          <a:xfrm>
            <a:off x="342900" y="3676261"/>
            <a:ext cx="8458200" cy="895739"/>
          </a:xfrm>
        </p:spPr>
        <p:txBody>
          <a:bodyPr/>
          <a:lstStyle/>
          <a:p>
            <a:r>
              <a:rPr lang="en-US" dirty="0"/>
              <a:t>Ethical dilemmas result from agency relationship between managers and stockholders.</a:t>
            </a:r>
          </a:p>
        </p:txBody>
      </p:sp>
      <p:sp>
        <p:nvSpPr>
          <p:cNvPr id="7" name="Slide Number Placeholder 6"/>
          <p:cNvSpPr>
            <a:spLocks noGrp="1"/>
          </p:cNvSpPr>
          <p:nvPr>
            <p:ph type="sldNum" sz="quarter" idx="10"/>
          </p:nvPr>
        </p:nvSpPr>
        <p:spPr/>
        <p:txBody>
          <a:bodyPr/>
          <a:lstStyle/>
          <a:p>
            <a:fld id="{68151E55-6873-49E2-B8D5-2F265E6F1973}" type="slidenum">
              <a:rPr lang="en-US" smtClean="0"/>
              <a:t>32</a:t>
            </a:fld>
            <a:endParaRPr lang="en-US"/>
          </a:p>
        </p:txBody>
      </p:sp>
    </p:spTree>
    <p:extLst>
      <p:ext uri="{BB962C8B-B14F-4D97-AF65-F5344CB8AC3E}">
        <p14:creationId xmlns:p14="http://schemas.microsoft.com/office/powerpoint/2010/main" val="19434001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Financial Markets and Intermediaries</a:t>
            </a:r>
            <a:endParaRPr lang="en-US" sz="1000" b="0" dirty="0"/>
          </a:p>
        </p:txBody>
      </p:sp>
      <p:sp>
        <p:nvSpPr>
          <p:cNvPr id="3" name="Content Placeholder 2"/>
          <p:cNvSpPr>
            <a:spLocks noGrp="1"/>
          </p:cNvSpPr>
          <p:nvPr>
            <p:ph sz="quarter" idx="11"/>
          </p:nvPr>
        </p:nvSpPr>
        <p:spPr>
          <a:xfrm>
            <a:off x="342900" y="1276710"/>
            <a:ext cx="8458200" cy="4722874"/>
          </a:xfrm>
        </p:spPr>
        <p:txBody>
          <a:bodyPr/>
          <a:lstStyle/>
          <a:p>
            <a:r>
              <a:rPr lang="en-US" dirty="0"/>
              <a:t>If financial markets are competitive, how do investment banks and other financial institutions make such impressive profits?</a:t>
            </a:r>
          </a:p>
          <a:p>
            <a:pPr marL="292608" indent="-292608">
              <a:buFont typeface="Arial" panose="020B0604020202020204" pitchFamily="34" charset="0"/>
              <a:buChar char="•"/>
            </a:pPr>
            <a:r>
              <a:rPr lang="en-US" dirty="0"/>
              <a:t>Successful execution of services offered by these firms require unique expertise and assets.</a:t>
            </a:r>
          </a:p>
        </p:txBody>
      </p:sp>
      <p:sp>
        <p:nvSpPr>
          <p:cNvPr id="7" name="Slide Number Placeholder 6"/>
          <p:cNvSpPr>
            <a:spLocks noGrp="1"/>
          </p:cNvSpPr>
          <p:nvPr>
            <p:ph type="sldNum" sz="quarter" idx="10"/>
          </p:nvPr>
        </p:nvSpPr>
        <p:spPr/>
        <p:txBody>
          <a:bodyPr/>
          <a:lstStyle/>
          <a:p>
            <a:fld id="{68151E55-6873-49E2-B8D5-2F265E6F1973}" type="slidenum">
              <a:rPr lang="en-US" smtClean="0"/>
              <a:t>33</a:t>
            </a:fld>
            <a:endParaRPr lang="en-US"/>
          </a:p>
        </p:txBody>
      </p:sp>
    </p:spTree>
    <p:extLst>
      <p:ext uri="{BB962C8B-B14F-4D97-AF65-F5344CB8AC3E}">
        <p14:creationId xmlns:p14="http://schemas.microsoft.com/office/powerpoint/2010/main" val="4280319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Institutions’ Cash Flows</a:t>
            </a:r>
          </a:p>
        </p:txBody>
      </p:sp>
      <p:pic>
        <p:nvPicPr>
          <p:cNvPr id="7" name="Picture 6" descr="A flowchart of Financial institutions’ Cash Flows."/>
          <p:cNvPicPr>
            <a:picLocks noChangeAspect="1"/>
          </p:cNvPicPr>
          <p:nvPr/>
        </p:nvPicPr>
        <p:blipFill>
          <a:blip r:embed="rId3"/>
          <a:stretch>
            <a:fillRect/>
          </a:stretch>
        </p:blipFill>
        <p:spPr>
          <a:xfrm>
            <a:off x="1817477" y="1493241"/>
            <a:ext cx="5509045" cy="4433839"/>
          </a:xfrm>
          <a:prstGeom prst="rect">
            <a:avLst/>
          </a:prstGeom>
        </p:spPr>
      </p:pic>
      <p:sp>
        <p:nvSpPr>
          <p:cNvPr id="4" name="Text Placeholder 3">
            <a:extLst>
              <a:ext uri="{FF2B5EF4-FFF2-40B4-BE49-F238E27FC236}">
                <a16:creationId xmlns:a16="http://schemas.microsoft.com/office/drawing/2014/main" id="{C46EC840-BE4B-4703-B40B-CE7381D6BEA4}"/>
              </a:ext>
            </a:extLst>
          </p:cNvPr>
          <p:cNvSpPr>
            <a:spLocks noGrp="1"/>
          </p:cNvSpPr>
          <p:nvPr>
            <p:ph type="body" sz="quarter" idx="12"/>
          </p:nvPr>
        </p:nvSpPr>
        <p:spPr>
          <a:xfrm>
            <a:off x="2636521" y="6324600"/>
            <a:ext cx="3581400" cy="190500"/>
          </a:xfrm>
        </p:spPr>
        <p:txBody>
          <a:bodyPr/>
          <a:lstStyle/>
          <a:p>
            <a:r>
              <a:rPr lang="en-US" sz="1200" dirty="0">
                <a:hlinkClick r:id="rId4" action="ppaction://hlinksldjump"/>
              </a:rPr>
              <a:t>Access the text alternative for slide images.</a:t>
            </a:r>
            <a:endParaRPr lang="en-US" sz="1200" dirty="0"/>
          </a:p>
        </p:txBody>
      </p:sp>
      <p:sp>
        <p:nvSpPr>
          <p:cNvPr id="6" name="Slide Number Placeholder 5"/>
          <p:cNvSpPr>
            <a:spLocks noGrp="1"/>
          </p:cNvSpPr>
          <p:nvPr>
            <p:ph type="sldNum" sz="quarter" idx="4"/>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11477808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Big Picture Environment</a:t>
            </a:r>
            <a:endParaRPr lang="en-US" sz="1000" b="0" dirty="0"/>
          </a:p>
        </p:txBody>
      </p:sp>
      <p:sp>
        <p:nvSpPr>
          <p:cNvPr id="3" name="Content Placeholder 2"/>
          <p:cNvSpPr>
            <a:spLocks noGrp="1"/>
          </p:cNvSpPr>
          <p:nvPr>
            <p:ph sz="quarter" idx="11"/>
          </p:nvPr>
        </p:nvSpPr>
        <p:spPr>
          <a:xfrm>
            <a:off x="342900" y="1276710"/>
            <a:ext cx="8458200" cy="1354523"/>
          </a:xfrm>
        </p:spPr>
        <p:txBody>
          <a:bodyPr/>
          <a:lstStyle/>
          <a:p>
            <a:r>
              <a:rPr lang="en-US" dirty="0"/>
              <a:t>Recent factors affecting the business environment in the U.S. are the following:</a:t>
            </a:r>
          </a:p>
          <a:p>
            <a:pPr marL="402336" indent="-402336">
              <a:buFont typeface="+mj-lt"/>
              <a:buAutoNum type="arabicPeriod"/>
            </a:pPr>
            <a:r>
              <a:rPr lang="en-US" dirty="0"/>
              <a:t>Tax Cuts and Jobs Act (T</a:t>
            </a:r>
            <a:r>
              <a:rPr lang="en-US" sz="100" dirty="0"/>
              <a:t> </a:t>
            </a:r>
            <a:r>
              <a:rPr lang="en-US" dirty="0"/>
              <a:t>C</a:t>
            </a:r>
            <a:r>
              <a:rPr lang="en-US" sz="100" dirty="0"/>
              <a:t> </a:t>
            </a:r>
            <a:r>
              <a:rPr lang="en-US" dirty="0"/>
              <a:t>J</a:t>
            </a:r>
            <a:r>
              <a:rPr lang="en-US" sz="100" dirty="0"/>
              <a:t> </a:t>
            </a:r>
            <a:r>
              <a:rPr lang="en-US" dirty="0"/>
              <a:t>A) of 2017.</a:t>
            </a:r>
          </a:p>
        </p:txBody>
      </p:sp>
      <p:sp>
        <p:nvSpPr>
          <p:cNvPr id="4" name="Content Placeholder 3"/>
          <p:cNvSpPr>
            <a:spLocks noGrp="1"/>
          </p:cNvSpPr>
          <p:nvPr>
            <p:ph sz="quarter" idx="14"/>
          </p:nvPr>
        </p:nvSpPr>
        <p:spPr>
          <a:xfrm>
            <a:off x="342900" y="2715207"/>
            <a:ext cx="8458200" cy="1688841"/>
          </a:xfrm>
        </p:spPr>
        <p:txBody>
          <a:bodyPr/>
          <a:lstStyle/>
          <a:p>
            <a:pPr marL="621792" lvl="1" indent="-320040"/>
            <a:r>
              <a:rPr lang="en-US" dirty="0"/>
              <a:t>Net effect was to reduce effective tax rates for most individuals and corporations.</a:t>
            </a:r>
          </a:p>
          <a:p>
            <a:pPr marL="621792" lvl="1" indent="-320040"/>
            <a:r>
              <a:rPr lang="en-US" dirty="0"/>
              <a:t>Supports argued corporate tax cuts would eventually “trickle down” to workers wages.</a:t>
            </a:r>
          </a:p>
        </p:txBody>
      </p:sp>
      <p:sp>
        <p:nvSpPr>
          <p:cNvPr id="5" name="Content Placeholder 4"/>
          <p:cNvSpPr>
            <a:spLocks noGrp="1"/>
          </p:cNvSpPr>
          <p:nvPr>
            <p:ph sz="quarter" idx="15"/>
          </p:nvPr>
        </p:nvSpPr>
        <p:spPr>
          <a:xfrm>
            <a:off x="342900" y="4478695"/>
            <a:ext cx="8458200" cy="494521"/>
          </a:xfrm>
        </p:spPr>
        <p:txBody>
          <a:bodyPr/>
          <a:lstStyle/>
          <a:p>
            <a:pPr marL="402336" indent="-402336">
              <a:buFont typeface="+mj-lt"/>
              <a:buAutoNum type="arabicPeriod" startAt="2"/>
            </a:pPr>
            <a:r>
              <a:rPr lang="en-US" dirty="0"/>
              <a:t>COVID–19 pandemic of 2020.</a:t>
            </a:r>
          </a:p>
        </p:txBody>
      </p:sp>
      <p:sp>
        <p:nvSpPr>
          <p:cNvPr id="6" name="Content Placeholder 5"/>
          <p:cNvSpPr>
            <a:spLocks noGrp="1"/>
          </p:cNvSpPr>
          <p:nvPr>
            <p:ph sz="quarter" idx="16"/>
          </p:nvPr>
        </p:nvSpPr>
        <p:spPr>
          <a:xfrm>
            <a:off x="342900" y="5047861"/>
            <a:ext cx="8458200" cy="839757"/>
          </a:xfrm>
        </p:spPr>
        <p:txBody>
          <a:bodyPr/>
          <a:lstStyle/>
          <a:p>
            <a:pPr marL="621792" lvl="1" indent="-320040"/>
            <a:r>
              <a:rPr lang="en-US" dirty="0"/>
              <a:t>Economic effects are likely to greatly reduce the chances of the T</a:t>
            </a:r>
            <a:r>
              <a:rPr lang="en-US" sz="100" dirty="0"/>
              <a:t> </a:t>
            </a:r>
            <a:r>
              <a:rPr lang="en-US" dirty="0"/>
              <a:t>C</a:t>
            </a:r>
            <a:r>
              <a:rPr lang="en-US" sz="100" dirty="0"/>
              <a:t> </a:t>
            </a:r>
            <a:r>
              <a:rPr lang="en-US" dirty="0"/>
              <a:t>J</a:t>
            </a:r>
            <a:r>
              <a:rPr lang="en-US" sz="100" dirty="0"/>
              <a:t> </a:t>
            </a:r>
            <a:r>
              <a:rPr lang="en-US" dirty="0"/>
              <a:t>A being extended past 2025.</a:t>
            </a:r>
          </a:p>
        </p:txBody>
      </p:sp>
      <p:sp>
        <p:nvSpPr>
          <p:cNvPr id="11" name="Slide Number Placeholder 10"/>
          <p:cNvSpPr>
            <a:spLocks noGrp="1"/>
          </p:cNvSpPr>
          <p:nvPr>
            <p:ph type="sldNum" sz="quarter" idx="10"/>
          </p:nvPr>
        </p:nvSpPr>
        <p:spPr/>
        <p:txBody>
          <a:bodyPr/>
          <a:lstStyle/>
          <a:p>
            <a:fld id="{68151E55-6873-49E2-B8D5-2F265E6F1973}" type="slidenum">
              <a:rPr lang="en-US" smtClean="0"/>
              <a:t>35</a:t>
            </a:fld>
            <a:endParaRPr lang="en-US" dirty="0"/>
          </a:p>
        </p:txBody>
      </p:sp>
    </p:spTree>
    <p:extLst>
      <p:ext uri="{BB962C8B-B14F-4D97-AF65-F5344CB8AC3E}">
        <p14:creationId xmlns:p14="http://schemas.microsoft.com/office/powerpoint/2010/main" val="3439454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Tax Cuts and Jobs Act (T</a:t>
            </a:r>
            <a:r>
              <a:rPr lang="en-US" sz="100" dirty="0"/>
              <a:t> </a:t>
            </a:r>
            <a:r>
              <a:rPr lang="en-US" sz="3600" dirty="0"/>
              <a:t>C</a:t>
            </a:r>
            <a:r>
              <a:rPr lang="en-US" sz="100" dirty="0"/>
              <a:t> </a:t>
            </a:r>
            <a:r>
              <a:rPr lang="en-US" sz="3600" dirty="0"/>
              <a:t>J</a:t>
            </a:r>
            <a:r>
              <a:rPr lang="en-US" sz="100" dirty="0"/>
              <a:t> </a:t>
            </a:r>
            <a:r>
              <a:rPr lang="en-US" sz="3600" dirty="0"/>
              <a:t>A) of 2017</a:t>
            </a:r>
            <a:endParaRPr lang="en-US" sz="3600" b="0" dirty="0"/>
          </a:p>
        </p:txBody>
      </p:sp>
      <p:sp>
        <p:nvSpPr>
          <p:cNvPr id="3" name="Content Placeholder 2"/>
          <p:cNvSpPr>
            <a:spLocks noGrp="1"/>
          </p:cNvSpPr>
          <p:nvPr>
            <p:ph sz="quarter" idx="11"/>
          </p:nvPr>
        </p:nvSpPr>
        <p:spPr>
          <a:xfrm>
            <a:off x="342900" y="1276710"/>
            <a:ext cx="8458200" cy="4722874"/>
          </a:xfrm>
        </p:spPr>
        <p:txBody>
          <a:bodyPr/>
          <a:lstStyle/>
          <a:p>
            <a:pPr marL="292608" indent="-292608">
              <a:buFont typeface="Arial" panose="020B0604020202020204" pitchFamily="34" charset="0"/>
              <a:buChar char="•"/>
            </a:pPr>
            <a:r>
              <a:rPr lang="en-US" dirty="0"/>
              <a:t>Reductions in individual income tax rates.</a:t>
            </a:r>
          </a:p>
          <a:p>
            <a:pPr marL="292608" indent="-292608">
              <a:buFont typeface="Arial" panose="020B0604020202020204" pitchFamily="34" charset="0"/>
              <a:buChar char="•"/>
            </a:pPr>
            <a:r>
              <a:rPr lang="en-US" dirty="0"/>
              <a:t>Corporate tax rates reduced.</a:t>
            </a:r>
          </a:p>
          <a:p>
            <a:pPr marL="292608" indent="-292608">
              <a:buFont typeface="Arial" panose="020B0604020202020204" pitchFamily="34" charset="0"/>
              <a:buChar char="•"/>
            </a:pPr>
            <a:r>
              <a:rPr lang="en-US" dirty="0"/>
              <a:t>New deduction for “pass–through” business income.</a:t>
            </a:r>
          </a:p>
          <a:p>
            <a:pPr marL="292608" indent="-292608">
              <a:buFont typeface="Arial" panose="020B0604020202020204" pitchFamily="34" charset="0"/>
              <a:buChar char="•"/>
            </a:pPr>
            <a:r>
              <a:rPr lang="en-US" dirty="0"/>
              <a:t>Liberalized asset expensing and depreciation provisions.</a:t>
            </a:r>
          </a:p>
          <a:p>
            <a:pPr marL="292608" indent="-292608">
              <a:buFont typeface="Arial" panose="020B0604020202020204" pitchFamily="34" charset="0"/>
              <a:buChar char="•"/>
            </a:pPr>
            <a:r>
              <a:rPr lang="en-US" dirty="0"/>
              <a:t>New limits on business interest deductions.</a:t>
            </a:r>
          </a:p>
          <a:p>
            <a:pPr marL="292608" indent="-292608">
              <a:buFont typeface="Arial" panose="020B0604020202020204" pitchFamily="34" charset="0"/>
              <a:buChar char="•"/>
            </a:pPr>
            <a:r>
              <a:rPr lang="en-US" dirty="0"/>
              <a:t>Stricter rules for deducting losses.</a:t>
            </a:r>
          </a:p>
          <a:p>
            <a:pPr marL="292608" indent="-292608">
              <a:buFont typeface="Arial" panose="020B0604020202020204" pitchFamily="34" charset="0"/>
              <a:buChar char="•"/>
            </a:pPr>
            <a:r>
              <a:rPr lang="en-US" dirty="0"/>
              <a:t>Reduced or eliminated deductions for business entertainment and some employee fringe benefits.</a:t>
            </a:r>
          </a:p>
          <a:p>
            <a:pPr marL="292608" indent="-292608">
              <a:buFont typeface="Arial" panose="020B0604020202020204" pitchFamily="34" charset="0"/>
              <a:buChar char="•"/>
            </a:pPr>
            <a:r>
              <a:rPr lang="en-US" dirty="0"/>
              <a:t>Change to R&amp;D expense deduction.</a:t>
            </a:r>
          </a:p>
        </p:txBody>
      </p:sp>
      <p:sp>
        <p:nvSpPr>
          <p:cNvPr id="7" name="Slide Number Placeholder 6"/>
          <p:cNvSpPr>
            <a:spLocks noGrp="1"/>
          </p:cNvSpPr>
          <p:nvPr>
            <p:ph type="sldNum" sz="quarter" idx="10"/>
          </p:nvPr>
        </p:nvSpPr>
        <p:spPr/>
        <p:txBody>
          <a:bodyPr/>
          <a:lstStyle/>
          <a:p>
            <a:fld id="{68151E55-6873-49E2-B8D5-2F265E6F1973}" type="slidenum">
              <a:rPr lang="en-US" smtClean="0"/>
              <a:t>36</a:t>
            </a:fld>
            <a:endParaRPr lang="en-US"/>
          </a:p>
        </p:txBody>
      </p:sp>
    </p:spTree>
    <p:extLst>
      <p:ext uri="{BB962C8B-B14F-4D97-AF65-F5344CB8AC3E}">
        <p14:creationId xmlns:p14="http://schemas.microsoft.com/office/powerpoint/2010/main" val="3571675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63339"/>
            <a:ext cx="8715375" cy="187325"/>
          </a:xfrm>
        </p:spPr>
        <p:txBody>
          <a:bodyPr anchor="ctr"/>
          <a:lstStyle/>
          <a:p>
            <a:pPr algn="ctr"/>
            <a:r>
              <a:rPr lang="en-US" sz="1200" noProof="0"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48266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t>Accessibility Content: Text Alternatives for Images</a:t>
            </a:r>
          </a:p>
        </p:txBody>
      </p:sp>
      <p:sp>
        <p:nvSpPr>
          <p:cNvPr id="3" name="Slide Number Placeholder 5">
            <a:extLst>
              <a:ext uri="{FF2B5EF4-FFF2-40B4-BE49-F238E27FC236}">
                <a16:creationId xmlns:a16="http://schemas.microsoft.com/office/drawing/2014/main" id="{F4F29EC9-9F11-4470-B03C-1592BD85DD58}"/>
              </a:ext>
            </a:extLst>
          </p:cNvPr>
          <p:cNvSpPr>
            <a:spLocks noGrp="1"/>
          </p:cNvSpPr>
          <p:nvPr>
            <p:ph type="sldNum" sz="quarter" idx="10"/>
          </p:nvPr>
        </p:nvSpPr>
        <p:spPr>
          <a:xfrm>
            <a:off x="8626412" y="6673531"/>
            <a:ext cx="355840" cy="161396"/>
          </a:xfrm>
        </p:spPr>
        <p:txBody>
          <a:bodyPr/>
          <a:lstStyle/>
          <a:p>
            <a:fld id="{68151E55-6873-49E2-B8D5-2F265E6F1973}" type="slidenum">
              <a:rPr lang="en-US" sz="800" smtClean="0"/>
              <a:t>38</a:t>
            </a:fld>
            <a:endParaRPr lang="en-US" sz="800" dirty="0"/>
          </a:p>
        </p:txBody>
      </p:sp>
    </p:spTree>
    <p:extLst>
      <p:ext uri="{BB962C8B-B14F-4D97-AF65-F5344CB8AC3E}">
        <p14:creationId xmlns:p14="http://schemas.microsoft.com/office/powerpoint/2010/main" val="4245016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t>Corporate Governance Monitors – Text Alternative</a:t>
            </a:r>
          </a:p>
        </p:txBody>
      </p:sp>
      <p:sp>
        <p:nvSpPr>
          <p:cNvPr id="3" name="Text Placeholder 2"/>
          <p:cNvSpPr>
            <a:spLocks noGrp="1"/>
          </p:cNvSpPr>
          <p:nvPr>
            <p:ph type="body" sz="quarter" idx="14"/>
          </p:nvPr>
        </p:nvSpPr>
        <p:spPr/>
        <p:txBody>
          <a:bodyPr/>
          <a:lstStyle/>
          <a:p>
            <a:r>
              <a:rPr lang="en-US" dirty="0">
                <a:hlinkClick r:id="rId2" action="ppaction://hlinksldjump"/>
              </a:rPr>
              <a:t>Return to parent-slide containing images.</a:t>
            </a:r>
            <a:endParaRPr lang="en-US" dirty="0"/>
          </a:p>
        </p:txBody>
      </p:sp>
      <p:sp>
        <p:nvSpPr>
          <p:cNvPr id="4" name="Content Placeholder 3"/>
          <p:cNvSpPr>
            <a:spLocks noGrp="1"/>
          </p:cNvSpPr>
          <p:nvPr>
            <p:ph sz="quarter" idx="11"/>
          </p:nvPr>
        </p:nvSpPr>
        <p:spPr>
          <a:xfrm>
            <a:off x="342900" y="1371601"/>
            <a:ext cx="7957952" cy="4876800"/>
          </a:xfrm>
        </p:spPr>
        <p:txBody>
          <a:bodyPr/>
          <a:lstStyle/>
          <a:p>
            <a:r>
              <a:rPr lang="en-US" dirty="0"/>
              <a:t>The monitors inside the company are the Board of Directors; outside the company are auditors, analysts, bankers, credit agencies, as well as stockholders and managers, and government agencies including the S</a:t>
            </a:r>
            <a:r>
              <a:rPr lang="en-US" sz="100" dirty="0"/>
              <a:t> </a:t>
            </a:r>
            <a:r>
              <a:rPr lang="en-US" dirty="0"/>
              <a:t>E</a:t>
            </a:r>
            <a:r>
              <a:rPr lang="en-US" sz="100" dirty="0"/>
              <a:t> </a:t>
            </a:r>
            <a:r>
              <a:rPr lang="en-US" dirty="0"/>
              <a:t>C and the I</a:t>
            </a:r>
            <a:r>
              <a:rPr lang="en-US" sz="100" dirty="0"/>
              <a:t> </a:t>
            </a:r>
            <a:r>
              <a:rPr lang="en-US" dirty="0"/>
              <a:t>R</a:t>
            </a:r>
            <a:r>
              <a:rPr lang="en-US" sz="100" dirty="0"/>
              <a:t> </a:t>
            </a:r>
            <a:r>
              <a:rPr lang="en-US" dirty="0"/>
              <a:t>S.</a:t>
            </a:r>
          </a:p>
        </p:txBody>
      </p:sp>
      <p:sp>
        <p:nvSpPr>
          <p:cNvPr id="5" name="Text Placeholder 4"/>
          <p:cNvSpPr>
            <a:spLocks noGrp="1"/>
          </p:cNvSpPr>
          <p:nvPr>
            <p:ph type="body" sz="quarter" idx="15"/>
          </p:nvPr>
        </p:nvSpPr>
        <p:spPr/>
        <p:txBody>
          <a:bodyPr/>
          <a:lstStyle/>
          <a:p>
            <a:pPr algn="ctr"/>
            <a:r>
              <a:rPr lang="en-US" dirty="0">
                <a:hlinkClick r:id="rId2" action="ppaction://hlinksldjump"/>
              </a:rPr>
              <a:t>Return to parent-slide containing images.</a:t>
            </a:r>
            <a:endParaRPr lang="en-US" dirty="0"/>
          </a:p>
        </p:txBody>
      </p:sp>
      <p:sp>
        <p:nvSpPr>
          <p:cNvPr id="6" name="Slide Number Placeholder 5"/>
          <p:cNvSpPr>
            <a:spLocks noGrp="1"/>
          </p:cNvSpPr>
          <p:nvPr>
            <p:ph type="sldNum" sz="quarter" idx="10"/>
          </p:nvPr>
        </p:nvSpPr>
        <p:spPr/>
        <p:txBody>
          <a:bodyPr/>
          <a:lstStyle/>
          <a:p>
            <a:fld id="{68151E55-6873-49E2-B8D5-2F265E6F1973}" type="slidenum">
              <a:rPr lang="en-US" sz="800" smtClean="0"/>
              <a:t>39</a:t>
            </a:fld>
            <a:endParaRPr lang="en-US" sz="800" dirty="0"/>
          </a:p>
        </p:txBody>
      </p:sp>
    </p:spTree>
    <p:extLst>
      <p:ext uri="{BB962C8B-B14F-4D97-AF65-F5344CB8AC3E}">
        <p14:creationId xmlns:p14="http://schemas.microsoft.com/office/powerpoint/2010/main" val="3461455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t>Financial Institutions’ Cash Flows – Text Alternative</a:t>
            </a:r>
          </a:p>
        </p:txBody>
      </p:sp>
      <p:sp>
        <p:nvSpPr>
          <p:cNvPr id="3" name="Text Placeholder 2"/>
          <p:cNvSpPr>
            <a:spLocks noGrp="1"/>
          </p:cNvSpPr>
          <p:nvPr>
            <p:ph type="body" sz="quarter" idx="14"/>
          </p:nvPr>
        </p:nvSpPr>
        <p:spPr/>
        <p:txBody>
          <a:bodyPr/>
          <a:lstStyle/>
          <a:p>
            <a:r>
              <a:rPr lang="en-US" dirty="0">
                <a:hlinkClick r:id="rId2" action="ppaction://hlinksldjump"/>
              </a:rPr>
              <a:t>Return to parent-slide containing images.</a:t>
            </a:r>
            <a:endParaRPr lang="en-US" dirty="0"/>
          </a:p>
        </p:txBody>
      </p:sp>
      <p:sp>
        <p:nvSpPr>
          <p:cNvPr id="4" name="Content Placeholder 3"/>
          <p:cNvSpPr>
            <a:spLocks noGrp="1"/>
          </p:cNvSpPr>
          <p:nvPr>
            <p:ph sz="quarter" idx="11"/>
          </p:nvPr>
        </p:nvSpPr>
        <p:spPr/>
        <p:txBody>
          <a:bodyPr/>
          <a:lstStyle/>
          <a:p>
            <a:r>
              <a:rPr lang="en-US" dirty="0"/>
              <a:t>From investors, flow to F I investors, to F I, to F I product = Services to others. From F I product = Services to others to companies, then to projects and back to F I product = Services to others. From F I products back to investors.</a:t>
            </a:r>
          </a:p>
        </p:txBody>
      </p:sp>
      <p:sp>
        <p:nvSpPr>
          <p:cNvPr id="5" name="Text Placeholder 4"/>
          <p:cNvSpPr>
            <a:spLocks noGrp="1"/>
          </p:cNvSpPr>
          <p:nvPr>
            <p:ph type="body" sz="quarter" idx="15"/>
          </p:nvPr>
        </p:nvSpPr>
        <p:spPr/>
        <p:txBody>
          <a:bodyPr/>
          <a:lstStyle/>
          <a:p>
            <a:pPr algn="ctr"/>
            <a:r>
              <a:rPr lang="en-US" dirty="0">
                <a:hlinkClick r:id="rId2" action="ppaction://hlinksldjump"/>
              </a:rPr>
              <a:t>Return to parent-slide containing images.</a:t>
            </a:r>
            <a:endParaRPr lang="en-US" dirty="0"/>
          </a:p>
        </p:txBody>
      </p:sp>
      <p:sp>
        <p:nvSpPr>
          <p:cNvPr id="6" name="Slide Number Placeholder 5"/>
          <p:cNvSpPr>
            <a:spLocks noGrp="1"/>
          </p:cNvSpPr>
          <p:nvPr>
            <p:ph type="sldNum" sz="quarter" idx="10"/>
          </p:nvPr>
        </p:nvSpPr>
        <p:spPr/>
        <p:txBody>
          <a:bodyPr/>
          <a:lstStyle/>
          <a:p>
            <a:fld id="{68151E55-6873-49E2-B8D5-2F265E6F1973}" type="slidenum">
              <a:rPr lang="en-US" sz="800" smtClean="0"/>
              <a:t>40</a:t>
            </a:fld>
            <a:endParaRPr lang="en-US" sz="800"/>
          </a:p>
        </p:txBody>
      </p:sp>
    </p:spTree>
    <p:extLst>
      <p:ext uri="{BB962C8B-B14F-4D97-AF65-F5344CB8AC3E}">
        <p14:creationId xmlns:p14="http://schemas.microsoft.com/office/powerpoint/2010/main" val="3096503077"/>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2378</TotalTime>
  <Words>2802</Words>
  <Application>Microsoft Office PowerPoint</Application>
  <PresentationFormat>On-screen Show (4:3)</PresentationFormat>
  <Paragraphs>308</Paragraphs>
  <Slides>40</Slides>
  <Notes>9</Notes>
  <HiddenSlides>3</HiddenSlides>
  <MMClips>0</MMClips>
  <ScaleCrop>false</ScaleCrop>
  <HeadingPairs>
    <vt:vector size="6" baseType="variant">
      <vt:variant>
        <vt:lpstr>Fonts Used</vt:lpstr>
      </vt:variant>
      <vt:variant>
        <vt:i4>2</vt:i4>
      </vt:variant>
      <vt:variant>
        <vt:lpstr>Theme</vt:lpstr>
      </vt:variant>
      <vt:variant>
        <vt:i4>5</vt:i4>
      </vt:variant>
      <vt:variant>
        <vt:lpstr>Slide Titles</vt:lpstr>
      </vt:variant>
      <vt:variant>
        <vt:i4>40</vt:i4>
      </vt:variant>
    </vt:vector>
  </HeadingPairs>
  <TitlesOfParts>
    <vt:vector size="47" baseType="lpstr">
      <vt:lpstr>Arial</vt:lpstr>
      <vt:lpstr>Calibri</vt:lpstr>
      <vt:lpstr>Title Slides Master</vt:lpstr>
      <vt:lpstr>MainContentSlideMaster</vt:lpstr>
      <vt:lpstr>ClosingMaster</vt:lpstr>
      <vt:lpstr>DividerSlideMaster</vt:lpstr>
      <vt:lpstr>ImageDescriptionAppendixSlideMaster</vt:lpstr>
      <vt:lpstr>Chapter 1</vt:lpstr>
      <vt:lpstr>Learning Goals</vt:lpstr>
      <vt:lpstr>Introduction</vt:lpstr>
      <vt:lpstr>Finance in Business and in Life</vt:lpstr>
      <vt:lpstr>Economic Participants</vt:lpstr>
      <vt:lpstr>Economic Participants – Type 1</vt:lpstr>
      <vt:lpstr>Economic Participants – Type 4</vt:lpstr>
      <vt:lpstr>Economic Participants – Types 2 and 3</vt:lpstr>
      <vt:lpstr>Where Does the Cash Go?</vt:lpstr>
      <vt:lpstr>Subareas of Finance 1</vt:lpstr>
      <vt:lpstr>Subareas of Finance 2</vt:lpstr>
      <vt:lpstr>Subareas of Finance (Concluded)</vt:lpstr>
      <vt:lpstr>Application and Theory 1</vt:lpstr>
      <vt:lpstr>Application and Theory 2</vt:lpstr>
      <vt:lpstr>Finance vs. Accounting</vt:lpstr>
      <vt:lpstr>The Financial Manager</vt:lpstr>
      <vt:lpstr>Finance in Other Business Functions</vt:lpstr>
      <vt:lpstr>Finance in your Personal Life</vt:lpstr>
      <vt:lpstr>Business Organization</vt:lpstr>
      <vt:lpstr>Characteristics of Business Organizations</vt:lpstr>
      <vt:lpstr>Sole Proprietorships</vt:lpstr>
      <vt:lpstr>General Partnerships</vt:lpstr>
      <vt:lpstr>Public Corporations</vt:lpstr>
      <vt:lpstr>Hybrid Organizations</vt:lpstr>
      <vt:lpstr>Firm Goals</vt:lpstr>
      <vt:lpstr>Agency Problem 1</vt:lpstr>
      <vt:lpstr>Agency Problem 2</vt:lpstr>
      <vt:lpstr>Corporate Governance</vt:lpstr>
      <vt:lpstr>Corporate Governance – Inside Monitors</vt:lpstr>
      <vt:lpstr>Corporate Governance – Outside Monitors</vt:lpstr>
      <vt:lpstr>Corporate Governance Monitors</vt:lpstr>
      <vt:lpstr>The Role of Ethics</vt:lpstr>
      <vt:lpstr>Financial Markets and Intermediaries</vt:lpstr>
      <vt:lpstr>Financial Institutions’ Cash Flows</vt:lpstr>
      <vt:lpstr>Big Picture Environment</vt:lpstr>
      <vt:lpstr>Tax Cuts and Jobs Act (T C J A) of 2017</vt:lpstr>
      <vt:lpstr>End of Main Content</vt:lpstr>
      <vt:lpstr>Accessibility Content: Text Alternatives for Images</vt:lpstr>
      <vt:lpstr>Corporate Governance Monitors – Text Alternative</vt:lpstr>
      <vt:lpstr>Financial Institutions’ Cash Flows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
  <cp:keywords/>
  <cp:lastModifiedBy>Rupa Shrestha</cp:lastModifiedBy>
  <cp:revision>495</cp:revision>
  <dcterms:created xsi:type="dcterms:W3CDTF">2020-12-08T04:00:13Z</dcterms:created>
  <dcterms:modified xsi:type="dcterms:W3CDTF">2024-08-23T15:51:36Z</dcterms:modified>
</cp:coreProperties>
</file>