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266" r:id="rId3"/>
    <p:sldId id="267" r:id="rId4"/>
    <p:sldId id="279" r:id="rId5"/>
    <p:sldId id="280" r:id="rId6"/>
    <p:sldId id="297" r:id="rId7"/>
    <p:sldId id="296" r:id="rId8"/>
    <p:sldId id="281" r:id="rId9"/>
    <p:sldId id="292" r:id="rId10"/>
    <p:sldId id="282" r:id="rId11"/>
    <p:sldId id="293" r:id="rId12"/>
    <p:sldId id="284" r:id="rId13"/>
    <p:sldId id="294" r:id="rId14"/>
    <p:sldId id="272" r:id="rId15"/>
    <p:sldId id="289" r:id="rId16"/>
    <p:sldId id="269" r:id="rId17"/>
    <p:sldId id="257" r:id="rId18"/>
    <p:sldId id="278" r:id="rId19"/>
    <p:sldId id="258" r:id="rId20"/>
    <p:sldId id="270" r:id="rId21"/>
    <p:sldId id="264" r:id="rId22"/>
    <p:sldId id="290" r:id="rId23"/>
    <p:sldId id="259" r:id="rId24"/>
    <p:sldId id="261" r:id="rId25"/>
    <p:sldId id="262" r:id="rId26"/>
    <p:sldId id="260" r:id="rId27"/>
    <p:sldId id="273" r:id="rId28"/>
    <p:sldId id="285" r:id="rId29"/>
    <p:sldId id="286" r:id="rId30"/>
    <p:sldId id="287" r:id="rId31"/>
    <p:sldId id="277" r:id="rId32"/>
    <p:sldId id="271" r:id="rId33"/>
    <p:sldId id="263" r:id="rId34"/>
    <p:sldId id="265" r:id="rId35"/>
    <p:sldId id="291" r:id="rId36"/>
    <p:sldId id="288" r:id="rId37"/>
    <p:sldId id="26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31D29B-9F56-9593-D30D-A79942A9DBD3}" v="32" dt="2024-08-27T20:55:19.875"/>
    <p1510:client id="{E4015A7F-328F-5FC2-2AF7-AFCAFC474D9C}" v="537" dt="2024-08-27T15:23:03.1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5/10/relationships/revisionInfo" Target="revisionInfo.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270A-4FB1-4A52-8D2E-B15500125B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3BE072-EC44-473F-9226-3DAE201C85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691387-E048-4EF5-BC52-39A8F5FA2382}"/>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5" name="Footer Placeholder 4">
            <a:extLst>
              <a:ext uri="{FF2B5EF4-FFF2-40B4-BE49-F238E27FC236}">
                <a16:creationId xmlns:a16="http://schemas.microsoft.com/office/drawing/2014/main" id="{A4B58859-20E5-4F41-8A2A-8EA81371BD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7BB831-31A1-46AE-AD9A-FD0E58A5B45B}"/>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2678690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3B841-8034-494E-8AF0-E148DA5F05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87C1B1-9877-49D7-A808-5E5E5BD26F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21ACE8-C91B-45D8-AD66-FFF8E8192A36}"/>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5" name="Footer Placeholder 4">
            <a:extLst>
              <a:ext uri="{FF2B5EF4-FFF2-40B4-BE49-F238E27FC236}">
                <a16:creationId xmlns:a16="http://schemas.microsoft.com/office/drawing/2014/main" id="{088C16F8-C0EA-41B1-9E6A-2BC225C78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3AA0B-6621-474E-8CC1-6835F0A530A0}"/>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170525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D5CCD-6CFC-470C-B36A-06EE358511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4F278B-DF98-4CD8-AAB8-635573C182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934E98-5AFB-4DA1-B9B5-CF48E5CBC736}"/>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5" name="Footer Placeholder 4">
            <a:extLst>
              <a:ext uri="{FF2B5EF4-FFF2-40B4-BE49-F238E27FC236}">
                <a16:creationId xmlns:a16="http://schemas.microsoft.com/office/drawing/2014/main" id="{FDCA4DE7-FA88-489D-AFB4-9E21BA72C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71A09-BC64-4ECF-A8EC-26EC0A53872A}"/>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319997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18D0-54A5-4B28-9F5A-3C5BDEC02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5D21A8-C677-4CB1-81CA-C853F96891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EDF6EE-F0CD-4DC5-859A-5FBDBCE0AE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02101-B769-43BC-98D4-4BA7A0418098}"/>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6" name="Footer Placeholder 5">
            <a:extLst>
              <a:ext uri="{FF2B5EF4-FFF2-40B4-BE49-F238E27FC236}">
                <a16:creationId xmlns:a16="http://schemas.microsoft.com/office/drawing/2014/main" id="{AB8A3384-E3BD-4F65-B59B-4F4E251CC8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A3D9B2-FB50-43F6-AD5E-8FC089F4D285}"/>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1759356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0CF74-8057-495D-B148-B2F0C317D6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089FB83-28C8-4D17-92AD-048E314C8E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1D626F-A682-4F86-BA0B-7FAA9A13C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ECB467-7262-4484-8274-E89828A57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092C92-1E0C-4B6F-8AA4-7F85313CBB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3AE681-896A-43E3-8C4E-6919DC25CF07}"/>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8" name="Footer Placeholder 7">
            <a:extLst>
              <a:ext uri="{FF2B5EF4-FFF2-40B4-BE49-F238E27FC236}">
                <a16:creationId xmlns:a16="http://schemas.microsoft.com/office/drawing/2014/main" id="{FC234806-F767-43C1-8968-71A7B6A988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A4E20B-51D8-44A9-ABC9-CF375BC96593}"/>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1352684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433E6-2CB3-41A0-9080-54A7A39323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7326A6-001D-4A7E-BD4D-96968CA8D750}"/>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4" name="Footer Placeholder 3">
            <a:extLst>
              <a:ext uri="{FF2B5EF4-FFF2-40B4-BE49-F238E27FC236}">
                <a16:creationId xmlns:a16="http://schemas.microsoft.com/office/drawing/2014/main" id="{0ED63018-F687-4C79-B9D3-FEFAC6E5AE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E89858-1F51-4581-8EAE-658311861B53}"/>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4045679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D2F329-4EDD-4EBE-A0A9-0DC21A55C63A}"/>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3" name="Footer Placeholder 2">
            <a:extLst>
              <a:ext uri="{FF2B5EF4-FFF2-40B4-BE49-F238E27FC236}">
                <a16:creationId xmlns:a16="http://schemas.microsoft.com/office/drawing/2014/main" id="{3DD73775-770D-4AFE-8D41-F44DC5FE41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5B74381-8611-4552-B4A6-D8C38E281654}"/>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1794146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88B6-F851-48CB-B439-05632D02E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B888A6-12F0-4713-8C00-0881E22143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3125B4-9DE6-4384-B613-D8401B3939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AD4496-E53D-4C20-BD3A-58C11653801C}"/>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6" name="Footer Placeholder 5">
            <a:extLst>
              <a:ext uri="{FF2B5EF4-FFF2-40B4-BE49-F238E27FC236}">
                <a16:creationId xmlns:a16="http://schemas.microsoft.com/office/drawing/2014/main" id="{382E33FD-10BD-42AA-BC1A-5B5A11E1F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CB50C8-0A08-4C50-B660-166872D444BF}"/>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3006891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C961-3D50-48F9-9A76-86175F744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1F8B47-55E6-4470-9935-DC5C5C96D4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2ECF3B-6E3B-498A-B49F-59DC375299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590B41-A372-4C98-BE5C-E71BBF02917E}"/>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6" name="Footer Placeholder 5">
            <a:extLst>
              <a:ext uri="{FF2B5EF4-FFF2-40B4-BE49-F238E27FC236}">
                <a16:creationId xmlns:a16="http://schemas.microsoft.com/office/drawing/2014/main" id="{E49365F5-4CD2-4308-90E2-DE1367B14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0FE0A4-1B65-46A8-9A65-3AAF1A74D781}"/>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3735012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93719-4AAC-4C40-9C05-8E757858A4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67D937-6D8C-438B-9D2B-EF5AA51475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7E9BE5-CB8F-4E0A-82AC-DA0FEB645669}"/>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5" name="Footer Placeholder 4">
            <a:extLst>
              <a:ext uri="{FF2B5EF4-FFF2-40B4-BE49-F238E27FC236}">
                <a16:creationId xmlns:a16="http://schemas.microsoft.com/office/drawing/2014/main" id="{B09F9276-87C1-416E-A4FA-5906C456CD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3C5EAA-7056-4B5A-9B9F-03B21D56BBE8}"/>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3127512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BCB838-1122-4C4A-83A1-604AD96244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49C8E8-5565-4182-8795-6DA2D5D564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77BA95-BCBC-44E8-92E8-8E5D7B858795}"/>
              </a:ext>
            </a:extLst>
          </p:cNvPr>
          <p:cNvSpPr>
            <a:spLocks noGrp="1"/>
          </p:cNvSpPr>
          <p:nvPr>
            <p:ph type="dt" sz="half" idx="10"/>
          </p:nvPr>
        </p:nvSpPr>
        <p:spPr/>
        <p:txBody>
          <a:bodyPr/>
          <a:lstStyle/>
          <a:p>
            <a:fld id="{8AEFDA18-3D78-4A92-B81B-5798125863C4}" type="datetimeFigureOut">
              <a:rPr lang="en-US" smtClean="0"/>
              <a:t>8/27/2024</a:t>
            </a:fld>
            <a:endParaRPr lang="en-US"/>
          </a:p>
        </p:txBody>
      </p:sp>
      <p:sp>
        <p:nvSpPr>
          <p:cNvPr id="5" name="Footer Placeholder 4">
            <a:extLst>
              <a:ext uri="{FF2B5EF4-FFF2-40B4-BE49-F238E27FC236}">
                <a16:creationId xmlns:a16="http://schemas.microsoft.com/office/drawing/2014/main" id="{59D7AA76-E43A-43C6-8269-3C6A9A480E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1D0529-5996-477C-A29D-04899BF45523}"/>
              </a:ext>
            </a:extLst>
          </p:cNvPr>
          <p:cNvSpPr>
            <a:spLocks noGrp="1"/>
          </p:cNvSpPr>
          <p:nvPr>
            <p:ph type="sldNum" sz="quarter" idx="12"/>
          </p:nvPr>
        </p:nvSpPr>
        <p:spPr/>
        <p:txBody>
          <a:bodyPr/>
          <a:lstStyle/>
          <a:p>
            <a:fld id="{C6FF7422-8C7A-4D8D-B121-9447096BAF5A}" type="slidenum">
              <a:rPr lang="en-US" smtClean="0"/>
              <a:t>‹#›</a:t>
            </a:fld>
            <a:endParaRPr lang="en-US"/>
          </a:p>
        </p:txBody>
      </p:sp>
    </p:spTree>
    <p:extLst>
      <p:ext uri="{BB962C8B-B14F-4D97-AF65-F5344CB8AC3E}">
        <p14:creationId xmlns:p14="http://schemas.microsoft.com/office/powerpoint/2010/main" val="4064862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8315-65AA-4869-BDFA-0BAD13D825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7D1439-B8C4-4640-97F4-7D0A8633C7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52C888-F603-42ED-9244-D9F9E5B43008}"/>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5" name="Footer Placeholder 4">
            <a:extLst>
              <a:ext uri="{FF2B5EF4-FFF2-40B4-BE49-F238E27FC236}">
                <a16:creationId xmlns:a16="http://schemas.microsoft.com/office/drawing/2014/main" id="{9358D1A3-A39E-4AE8-8ECD-74515C2020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C5263-BD76-4CE1-97B4-6DA703C9A9B9}"/>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33340105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D33D6-A339-402C-B90C-8C7ADB5497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B42CAF-F172-41C1-9379-49C4A6CCB2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BC5240-26BD-4126-92AF-D368B5047FB5}"/>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5" name="Footer Placeholder 4">
            <a:extLst>
              <a:ext uri="{FF2B5EF4-FFF2-40B4-BE49-F238E27FC236}">
                <a16:creationId xmlns:a16="http://schemas.microsoft.com/office/drawing/2014/main" id="{C0721380-4BDF-4D39-A75D-71A5414335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91799-37CF-465C-8E9F-7A45491BE2D8}"/>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03031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9B68F-D94A-42C3-A864-938EF464E9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B60E93-DC9C-4D20-8B3D-5649B17CF0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E68F3F-C6C2-42BF-AE5C-F90A45835E2D}"/>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5" name="Footer Placeholder 4">
            <a:extLst>
              <a:ext uri="{FF2B5EF4-FFF2-40B4-BE49-F238E27FC236}">
                <a16:creationId xmlns:a16="http://schemas.microsoft.com/office/drawing/2014/main" id="{AF2E1112-C895-4E5A-8830-A6A91ACBB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35B7A2-1F56-439A-A5C2-9CDD2F65AFD5}"/>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306087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BFBB2-DB79-406A-9EDC-50C6B551E9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741289-EB95-4512-A43D-2F6D5AD366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B666EE-A62F-43BC-B7E7-96E014C875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D14404-E322-4201-AC79-5409033303C1}"/>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6" name="Footer Placeholder 5">
            <a:extLst>
              <a:ext uri="{FF2B5EF4-FFF2-40B4-BE49-F238E27FC236}">
                <a16:creationId xmlns:a16="http://schemas.microsoft.com/office/drawing/2014/main" id="{3C645E79-40D8-4CAB-B1D8-933E177E5C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9227E-B3E3-4C6E-8B45-1EFC08B9ACA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22796954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7F8C4-9B9E-4FED-BF77-15AA20344D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1F11B0-B825-47ED-851C-2D2A974274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E4CF17-A610-4DB3-B2CB-3195B56F27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35945DF-EB8E-4694-B290-8B50C1C331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27D36D-EF82-4B8C-B63B-0806F872EFA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ACE6B0-98B4-4F57-B20B-5378D7C81122}"/>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8" name="Footer Placeholder 7">
            <a:extLst>
              <a:ext uri="{FF2B5EF4-FFF2-40B4-BE49-F238E27FC236}">
                <a16:creationId xmlns:a16="http://schemas.microsoft.com/office/drawing/2014/main" id="{891016EF-B0D3-4CD1-A692-A3DA57C8DA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C9B7E4-FB55-42F4-982C-D4F05A811B9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12888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8D2F0-0CD9-4B32-BDC7-D5FDB4F178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646611-8E16-4B72-9856-7630C084B50B}"/>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4" name="Footer Placeholder 3">
            <a:extLst>
              <a:ext uri="{FF2B5EF4-FFF2-40B4-BE49-F238E27FC236}">
                <a16:creationId xmlns:a16="http://schemas.microsoft.com/office/drawing/2014/main" id="{5B850C3D-BACE-47C1-A920-A921B61110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B85631-D3B2-445D-95FC-F47B5EB1D0B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72740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5E526-E368-4C0F-804E-C20829807A50}"/>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3" name="Footer Placeholder 2">
            <a:extLst>
              <a:ext uri="{FF2B5EF4-FFF2-40B4-BE49-F238E27FC236}">
                <a16:creationId xmlns:a16="http://schemas.microsoft.com/office/drawing/2014/main" id="{DF3E6CF8-0AC4-4F10-8870-54375E7DD8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0DA395-535F-4198-AB63-5E8880782C0E}"/>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2365420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E9610-16B2-4BAA-B75F-BE0F9A229E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BA2BC2-1DED-4E80-9C04-DD2CA5267F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52D8A6-B57F-4171-B6F6-18C5AFB802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300878-125D-4398-B74E-770770242617}"/>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6" name="Footer Placeholder 5">
            <a:extLst>
              <a:ext uri="{FF2B5EF4-FFF2-40B4-BE49-F238E27FC236}">
                <a16:creationId xmlns:a16="http://schemas.microsoft.com/office/drawing/2014/main" id="{6FD304BC-BA20-41D3-94DD-A257235425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A7586-44B1-4824-824B-72575FD952A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2134030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010E-292A-412C-93B5-C381BEC521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B33B21-66CC-4DF6-9F0B-E1111D1A3E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F8D157-1044-4168-B8C3-4462FDEAE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E8734D-A4D4-4751-BDC0-9B1AFE8B9B82}"/>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6" name="Footer Placeholder 5">
            <a:extLst>
              <a:ext uri="{FF2B5EF4-FFF2-40B4-BE49-F238E27FC236}">
                <a16:creationId xmlns:a16="http://schemas.microsoft.com/office/drawing/2014/main" id="{AAD36ACE-E312-4475-9F32-C4C44093E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A92AEE-B7E2-49A2-B477-076E55AFBFB9}"/>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2364773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EBA8A-60B2-4407-8C6C-8729A753EF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F7C46E-36D8-4C57-9EBB-CB7202FB3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8A7346-B6D8-49AB-A895-3D8A43DC678A}"/>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5" name="Footer Placeholder 4">
            <a:extLst>
              <a:ext uri="{FF2B5EF4-FFF2-40B4-BE49-F238E27FC236}">
                <a16:creationId xmlns:a16="http://schemas.microsoft.com/office/drawing/2014/main" id="{B57775CC-8877-4726-883D-563C686C8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71E12E-79FD-480D-B289-1B38DD177497}"/>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42573396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3841F7-5378-40BF-8764-209700FD46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4E88CD-BA90-4639-8E21-0A25541FF0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BD722E-F183-4C71-89A1-BB48F430EF73}"/>
              </a:ext>
            </a:extLst>
          </p:cNvPr>
          <p:cNvSpPr>
            <a:spLocks noGrp="1"/>
          </p:cNvSpPr>
          <p:nvPr>
            <p:ph type="dt" sz="half" idx="10"/>
          </p:nvPr>
        </p:nvSpPr>
        <p:spPr/>
        <p:txBody>
          <a:bodyPr/>
          <a:lstStyle/>
          <a:p>
            <a:fld id="{AE5D0DC4-DC38-4FE3-B158-BF9D9F29DBA6}" type="datetimeFigureOut">
              <a:rPr lang="en-US" smtClean="0"/>
              <a:t>8/27/2024</a:t>
            </a:fld>
            <a:endParaRPr lang="en-US"/>
          </a:p>
        </p:txBody>
      </p:sp>
      <p:sp>
        <p:nvSpPr>
          <p:cNvPr id="5" name="Footer Placeholder 4">
            <a:extLst>
              <a:ext uri="{FF2B5EF4-FFF2-40B4-BE49-F238E27FC236}">
                <a16:creationId xmlns:a16="http://schemas.microsoft.com/office/drawing/2014/main" id="{BA90CF01-A9EF-4953-98B4-7D3DD159EC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120776-4042-4794-BBE2-B5760D8DBCFF}"/>
              </a:ext>
            </a:extLst>
          </p:cNvPr>
          <p:cNvSpPr>
            <a:spLocks noGrp="1"/>
          </p:cNvSpPr>
          <p:nvPr>
            <p:ph type="sldNum" sz="quarter" idx="12"/>
          </p:nvPr>
        </p:nvSpPr>
        <p:spPr/>
        <p:txBody>
          <a:bodyPr/>
          <a:lstStyle/>
          <a:p>
            <a:fld id="{8AC4CA63-1E3B-409A-9653-41C5C3FD64AC}" type="slidenum">
              <a:rPr lang="en-US" smtClean="0"/>
              <a:t>‹#›</a:t>
            </a:fld>
            <a:endParaRPr lang="en-US"/>
          </a:p>
        </p:txBody>
      </p:sp>
    </p:spTree>
    <p:extLst>
      <p:ext uri="{BB962C8B-B14F-4D97-AF65-F5344CB8AC3E}">
        <p14:creationId xmlns:p14="http://schemas.microsoft.com/office/powerpoint/2010/main" val="1529821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AE9408-D602-49B2-9FF9-0B9F670A98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300C4B-0888-4BB7-A1BB-29DCE63D13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653416-77C3-4BFE-BA0E-84C62997EE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EFDA18-3D78-4A92-B81B-5798125863C4}" type="datetimeFigureOut">
              <a:rPr lang="en-US" smtClean="0"/>
              <a:t>8/27/2024</a:t>
            </a:fld>
            <a:endParaRPr lang="en-US"/>
          </a:p>
        </p:txBody>
      </p:sp>
      <p:sp>
        <p:nvSpPr>
          <p:cNvPr id="5" name="Footer Placeholder 4">
            <a:extLst>
              <a:ext uri="{FF2B5EF4-FFF2-40B4-BE49-F238E27FC236}">
                <a16:creationId xmlns:a16="http://schemas.microsoft.com/office/drawing/2014/main" id="{0E530AFE-F0A7-4B1A-9587-1F7D78B83C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7090BC-F9FA-43E1-A37D-F1B114EA71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F7422-8C7A-4D8D-B121-9447096BAF5A}" type="slidenum">
              <a:rPr lang="en-US" smtClean="0"/>
              <a:t>‹#›</a:t>
            </a:fld>
            <a:endParaRPr lang="en-US"/>
          </a:p>
        </p:txBody>
      </p:sp>
    </p:spTree>
    <p:extLst>
      <p:ext uri="{BB962C8B-B14F-4D97-AF65-F5344CB8AC3E}">
        <p14:creationId xmlns:p14="http://schemas.microsoft.com/office/powerpoint/2010/main" val="1755036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EC6F06-6E61-4A00-A55D-91CA1621F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DEA88-C9D5-4149-9B0D-8AA7B6547F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9207D1-45EC-4ADB-ACA7-23C7FD678E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D0DC4-DC38-4FE3-B158-BF9D9F29DBA6}" type="datetimeFigureOut">
              <a:rPr lang="en-US" smtClean="0"/>
              <a:t>8/27/2024</a:t>
            </a:fld>
            <a:endParaRPr lang="en-US"/>
          </a:p>
        </p:txBody>
      </p:sp>
      <p:sp>
        <p:nvSpPr>
          <p:cNvPr id="5" name="Footer Placeholder 4">
            <a:extLst>
              <a:ext uri="{FF2B5EF4-FFF2-40B4-BE49-F238E27FC236}">
                <a16:creationId xmlns:a16="http://schemas.microsoft.com/office/drawing/2014/main" id="{CC3DE4B6-8FA5-4447-B435-AE3DE958BD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F799D33-6334-408D-8A17-760C8F1C70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4CA63-1E3B-409A-9653-41C5C3FD64AC}" type="slidenum">
              <a:rPr lang="en-US" smtClean="0"/>
              <a:t>‹#›</a:t>
            </a:fld>
            <a:endParaRPr lang="en-US"/>
          </a:p>
        </p:txBody>
      </p:sp>
    </p:spTree>
    <p:extLst>
      <p:ext uri="{BB962C8B-B14F-4D97-AF65-F5344CB8AC3E}">
        <p14:creationId xmlns:p14="http://schemas.microsoft.com/office/powerpoint/2010/main" val="1065184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ebcache.googleusercontent.com/search?q=cache:nDx-qnncJjgJ:www.consumerpsychologist.com/food_marketing.html&amp;hl=en&amp;strip=1"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jstor.org/stable/26537363" TargetMode="External"/><Relationship Id="rId2" Type="http://schemas.openxmlformats.org/officeDocument/2006/relationships/hyperlink" Target="https://doi.org/xx.xxx/yyyy"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amazon.com/Publication-Manual-American-Psychological-Association/dp/1433832178" TargetMode="External"/><Relationship Id="rId7" Type="http://schemas.openxmlformats.org/officeDocument/2006/relationships/hyperlink" Target="https://webster.edu/academic-resource-center/writing-center.php" TargetMode="External"/><Relationship Id="rId2" Type="http://schemas.openxmlformats.org/officeDocument/2006/relationships/hyperlink" Target="https://owl.purdue.edu/owl/research_and_citation/apa_style/apa_formatting_and_style_guide/reference_list_basic_rules.html" TargetMode="External"/><Relationship Id="rId1" Type="http://schemas.openxmlformats.org/officeDocument/2006/relationships/slideLayout" Target="../slideLayouts/slideLayout2.xml"/><Relationship Id="rId6" Type="http://schemas.openxmlformats.org/officeDocument/2006/relationships/hyperlink" Target="http://library.webster.edu/guides/citation.html" TargetMode="External"/><Relationship Id="rId5" Type="http://schemas.openxmlformats.org/officeDocument/2006/relationships/hyperlink" Target="https://www.amazon.com/Writers-Reference-Diana-Hacker/dp/1319332935/ref=sr_1_2?crid=1R20YZJH807N0&amp;keywords=a+writer's+reference+10th+edition&amp;qid=1656615854&amp;s=books&amp;sprefix=A+writer's+refere,stripbooks,79&amp;sr=1-2" TargetMode="External"/><Relationship Id="rId4" Type="http://schemas.openxmlformats.org/officeDocument/2006/relationships/hyperlink" Target="https://www.amazon.com/Handbook-Modern-Language-Association-America/dp/1603293515/ref=sr_1_1?crid=30GQM5BRB7XTW&amp;keywords=mla+citation+handbook&amp;qid=1656615806&amp;s=books&amp;sprefix=MLA+ci,stripbooks,66&amp;sr=1-1"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technomag.edu.ru/doc/845179.html" TargetMode="External"/><Relationship Id="rId2" Type="http://schemas.openxmlformats.org/officeDocument/2006/relationships/hyperlink" Target="http://dx.doi.org/10.5539/elt.v9n9"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gonitsora.com/shutterstock_237878635-quiz/" TargetMode="External"/><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5" name="Picture 4" descr="Red marker on a calendar">
            <a:extLst>
              <a:ext uri="{FF2B5EF4-FFF2-40B4-BE49-F238E27FC236}">
                <a16:creationId xmlns:a16="http://schemas.microsoft.com/office/drawing/2014/main" id="{70BF336F-4819-E0C3-1CA7-95F3CEAC79C7}"/>
              </a:ext>
            </a:extLst>
          </p:cNvPr>
          <p:cNvPicPr>
            <a:picLocks noChangeAspect="1"/>
          </p:cNvPicPr>
          <p:nvPr/>
        </p:nvPicPr>
        <p:blipFill rotWithShape="1">
          <a:blip r:embed="rId2">
            <a:alphaModFix amt="50000"/>
          </a:blip>
          <a:srcRect r="-2" b="15603"/>
          <a:stretch/>
        </p:blipFill>
        <p:spPr>
          <a:xfrm>
            <a:off x="20" y="1"/>
            <a:ext cx="12191980" cy="6857999"/>
          </a:xfrm>
          <a:prstGeom prst="rect">
            <a:avLst/>
          </a:prstGeom>
        </p:spPr>
      </p:pic>
      <p:sp>
        <p:nvSpPr>
          <p:cNvPr id="2" name="Title 1">
            <a:extLst>
              <a:ext uri="{FF2B5EF4-FFF2-40B4-BE49-F238E27FC236}">
                <a16:creationId xmlns:a16="http://schemas.microsoft.com/office/drawing/2014/main" id="{F54C5DF9-822A-4746-9224-4A430F142128}"/>
              </a:ext>
            </a:extLst>
          </p:cNvPr>
          <p:cNvSpPr>
            <a:spLocks noGrp="1"/>
          </p:cNvSpPr>
          <p:nvPr>
            <p:ph type="ctrTitle"/>
          </p:nvPr>
        </p:nvSpPr>
        <p:spPr>
          <a:xfrm>
            <a:off x="1524000" y="1122362"/>
            <a:ext cx="9144000" cy="2900518"/>
          </a:xfrm>
        </p:spPr>
        <p:txBody>
          <a:bodyPr>
            <a:normAutofit/>
          </a:bodyPr>
          <a:lstStyle/>
          <a:p>
            <a:r>
              <a:rPr lang="en-US" sz="8000" b="1" dirty="0">
                <a:solidFill>
                  <a:srgbClr val="FFFFFF"/>
                </a:solidFill>
              </a:rPr>
              <a:t>Week 2</a:t>
            </a:r>
            <a:endParaRPr lang="en-US" sz="8000" b="1" dirty="0">
              <a:solidFill>
                <a:srgbClr val="FFFFFF"/>
              </a:solidFill>
              <a:cs typeface="Calibri Light"/>
            </a:endParaRPr>
          </a:p>
        </p:txBody>
      </p:sp>
      <p:sp>
        <p:nvSpPr>
          <p:cNvPr id="3" name="Subtitle 2">
            <a:extLst>
              <a:ext uri="{FF2B5EF4-FFF2-40B4-BE49-F238E27FC236}">
                <a16:creationId xmlns:a16="http://schemas.microsoft.com/office/drawing/2014/main" id="{9FFA522F-34E7-4AA1-9915-E9D9D950212A}"/>
              </a:ext>
            </a:extLst>
          </p:cNvPr>
          <p:cNvSpPr>
            <a:spLocks noGrp="1"/>
          </p:cNvSpPr>
          <p:nvPr>
            <p:ph type="subTitle" idx="1"/>
          </p:nvPr>
        </p:nvSpPr>
        <p:spPr>
          <a:xfrm>
            <a:off x="1020793" y="4101895"/>
            <a:ext cx="10107282" cy="2757182"/>
          </a:xfrm>
        </p:spPr>
        <p:txBody>
          <a:bodyPr vert="horz" lIns="91440" tIns="45720" rIns="91440" bIns="45720" rtlCol="0" anchor="t">
            <a:normAutofit fontScale="85000" lnSpcReduction="10000"/>
          </a:bodyPr>
          <a:lstStyle/>
          <a:p>
            <a:r>
              <a:rPr lang="en-US" sz="7200" b="1" dirty="0">
                <a:cs typeface="Calibri"/>
              </a:rPr>
              <a:t>Research: Part 1: Citations and References page  APA style</a:t>
            </a:r>
          </a:p>
          <a:p>
            <a:r>
              <a:rPr lang="en-US" b="1" dirty="0">
                <a:ea typeface="Calibri"/>
                <a:cs typeface="Calibri"/>
              </a:rPr>
              <a:t>Remember iPhone = no name  FA 24</a:t>
            </a:r>
          </a:p>
          <a:p>
            <a:r>
              <a:rPr lang="en-US" b="1" dirty="0">
                <a:ea typeface="Calibri"/>
                <a:cs typeface="Calibri"/>
              </a:rPr>
              <a:t>Entry Participation Task in 10 minutes</a:t>
            </a:r>
          </a:p>
          <a:p>
            <a:endParaRPr lang="en-US" b="1" dirty="0">
              <a:ea typeface="Calibri"/>
              <a:cs typeface="Calibri"/>
            </a:endParaRPr>
          </a:p>
          <a:p>
            <a:endParaRPr lang="en-US" b="1" dirty="0">
              <a:ea typeface="Calibri"/>
              <a:cs typeface="Calibri"/>
            </a:endParaRPr>
          </a:p>
        </p:txBody>
      </p:sp>
      <p:sp>
        <p:nvSpPr>
          <p:cNvPr id="6" name="TextBox 5">
            <a:extLst>
              <a:ext uri="{FF2B5EF4-FFF2-40B4-BE49-F238E27FC236}">
                <a16:creationId xmlns:a16="http://schemas.microsoft.com/office/drawing/2014/main" id="{29C94F9F-17C1-E09A-582C-4E69F5AFB585}"/>
              </a:ext>
            </a:extLst>
          </p:cNvPr>
          <p:cNvSpPr txBox="1"/>
          <p:nvPr/>
        </p:nvSpPr>
        <p:spPr>
          <a:xfrm>
            <a:off x="5032663" y="1447800"/>
            <a:ext cx="6570516" cy="923330"/>
          </a:xfrm>
          <a:prstGeom prst="rect">
            <a:avLst/>
          </a:prstGeom>
          <a:solidFill>
            <a:srgbClr val="FF000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rPr>
              <a:t>Good job handing in your homework on time.  This is a learning experience.   You can hand your homework in again, but read the comments carefully and ask questions on THURSDAY.</a:t>
            </a:r>
          </a:p>
        </p:txBody>
      </p:sp>
    </p:spTree>
    <p:extLst>
      <p:ext uri="{BB962C8B-B14F-4D97-AF65-F5344CB8AC3E}">
        <p14:creationId xmlns:p14="http://schemas.microsoft.com/office/powerpoint/2010/main" val="247674538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500"/>
                                  </p:stCondLst>
                                  <p:iterate>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7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500"/>
                                  </p:stCondLst>
                                  <p:iterate>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700"/>
                                        <p:tgtEl>
                                          <p:spTgt spid="3">
                                            <p:txEl>
                                              <p:pRg st="2" end="2"/>
                                            </p:txEl>
                                          </p:spTgt>
                                        </p:tgtEl>
                                      </p:cBhvr>
                                    </p:animEffect>
                                  </p:childTnLst>
                                </p:cTn>
                              </p:par>
                              <p:par>
                                <p:cTn id="18" presetID="10" presetClass="entr" presetSubtype="0" fill="hold" grpId="0" nodeType="withEffect">
                                  <p:stCondLst>
                                    <p:cond delay="1000"/>
                                  </p:stCondLst>
                                  <p:iterate>
                                    <p:tmPct val="10000"/>
                                  </p:iterate>
                                  <p:childTnLst>
                                    <p:set>
                                      <p:cBhvr>
                                        <p:cTn id="19" dur="1" fill="hold">
                                          <p:stCondLst>
                                            <p:cond delay="0"/>
                                          </p:stCondLst>
                                        </p:cTn>
                                        <p:tgtEl>
                                          <p:spTgt spid="2"/>
                                        </p:tgtEl>
                                        <p:attrNameLst>
                                          <p:attrName>style.visibility</p:attrName>
                                        </p:attrNameLst>
                                      </p:cBhvr>
                                      <p:to>
                                        <p:strVal val="visible"/>
                                      </p:to>
                                    </p:set>
                                    <p:animEffect transition="in" filter="fade">
                                      <p:cBhvr>
                                        <p:cTn id="2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58E4-6569-0792-206B-EFFFF46705E6}"/>
              </a:ext>
            </a:extLst>
          </p:cNvPr>
          <p:cNvSpPr>
            <a:spLocks noGrp="1"/>
          </p:cNvSpPr>
          <p:nvPr>
            <p:ph type="title"/>
          </p:nvPr>
        </p:nvSpPr>
        <p:spPr>
          <a:xfrm>
            <a:off x="524256" y="4767072"/>
            <a:ext cx="5932831" cy="1395173"/>
          </a:xfrm>
          <a:solidFill>
            <a:srgbClr val="ED7D31"/>
          </a:solidFill>
        </p:spPr>
        <p:txBody>
          <a:bodyPr>
            <a:normAutofit/>
          </a:bodyPr>
          <a:lstStyle/>
          <a:p>
            <a:pPr algn="r"/>
            <a:r>
              <a:rPr lang="en-US" b="1" dirty="0">
                <a:cs typeface="Calibri Light"/>
              </a:rPr>
              <a:t>Assignment 1 Homework Feedback</a:t>
            </a:r>
            <a:r>
              <a:rPr lang="en-US" dirty="0">
                <a:solidFill>
                  <a:srgbClr val="FFFFFF"/>
                </a:solidFill>
                <a:cs typeface="Calibri Light" panose="020F0302020204030204"/>
              </a:rPr>
              <a:t> </a:t>
            </a:r>
          </a:p>
        </p:txBody>
      </p:sp>
      <p:pic>
        <p:nvPicPr>
          <p:cNvPr id="4" name="Picture 4" descr="피드백 커서 아이디어의 교환 · Pixabay의 무료 이미지">
            <a:extLst>
              <a:ext uri="{FF2B5EF4-FFF2-40B4-BE49-F238E27FC236}">
                <a16:creationId xmlns:a16="http://schemas.microsoft.com/office/drawing/2014/main" id="{EBFFAC73-04C1-063F-8FE1-A11E960446AA}"/>
              </a:ext>
            </a:extLst>
          </p:cNvPr>
          <p:cNvPicPr>
            <a:picLocks noChangeAspect="1"/>
          </p:cNvPicPr>
          <p:nvPr/>
        </p:nvPicPr>
        <p:blipFill rotWithShape="1">
          <a:blip r:embed="rId2"/>
          <a:srcRect t="14751" r="1" b="2707"/>
          <a:stretch/>
        </p:blipFill>
        <p:spPr>
          <a:xfrm>
            <a:off x="327547" y="321733"/>
            <a:ext cx="5620571" cy="3273506"/>
          </a:xfrm>
          <a:prstGeom prst="rect">
            <a:avLst/>
          </a:prstGeom>
        </p:spPr>
      </p:pic>
      <p:sp>
        <p:nvSpPr>
          <p:cNvPr id="8" name="Content Placeholder 7">
            <a:extLst>
              <a:ext uri="{FF2B5EF4-FFF2-40B4-BE49-F238E27FC236}">
                <a16:creationId xmlns:a16="http://schemas.microsoft.com/office/drawing/2014/main" id="{24579B38-273C-CC68-997A-E7B186CE432C}"/>
              </a:ext>
            </a:extLst>
          </p:cNvPr>
          <p:cNvSpPr>
            <a:spLocks noGrp="1"/>
          </p:cNvSpPr>
          <p:nvPr>
            <p:ph idx="1"/>
          </p:nvPr>
        </p:nvSpPr>
        <p:spPr>
          <a:xfrm>
            <a:off x="6462188" y="414518"/>
            <a:ext cx="5351303" cy="6146323"/>
          </a:xfrm>
        </p:spPr>
        <p:txBody>
          <a:bodyPr vert="horz" lIns="91440" tIns="45720" rIns="91440" bIns="45720" rtlCol="0" anchor="ctr">
            <a:noAutofit/>
          </a:bodyPr>
          <a:lstStyle/>
          <a:p>
            <a:pPr marL="0" indent="0">
              <a:buNone/>
            </a:pPr>
            <a:r>
              <a:rPr lang="en-US" sz="7200" dirty="0">
                <a:cs typeface="Calibri"/>
              </a:rPr>
              <a:t>Homework and Assignment Tip: </a:t>
            </a:r>
          </a:p>
          <a:p>
            <a:r>
              <a:rPr lang="en-US" dirty="0">
                <a:cs typeface="Calibri"/>
              </a:rPr>
              <a:t>Read the prompt or instructions carefully before starting and then again when you finish to make sure you answered </a:t>
            </a:r>
            <a:r>
              <a:rPr lang="en-US" dirty="0">
                <a:solidFill>
                  <a:srgbClr val="000000"/>
                </a:solidFill>
                <a:cs typeface="Calibri"/>
              </a:rPr>
              <a:t>correctly.</a:t>
            </a:r>
            <a:r>
              <a:rPr lang="en-US" sz="3200" dirty="0">
                <a:solidFill>
                  <a:srgbClr val="FFFFFF"/>
                </a:solidFill>
                <a:cs typeface="Calibri"/>
              </a:rPr>
              <a:t>.</a:t>
            </a:r>
            <a:endParaRPr lang="en-US" dirty="0">
              <a:cs typeface="Calibri"/>
            </a:endParaRPr>
          </a:p>
        </p:txBody>
      </p:sp>
    </p:spTree>
    <p:extLst>
      <p:ext uri="{BB962C8B-B14F-4D97-AF65-F5344CB8AC3E}">
        <p14:creationId xmlns:p14="http://schemas.microsoft.com/office/powerpoint/2010/main" val="219647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B4D3A-F989-C876-53D6-F65485034AA0}"/>
              </a:ext>
            </a:extLst>
          </p:cNvPr>
          <p:cNvSpPr>
            <a:spLocks noGrp="1"/>
          </p:cNvSpPr>
          <p:nvPr>
            <p:ph type="title"/>
          </p:nvPr>
        </p:nvSpPr>
        <p:spPr>
          <a:solidFill>
            <a:srgbClr val="FF0000"/>
          </a:solidFill>
        </p:spPr>
        <p:txBody>
          <a:bodyPr/>
          <a:lstStyle/>
          <a:p>
            <a:r>
              <a:rPr lang="en-US" b="1" dirty="0">
                <a:cs typeface="Calibri Light"/>
              </a:rPr>
              <a:t>Writing assignments:   </a:t>
            </a:r>
            <a:r>
              <a:rPr lang="en-US" b="1" u="sng" dirty="0">
                <a:cs typeface="Calibri Light"/>
              </a:rPr>
              <a:t>Be specific</a:t>
            </a:r>
            <a:r>
              <a:rPr lang="en-US" b="1" dirty="0">
                <a:cs typeface="Calibri Light"/>
              </a:rPr>
              <a:t> in your answers and check any rubric and comments</a:t>
            </a:r>
          </a:p>
        </p:txBody>
      </p:sp>
      <p:sp>
        <p:nvSpPr>
          <p:cNvPr id="3" name="Content Placeholder 2">
            <a:extLst>
              <a:ext uri="{FF2B5EF4-FFF2-40B4-BE49-F238E27FC236}">
                <a16:creationId xmlns:a16="http://schemas.microsoft.com/office/drawing/2014/main" id="{33442A52-C46A-F954-3E92-63555024A34F}"/>
              </a:ext>
            </a:extLst>
          </p:cNvPr>
          <p:cNvSpPr>
            <a:spLocks noGrp="1"/>
          </p:cNvSpPr>
          <p:nvPr>
            <p:ph idx="1"/>
          </p:nvPr>
        </p:nvSpPr>
        <p:spPr/>
        <p:txBody>
          <a:bodyPr vert="horz" lIns="91440" tIns="45720" rIns="91440" bIns="45720" rtlCol="0" anchor="t">
            <a:normAutofit/>
          </a:bodyPr>
          <a:lstStyle/>
          <a:p>
            <a:pPr marL="0" indent="0">
              <a:buNone/>
            </a:pPr>
            <a:r>
              <a:rPr lang="en-US" dirty="0">
                <a:ea typeface="Calibri"/>
                <a:cs typeface="Calibri" panose="020F0502020204030204"/>
              </a:rPr>
              <a:t>The objective is to work on writing clear, effective paragraph answers to a homework or test question.</a:t>
            </a:r>
          </a:p>
          <a:p>
            <a:pPr marL="0" indent="0">
              <a:buNone/>
            </a:pPr>
            <a:endParaRPr lang="en-US" dirty="0">
              <a:ea typeface="Calibri"/>
              <a:cs typeface="Calibri" panose="020F0502020204030204"/>
            </a:endParaRPr>
          </a:p>
          <a:p>
            <a:pPr marL="0" indent="0">
              <a:buNone/>
            </a:pPr>
            <a:r>
              <a:rPr lang="en-US" dirty="0">
                <a:ea typeface="Calibri"/>
                <a:cs typeface="Calibri" panose="020F0502020204030204"/>
              </a:rPr>
              <a:t>If you did not get 5/5, read the comments in the margin and in the text box.</a:t>
            </a:r>
          </a:p>
          <a:p>
            <a:pPr marL="0" indent="0">
              <a:buNone/>
            </a:pPr>
            <a:endParaRPr lang="en-US" dirty="0">
              <a:ea typeface="Calibri"/>
              <a:cs typeface="Calibri" panose="020F0502020204030204"/>
            </a:endParaRPr>
          </a:p>
          <a:p>
            <a:pPr marL="0" indent="0">
              <a:buNone/>
            </a:pPr>
            <a:r>
              <a:rPr lang="en-US" dirty="0">
                <a:ea typeface="Calibri"/>
                <a:cs typeface="Calibri" panose="020F0502020204030204"/>
              </a:rPr>
              <a:t>You can resubmit two times, but ask questions first.  </a:t>
            </a:r>
            <a:endParaRPr lang="en-US" dirty="0">
              <a:cs typeface="Calibri"/>
            </a:endParaRPr>
          </a:p>
        </p:txBody>
      </p:sp>
    </p:spTree>
    <p:extLst>
      <p:ext uri="{BB962C8B-B14F-4D97-AF65-F5344CB8AC3E}">
        <p14:creationId xmlns:p14="http://schemas.microsoft.com/office/powerpoint/2010/main" val="2114064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E5C62-F6AB-7E5A-31C4-EDEF57A06682}"/>
              </a:ext>
            </a:extLst>
          </p:cNvPr>
          <p:cNvSpPr>
            <a:spLocks noGrp="1"/>
          </p:cNvSpPr>
          <p:nvPr>
            <p:ph type="title"/>
          </p:nvPr>
        </p:nvSpPr>
        <p:spPr>
          <a:solidFill>
            <a:srgbClr val="FF0000"/>
          </a:solidFill>
        </p:spPr>
        <p:txBody>
          <a:bodyPr/>
          <a:lstStyle/>
          <a:p>
            <a:r>
              <a:rPr lang="en-US" b="1" dirty="0">
                <a:cs typeface="Calibri Light" panose="020F0302020204030204"/>
              </a:rPr>
              <a:t>Format for a short answer:  1 point on the rubric:  echo and indent</a:t>
            </a:r>
          </a:p>
        </p:txBody>
      </p:sp>
      <p:sp>
        <p:nvSpPr>
          <p:cNvPr id="3" name="Content Placeholder 2">
            <a:extLst>
              <a:ext uri="{FF2B5EF4-FFF2-40B4-BE49-F238E27FC236}">
                <a16:creationId xmlns:a16="http://schemas.microsoft.com/office/drawing/2014/main" id="{29C1CFD5-9815-9E03-E2CE-349DE61391BC}"/>
              </a:ext>
            </a:extLst>
          </p:cNvPr>
          <p:cNvSpPr>
            <a:spLocks noGrp="1"/>
          </p:cNvSpPr>
          <p:nvPr>
            <p:ph idx="1"/>
          </p:nvPr>
        </p:nvSpPr>
        <p:spPr/>
        <p:txBody>
          <a:bodyPr vert="horz" lIns="91440" tIns="45720" rIns="91440" bIns="45720" rtlCol="0" anchor="t">
            <a:normAutofit fontScale="92500" lnSpcReduction="10000"/>
          </a:bodyPr>
          <a:lstStyle/>
          <a:p>
            <a:r>
              <a:rPr lang="en-US" dirty="0">
                <a:cs typeface="Calibri"/>
              </a:rPr>
              <a:t>Must be </a:t>
            </a:r>
            <a:r>
              <a:rPr lang="en-US" u="sng" dirty="0">
                <a:cs typeface="Calibri"/>
              </a:rPr>
              <a:t>one paragraph</a:t>
            </a:r>
            <a:r>
              <a:rPr lang="en-US" dirty="0">
                <a:cs typeface="Calibri"/>
              </a:rPr>
              <a:t>.  This is what the instructions specified, along with a suggested sentence length.   (-1)</a:t>
            </a:r>
          </a:p>
          <a:p>
            <a:r>
              <a:rPr lang="en-US" dirty="0">
                <a:cs typeface="Calibri"/>
              </a:rPr>
              <a:t>Should mention or repeat the question in some way in the first sentence and references the </a:t>
            </a:r>
            <a:r>
              <a:rPr lang="en-US" u="sng" dirty="0">
                <a:highlight>
                  <a:srgbClr val="00FF00"/>
                </a:highlight>
                <a:cs typeface="Calibri"/>
              </a:rPr>
              <a:t>source</a:t>
            </a:r>
            <a:r>
              <a:rPr lang="en-US" dirty="0">
                <a:cs typeface="Calibri"/>
              </a:rPr>
              <a:t>, if there is one.  This is what</a:t>
            </a:r>
            <a:r>
              <a:rPr lang="en-US" dirty="0">
                <a:highlight>
                  <a:srgbClr val="00FF00"/>
                </a:highlight>
                <a:cs typeface="Calibri"/>
              </a:rPr>
              <a:t> </a:t>
            </a:r>
            <a:r>
              <a:rPr lang="en-US" u="sng" dirty="0">
                <a:highlight>
                  <a:srgbClr val="00FF00"/>
                </a:highlight>
                <a:cs typeface="Calibri"/>
              </a:rPr>
              <a:t>"echoes</a:t>
            </a:r>
            <a:r>
              <a:rPr lang="en-US" dirty="0">
                <a:highlight>
                  <a:srgbClr val="00FF00"/>
                </a:highlight>
                <a:cs typeface="Calibri"/>
              </a:rPr>
              <a:t>" </a:t>
            </a:r>
            <a:r>
              <a:rPr lang="en-US" dirty="0">
                <a:cs typeface="Calibri"/>
              </a:rPr>
              <a:t>means.    </a:t>
            </a:r>
            <a:r>
              <a:rPr lang="en-US" dirty="0">
                <a:highlight>
                  <a:srgbClr val="FFFF00"/>
                </a:highlight>
                <a:cs typeface="Calibri"/>
              </a:rPr>
              <a:t>According to the video, one cultural difference is  </a:t>
            </a:r>
            <a:r>
              <a:rPr lang="en-US" dirty="0">
                <a:cs typeface="Calibri"/>
              </a:rPr>
              <a:t>or </a:t>
            </a:r>
            <a:r>
              <a:rPr lang="en-US" dirty="0">
                <a:highlight>
                  <a:srgbClr val="FFFF00"/>
                </a:highlight>
                <a:cs typeface="Calibri"/>
              </a:rPr>
              <a:t>In the video, a cultural diff</a:t>
            </a:r>
            <a:r>
              <a:rPr lang="en-US" dirty="0">
                <a:cs typeface="Calibri"/>
              </a:rPr>
              <a:t>erence is  …  </a:t>
            </a:r>
            <a:r>
              <a:rPr lang="en-US" dirty="0">
                <a:highlight>
                  <a:srgbClr val="FFFF00"/>
                </a:highlight>
                <a:cs typeface="Calibri"/>
              </a:rPr>
              <a:t>The video mentions several cultural differences, bu</a:t>
            </a:r>
            <a:r>
              <a:rPr lang="en-US" dirty="0">
                <a:cs typeface="Calibri"/>
              </a:rPr>
              <a:t>t one....(-0.5 next time.)</a:t>
            </a:r>
          </a:p>
          <a:p>
            <a:r>
              <a:rPr lang="en-US" u="sng" dirty="0">
                <a:cs typeface="Calibri"/>
              </a:rPr>
              <a:t>Indent</a:t>
            </a:r>
            <a:r>
              <a:rPr lang="en-US" dirty="0">
                <a:cs typeface="Calibri"/>
              </a:rPr>
              <a:t> your paragraph.  In indent means to start the first sentence 5 - 7 spaces in from the margin. (-0.5) Like this:</a:t>
            </a:r>
          </a:p>
          <a:p>
            <a:pPr marL="0" indent="0">
              <a:buNone/>
            </a:pPr>
            <a:r>
              <a:rPr lang="en-US" dirty="0">
                <a:cs typeface="Calibri"/>
              </a:rPr>
              <a:t>        The video gives several pieces of good advice for how to find a keyword when you do any research.  First of all, look for synonyms and academic terms that are related to your topic....</a:t>
            </a:r>
          </a:p>
        </p:txBody>
      </p:sp>
    </p:spTree>
    <p:extLst>
      <p:ext uri="{BB962C8B-B14F-4D97-AF65-F5344CB8AC3E}">
        <p14:creationId xmlns:p14="http://schemas.microsoft.com/office/powerpoint/2010/main" val="4237167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C619E-A62C-F729-43FD-7B34199FE492}"/>
              </a:ext>
            </a:extLst>
          </p:cNvPr>
          <p:cNvSpPr>
            <a:spLocks noGrp="1"/>
          </p:cNvSpPr>
          <p:nvPr>
            <p:ph type="title"/>
          </p:nvPr>
        </p:nvSpPr>
        <p:spPr>
          <a:solidFill>
            <a:srgbClr val="FF0000"/>
          </a:solidFill>
        </p:spPr>
        <p:txBody>
          <a:bodyPr/>
          <a:lstStyle/>
          <a:p>
            <a:r>
              <a:rPr lang="en-US" b="1" dirty="0">
                <a:cs typeface="Calibri Light"/>
              </a:rPr>
              <a:t>Indent at the beginning</a:t>
            </a:r>
            <a:endParaRPr lang="en-US" b="1" dirty="0"/>
          </a:p>
        </p:txBody>
      </p:sp>
      <p:sp>
        <p:nvSpPr>
          <p:cNvPr id="3" name="Content Placeholder 2">
            <a:extLst>
              <a:ext uri="{FF2B5EF4-FFF2-40B4-BE49-F238E27FC236}">
                <a16:creationId xmlns:a16="http://schemas.microsoft.com/office/drawing/2014/main" id="{39ABA6D5-D224-622D-6EA4-9CECC4210D7D}"/>
              </a:ext>
            </a:extLst>
          </p:cNvPr>
          <p:cNvSpPr>
            <a:spLocks noGrp="1"/>
          </p:cNvSpPr>
          <p:nvPr>
            <p:ph idx="1"/>
          </p:nvPr>
        </p:nvSpPr>
        <p:spPr>
          <a:solidFill>
            <a:schemeClr val="bg1"/>
          </a:solidFill>
        </p:spPr>
        <p:txBody>
          <a:bodyPr vert="horz" lIns="91440" tIns="45720" rIns="91440" bIns="45720" rtlCol="0" anchor="t">
            <a:normAutofit lnSpcReduction="10000"/>
          </a:bodyPr>
          <a:lstStyle/>
          <a:p>
            <a:pPr marL="0" indent="0">
              <a:buNone/>
            </a:pPr>
            <a:r>
              <a:rPr lang="en-US" dirty="0">
                <a:cs typeface="Calibri"/>
              </a:rPr>
              <a:t>       At the beginning of paragraphs, indent 5 or 7 spaces.  Do not use the tab key because that is too much.  This is part of the APA style of writing.   To indent means to move in 5 or 7 spaces.  This will be part of the format for future assignments.  Example:  </a:t>
            </a:r>
            <a:endParaRPr lang="en-US"/>
          </a:p>
          <a:p>
            <a:pPr marL="514350" indent="-514350">
              <a:buAutoNum type="arabicPeriod"/>
            </a:pPr>
            <a:r>
              <a:rPr lang="en-US" dirty="0">
                <a:cs typeface="Calibri"/>
              </a:rPr>
              <a:t>What are the four cultural values listed on page 58?  Explain why they are important.</a:t>
            </a:r>
          </a:p>
          <a:p>
            <a:pPr marL="0" indent="0">
              <a:buNone/>
            </a:pPr>
            <a:r>
              <a:rPr lang="en-US" dirty="0">
                <a:cs typeface="Calibri"/>
              </a:rPr>
              <a:t>Answer in homework:</a:t>
            </a:r>
          </a:p>
          <a:p>
            <a:pPr marL="0" indent="0">
              <a:buNone/>
            </a:pPr>
            <a:r>
              <a:rPr lang="en-US" dirty="0">
                <a:cs typeface="Calibri"/>
              </a:rPr>
              <a:t>1.</a:t>
            </a:r>
          </a:p>
          <a:p>
            <a:pPr marL="0" indent="0">
              <a:buNone/>
            </a:pPr>
            <a:r>
              <a:rPr lang="en-US" dirty="0">
                <a:solidFill>
                  <a:srgbClr val="FFFF00"/>
                </a:solidFill>
                <a:highlight>
                  <a:srgbClr val="FFFF00"/>
                </a:highlight>
                <a:cs typeface="Calibri"/>
              </a:rPr>
              <a:t> </a:t>
            </a:r>
            <a:r>
              <a:rPr lang="en-US" dirty="0">
                <a:highlight>
                  <a:srgbClr val="FFFF00"/>
                </a:highlight>
                <a:cs typeface="Calibri"/>
              </a:rPr>
              <a:t>      </a:t>
            </a:r>
            <a:r>
              <a:rPr lang="en-US" dirty="0">
                <a:cs typeface="Calibri"/>
              </a:rPr>
              <a:t>The four cultural values on page 58 are individualism, personal responsibility, freedom of choice, and independent thinking. They ….</a:t>
            </a:r>
          </a:p>
          <a:p>
            <a:pPr marL="0" indent="0">
              <a:buNone/>
            </a:pPr>
            <a:endParaRPr lang="en-US" dirty="0">
              <a:cs typeface="Calibri"/>
            </a:endParaRPr>
          </a:p>
        </p:txBody>
      </p:sp>
    </p:spTree>
    <p:extLst>
      <p:ext uri="{BB962C8B-B14F-4D97-AF65-F5344CB8AC3E}">
        <p14:creationId xmlns:p14="http://schemas.microsoft.com/office/powerpoint/2010/main" val="1820364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4262-3B02-749E-FFB2-B35597195BC9}"/>
              </a:ext>
            </a:extLst>
          </p:cNvPr>
          <p:cNvSpPr>
            <a:spLocks noGrp="1"/>
          </p:cNvSpPr>
          <p:nvPr>
            <p:ph type="title"/>
          </p:nvPr>
        </p:nvSpPr>
        <p:spPr>
          <a:solidFill>
            <a:srgbClr val="FF0000"/>
          </a:solidFill>
        </p:spPr>
        <p:txBody>
          <a:bodyPr/>
          <a:lstStyle/>
          <a:p>
            <a:r>
              <a:rPr lang="en-US" b="1" dirty="0">
                <a:cs typeface="Calibri Light"/>
              </a:rPr>
              <a:t>Topic Sentence = echoing the prompt</a:t>
            </a:r>
            <a:endParaRPr lang="en-US" b="1">
              <a:cs typeface="Calibri Light"/>
            </a:endParaRPr>
          </a:p>
        </p:txBody>
      </p:sp>
      <p:sp>
        <p:nvSpPr>
          <p:cNvPr id="3" name="Content Placeholder 2">
            <a:extLst>
              <a:ext uri="{FF2B5EF4-FFF2-40B4-BE49-F238E27FC236}">
                <a16:creationId xmlns:a16="http://schemas.microsoft.com/office/drawing/2014/main" id="{E1983794-0B15-E1AA-FA60-B760EE8DE718}"/>
              </a:ext>
            </a:extLst>
          </p:cNvPr>
          <p:cNvSpPr>
            <a:spLocks noGrp="1"/>
          </p:cNvSpPr>
          <p:nvPr>
            <p:ph idx="1"/>
          </p:nvPr>
        </p:nvSpPr>
        <p:spPr/>
        <p:txBody>
          <a:bodyPr vert="horz" lIns="91440" tIns="45720" rIns="91440" bIns="45720" rtlCol="0" anchor="t">
            <a:normAutofit/>
          </a:bodyPr>
          <a:lstStyle/>
          <a:p>
            <a:pPr marL="0" indent="0">
              <a:buNone/>
            </a:pPr>
            <a:endParaRPr lang="en-US" b="1" dirty="0">
              <a:cs typeface="Calibri"/>
            </a:endParaRPr>
          </a:p>
          <a:p>
            <a:pPr marL="0" indent="0">
              <a:buNone/>
            </a:pPr>
            <a:endParaRPr lang="en-US" b="1" dirty="0">
              <a:cs typeface="Calibri"/>
            </a:endParaRPr>
          </a:p>
          <a:p>
            <a:pPr marL="0" indent="0">
              <a:buNone/>
            </a:pPr>
            <a:r>
              <a:rPr lang="en-US" b="1" dirty="0">
                <a:cs typeface="Calibri"/>
              </a:rPr>
              <a:t>When you echo the prompt, (repeat key words), you are making a topic sentence.   Most paragraphs have topic sentences which tell the reader what that paragraph is mainly about.  This helps the reader read more quickly and efficiently.  It makes your writing clearer.</a:t>
            </a:r>
            <a:endParaRPr lang="en-US">
              <a:cs typeface="Calibri"/>
            </a:endParaRPr>
          </a:p>
        </p:txBody>
      </p:sp>
    </p:spTree>
    <p:extLst>
      <p:ext uri="{BB962C8B-B14F-4D97-AF65-F5344CB8AC3E}">
        <p14:creationId xmlns:p14="http://schemas.microsoft.com/office/powerpoint/2010/main" val="4143771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AAA9F-8AAC-9C00-1467-C62D17038896}"/>
              </a:ext>
            </a:extLst>
          </p:cNvPr>
          <p:cNvSpPr>
            <a:spLocks noGrp="1"/>
          </p:cNvSpPr>
          <p:nvPr>
            <p:ph type="title"/>
          </p:nvPr>
        </p:nvSpPr>
        <p:spPr>
          <a:solidFill>
            <a:srgbClr val="FF0000"/>
          </a:solidFill>
        </p:spPr>
        <p:txBody>
          <a:bodyPr/>
          <a:lstStyle/>
          <a:p>
            <a:r>
              <a:rPr lang="en-US" b="1" dirty="0">
                <a:cs typeface="Calibri Light"/>
              </a:rPr>
              <a:t>Plagiarism:  Automatic 0</a:t>
            </a:r>
            <a:endParaRPr lang="en-US" b="1" dirty="0"/>
          </a:p>
        </p:txBody>
      </p:sp>
      <p:sp>
        <p:nvSpPr>
          <p:cNvPr id="3" name="Content Placeholder 2">
            <a:extLst>
              <a:ext uri="{FF2B5EF4-FFF2-40B4-BE49-F238E27FC236}">
                <a16:creationId xmlns:a16="http://schemas.microsoft.com/office/drawing/2014/main" id="{BF1C359F-1D3B-7C74-D3D4-B352527B1B90}"/>
              </a:ext>
            </a:extLst>
          </p:cNvPr>
          <p:cNvSpPr>
            <a:spLocks noGrp="1"/>
          </p:cNvSpPr>
          <p:nvPr>
            <p:ph idx="1"/>
          </p:nvPr>
        </p:nvSpPr>
        <p:spPr>
          <a:xfrm>
            <a:off x="737559" y="1466192"/>
            <a:ext cx="10616241" cy="4710771"/>
          </a:xfrm>
        </p:spPr>
        <p:txBody>
          <a:bodyPr vert="horz" lIns="91440" tIns="45720" rIns="91440" bIns="45720" rtlCol="0" anchor="t">
            <a:normAutofit/>
          </a:bodyPr>
          <a:lstStyle/>
          <a:p>
            <a:endParaRPr lang="en-US" u="sng" dirty="0">
              <a:cs typeface="Calibri"/>
            </a:endParaRPr>
          </a:p>
          <a:p>
            <a:endParaRPr lang="en-US" u="sng" dirty="0">
              <a:cs typeface="Calibri"/>
            </a:endParaRPr>
          </a:p>
          <a:p>
            <a:endParaRPr lang="en-US" u="sng" dirty="0">
              <a:cs typeface="Calibri"/>
            </a:endParaRPr>
          </a:p>
          <a:p>
            <a:r>
              <a:rPr lang="en-US" u="sng" dirty="0">
                <a:cs typeface="Calibri"/>
              </a:rPr>
              <a:t>Do not copy the prompt or questions in your answer directly because this makes it look like plagiarism.  These are short answers and the prompt may be longer than the answer.   This could be up to 50%  on </a:t>
            </a:r>
            <a:r>
              <a:rPr lang="en-US" u="sng">
                <a:cs typeface="Calibri"/>
              </a:rPr>
              <a:t>Turnitin.  You may receive an automatic 0 if the score is over 30% on your </a:t>
            </a:r>
            <a:r>
              <a:rPr lang="en-US" u="sng" dirty="0">
                <a:cs typeface="Calibri"/>
              </a:rPr>
              <a:t>homework, so check yourself and resubmit if necessary.</a:t>
            </a:r>
          </a:p>
          <a:p>
            <a:r>
              <a:rPr lang="en-US" u="sng">
                <a:cs typeface="Calibri"/>
              </a:rPr>
              <a:t>Under 20% is okay.</a:t>
            </a:r>
          </a:p>
        </p:txBody>
      </p:sp>
    </p:spTree>
    <p:extLst>
      <p:ext uri="{BB962C8B-B14F-4D97-AF65-F5344CB8AC3E}">
        <p14:creationId xmlns:p14="http://schemas.microsoft.com/office/powerpoint/2010/main" val="3462923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B0FF-67EF-71A8-7A3A-48EE30073A8C}"/>
              </a:ext>
            </a:extLst>
          </p:cNvPr>
          <p:cNvSpPr>
            <a:spLocks noGrp="1"/>
          </p:cNvSpPr>
          <p:nvPr>
            <p:ph type="title"/>
          </p:nvPr>
        </p:nvSpPr>
        <p:spPr>
          <a:solidFill>
            <a:srgbClr val="FF0000"/>
          </a:solidFill>
        </p:spPr>
        <p:txBody>
          <a:bodyPr/>
          <a:lstStyle/>
          <a:p>
            <a:r>
              <a:rPr lang="en-US" b="1" dirty="0">
                <a:cs typeface="Calibri Light"/>
              </a:rPr>
              <a:t>Do NOT copy the prompt</a:t>
            </a:r>
            <a:endParaRPr lang="en-US" b="1">
              <a:cs typeface="Calibri Light"/>
            </a:endParaRPr>
          </a:p>
        </p:txBody>
      </p:sp>
      <p:sp>
        <p:nvSpPr>
          <p:cNvPr id="3" name="Content Placeholder 2">
            <a:extLst>
              <a:ext uri="{FF2B5EF4-FFF2-40B4-BE49-F238E27FC236}">
                <a16:creationId xmlns:a16="http://schemas.microsoft.com/office/drawing/2014/main" id="{A57CDF33-66AE-C242-929C-2526F0E52F17}"/>
              </a:ext>
            </a:extLst>
          </p:cNvPr>
          <p:cNvSpPr>
            <a:spLocks noGrp="1"/>
          </p:cNvSpPr>
          <p:nvPr>
            <p:ph idx="1"/>
          </p:nvPr>
        </p:nvSpPr>
        <p:spPr/>
        <p:txBody>
          <a:bodyPr vert="horz" lIns="91440" tIns="45720" rIns="91440" bIns="45720" rtlCol="0" anchor="t">
            <a:normAutofit/>
          </a:bodyPr>
          <a:lstStyle/>
          <a:p>
            <a:r>
              <a:rPr lang="en-US" dirty="0">
                <a:cs typeface="Calibri"/>
              </a:rPr>
              <a:t>This is a short answer, so if you copy the prompt, your Turnitin score can be very high.</a:t>
            </a:r>
          </a:p>
          <a:p>
            <a:r>
              <a:rPr lang="en-US" dirty="0">
                <a:cs typeface="Calibri"/>
              </a:rPr>
              <a:t>So, this makes it look like plagiarism.   If it is between 20 - 30%, I will look at the report and decide how many points to take off.</a:t>
            </a:r>
          </a:p>
          <a:p>
            <a:r>
              <a:rPr lang="en-US" dirty="0">
                <a:cs typeface="Calibri"/>
              </a:rPr>
              <a:t>Each time I have to look, it takes a minute or more of extra time for grading.</a:t>
            </a:r>
          </a:p>
          <a:p>
            <a:r>
              <a:rPr lang="en-US" dirty="0">
                <a:cs typeface="Calibri"/>
              </a:rPr>
              <a:t>If it is over 30%, I will not look and you get a 0. It may just be the copied prompt, but anything in red probably means copied sections from another student or online source.  You can rewrite and resubmit.</a:t>
            </a:r>
          </a:p>
        </p:txBody>
      </p:sp>
    </p:spTree>
    <p:extLst>
      <p:ext uri="{BB962C8B-B14F-4D97-AF65-F5344CB8AC3E}">
        <p14:creationId xmlns:p14="http://schemas.microsoft.com/office/powerpoint/2010/main" val="2463003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C74A5-A48F-EE43-8579-538FA1725064}"/>
              </a:ext>
            </a:extLst>
          </p:cNvPr>
          <p:cNvSpPr>
            <a:spLocks noGrp="1"/>
          </p:cNvSpPr>
          <p:nvPr>
            <p:ph type="title"/>
          </p:nvPr>
        </p:nvSpPr>
        <p:spPr>
          <a:solidFill>
            <a:srgbClr val="FF0000"/>
          </a:solidFill>
        </p:spPr>
        <p:txBody>
          <a:bodyPr/>
          <a:lstStyle/>
          <a:p>
            <a:r>
              <a:rPr lang="en-US" b="1" dirty="0">
                <a:cs typeface="Calibri Light"/>
              </a:rPr>
              <a:t>Example of a short answer as a paragraph:</a:t>
            </a:r>
          </a:p>
        </p:txBody>
      </p:sp>
      <p:sp>
        <p:nvSpPr>
          <p:cNvPr id="3" name="Content Placeholder 2">
            <a:extLst>
              <a:ext uri="{FF2B5EF4-FFF2-40B4-BE49-F238E27FC236}">
                <a16:creationId xmlns:a16="http://schemas.microsoft.com/office/drawing/2014/main" id="{1BE2DE1A-7436-B8B8-5CC1-2FF2093BB67D}"/>
              </a:ext>
            </a:extLst>
          </p:cNvPr>
          <p:cNvSpPr>
            <a:spLocks noGrp="1"/>
          </p:cNvSpPr>
          <p:nvPr>
            <p:ph idx="1"/>
          </p:nvPr>
        </p:nvSpPr>
        <p:spPr>
          <a:xfrm>
            <a:off x="838200" y="2241261"/>
            <a:ext cx="10515600" cy="3935702"/>
          </a:xfrm>
        </p:spPr>
        <p:txBody>
          <a:bodyPr vert="horz" lIns="91440" tIns="45720" rIns="91440" bIns="45720" rtlCol="0" anchor="t">
            <a:normAutofit fontScale="92500"/>
          </a:bodyPr>
          <a:lstStyle/>
          <a:p>
            <a:pPr marL="0" indent="0">
              <a:buNone/>
            </a:pPr>
            <a:r>
              <a:rPr lang="en-US" dirty="0">
                <a:highlight>
                  <a:srgbClr val="FFFF00"/>
                </a:highlight>
                <a:cs typeface="Calibri" panose="020F0502020204030204"/>
              </a:rPr>
              <a:t>2.</a:t>
            </a:r>
          </a:p>
          <a:p>
            <a:pPr marL="0" indent="0">
              <a:buNone/>
            </a:pPr>
            <a:r>
              <a:rPr lang="en-US" dirty="0">
                <a:highlight>
                  <a:srgbClr val="FFFF00"/>
                </a:highlight>
                <a:cs typeface="Calibri" panose="020F0502020204030204"/>
              </a:rPr>
              <a:t>       Th</a:t>
            </a:r>
            <a:r>
              <a:rPr lang="en-US" dirty="0">
                <a:cs typeface="Calibri" panose="020F0502020204030204"/>
              </a:rPr>
              <a:t>e </a:t>
            </a:r>
            <a:r>
              <a:rPr lang="en-US" dirty="0">
                <a:highlight>
                  <a:srgbClr val="00FF00"/>
                </a:highlight>
                <a:cs typeface="Calibri" panose="020F0502020204030204"/>
              </a:rPr>
              <a:t>video s</a:t>
            </a:r>
            <a:r>
              <a:rPr lang="en-US" dirty="0">
                <a:cs typeface="Calibri" panose="020F0502020204030204"/>
              </a:rPr>
              <a:t>howed several aspects of the U.S. academic culture </a:t>
            </a:r>
            <a:r>
              <a:rPr lang="en-US" dirty="0">
                <a:highlight>
                  <a:srgbClr val="FF00FF"/>
                </a:highlight>
                <a:cs typeface="Calibri" panose="020F0502020204030204"/>
              </a:rPr>
              <a:t>that surprised me.</a:t>
            </a:r>
            <a:r>
              <a:rPr lang="en-US" dirty="0">
                <a:cs typeface="Calibri" panose="020F0502020204030204"/>
              </a:rPr>
              <a:t>  In Mexico, students usually cannot talk to a teacher using the first name.  Titles of respect are very important, along with other aspects of the Spanish language that show respect.  My advice to any U.S. students going to study in a Mexican university is to use Dr. Or Licenciado any time they talk to a professor and to always use </a:t>
            </a:r>
            <a:r>
              <a:rPr lang="en-US" err="1">
                <a:cs typeface="Calibri" panose="020F0502020204030204"/>
              </a:rPr>
              <a:t>usted</a:t>
            </a:r>
            <a:r>
              <a:rPr lang="en-US" dirty="0">
                <a:cs typeface="Calibri" panose="020F0502020204030204"/>
              </a:rPr>
              <a:t> instead of </a:t>
            </a:r>
            <a:r>
              <a:rPr lang="en-US" err="1">
                <a:cs typeface="Calibri" panose="020F0502020204030204"/>
              </a:rPr>
              <a:t>tú</a:t>
            </a:r>
            <a:r>
              <a:rPr lang="en-US" dirty="0">
                <a:cs typeface="Calibri" panose="020F0502020204030204"/>
              </a:rPr>
              <a:t>, which is the formal form of "you."  This way they can avoid offending a professor.  </a:t>
            </a:r>
          </a:p>
          <a:p>
            <a:pPr marL="0" indent="0">
              <a:buNone/>
            </a:pPr>
            <a:r>
              <a:rPr lang="en-US" dirty="0">
                <a:cs typeface="Calibri" panose="020F0502020204030204"/>
              </a:rPr>
              <a:t>(A paragraph can be almost ½ page long in some cases. No lists or numbers or bullets.)     </a:t>
            </a:r>
          </a:p>
        </p:txBody>
      </p:sp>
    </p:spTree>
    <p:extLst>
      <p:ext uri="{BB962C8B-B14F-4D97-AF65-F5344CB8AC3E}">
        <p14:creationId xmlns:p14="http://schemas.microsoft.com/office/powerpoint/2010/main" val="1918624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A641A-95BD-AEA7-9743-C18EC3B8F26B}"/>
              </a:ext>
            </a:extLst>
          </p:cNvPr>
          <p:cNvSpPr>
            <a:spLocks noGrp="1"/>
          </p:cNvSpPr>
          <p:nvPr>
            <p:ph type="title"/>
          </p:nvPr>
        </p:nvSpPr>
        <p:spPr>
          <a:solidFill>
            <a:srgbClr val="FF0000"/>
          </a:solidFill>
        </p:spPr>
        <p:txBody>
          <a:bodyPr/>
          <a:lstStyle/>
          <a:p>
            <a:r>
              <a:rPr lang="en-US" b="1" dirty="0">
                <a:ea typeface="Calibri Light"/>
                <a:cs typeface="Calibri Light"/>
              </a:rPr>
              <a:t>IN ? Which COUNTRY OR CULTURE?</a:t>
            </a:r>
            <a:endParaRPr lang="en-US" b="1" dirty="0">
              <a:cs typeface="Calibri Light"/>
            </a:endParaRPr>
          </a:p>
        </p:txBody>
      </p:sp>
      <p:sp>
        <p:nvSpPr>
          <p:cNvPr id="3" name="Content Placeholder 2">
            <a:extLst>
              <a:ext uri="{FF2B5EF4-FFF2-40B4-BE49-F238E27FC236}">
                <a16:creationId xmlns:a16="http://schemas.microsoft.com/office/drawing/2014/main" id="{2A524057-0134-36DF-6C60-E9A8A7DDA801}"/>
              </a:ext>
            </a:extLst>
          </p:cNvPr>
          <p:cNvSpPr>
            <a:spLocks noGrp="1"/>
          </p:cNvSpPr>
          <p:nvPr>
            <p:ph idx="1"/>
          </p:nvPr>
        </p:nvSpPr>
        <p:spPr/>
        <p:txBody>
          <a:bodyPr vert="horz" lIns="91440" tIns="45720" rIns="91440" bIns="45720" rtlCol="0" anchor="t">
            <a:normAutofit/>
          </a:bodyPr>
          <a:lstStyle/>
          <a:p>
            <a:r>
              <a:rPr lang="en-US" dirty="0">
                <a:ea typeface="Calibri"/>
                <a:cs typeface="Calibri"/>
              </a:rPr>
              <a:t>Be specific.  Don't use general or vague references.</a:t>
            </a:r>
          </a:p>
          <a:p>
            <a:r>
              <a:rPr lang="en-US" dirty="0">
                <a:ea typeface="Calibri"/>
                <a:cs typeface="Calibri"/>
              </a:rPr>
              <a:t>The question was about comparing the academic university culture or classroom with the same thing in your culture, but how is the reader supposed to know what culture?  You are going to learn more about your own culture while comparing to the U.S. culture, both general and academic.</a:t>
            </a:r>
          </a:p>
          <a:p>
            <a:r>
              <a:rPr lang="en-US" dirty="0">
                <a:ea typeface="Calibri"/>
                <a:cs typeface="Calibri"/>
              </a:rPr>
              <a:t>Never assume the reader knows anything about the topic.  You, as the writer, must give all needed information.  This is called the "direct" style of writing.</a:t>
            </a:r>
          </a:p>
          <a:p>
            <a:endParaRPr lang="en-US" dirty="0">
              <a:ea typeface="Calibri"/>
              <a:cs typeface="Calibri"/>
            </a:endParaRPr>
          </a:p>
        </p:txBody>
      </p:sp>
    </p:spTree>
    <p:extLst>
      <p:ext uri="{BB962C8B-B14F-4D97-AF65-F5344CB8AC3E}">
        <p14:creationId xmlns:p14="http://schemas.microsoft.com/office/powerpoint/2010/main" val="2486241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4" descr="Question marks in a line and one question mark is lit">
            <a:extLst>
              <a:ext uri="{FF2B5EF4-FFF2-40B4-BE49-F238E27FC236}">
                <a16:creationId xmlns:a16="http://schemas.microsoft.com/office/drawing/2014/main" id="{26AED9F6-D860-4534-FE43-E5DBF630543C}"/>
              </a:ext>
            </a:extLst>
          </p:cNvPr>
          <p:cNvPicPr>
            <a:picLocks noChangeAspect="1"/>
          </p:cNvPicPr>
          <p:nvPr/>
        </p:nvPicPr>
        <p:blipFill rotWithShape="1">
          <a:blip r:embed="rId2"/>
          <a:srcRect t="721" r="23418" b="8376"/>
          <a:stretch/>
        </p:blipFill>
        <p:spPr>
          <a:xfrm>
            <a:off x="3523488" y="10"/>
            <a:ext cx="8668512" cy="6857990"/>
          </a:xfrm>
          <a:prstGeom prst="rect">
            <a:avLst/>
          </a:prstGeom>
        </p:spPr>
      </p:pic>
      <p:sp>
        <p:nvSpPr>
          <p:cNvPr id="18"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9EFB0E-AD24-BF5D-A98E-5310B77AC09C}"/>
              </a:ext>
            </a:extLst>
          </p:cNvPr>
          <p:cNvSpPr>
            <a:spLocks noGrp="1"/>
          </p:cNvSpPr>
          <p:nvPr>
            <p:ph type="title"/>
          </p:nvPr>
        </p:nvSpPr>
        <p:spPr>
          <a:xfrm>
            <a:off x="477981" y="360363"/>
            <a:ext cx="11528339" cy="3966134"/>
          </a:xfrm>
        </p:spPr>
        <p:txBody>
          <a:bodyPr vert="horz" lIns="91440" tIns="45720" rIns="91440" bIns="45720" rtlCol="0" anchor="b">
            <a:normAutofit/>
          </a:bodyPr>
          <a:lstStyle/>
          <a:p>
            <a:r>
              <a:rPr lang="en-US" sz="4800" b="1" dirty="0">
                <a:cs typeface="Calibri Light"/>
              </a:rPr>
              <a:t>    </a:t>
            </a:r>
            <a:r>
              <a:rPr lang="en-US" sz="8000" b="1" dirty="0">
                <a:cs typeface="Calibri Light"/>
              </a:rPr>
              <a:t>Participation Entry Task 2</a:t>
            </a:r>
            <a:br>
              <a:rPr lang="en-US" sz="8000" b="1" dirty="0">
                <a:cs typeface="Calibri Light"/>
              </a:rPr>
            </a:br>
            <a:r>
              <a:rPr lang="en-US" sz="4800" dirty="0">
                <a:cs typeface="Calibri Light"/>
              </a:rPr>
              <a:t>Reminder:    5 minutes</a:t>
            </a:r>
            <a:br>
              <a:rPr lang="en-US" sz="4800" dirty="0"/>
            </a:br>
            <a:r>
              <a:rPr lang="en-US" sz="4800" dirty="0">
                <a:cs typeface="Calibri Light"/>
              </a:rPr>
              <a:t>1) Read everything carefully.</a:t>
            </a:r>
            <a:br>
              <a:rPr lang="en-US" sz="4800" dirty="0">
                <a:cs typeface="Calibri Light"/>
              </a:rPr>
            </a:br>
            <a:r>
              <a:rPr lang="en-US" sz="4800" dirty="0">
                <a:cs typeface="Calibri Light"/>
              </a:rPr>
              <a:t>2) Careful with ones that say "all of the following except."</a:t>
            </a:r>
            <a:endParaRPr lang="en-US" dirty="0">
              <a:cs typeface="Calibri Light" panose="020F0302020204030204"/>
            </a:endParaRPr>
          </a:p>
        </p:txBody>
      </p:sp>
      <p:sp>
        <p:nvSpPr>
          <p:cNvPr id="19"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41C7790A-B8F0-BD07-B683-F157E3287C28}"/>
              </a:ext>
            </a:extLst>
          </p:cNvPr>
          <p:cNvSpPr txBox="1"/>
          <p:nvPr/>
        </p:nvSpPr>
        <p:spPr>
          <a:xfrm>
            <a:off x="475121" y="4802372"/>
            <a:ext cx="989061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cs typeface="Calibri"/>
              </a:rPr>
              <a:t>Class is all of the following except : a) on Tuesday   b) on zoom   c)  not required    d)  mandatory</a:t>
            </a:r>
          </a:p>
          <a:p>
            <a:r>
              <a:rPr lang="en-US" sz="2400" dirty="0">
                <a:cs typeface="Calibri"/>
              </a:rPr>
              <a:t>Correct answer is _____</a:t>
            </a:r>
            <a:endParaRPr lang="en-US" sz="2400" dirty="0">
              <a:ea typeface="Calibri"/>
              <a:cs typeface="Calibri"/>
            </a:endParaRPr>
          </a:p>
        </p:txBody>
      </p:sp>
    </p:spTree>
    <p:extLst>
      <p:ext uri="{BB962C8B-B14F-4D97-AF65-F5344CB8AC3E}">
        <p14:creationId xmlns:p14="http://schemas.microsoft.com/office/powerpoint/2010/main" val="3414070777"/>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44D9A-CA56-8106-8CAD-9138AA1A2F04}"/>
              </a:ext>
            </a:extLst>
          </p:cNvPr>
          <p:cNvSpPr>
            <a:spLocks noGrp="1"/>
          </p:cNvSpPr>
          <p:nvPr>
            <p:ph type="title"/>
          </p:nvPr>
        </p:nvSpPr>
        <p:spPr>
          <a:solidFill>
            <a:srgbClr val="FF0000"/>
          </a:solidFill>
        </p:spPr>
        <p:txBody>
          <a:bodyPr/>
          <a:lstStyle/>
          <a:p>
            <a:r>
              <a:rPr lang="en-US" b="1" dirty="0">
                <a:ea typeface="Calibri Light"/>
                <a:cs typeface="Calibri Light"/>
              </a:rPr>
              <a:t>Today's Objectives:</a:t>
            </a:r>
            <a:endParaRPr lang="en-US" b="1">
              <a:ea typeface="Calibri Light"/>
              <a:cs typeface="Calibri Light"/>
            </a:endParaRPr>
          </a:p>
        </p:txBody>
      </p:sp>
      <p:sp>
        <p:nvSpPr>
          <p:cNvPr id="3" name="Content Placeholder 2">
            <a:extLst>
              <a:ext uri="{FF2B5EF4-FFF2-40B4-BE49-F238E27FC236}">
                <a16:creationId xmlns:a16="http://schemas.microsoft.com/office/drawing/2014/main" id="{F7CC50AF-2E86-29A7-1BD1-E6F6BC531007}"/>
              </a:ext>
            </a:extLst>
          </p:cNvPr>
          <p:cNvSpPr>
            <a:spLocks noGrp="1"/>
          </p:cNvSpPr>
          <p:nvPr>
            <p:ph idx="1"/>
          </p:nvPr>
        </p:nvSpPr>
        <p:spPr/>
        <p:txBody>
          <a:bodyPr vert="horz" lIns="91440" tIns="45720" rIns="91440" bIns="45720" rtlCol="0" anchor="t">
            <a:normAutofit/>
          </a:bodyPr>
          <a:lstStyle/>
          <a:p>
            <a:endParaRPr lang="en-US" dirty="0">
              <a:ea typeface="Calibri"/>
              <a:cs typeface="Calibri"/>
            </a:endParaRPr>
          </a:p>
          <a:p>
            <a:r>
              <a:rPr lang="en-US">
                <a:ea typeface="Calibri"/>
                <a:cs typeface="Calibri"/>
              </a:rPr>
              <a:t>Talk about "academic" language in emails and assignments.</a:t>
            </a:r>
          </a:p>
          <a:p>
            <a:r>
              <a:rPr lang="en-US" dirty="0">
                <a:ea typeface="Calibri"/>
                <a:cs typeface="Calibri"/>
              </a:rPr>
              <a:t>Explain what major differences are between APA and MLA styles.</a:t>
            </a:r>
          </a:p>
          <a:p>
            <a:r>
              <a:rPr lang="en-US" dirty="0">
                <a:ea typeface="Calibri"/>
                <a:cs typeface="Calibri"/>
              </a:rPr>
              <a:t>Explain what in-text citations are and their format.</a:t>
            </a:r>
          </a:p>
          <a:p>
            <a:r>
              <a:rPr lang="en-US" dirty="0">
                <a:ea typeface="Calibri"/>
                <a:cs typeface="Calibri"/>
              </a:rPr>
              <a:t>Explain how to make a References page.</a:t>
            </a:r>
          </a:p>
          <a:p>
            <a:r>
              <a:rPr lang="en-US" dirty="0">
                <a:ea typeface="Calibri"/>
                <a:cs typeface="Calibri"/>
              </a:rPr>
              <a:t>Show the Book vs. Journal article format for in-text and References citations.</a:t>
            </a:r>
          </a:p>
        </p:txBody>
      </p:sp>
    </p:spTree>
    <p:extLst>
      <p:ext uri="{BB962C8B-B14F-4D97-AF65-F5344CB8AC3E}">
        <p14:creationId xmlns:p14="http://schemas.microsoft.com/office/powerpoint/2010/main" val="3142446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7B6B7-2D01-FB4E-4388-181369F40F28}"/>
              </a:ext>
            </a:extLst>
          </p:cNvPr>
          <p:cNvSpPr>
            <a:spLocks noGrp="1"/>
          </p:cNvSpPr>
          <p:nvPr>
            <p:ph type="title"/>
          </p:nvPr>
        </p:nvSpPr>
        <p:spPr>
          <a:solidFill>
            <a:srgbClr val="FF0000"/>
          </a:solidFill>
        </p:spPr>
        <p:txBody>
          <a:bodyPr/>
          <a:lstStyle/>
          <a:p>
            <a:r>
              <a:rPr lang="en-US" b="1" dirty="0">
                <a:cs typeface="Calibri Light"/>
              </a:rPr>
              <a:t>Academic language and Style in Research</a:t>
            </a:r>
            <a:endParaRPr lang="en-US" b="1">
              <a:cs typeface="Calibri Light"/>
            </a:endParaRPr>
          </a:p>
        </p:txBody>
      </p:sp>
      <p:sp>
        <p:nvSpPr>
          <p:cNvPr id="3" name="Content Placeholder 2">
            <a:extLst>
              <a:ext uri="{FF2B5EF4-FFF2-40B4-BE49-F238E27FC236}">
                <a16:creationId xmlns:a16="http://schemas.microsoft.com/office/drawing/2014/main" id="{06C85CD4-BCDD-5F25-FA13-15A55E31E101}"/>
              </a:ext>
            </a:extLst>
          </p:cNvPr>
          <p:cNvSpPr>
            <a:spLocks noGrp="1"/>
          </p:cNvSpPr>
          <p:nvPr>
            <p:ph idx="1"/>
          </p:nvPr>
        </p:nvSpPr>
        <p:spPr/>
        <p:txBody>
          <a:bodyPr vert="horz" lIns="91440" tIns="45720" rIns="91440" bIns="45720" rtlCol="0" anchor="t">
            <a:normAutofit/>
          </a:bodyPr>
          <a:lstStyle/>
          <a:p>
            <a:r>
              <a:rPr lang="en-US" dirty="0">
                <a:cs typeface="Calibri"/>
              </a:rPr>
              <a:t>Research papers and case studies use academic language and style.  They avoid the use of the personal "I"  or "In my opinion" or "I think."  You can use these phrases in Reflection papers or short answers, when the teacher asks for your opinion.</a:t>
            </a:r>
            <a:endParaRPr lang="en-US" dirty="0">
              <a:ea typeface="Calibri"/>
              <a:cs typeface="Calibri"/>
            </a:endParaRPr>
          </a:p>
          <a:p>
            <a:r>
              <a:rPr lang="en-US" dirty="0">
                <a:cs typeface="Calibri"/>
              </a:rPr>
              <a:t>They use an academic style of citation, vocabulary and punctuation.</a:t>
            </a:r>
          </a:p>
          <a:p>
            <a:r>
              <a:rPr lang="en-US" dirty="0">
                <a:cs typeface="Calibri"/>
              </a:rPr>
              <a:t>They document sources by using citation and a References page or Works Cited page.</a:t>
            </a:r>
          </a:p>
          <a:p>
            <a:r>
              <a:rPr lang="en-US" dirty="0">
                <a:ea typeface="Calibri" panose="020F0502020204030204"/>
                <a:cs typeface="Calibri"/>
              </a:rPr>
              <a:t>Vocabulary does not have to be exotic.  For example, do not use "kids", which is informal for children , but "progeny"  is too formal.   "Children" is the best.</a:t>
            </a:r>
          </a:p>
        </p:txBody>
      </p:sp>
    </p:spTree>
    <p:extLst>
      <p:ext uri="{BB962C8B-B14F-4D97-AF65-F5344CB8AC3E}">
        <p14:creationId xmlns:p14="http://schemas.microsoft.com/office/powerpoint/2010/main" val="2250683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1EF5B-6FC1-3C68-8893-5EC9E1D71B42}"/>
              </a:ext>
            </a:extLst>
          </p:cNvPr>
          <p:cNvSpPr>
            <a:spLocks noGrp="1"/>
          </p:cNvSpPr>
          <p:nvPr>
            <p:ph type="title"/>
          </p:nvPr>
        </p:nvSpPr>
        <p:spPr>
          <a:solidFill>
            <a:srgbClr val="FF0000"/>
          </a:solidFill>
        </p:spPr>
        <p:txBody>
          <a:bodyPr/>
          <a:lstStyle/>
          <a:p>
            <a:r>
              <a:rPr lang="en-US" b="1" dirty="0">
                <a:cs typeface="Calibri Light"/>
              </a:rPr>
              <a:t>Emailing your professors</a:t>
            </a:r>
          </a:p>
        </p:txBody>
      </p:sp>
      <p:sp>
        <p:nvSpPr>
          <p:cNvPr id="3" name="Content Placeholder 2">
            <a:extLst>
              <a:ext uri="{FF2B5EF4-FFF2-40B4-BE49-F238E27FC236}">
                <a16:creationId xmlns:a16="http://schemas.microsoft.com/office/drawing/2014/main" id="{E81A007B-683E-46D4-FA8F-83568ACF4740}"/>
              </a:ext>
            </a:extLst>
          </p:cNvPr>
          <p:cNvSpPr>
            <a:spLocks noGrp="1"/>
          </p:cNvSpPr>
          <p:nvPr>
            <p:ph idx="1"/>
          </p:nvPr>
        </p:nvSpPr>
        <p:spPr>
          <a:xfrm>
            <a:off x="838200" y="1825625"/>
            <a:ext cx="11033184" cy="4351338"/>
          </a:xfrm>
        </p:spPr>
        <p:txBody>
          <a:bodyPr vert="horz" lIns="91440" tIns="45720" rIns="91440" bIns="45720" rtlCol="0" anchor="t">
            <a:normAutofit/>
          </a:bodyPr>
          <a:lstStyle/>
          <a:p>
            <a:r>
              <a:rPr lang="en-US" dirty="0">
                <a:cs typeface="Calibri"/>
              </a:rPr>
              <a:t>What advice did the homework page give?</a:t>
            </a:r>
          </a:p>
          <a:p>
            <a:r>
              <a:rPr lang="en-US" dirty="0">
                <a:cs typeface="Calibri"/>
              </a:rPr>
              <a:t>Some other things to avoid:  </a:t>
            </a:r>
            <a:endParaRPr lang="en-US" dirty="0">
              <a:ea typeface="Calibri"/>
              <a:cs typeface="Calibri"/>
            </a:endParaRPr>
          </a:p>
          <a:p>
            <a:pPr marL="0" indent="0">
              <a:buNone/>
            </a:pPr>
            <a:r>
              <a:rPr lang="en-US" dirty="0">
                <a:cs typeface="Calibri"/>
              </a:rPr>
              <a:t>    Phrases like:  "Please do this as soon as possible."  </a:t>
            </a:r>
          </a:p>
          <a:p>
            <a:pPr marL="0" indent="0">
              <a:buNone/>
            </a:pPr>
            <a:r>
              <a:rPr lang="en-US" dirty="0">
                <a:cs typeface="Calibri"/>
              </a:rPr>
              <a:t>                             "Correct this at your earliest convenience." (These </a:t>
            </a:r>
          </a:p>
          <a:p>
            <a:pPr marL="0" indent="0">
              <a:buNone/>
            </a:pPr>
            <a:r>
              <a:rPr lang="en-US" dirty="0">
                <a:cs typeface="Calibri"/>
              </a:rPr>
              <a:t>                              phrases sound like you are either the boss or a</a:t>
            </a:r>
            <a:endParaRPr lang="en-US" dirty="0"/>
          </a:p>
          <a:p>
            <a:pPr marL="0" indent="0">
              <a:buNone/>
            </a:pPr>
            <a:r>
              <a:rPr lang="en-US" dirty="0">
                <a:cs typeface="Calibri"/>
              </a:rPr>
              <a:t>                             client, and neither of these are the correct relationship.)</a:t>
            </a:r>
          </a:p>
          <a:p>
            <a:pPr marL="0" indent="0">
              <a:buNone/>
            </a:pPr>
            <a:r>
              <a:rPr lang="en-US" dirty="0">
                <a:cs typeface="Calibri"/>
              </a:rPr>
              <a:t>                              "Thank u for your help" (use correct grammar)</a:t>
            </a:r>
          </a:p>
          <a:p>
            <a:pPr marL="0" indent="0">
              <a:buNone/>
            </a:pPr>
            <a:r>
              <a:rPr lang="en-US" dirty="0">
                <a:cs typeface="Calibri"/>
              </a:rPr>
              <a:t>My preference:  Dear (Dr. Pascoe, Professor Pascoe, Diana, she/her)</a:t>
            </a:r>
          </a:p>
        </p:txBody>
      </p:sp>
    </p:spTree>
    <p:extLst>
      <p:ext uri="{BB962C8B-B14F-4D97-AF65-F5344CB8AC3E}">
        <p14:creationId xmlns:p14="http://schemas.microsoft.com/office/powerpoint/2010/main" val="1403350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010E8-C962-36B6-81DA-21C137550993}"/>
              </a:ext>
            </a:extLst>
          </p:cNvPr>
          <p:cNvSpPr>
            <a:spLocks noGrp="1"/>
          </p:cNvSpPr>
          <p:nvPr>
            <p:ph type="title"/>
          </p:nvPr>
        </p:nvSpPr>
        <p:spPr>
          <a:xfrm>
            <a:off x="4965430" y="629268"/>
            <a:ext cx="6586491" cy="696689"/>
          </a:xfrm>
        </p:spPr>
        <p:txBody>
          <a:bodyPr anchor="b">
            <a:normAutofit/>
          </a:bodyPr>
          <a:lstStyle/>
          <a:p>
            <a:r>
              <a:rPr lang="en-US" b="1">
                <a:cs typeface="Calibri Light"/>
              </a:rPr>
              <a:t>Whole group question:</a:t>
            </a:r>
          </a:p>
        </p:txBody>
      </p:sp>
      <p:sp>
        <p:nvSpPr>
          <p:cNvPr id="3" name="Content Placeholder 2">
            <a:extLst>
              <a:ext uri="{FF2B5EF4-FFF2-40B4-BE49-F238E27FC236}">
                <a16:creationId xmlns:a16="http://schemas.microsoft.com/office/drawing/2014/main" id="{B35D3229-B3F5-8EE2-79C8-2EABCB3748DA}"/>
              </a:ext>
            </a:extLst>
          </p:cNvPr>
          <p:cNvSpPr>
            <a:spLocks noGrp="1"/>
          </p:cNvSpPr>
          <p:nvPr>
            <p:ph idx="1"/>
          </p:nvPr>
        </p:nvSpPr>
        <p:spPr>
          <a:xfrm>
            <a:off x="4965431" y="2035834"/>
            <a:ext cx="6586489" cy="4187985"/>
          </a:xfrm>
        </p:spPr>
        <p:txBody>
          <a:bodyPr vert="horz" lIns="91440" tIns="45720" rIns="91440" bIns="45720" rtlCol="0" anchor="t">
            <a:normAutofit lnSpcReduction="10000"/>
          </a:bodyPr>
          <a:lstStyle/>
          <a:p>
            <a:pPr marL="0" indent="0">
              <a:buNone/>
            </a:pPr>
            <a:r>
              <a:rPr lang="en-US" sz="4400" b="1" dirty="0">
                <a:cs typeface="Calibri"/>
              </a:rPr>
              <a:t>Do you have to do any research papers or projects or presentations?</a:t>
            </a:r>
          </a:p>
          <a:p>
            <a:pPr marL="0" indent="0">
              <a:buNone/>
            </a:pPr>
            <a:r>
              <a:rPr lang="en-US" sz="4400" b="1" dirty="0">
                <a:cs typeface="Calibri"/>
              </a:rPr>
              <a:t>What style was used in your university?  MLA, APA, Turabian, CMS or other</a:t>
            </a:r>
          </a:p>
        </p:txBody>
      </p:sp>
      <p:pic>
        <p:nvPicPr>
          <p:cNvPr id="5" name="Picture 4" descr="Close up of pages of an open book in a bright studio">
            <a:extLst>
              <a:ext uri="{FF2B5EF4-FFF2-40B4-BE49-F238E27FC236}">
                <a16:creationId xmlns:a16="http://schemas.microsoft.com/office/drawing/2014/main" id="{F1E8ACB7-62F5-7A66-9CD4-6AE626A655B3}"/>
              </a:ext>
            </a:extLst>
          </p:cNvPr>
          <p:cNvPicPr>
            <a:picLocks noChangeAspect="1"/>
          </p:cNvPicPr>
          <p:nvPr/>
        </p:nvPicPr>
        <p:blipFill rotWithShape="1">
          <a:blip r:embed="rId2"/>
          <a:srcRect l="48444" r="6503" b="-3"/>
          <a:stretch/>
        </p:blipFill>
        <p:spPr>
          <a:xfrm>
            <a:off x="20" y="10"/>
            <a:ext cx="4635571"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21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840C-0F43-47BA-8967-EAF744ECEF4B}"/>
              </a:ext>
            </a:extLst>
          </p:cNvPr>
          <p:cNvSpPr>
            <a:spLocks noGrp="1"/>
          </p:cNvSpPr>
          <p:nvPr>
            <p:ph type="title"/>
          </p:nvPr>
        </p:nvSpPr>
        <p:spPr>
          <a:xfrm>
            <a:off x="4965430" y="629268"/>
            <a:ext cx="6586491" cy="797330"/>
          </a:xfrm>
        </p:spPr>
        <p:txBody>
          <a:bodyPr anchor="b">
            <a:normAutofit fontScale="90000"/>
          </a:bodyPr>
          <a:lstStyle/>
          <a:p>
            <a:r>
              <a:rPr lang="en-US" sz="5400" b="1" dirty="0">
                <a:cs typeface="Calibri Light"/>
              </a:rPr>
              <a:t>Research Part 1: Citations</a:t>
            </a:r>
          </a:p>
        </p:txBody>
      </p:sp>
      <p:sp>
        <p:nvSpPr>
          <p:cNvPr id="3" name="Content Placeholder 2">
            <a:extLst>
              <a:ext uri="{FF2B5EF4-FFF2-40B4-BE49-F238E27FC236}">
                <a16:creationId xmlns:a16="http://schemas.microsoft.com/office/drawing/2014/main" id="{C0D84809-9D98-4601-90FB-077DBA0CE7D9}"/>
              </a:ext>
            </a:extLst>
          </p:cNvPr>
          <p:cNvSpPr>
            <a:spLocks noGrp="1"/>
          </p:cNvSpPr>
          <p:nvPr>
            <p:ph idx="1"/>
          </p:nvPr>
        </p:nvSpPr>
        <p:spPr>
          <a:xfrm>
            <a:off x="4807281" y="1431985"/>
            <a:ext cx="6744639" cy="4791834"/>
          </a:xfrm>
        </p:spPr>
        <p:txBody>
          <a:bodyPr vert="horz" lIns="91440" tIns="45720" rIns="91440" bIns="45720" rtlCol="0" anchor="t">
            <a:noAutofit/>
          </a:bodyPr>
          <a:lstStyle/>
          <a:p>
            <a:r>
              <a:rPr lang="en-US" sz="3600" b="1" dirty="0"/>
              <a:t>What is a citation? </a:t>
            </a:r>
            <a:endParaRPr lang="en-US" sz="3600" b="1" dirty="0">
              <a:cs typeface="Calibri"/>
            </a:endParaRPr>
          </a:p>
          <a:p>
            <a:r>
              <a:rPr lang="en-US" sz="3600" b="1" dirty="0"/>
              <a:t>Do you need to memorize citation style?</a:t>
            </a:r>
            <a:endParaRPr lang="en-US" sz="3600" b="1">
              <a:cs typeface="Calibri"/>
            </a:endParaRPr>
          </a:p>
          <a:p>
            <a:r>
              <a:rPr lang="en-US" sz="3600" b="1" dirty="0"/>
              <a:t>What are the most commonly used citation styles at Webster University in the Business School?</a:t>
            </a:r>
            <a:endParaRPr lang="en-US" sz="3600" b="1" dirty="0">
              <a:cs typeface="Calibri"/>
            </a:endParaRPr>
          </a:p>
          <a:p>
            <a:r>
              <a:rPr lang="en-US" sz="3600" b="1" dirty="0"/>
              <a:t>What resources can you use to improve your citation skills?</a:t>
            </a:r>
            <a:endParaRPr lang="en-US" sz="3600" b="1" dirty="0">
              <a:cs typeface="Calibri"/>
            </a:endParaRPr>
          </a:p>
          <a:p>
            <a:endParaRPr lang="en-US" sz="4000" b="1" dirty="0">
              <a:cs typeface="Calibri"/>
            </a:endParaRPr>
          </a:p>
          <a:p>
            <a:endParaRPr lang="en-US" sz="2000"/>
          </a:p>
          <a:p>
            <a:endParaRPr lang="en-US" sz="2000"/>
          </a:p>
        </p:txBody>
      </p:sp>
      <p:pic>
        <p:nvPicPr>
          <p:cNvPr id="5" name="Picture 4" descr="Sticky notes with question marks">
            <a:extLst>
              <a:ext uri="{FF2B5EF4-FFF2-40B4-BE49-F238E27FC236}">
                <a16:creationId xmlns:a16="http://schemas.microsoft.com/office/drawing/2014/main" id="{7071F3E8-495F-D47F-7356-6122DA10C23E}"/>
              </a:ext>
            </a:extLst>
          </p:cNvPr>
          <p:cNvPicPr>
            <a:picLocks noChangeAspect="1"/>
          </p:cNvPicPr>
          <p:nvPr/>
        </p:nvPicPr>
        <p:blipFill rotWithShape="1">
          <a:blip r:embed="rId2"/>
          <a:srcRect l="30515" r="24432" b="-3"/>
          <a:stretch/>
        </p:blipFill>
        <p:spPr>
          <a:xfrm>
            <a:off x="20" y="10"/>
            <a:ext cx="4635571"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F76CA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3779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EBF1-8284-185E-3353-E1D1E0F07DCE}"/>
              </a:ext>
            </a:extLst>
          </p:cNvPr>
          <p:cNvSpPr>
            <a:spLocks noGrp="1"/>
          </p:cNvSpPr>
          <p:nvPr>
            <p:ph type="title"/>
          </p:nvPr>
        </p:nvSpPr>
        <p:spPr>
          <a:xfrm>
            <a:off x="4749770" y="629268"/>
            <a:ext cx="6802151" cy="1286160"/>
          </a:xfrm>
        </p:spPr>
        <p:txBody>
          <a:bodyPr anchor="b">
            <a:normAutofit/>
          </a:bodyPr>
          <a:lstStyle/>
          <a:p>
            <a:r>
              <a:rPr lang="en-US" b="1" dirty="0">
                <a:cs typeface="Calibri Light"/>
              </a:rPr>
              <a:t>Citing = Documenting Sources</a:t>
            </a:r>
          </a:p>
        </p:txBody>
      </p:sp>
      <p:sp>
        <p:nvSpPr>
          <p:cNvPr id="3" name="Content Placeholder 2">
            <a:extLst>
              <a:ext uri="{FF2B5EF4-FFF2-40B4-BE49-F238E27FC236}">
                <a16:creationId xmlns:a16="http://schemas.microsoft.com/office/drawing/2014/main" id="{657A10DA-D9D7-8CCD-4883-42226FA4438A}"/>
              </a:ext>
            </a:extLst>
          </p:cNvPr>
          <p:cNvSpPr>
            <a:spLocks noGrp="1"/>
          </p:cNvSpPr>
          <p:nvPr>
            <p:ph idx="1"/>
          </p:nvPr>
        </p:nvSpPr>
        <p:spPr>
          <a:xfrm>
            <a:off x="4965431" y="2438400"/>
            <a:ext cx="6586489" cy="3785419"/>
          </a:xfrm>
        </p:spPr>
        <p:txBody>
          <a:bodyPr vert="horz" lIns="91440" tIns="45720" rIns="91440" bIns="45720" rtlCol="0" anchor="t">
            <a:noAutofit/>
          </a:bodyPr>
          <a:lstStyle/>
          <a:p>
            <a:r>
              <a:rPr lang="en-US" sz="3600" b="1" dirty="0">
                <a:cs typeface="Calibri"/>
              </a:rPr>
              <a:t>To cite is to document the sources of the information you use in papers, presentations, power points, etc.</a:t>
            </a:r>
          </a:p>
          <a:p>
            <a:r>
              <a:rPr lang="en-US" sz="3600" b="1" dirty="0">
                <a:cs typeface="Calibri"/>
              </a:rPr>
              <a:t>Citation styles have handbooks or style guides, such as the APA, MLA, Turabian, Chicago Manual, etc.</a:t>
            </a:r>
          </a:p>
        </p:txBody>
      </p:sp>
      <p:pic>
        <p:nvPicPr>
          <p:cNvPr id="5" name="Picture 4" descr="Coloured organisers on shelves">
            <a:extLst>
              <a:ext uri="{FF2B5EF4-FFF2-40B4-BE49-F238E27FC236}">
                <a16:creationId xmlns:a16="http://schemas.microsoft.com/office/drawing/2014/main" id="{3ADDFD0D-58B0-9A0F-EE71-CB0001EDD0C7}"/>
              </a:ext>
            </a:extLst>
          </p:cNvPr>
          <p:cNvPicPr>
            <a:picLocks noChangeAspect="1"/>
          </p:cNvPicPr>
          <p:nvPr/>
        </p:nvPicPr>
        <p:blipFill rotWithShape="1">
          <a:blip r:embed="rId2"/>
          <a:srcRect l="19020" r="35336" b="4"/>
          <a:stretch/>
        </p:blipFill>
        <p:spPr>
          <a:xfrm>
            <a:off x="20" y="10"/>
            <a:ext cx="4635571"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DFAE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8912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B682A-7C28-46C3-AE75-2FAE6EA701B1}"/>
              </a:ext>
            </a:extLst>
          </p:cNvPr>
          <p:cNvSpPr>
            <a:spLocks noGrp="1"/>
          </p:cNvSpPr>
          <p:nvPr>
            <p:ph type="title"/>
          </p:nvPr>
        </p:nvSpPr>
        <p:spPr/>
        <p:txBody>
          <a:bodyPr/>
          <a:lstStyle/>
          <a:p>
            <a:r>
              <a:rPr lang="en-US" b="1" dirty="0"/>
              <a:t>What is citation? Why does it exist?</a:t>
            </a:r>
            <a:endParaRPr lang="en-US" b="1" dirty="0">
              <a:cs typeface="Calibri Light"/>
            </a:endParaRPr>
          </a:p>
        </p:txBody>
      </p:sp>
      <p:sp>
        <p:nvSpPr>
          <p:cNvPr id="3" name="Content Placeholder 2">
            <a:extLst>
              <a:ext uri="{FF2B5EF4-FFF2-40B4-BE49-F238E27FC236}">
                <a16:creationId xmlns:a16="http://schemas.microsoft.com/office/drawing/2014/main" id="{87AC7EE6-9126-42CD-BE85-B875F4AA286D}"/>
              </a:ext>
            </a:extLst>
          </p:cNvPr>
          <p:cNvSpPr>
            <a:spLocks noGrp="1"/>
          </p:cNvSpPr>
          <p:nvPr>
            <p:ph idx="1"/>
          </p:nvPr>
        </p:nvSpPr>
        <p:spPr/>
        <p:txBody>
          <a:bodyPr/>
          <a:lstStyle/>
          <a:p>
            <a:r>
              <a:rPr lang="en-US" dirty="0"/>
              <a:t>Citation is the system of formatting that academic writers use to indicate the source of the ideas, visuals, audio that they have used in their academic writing or presentations.</a:t>
            </a:r>
          </a:p>
          <a:p>
            <a:r>
              <a:rPr lang="en-US" dirty="0"/>
              <a:t>Any time you use someone else's ideas or work in your work, you need to cite them.</a:t>
            </a:r>
          </a:p>
          <a:p>
            <a:r>
              <a:rPr lang="en-US" dirty="0"/>
              <a:t>This includes paraphrases, which is putting ideas into your own words.</a:t>
            </a:r>
          </a:p>
          <a:p>
            <a:r>
              <a:rPr lang="en-US" dirty="0"/>
              <a:t>It exists to give credit where credit is due. In US academic writing, it’s not ethical to use another person’s work as if it is you own.</a:t>
            </a:r>
          </a:p>
          <a:p>
            <a:endParaRPr lang="en-US" dirty="0"/>
          </a:p>
        </p:txBody>
      </p:sp>
    </p:spTree>
    <p:extLst>
      <p:ext uri="{BB962C8B-B14F-4D97-AF65-F5344CB8AC3E}">
        <p14:creationId xmlns:p14="http://schemas.microsoft.com/office/powerpoint/2010/main" val="2325756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7ABA7-558B-2DEE-2B43-5CD018539DC4}"/>
              </a:ext>
            </a:extLst>
          </p:cNvPr>
          <p:cNvSpPr>
            <a:spLocks noGrp="1"/>
          </p:cNvSpPr>
          <p:nvPr>
            <p:ph type="title"/>
          </p:nvPr>
        </p:nvSpPr>
        <p:spPr/>
        <p:txBody>
          <a:bodyPr/>
          <a:lstStyle/>
          <a:p>
            <a:r>
              <a:rPr lang="en-US" dirty="0">
                <a:cs typeface="Calibri Light"/>
              </a:rPr>
              <a:t>When to cite</a:t>
            </a:r>
            <a:endParaRPr lang="en-US" dirty="0"/>
          </a:p>
        </p:txBody>
      </p:sp>
      <p:sp>
        <p:nvSpPr>
          <p:cNvPr id="3" name="Content Placeholder 2">
            <a:extLst>
              <a:ext uri="{FF2B5EF4-FFF2-40B4-BE49-F238E27FC236}">
                <a16:creationId xmlns:a16="http://schemas.microsoft.com/office/drawing/2014/main" id="{3E3CF41A-64EE-E286-B13B-6A03AAA0CA9D}"/>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Any time you have information that is specific, refers to someone's work or contains numbers, examples or information that is not general knowledge.</a:t>
            </a:r>
          </a:p>
          <a:p>
            <a:pPr marL="0" indent="0">
              <a:buNone/>
            </a:pPr>
            <a:r>
              <a:rPr lang="en-US" dirty="0">
                <a:cs typeface="Calibri"/>
              </a:rPr>
              <a:t>There should be no personal opinions in a research paper, so everything except for general knowledge is cited.</a:t>
            </a:r>
          </a:p>
          <a:p>
            <a:pPr marL="0" indent="0">
              <a:buNone/>
            </a:pPr>
            <a:r>
              <a:rPr lang="en-US" dirty="0">
                <a:ea typeface="Calibri" panose="020F0502020204030204"/>
                <a:cs typeface="Calibri"/>
              </a:rPr>
              <a:t>There are two types of citation:  </a:t>
            </a:r>
          </a:p>
          <a:p>
            <a:pPr marL="514350" indent="-514350">
              <a:buAutoNum type="arabicPeriod"/>
            </a:pPr>
            <a:r>
              <a:rPr lang="en-US" dirty="0">
                <a:ea typeface="Calibri" panose="020F0502020204030204"/>
                <a:cs typeface="Calibri"/>
              </a:rPr>
              <a:t> In-text citation :   when the source is mentioned in the body of the work.  Ex:  </a:t>
            </a:r>
            <a:r>
              <a:rPr lang="en-US" dirty="0" err="1">
                <a:ea typeface="Calibri" panose="020F0502020204030204"/>
                <a:cs typeface="Calibri"/>
              </a:rPr>
              <a:t>LaScotte</a:t>
            </a:r>
            <a:r>
              <a:rPr lang="en-US" dirty="0">
                <a:ea typeface="Calibri" panose="020F0502020204030204"/>
                <a:cs typeface="Calibri"/>
              </a:rPr>
              <a:t> and Peters (2021) mention....... (p. 58).</a:t>
            </a:r>
          </a:p>
          <a:p>
            <a:pPr marL="514350" indent="-514350">
              <a:buAutoNum type="arabicPeriod"/>
            </a:pPr>
            <a:r>
              <a:rPr lang="en-US" dirty="0">
                <a:ea typeface="Calibri" panose="020F0502020204030204"/>
                <a:cs typeface="Calibri"/>
              </a:rPr>
              <a:t>In the References page: a list of sources at the end of the paper.</a:t>
            </a:r>
          </a:p>
          <a:p>
            <a:pPr marL="0" indent="0">
              <a:buNone/>
            </a:pPr>
            <a:endParaRPr lang="en-US" dirty="0">
              <a:ea typeface="Calibri" panose="020F0502020204030204"/>
              <a:cs typeface="Calibri"/>
            </a:endParaRPr>
          </a:p>
          <a:p>
            <a:pPr marL="0" indent="0">
              <a:buNone/>
            </a:pPr>
            <a:endParaRPr lang="en-US" dirty="0">
              <a:ea typeface="Calibri" panose="020F0502020204030204"/>
              <a:cs typeface="Calibri"/>
            </a:endParaRPr>
          </a:p>
        </p:txBody>
      </p:sp>
    </p:spTree>
    <p:extLst>
      <p:ext uri="{BB962C8B-B14F-4D97-AF65-F5344CB8AC3E}">
        <p14:creationId xmlns:p14="http://schemas.microsoft.com/office/powerpoint/2010/main" val="40526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B5579-102E-4A92-A671-98578872A2E0}"/>
              </a:ext>
            </a:extLst>
          </p:cNvPr>
          <p:cNvSpPr>
            <a:spLocks noGrp="1"/>
          </p:cNvSpPr>
          <p:nvPr>
            <p:ph type="title"/>
          </p:nvPr>
        </p:nvSpPr>
        <p:spPr/>
        <p:txBody>
          <a:bodyPr/>
          <a:lstStyle/>
          <a:p>
            <a:r>
              <a:rPr lang="en-US" dirty="0"/>
              <a:t>What are the two most used citation styles at Webster?</a:t>
            </a:r>
          </a:p>
        </p:txBody>
      </p:sp>
      <p:sp>
        <p:nvSpPr>
          <p:cNvPr id="3" name="Content Placeholder 2">
            <a:extLst>
              <a:ext uri="{FF2B5EF4-FFF2-40B4-BE49-F238E27FC236}">
                <a16:creationId xmlns:a16="http://schemas.microsoft.com/office/drawing/2014/main" id="{07A929D1-F6B7-4FC2-97B7-34E97EC50C6C}"/>
              </a:ext>
            </a:extLst>
          </p:cNvPr>
          <p:cNvSpPr>
            <a:spLocks noGrp="1"/>
          </p:cNvSpPr>
          <p:nvPr>
            <p:ph idx="1"/>
          </p:nvPr>
        </p:nvSpPr>
        <p:spPr/>
        <p:txBody>
          <a:bodyPr vert="horz" lIns="91440" tIns="45720" rIns="91440" bIns="45720" rtlCol="0" anchor="t">
            <a:normAutofit/>
          </a:bodyPr>
          <a:lstStyle/>
          <a:p>
            <a:r>
              <a:rPr lang="en-US" dirty="0">
                <a:highlight>
                  <a:srgbClr val="FFFF00"/>
                </a:highlight>
              </a:rPr>
              <a:t>APA – American Psychological Association: </a:t>
            </a:r>
            <a:r>
              <a:rPr lang="en-US" u="sng" dirty="0">
                <a:highlight>
                  <a:srgbClr val="FFFF00"/>
                </a:highlight>
              </a:rPr>
              <a:t>Business School</a:t>
            </a:r>
            <a:endParaRPr lang="en-US" u="sng">
              <a:highlight>
                <a:srgbClr val="FFFF00"/>
              </a:highlight>
              <a:cs typeface="Calibri"/>
            </a:endParaRPr>
          </a:p>
          <a:p>
            <a:r>
              <a:rPr lang="en-US" dirty="0"/>
              <a:t>MLA – Modern Language Association:  Arts, Humanities, Languages</a:t>
            </a:r>
            <a:endParaRPr lang="en-US" dirty="0">
              <a:cs typeface="Calibri"/>
            </a:endParaRPr>
          </a:p>
          <a:p>
            <a:r>
              <a:rPr lang="en-US" dirty="0"/>
              <a:t>Use depends on area of study and/or professor preference</a:t>
            </a:r>
          </a:p>
        </p:txBody>
      </p:sp>
      <p:graphicFrame>
        <p:nvGraphicFramePr>
          <p:cNvPr id="8" name="Table 8">
            <a:extLst>
              <a:ext uri="{FF2B5EF4-FFF2-40B4-BE49-F238E27FC236}">
                <a16:creationId xmlns:a16="http://schemas.microsoft.com/office/drawing/2014/main" id="{FC07FA8E-A7B6-4ADA-B410-B0BAE73648AA}"/>
              </a:ext>
            </a:extLst>
          </p:cNvPr>
          <p:cNvGraphicFramePr>
            <a:graphicFrameLocks noGrp="1"/>
          </p:cNvGraphicFramePr>
          <p:nvPr>
            <p:extLst>
              <p:ext uri="{D42A27DB-BD31-4B8C-83A1-F6EECF244321}">
                <p14:modId xmlns:p14="http://schemas.microsoft.com/office/powerpoint/2010/main" val="3309454336"/>
              </p:ext>
            </p:extLst>
          </p:nvPr>
        </p:nvGraphicFramePr>
        <p:xfrm>
          <a:off x="1066798" y="3481724"/>
          <a:ext cx="10287002" cy="2506665"/>
        </p:xfrm>
        <a:graphic>
          <a:graphicData uri="http://schemas.openxmlformats.org/drawingml/2006/table">
            <a:tbl>
              <a:tblPr firstRow="1" bandRow="1">
                <a:tableStyleId>{16D9F66E-5EB9-4882-86FB-DCBF35E3C3E4}</a:tableStyleId>
              </a:tblPr>
              <a:tblGrid>
                <a:gridCol w="5143501">
                  <a:extLst>
                    <a:ext uri="{9D8B030D-6E8A-4147-A177-3AD203B41FA5}">
                      <a16:colId xmlns:a16="http://schemas.microsoft.com/office/drawing/2014/main" val="595014248"/>
                    </a:ext>
                  </a:extLst>
                </a:gridCol>
                <a:gridCol w="5143501">
                  <a:extLst>
                    <a:ext uri="{9D8B030D-6E8A-4147-A177-3AD203B41FA5}">
                      <a16:colId xmlns:a16="http://schemas.microsoft.com/office/drawing/2014/main" val="328884500"/>
                    </a:ext>
                  </a:extLst>
                </a:gridCol>
              </a:tblGrid>
              <a:tr h="835555">
                <a:tc>
                  <a:txBody>
                    <a:bodyPr/>
                    <a:lstStyle/>
                    <a:p>
                      <a:pPr algn="ctr"/>
                      <a:r>
                        <a:rPr lang="en-US" dirty="0"/>
                        <a:t>MLA</a:t>
                      </a:r>
                    </a:p>
                  </a:txBody>
                  <a:tcPr/>
                </a:tc>
                <a:tc>
                  <a:txBody>
                    <a:bodyPr/>
                    <a:lstStyle/>
                    <a:p>
                      <a:pPr algn="ctr"/>
                      <a:r>
                        <a:rPr lang="en-US" dirty="0"/>
                        <a:t>APA</a:t>
                      </a:r>
                    </a:p>
                  </a:txBody>
                  <a:tcPr/>
                </a:tc>
                <a:extLst>
                  <a:ext uri="{0D108BD9-81ED-4DB2-BD59-A6C34878D82A}">
                    <a16:rowId xmlns:a16="http://schemas.microsoft.com/office/drawing/2014/main" val="3107449943"/>
                  </a:ext>
                </a:extLst>
              </a:tr>
              <a:tr h="835555">
                <a:tc gridSpan="2">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701044534"/>
                  </a:ext>
                </a:extLst>
              </a:tr>
              <a:tr h="835555">
                <a:tc gridSpan="2">
                  <a:txBody>
                    <a:bodyPr/>
                    <a:lstStyle/>
                    <a:p>
                      <a:endParaRPr lang="en-US" dirty="0"/>
                    </a:p>
                  </a:txBody>
                  <a:tcPr/>
                </a:tc>
                <a:tc hMerge="1">
                  <a:txBody>
                    <a:bodyPr/>
                    <a:lstStyle/>
                    <a:p>
                      <a:endParaRPr lang="en-US"/>
                    </a:p>
                  </a:txBody>
                  <a:tcPr/>
                </a:tc>
                <a:extLst>
                  <a:ext uri="{0D108BD9-81ED-4DB2-BD59-A6C34878D82A}">
                    <a16:rowId xmlns:a16="http://schemas.microsoft.com/office/drawing/2014/main" val="1523474071"/>
                  </a:ext>
                </a:extLst>
              </a:tr>
            </a:tbl>
          </a:graphicData>
        </a:graphic>
      </p:graphicFrame>
      <p:pic>
        <p:nvPicPr>
          <p:cNvPr id="9" name="Picture 8">
            <a:extLst>
              <a:ext uri="{FF2B5EF4-FFF2-40B4-BE49-F238E27FC236}">
                <a16:creationId xmlns:a16="http://schemas.microsoft.com/office/drawing/2014/main" id="{584B36BF-43B1-46A2-B7C2-E4F22FFD2216}"/>
              </a:ext>
            </a:extLst>
          </p:cNvPr>
          <p:cNvPicPr>
            <a:picLocks noChangeAspect="1"/>
          </p:cNvPicPr>
          <p:nvPr/>
        </p:nvPicPr>
        <p:blipFill>
          <a:blip r:embed="rId2"/>
          <a:stretch>
            <a:fillRect/>
          </a:stretch>
        </p:blipFill>
        <p:spPr>
          <a:xfrm>
            <a:off x="2244498" y="4430256"/>
            <a:ext cx="7318602" cy="609600"/>
          </a:xfrm>
          <a:prstGeom prst="rect">
            <a:avLst/>
          </a:prstGeom>
        </p:spPr>
      </p:pic>
      <p:pic>
        <p:nvPicPr>
          <p:cNvPr id="10" name="Picture 9">
            <a:extLst>
              <a:ext uri="{FF2B5EF4-FFF2-40B4-BE49-F238E27FC236}">
                <a16:creationId xmlns:a16="http://schemas.microsoft.com/office/drawing/2014/main" id="{0AEF435D-98E3-4BC4-B2EB-FA977FFF8DC3}"/>
              </a:ext>
            </a:extLst>
          </p:cNvPr>
          <p:cNvPicPr>
            <a:picLocks noChangeAspect="1"/>
          </p:cNvPicPr>
          <p:nvPr/>
        </p:nvPicPr>
        <p:blipFill>
          <a:blip r:embed="rId3"/>
          <a:stretch>
            <a:fillRect/>
          </a:stretch>
        </p:blipFill>
        <p:spPr>
          <a:xfrm>
            <a:off x="2244498" y="5207339"/>
            <a:ext cx="7318602" cy="781050"/>
          </a:xfrm>
          <a:prstGeom prst="rect">
            <a:avLst/>
          </a:prstGeom>
        </p:spPr>
      </p:pic>
      <p:sp>
        <p:nvSpPr>
          <p:cNvPr id="12" name="TextBox 11">
            <a:extLst>
              <a:ext uri="{FF2B5EF4-FFF2-40B4-BE49-F238E27FC236}">
                <a16:creationId xmlns:a16="http://schemas.microsoft.com/office/drawing/2014/main" id="{32D57F1B-6F06-47A6-9EC8-505C853E776B}"/>
              </a:ext>
            </a:extLst>
          </p:cNvPr>
          <p:cNvSpPr txBox="1"/>
          <p:nvPr/>
        </p:nvSpPr>
        <p:spPr>
          <a:xfrm>
            <a:off x="1866900" y="6308209"/>
            <a:ext cx="6096000" cy="369332"/>
          </a:xfrm>
          <a:prstGeom prst="rect">
            <a:avLst/>
          </a:prstGeom>
          <a:noFill/>
        </p:spPr>
        <p:txBody>
          <a:bodyPr wrap="square">
            <a:spAutoFit/>
          </a:bodyPr>
          <a:lstStyle/>
          <a:p>
            <a:r>
              <a:rPr lang="en-US" dirty="0"/>
              <a:t>https://libguides.stonehill.edu/ld.php?content_id=43420244</a:t>
            </a:r>
          </a:p>
        </p:txBody>
      </p:sp>
      <p:sp>
        <p:nvSpPr>
          <p:cNvPr id="4" name="TextBox 3">
            <a:extLst>
              <a:ext uri="{FF2B5EF4-FFF2-40B4-BE49-F238E27FC236}">
                <a16:creationId xmlns:a16="http://schemas.microsoft.com/office/drawing/2014/main" id="{F8ED4DC5-54A7-F729-FE47-01D726BF725B}"/>
              </a:ext>
            </a:extLst>
          </p:cNvPr>
          <p:cNvSpPr txBox="1"/>
          <p:nvPr/>
        </p:nvSpPr>
        <p:spPr>
          <a:xfrm>
            <a:off x="3008312" y="3825874"/>
            <a:ext cx="13176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Works Cited</a:t>
            </a:r>
            <a:endParaRPr lang="en-US" dirty="0"/>
          </a:p>
        </p:txBody>
      </p:sp>
      <p:sp>
        <p:nvSpPr>
          <p:cNvPr id="5" name="TextBox 4">
            <a:extLst>
              <a:ext uri="{FF2B5EF4-FFF2-40B4-BE49-F238E27FC236}">
                <a16:creationId xmlns:a16="http://schemas.microsoft.com/office/drawing/2014/main" id="{105EE378-B0DC-FD01-7756-97F206B9CD71}"/>
              </a:ext>
            </a:extLst>
          </p:cNvPr>
          <p:cNvSpPr txBox="1"/>
          <p:nvPr/>
        </p:nvSpPr>
        <p:spPr>
          <a:xfrm>
            <a:off x="8262937" y="3825875"/>
            <a:ext cx="1603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cs typeface="Calibri"/>
              </a:rPr>
              <a:t>References</a:t>
            </a:r>
            <a:endParaRPr lang="en-US" dirty="0"/>
          </a:p>
        </p:txBody>
      </p:sp>
    </p:spTree>
    <p:extLst>
      <p:ext uri="{BB962C8B-B14F-4D97-AF65-F5344CB8AC3E}">
        <p14:creationId xmlns:p14="http://schemas.microsoft.com/office/powerpoint/2010/main" val="2827091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1BF7A-F2FE-E950-09A3-CD45C2BB2109}"/>
              </a:ext>
            </a:extLst>
          </p:cNvPr>
          <p:cNvSpPr>
            <a:spLocks noGrp="1"/>
          </p:cNvSpPr>
          <p:nvPr>
            <p:ph type="title"/>
          </p:nvPr>
        </p:nvSpPr>
        <p:spPr>
          <a:solidFill>
            <a:srgbClr val="FFFF00"/>
          </a:solidFill>
        </p:spPr>
        <p:txBody>
          <a:bodyPr/>
          <a:lstStyle/>
          <a:p>
            <a:pPr algn="ctr"/>
            <a:r>
              <a:rPr lang="en-US" b="1" dirty="0">
                <a:cs typeface="Calibri Light"/>
              </a:rPr>
              <a:t>Major differences between APA and MLA</a:t>
            </a:r>
            <a:endParaRPr lang="en-US" b="1">
              <a:cs typeface="Calibri Light"/>
            </a:endParaRPr>
          </a:p>
        </p:txBody>
      </p:sp>
      <p:sp>
        <p:nvSpPr>
          <p:cNvPr id="3" name="Content Placeholder 2">
            <a:extLst>
              <a:ext uri="{FF2B5EF4-FFF2-40B4-BE49-F238E27FC236}">
                <a16:creationId xmlns:a16="http://schemas.microsoft.com/office/drawing/2014/main" id="{E68D2DBF-C31B-81BE-346F-4157D93C4E2A}"/>
              </a:ext>
            </a:extLst>
          </p:cNvPr>
          <p:cNvSpPr>
            <a:spLocks noGrp="1"/>
          </p:cNvSpPr>
          <p:nvPr>
            <p:ph idx="1"/>
          </p:nvPr>
        </p:nvSpPr>
        <p:spPr/>
        <p:txBody>
          <a:bodyPr vert="horz" lIns="91440" tIns="45720" rIns="91440" bIns="45720" rtlCol="0" anchor="t">
            <a:normAutofit/>
          </a:bodyPr>
          <a:lstStyle/>
          <a:p>
            <a:r>
              <a:rPr lang="en-US" dirty="0">
                <a:cs typeface="Calibri"/>
              </a:rPr>
              <a:t>APA has a References page, while MLA calls it Works Cited</a:t>
            </a:r>
          </a:p>
          <a:p>
            <a:r>
              <a:rPr lang="en-US" dirty="0">
                <a:cs typeface="Calibri"/>
              </a:rPr>
              <a:t>APA does not use full first names, only initials.  MLA does.</a:t>
            </a:r>
          </a:p>
          <a:p>
            <a:pPr marL="0" indent="0">
              <a:buNone/>
            </a:pPr>
            <a:r>
              <a:rPr lang="en-US" dirty="0">
                <a:cs typeface="Calibri"/>
              </a:rPr>
              <a:t>   Pascoe, D. F.    vs.    Pascoe, Diana F.</a:t>
            </a:r>
          </a:p>
          <a:p>
            <a:r>
              <a:rPr lang="en-US" dirty="0">
                <a:cs typeface="Calibri"/>
              </a:rPr>
              <a:t>APA put the date/year of publication after the author(s).  MLA puts the date at the end of the entry.</a:t>
            </a:r>
          </a:p>
          <a:p>
            <a:pPr marL="0" indent="0">
              <a:buNone/>
            </a:pPr>
            <a:r>
              <a:rPr lang="en-US" dirty="0">
                <a:cs typeface="Calibri"/>
              </a:rPr>
              <a:t>   Ex: Pascoe, D. F. (2023).   </a:t>
            </a:r>
          </a:p>
          <a:p>
            <a:r>
              <a:rPr lang="en-US" dirty="0">
                <a:cs typeface="Calibri"/>
              </a:rPr>
              <a:t>APA puts the date/year in the in-text citation in parenthesis.  MLA does not put the date here.</a:t>
            </a:r>
          </a:p>
          <a:p>
            <a:pPr marL="0" indent="0">
              <a:buNone/>
            </a:pPr>
            <a:r>
              <a:rPr lang="en-US" dirty="0">
                <a:cs typeface="Calibri"/>
              </a:rPr>
              <a:t>   Ex:   Study the examples (Pascoe, 2023, p.54).   pp. = pages</a:t>
            </a:r>
          </a:p>
          <a:p>
            <a:endParaRPr lang="en-US" dirty="0">
              <a:cs typeface="Calibri"/>
            </a:endParaRPr>
          </a:p>
        </p:txBody>
      </p:sp>
    </p:spTree>
    <p:extLst>
      <p:ext uri="{BB962C8B-B14F-4D97-AF65-F5344CB8AC3E}">
        <p14:creationId xmlns:p14="http://schemas.microsoft.com/office/powerpoint/2010/main" val="4255525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170F2-2EBA-4C31-A640-3B11C2AFD0B7}"/>
              </a:ext>
            </a:extLst>
          </p:cNvPr>
          <p:cNvSpPr>
            <a:spLocks noGrp="1"/>
          </p:cNvSpPr>
          <p:nvPr>
            <p:ph type="title"/>
          </p:nvPr>
        </p:nvSpPr>
        <p:spPr/>
        <p:txBody>
          <a:bodyPr/>
          <a:lstStyle/>
          <a:p>
            <a:r>
              <a:rPr lang="en-US" b="1" dirty="0"/>
              <a:t>Example:  in-text citation  APA style</a:t>
            </a:r>
            <a:endParaRPr lang="en-US" b="1" dirty="0">
              <a:cs typeface="Calibri Light"/>
            </a:endParaRPr>
          </a:p>
        </p:txBody>
      </p:sp>
      <p:sp>
        <p:nvSpPr>
          <p:cNvPr id="3" name="Content Placeholder 2">
            <a:extLst>
              <a:ext uri="{FF2B5EF4-FFF2-40B4-BE49-F238E27FC236}">
                <a16:creationId xmlns:a16="http://schemas.microsoft.com/office/drawing/2014/main" id="{77DC087D-7343-4557-A421-FABC714622CF}"/>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dirty="0"/>
              <a:t>Original:  "Many young children in this country are quite frightened about the real possibility of nuclear war."  Author – David Barash, 1986, p. 44</a:t>
            </a:r>
          </a:p>
          <a:p>
            <a:pPr marL="0" indent="0">
              <a:buNone/>
            </a:pPr>
            <a:endParaRPr lang="en-US" dirty="0"/>
          </a:p>
          <a:p>
            <a:pPr marL="0" indent="0">
              <a:buNone/>
            </a:pPr>
            <a:r>
              <a:rPr lang="en-US" dirty="0"/>
              <a:t>Used in a research paper:</a:t>
            </a:r>
            <a:endParaRPr lang="en-US" dirty="0">
              <a:cs typeface="Calibri" panose="020F0502020204030204"/>
            </a:endParaRPr>
          </a:p>
          <a:p>
            <a:r>
              <a:rPr lang="en-US" dirty="0"/>
              <a:t>Today's children have many fears.  According to Barash (1986),</a:t>
            </a:r>
            <a:endParaRPr lang="en-US" dirty="0">
              <a:cs typeface="Calibri" panose="020F0502020204030204"/>
            </a:endParaRPr>
          </a:p>
          <a:p>
            <a:pPr marL="0" indent="0">
              <a:buNone/>
            </a:pPr>
            <a:r>
              <a:rPr lang="en-US" dirty="0"/>
              <a:t>  nuclear war is an issue that causes children much angst (p.45).</a:t>
            </a:r>
            <a:endParaRPr lang="en-US" dirty="0">
              <a:cs typeface="Calibri"/>
            </a:endParaRPr>
          </a:p>
          <a:p>
            <a:pPr marL="0" indent="0">
              <a:buNone/>
            </a:pPr>
            <a:endParaRPr lang="en-US" dirty="0">
              <a:cs typeface="Calibri"/>
            </a:endParaRPr>
          </a:p>
          <a:p>
            <a:pPr marL="0" indent="0">
              <a:buNone/>
            </a:pPr>
            <a:r>
              <a:rPr lang="en-US" dirty="0">
                <a:cs typeface="Calibri"/>
              </a:rPr>
              <a:t>In References:  Barash, D. (1986). Recent depression in children. </a:t>
            </a:r>
            <a:r>
              <a:rPr lang="en-US" i="1" dirty="0">
                <a:cs typeface="Calibri"/>
              </a:rPr>
              <a:t>Psychology Today</a:t>
            </a:r>
            <a:r>
              <a:rPr lang="en-US" dirty="0">
                <a:cs typeface="Calibri"/>
              </a:rPr>
              <a:t>, </a:t>
            </a:r>
            <a:r>
              <a:rPr lang="en-US" i="1" dirty="0">
                <a:cs typeface="Calibri"/>
              </a:rPr>
              <a:t>2</a:t>
            </a:r>
            <a:r>
              <a:rPr lang="en-US" dirty="0">
                <a:cs typeface="Calibri"/>
              </a:rPr>
              <a:t>.(1), 43 - 76.</a:t>
            </a:r>
            <a:endParaRPr lang="en-US" dirty="0">
              <a:ea typeface="Calibri"/>
              <a:cs typeface="Calibri"/>
            </a:endParaRPr>
          </a:p>
          <a:p>
            <a:pPr marL="0" indent="0">
              <a:buNone/>
            </a:pPr>
            <a:endParaRPr lang="en-US" dirty="0">
              <a:cs typeface="Calibri"/>
            </a:endParaRPr>
          </a:p>
          <a:p>
            <a:r>
              <a:rPr lang="en-US" sz="1400" dirty="0"/>
              <a:t>Adapted from Leki, I. (1998). </a:t>
            </a:r>
            <a:r>
              <a:rPr lang="en-US" sz="1400" i="1" dirty="0"/>
              <a:t>Academic writing: Exploring process and strategies</a:t>
            </a:r>
            <a:r>
              <a:rPr lang="en-US" sz="1400" dirty="0"/>
              <a:t>. Cambridge University Press.</a:t>
            </a:r>
          </a:p>
        </p:txBody>
      </p:sp>
    </p:spTree>
    <p:extLst>
      <p:ext uri="{BB962C8B-B14F-4D97-AF65-F5344CB8AC3E}">
        <p14:creationId xmlns:p14="http://schemas.microsoft.com/office/powerpoint/2010/main" val="40882023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07B50-E7CA-4A33-9F98-66A66C7BBB88}"/>
              </a:ext>
            </a:extLst>
          </p:cNvPr>
          <p:cNvSpPr>
            <a:spLocks noGrp="1"/>
          </p:cNvSpPr>
          <p:nvPr>
            <p:ph type="title"/>
          </p:nvPr>
        </p:nvSpPr>
        <p:spPr/>
        <p:txBody>
          <a:bodyPr/>
          <a:lstStyle/>
          <a:p>
            <a:r>
              <a:rPr lang="en-US" b="1" dirty="0"/>
              <a:t>In-text and References list citation</a:t>
            </a:r>
            <a:endParaRPr lang="en-US" b="1" dirty="0">
              <a:cs typeface="Calibri Light"/>
            </a:endParaRPr>
          </a:p>
        </p:txBody>
      </p:sp>
      <p:sp>
        <p:nvSpPr>
          <p:cNvPr id="3" name="Content Placeholder 2">
            <a:extLst>
              <a:ext uri="{FF2B5EF4-FFF2-40B4-BE49-F238E27FC236}">
                <a16:creationId xmlns:a16="http://schemas.microsoft.com/office/drawing/2014/main" id="{D90347E0-7645-4ED6-9CA5-BEA0A63C8411}"/>
              </a:ext>
            </a:extLst>
          </p:cNvPr>
          <p:cNvSpPr>
            <a:spLocks noGrp="1"/>
          </p:cNvSpPr>
          <p:nvPr>
            <p:ph idx="1"/>
          </p:nvPr>
        </p:nvSpPr>
        <p:spPr/>
        <p:txBody>
          <a:bodyPr vert="horz" lIns="91440" tIns="45720" rIns="91440" bIns="45720" rtlCol="0" anchor="t">
            <a:normAutofit/>
          </a:bodyPr>
          <a:lstStyle/>
          <a:p>
            <a:r>
              <a:rPr lang="en-US" dirty="0"/>
              <a:t>There are</a:t>
            </a:r>
            <a:r>
              <a:rPr lang="en-US" b="1" dirty="0"/>
              <a:t> two</a:t>
            </a:r>
            <a:r>
              <a:rPr lang="en-US" dirty="0"/>
              <a:t> places where works need to be cited – within the text of the paper and in a list at the end of the paper.  Footnotes are at the bottom of the page, and APA does not recommend them.</a:t>
            </a:r>
          </a:p>
          <a:p>
            <a:r>
              <a:rPr lang="en-US" dirty="0"/>
              <a:t>In the text of the paper, you can cite the same author many times. It will depend on how many times you use their words or ideas.</a:t>
            </a:r>
            <a:endParaRPr lang="en-US" dirty="0">
              <a:cs typeface="Calibri"/>
            </a:endParaRPr>
          </a:p>
          <a:p>
            <a:r>
              <a:rPr lang="en-US" dirty="0"/>
              <a:t>In the References list at the end of the paper, you list only once each source that you use, in alphabetical order.</a:t>
            </a:r>
          </a:p>
          <a:p>
            <a:pPr marL="457200" lvl="1" indent="0">
              <a:buNone/>
            </a:pPr>
            <a:r>
              <a:rPr lang="en-US" sz="3600" b="1" dirty="0">
                <a:cs typeface="Calibri"/>
              </a:rPr>
              <a:t>KEEP IN MIND: </a:t>
            </a:r>
            <a:r>
              <a:rPr lang="en-US" dirty="0">
                <a:cs typeface="Calibri"/>
              </a:rPr>
              <a:t> </a:t>
            </a:r>
            <a:r>
              <a:rPr lang="en-US" u="sng" dirty="0">
                <a:cs typeface="Calibri"/>
              </a:rPr>
              <a:t>If the source is listed in the References or Works Cited list it must be mentioned at least once in the text.</a:t>
            </a:r>
          </a:p>
        </p:txBody>
      </p:sp>
    </p:spTree>
    <p:extLst>
      <p:ext uri="{BB962C8B-B14F-4D97-AF65-F5344CB8AC3E}">
        <p14:creationId xmlns:p14="http://schemas.microsoft.com/office/powerpoint/2010/main" val="2624162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4BB4D-6041-4A74-BA25-80D23ADB4D0A}"/>
              </a:ext>
            </a:extLst>
          </p:cNvPr>
          <p:cNvSpPr>
            <a:spLocks noGrp="1"/>
          </p:cNvSpPr>
          <p:nvPr>
            <p:ph type="title"/>
          </p:nvPr>
        </p:nvSpPr>
        <p:spPr>
          <a:xfrm>
            <a:off x="839788" y="365125"/>
            <a:ext cx="10515600" cy="520431"/>
          </a:xfrm>
        </p:spPr>
        <p:txBody>
          <a:bodyPr>
            <a:normAutofit fontScale="90000"/>
          </a:bodyPr>
          <a:lstStyle/>
          <a:p>
            <a:r>
              <a:rPr lang="en-US" dirty="0"/>
              <a:t>Compare: APA</a:t>
            </a:r>
          </a:p>
        </p:txBody>
      </p:sp>
      <p:sp>
        <p:nvSpPr>
          <p:cNvPr id="3" name="Text Placeholder 2">
            <a:extLst>
              <a:ext uri="{FF2B5EF4-FFF2-40B4-BE49-F238E27FC236}">
                <a16:creationId xmlns:a16="http://schemas.microsoft.com/office/drawing/2014/main" id="{8FAD088A-2E7F-4E79-AEBA-CF7F611A277E}"/>
              </a:ext>
            </a:extLst>
          </p:cNvPr>
          <p:cNvSpPr>
            <a:spLocks noGrp="1"/>
          </p:cNvSpPr>
          <p:nvPr>
            <p:ph type="body" idx="1"/>
          </p:nvPr>
        </p:nvSpPr>
        <p:spPr>
          <a:xfrm>
            <a:off x="839788" y="1163579"/>
            <a:ext cx="5157787" cy="464478"/>
          </a:xfrm>
        </p:spPr>
        <p:txBody>
          <a:bodyPr/>
          <a:lstStyle/>
          <a:p>
            <a:r>
              <a:rPr lang="en-US" dirty="0"/>
              <a:t>In-text citation</a:t>
            </a:r>
          </a:p>
        </p:txBody>
      </p:sp>
      <p:pic>
        <p:nvPicPr>
          <p:cNvPr id="8" name="Content Placeholder 7">
            <a:extLst>
              <a:ext uri="{FF2B5EF4-FFF2-40B4-BE49-F238E27FC236}">
                <a16:creationId xmlns:a16="http://schemas.microsoft.com/office/drawing/2014/main" id="{FFF89CC8-4888-4486-9FBB-AE98B280ECB1}"/>
              </a:ext>
            </a:extLst>
          </p:cNvPr>
          <p:cNvPicPr>
            <a:picLocks noGrp="1" noChangeAspect="1"/>
          </p:cNvPicPr>
          <p:nvPr>
            <p:ph sz="half" idx="2"/>
          </p:nvPr>
        </p:nvPicPr>
        <p:blipFill>
          <a:blip r:embed="rId2"/>
          <a:stretch>
            <a:fillRect/>
          </a:stretch>
        </p:blipFill>
        <p:spPr>
          <a:xfrm>
            <a:off x="336581" y="1800667"/>
            <a:ext cx="5660994" cy="3986348"/>
          </a:xfrm>
        </p:spPr>
      </p:pic>
      <p:sp>
        <p:nvSpPr>
          <p:cNvPr id="5" name="Text Placeholder 4">
            <a:extLst>
              <a:ext uri="{FF2B5EF4-FFF2-40B4-BE49-F238E27FC236}">
                <a16:creationId xmlns:a16="http://schemas.microsoft.com/office/drawing/2014/main" id="{9CD2641C-349F-4719-BB22-4B43BFE8A1B4}"/>
              </a:ext>
            </a:extLst>
          </p:cNvPr>
          <p:cNvSpPr>
            <a:spLocks noGrp="1"/>
          </p:cNvSpPr>
          <p:nvPr>
            <p:ph type="body" sz="quarter" idx="3"/>
          </p:nvPr>
        </p:nvSpPr>
        <p:spPr>
          <a:xfrm>
            <a:off x="6186577" y="1163579"/>
            <a:ext cx="5168811" cy="464478"/>
          </a:xfrm>
        </p:spPr>
        <p:txBody>
          <a:bodyPr/>
          <a:lstStyle/>
          <a:p>
            <a:r>
              <a:rPr lang="en-US" dirty="0"/>
              <a:t>References list </a:t>
            </a:r>
            <a:endParaRPr lang="en-US"/>
          </a:p>
        </p:txBody>
      </p:sp>
      <p:pic>
        <p:nvPicPr>
          <p:cNvPr id="10" name="Content Placeholder 9">
            <a:extLst>
              <a:ext uri="{FF2B5EF4-FFF2-40B4-BE49-F238E27FC236}">
                <a16:creationId xmlns:a16="http://schemas.microsoft.com/office/drawing/2014/main" id="{97539F67-E04B-4B27-BB16-1A0700024E59}"/>
              </a:ext>
            </a:extLst>
          </p:cNvPr>
          <p:cNvPicPr>
            <a:picLocks noGrp="1" noChangeAspect="1"/>
          </p:cNvPicPr>
          <p:nvPr>
            <p:ph sz="quarter" idx="4"/>
          </p:nvPr>
        </p:nvPicPr>
        <p:blipFill>
          <a:blip r:embed="rId3"/>
          <a:stretch>
            <a:fillRect/>
          </a:stretch>
        </p:blipFill>
        <p:spPr>
          <a:xfrm>
            <a:off x="5884653" y="2654315"/>
            <a:ext cx="6160848" cy="3213580"/>
          </a:xfrm>
        </p:spPr>
      </p:pic>
      <p:sp>
        <p:nvSpPr>
          <p:cNvPr id="12" name="TextBox 11">
            <a:extLst>
              <a:ext uri="{FF2B5EF4-FFF2-40B4-BE49-F238E27FC236}">
                <a16:creationId xmlns:a16="http://schemas.microsoft.com/office/drawing/2014/main" id="{56C0FEA0-DCF3-4419-8221-51299C1F2F25}"/>
              </a:ext>
            </a:extLst>
          </p:cNvPr>
          <p:cNvSpPr txBox="1"/>
          <p:nvPr/>
        </p:nvSpPr>
        <p:spPr>
          <a:xfrm>
            <a:off x="542927" y="6189663"/>
            <a:ext cx="11303000" cy="405367"/>
          </a:xfrm>
          <a:prstGeom prst="rect">
            <a:avLst/>
          </a:prstGeom>
          <a:noFill/>
        </p:spPr>
        <p:txBody>
          <a:bodyPr wrap="square">
            <a:spAutoFit/>
          </a:bodyPr>
          <a:lstStyle/>
          <a:p>
            <a:pPr marL="457200" indent="-457200">
              <a:lnSpc>
                <a:spcPct val="200000"/>
              </a:lnSpc>
            </a:pPr>
            <a:r>
              <a:rPr lang="en-US" sz="1200" i="1" dirty="0">
                <a:effectLst/>
                <a:latin typeface="Times New Roman" panose="02020603050405020304" pitchFamily="18" charset="0"/>
              </a:rPr>
              <a:t>Citation Machine: American Psychological Association 6th Edition format citation generator for journal article</a:t>
            </a:r>
            <a:r>
              <a:rPr lang="en-US" sz="1200" dirty="0">
                <a:effectLst/>
                <a:latin typeface="Times New Roman" panose="02020603050405020304" pitchFamily="18" charset="0"/>
              </a:rPr>
              <a:t>. (2019). Citationmachine.net. https://www.citationmachine.net/apa</a:t>
            </a:r>
          </a:p>
        </p:txBody>
      </p:sp>
      <p:sp>
        <p:nvSpPr>
          <p:cNvPr id="4" name="TextBox 3">
            <a:extLst>
              <a:ext uri="{FF2B5EF4-FFF2-40B4-BE49-F238E27FC236}">
                <a16:creationId xmlns:a16="http://schemas.microsoft.com/office/drawing/2014/main" id="{76ABD55D-8BE2-B98A-F8D4-69C54E2502BD}"/>
              </a:ext>
            </a:extLst>
          </p:cNvPr>
          <p:cNvSpPr txBox="1"/>
          <p:nvPr/>
        </p:nvSpPr>
        <p:spPr>
          <a:xfrm>
            <a:off x="6191250" y="4324350"/>
            <a:ext cx="5505450" cy="173355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578998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7C0FB-1554-4054-ACF1-6E43E3BB263E}"/>
              </a:ext>
            </a:extLst>
          </p:cNvPr>
          <p:cNvSpPr>
            <a:spLocks noGrp="1"/>
          </p:cNvSpPr>
          <p:nvPr>
            <p:ph type="title"/>
          </p:nvPr>
        </p:nvSpPr>
        <p:spPr/>
        <p:txBody>
          <a:bodyPr/>
          <a:lstStyle/>
          <a:p>
            <a:r>
              <a:rPr lang="en-US" dirty="0"/>
              <a:t>Do you need to memorize citation style?</a:t>
            </a:r>
            <a:br>
              <a:rPr lang="en-US" dirty="0"/>
            </a:br>
            <a:endParaRPr lang="en-US" dirty="0"/>
          </a:p>
        </p:txBody>
      </p:sp>
      <p:sp>
        <p:nvSpPr>
          <p:cNvPr id="3" name="Content Placeholder 2">
            <a:extLst>
              <a:ext uri="{FF2B5EF4-FFF2-40B4-BE49-F238E27FC236}">
                <a16:creationId xmlns:a16="http://schemas.microsoft.com/office/drawing/2014/main" id="{A7DA1D73-ECD1-42B1-AB04-B94566E4D114}"/>
              </a:ext>
            </a:extLst>
          </p:cNvPr>
          <p:cNvSpPr>
            <a:spLocks noGrp="1"/>
          </p:cNvSpPr>
          <p:nvPr>
            <p:ph idx="1"/>
          </p:nvPr>
        </p:nvSpPr>
        <p:spPr/>
        <p:txBody>
          <a:bodyPr vert="horz" lIns="91440" tIns="45720" rIns="91440" bIns="45720" rtlCol="0" anchor="t">
            <a:normAutofit/>
          </a:bodyPr>
          <a:lstStyle/>
          <a:p>
            <a:r>
              <a:rPr lang="en-US" dirty="0"/>
              <a:t>The short answer is no.</a:t>
            </a:r>
          </a:p>
          <a:p>
            <a:r>
              <a:rPr lang="en-US" dirty="0"/>
              <a:t>The APA citation manual is over 400 pages</a:t>
            </a:r>
          </a:p>
          <a:p>
            <a:r>
              <a:rPr lang="en-US" dirty="0"/>
              <a:t>You do need to be familiar with the basic format for in-text citation and reference list citation </a:t>
            </a:r>
          </a:p>
          <a:p>
            <a:r>
              <a:rPr lang="en-US" dirty="0"/>
              <a:t>You also need to know how to access and use the many resources available to you for citing correctly</a:t>
            </a:r>
          </a:p>
          <a:p>
            <a:endParaRPr lang="en-US" dirty="0">
              <a:cs typeface="Calibri" panose="020F0502020204030204"/>
            </a:endParaRPr>
          </a:p>
          <a:p>
            <a:endParaRPr lang="en-US" dirty="0">
              <a:cs typeface="Calibri" panose="020F0502020204030204"/>
            </a:endParaRPr>
          </a:p>
        </p:txBody>
      </p:sp>
    </p:spTree>
    <p:extLst>
      <p:ext uri="{BB962C8B-B14F-4D97-AF65-F5344CB8AC3E}">
        <p14:creationId xmlns:p14="http://schemas.microsoft.com/office/powerpoint/2010/main" val="16675134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F7CC6-C743-6608-D548-0E6B47C740CD}"/>
              </a:ext>
            </a:extLst>
          </p:cNvPr>
          <p:cNvSpPr>
            <a:spLocks noGrp="1"/>
          </p:cNvSpPr>
          <p:nvPr>
            <p:ph type="title"/>
          </p:nvPr>
        </p:nvSpPr>
        <p:spPr>
          <a:solidFill>
            <a:srgbClr val="FF0000"/>
          </a:solidFill>
        </p:spPr>
        <p:txBody>
          <a:bodyPr/>
          <a:lstStyle/>
          <a:p>
            <a:r>
              <a:rPr lang="en-US" dirty="0">
                <a:cs typeface="Calibri Light"/>
              </a:rPr>
              <a:t>Types of in-text citations using APA</a:t>
            </a:r>
            <a:endParaRPr lang="en-US" dirty="0"/>
          </a:p>
        </p:txBody>
      </p:sp>
      <p:sp>
        <p:nvSpPr>
          <p:cNvPr id="4" name="Content Placeholder 3">
            <a:extLst>
              <a:ext uri="{FF2B5EF4-FFF2-40B4-BE49-F238E27FC236}">
                <a16:creationId xmlns:a16="http://schemas.microsoft.com/office/drawing/2014/main" id="{A6723BFD-4BAB-FCF4-E340-DC1A941B4FFA}"/>
              </a:ext>
            </a:extLst>
          </p:cNvPr>
          <p:cNvSpPr>
            <a:spLocks noGrp="1"/>
          </p:cNvSpPr>
          <p:nvPr>
            <p:ph idx="1"/>
          </p:nvPr>
        </p:nvSpPr>
        <p:spPr/>
        <p:txBody>
          <a:bodyPr vert="horz" lIns="91440" tIns="45720" rIns="91440" bIns="45720" rtlCol="0" anchor="t">
            <a:normAutofit/>
          </a:bodyPr>
          <a:lstStyle/>
          <a:p>
            <a:r>
              <a:rPr lang="en-US" dirty="0">
                <a:cs typeface="Calibri"/>
              </a:rPr>
              <a:t>At the end or middle of a </a:t>
            </a:r>
            <a:r>
              <a:rPr lang="en-US" b="1" dirty="0">
                <a:cs typeface="Calibri"/>
              </a:rPr>
              <a:t>sentence in parenthesis:</a:t>
            </a:r>
          </a:p>
          <a:p>
            <a:pPr marL="0" indent="0">
              <a:buNone/>
            </a:pPr>
            <a:r>
              <a:rPr lang="en-US" b="1" dirty="0">
                <a:cs typeface="Calibri"/>
              </a:rPr>
              <a:t>       </a:t>
            </a:r>
            <a:r>
              <a:rPr lang="en-US" dirty="0">
                <a:cs typeface="Calibri"/>
              </a:rPr>
              <a:t>This phenomenon is best referred to as a "cumulative</a:t>
            </a:r>
          </a:p>
          <a:p>
            <a:pPr marL="0" indent="0">
              <a:buNone/>
            </a:pPr>
            <a:r>
              <a:rPr lang="en-US" dirty="0">
                <a:cs typeface="Calibri"/>
              </a:rPr>
              <a:t>       collaboration of evidence" (</a:t>
            </a:r>
            <a:r>
              <a:rPr lang="en-US" dirty="0" err="1">
                <a:cs typeface="Calibri"/>
              </a:rPr>
              <a:t>LaScotte</a:t>
            </a:r>
            <a:r>
              <a:rPr lang="en-US" dirty="0">
                <a:cs typeface="Calibri"/>
              </a:rPr>
              <a:t> &amp; Peters, 2021, p. 49).</a:t>
            </a:r>
            <a:endParaRPr lang="en-US" dirty="0"/>
          </a:p>
          <a:p>
            <a:r>
              <a:rPr lang="en-US" b="1" dirty="0">
                <a:cs typeface="Calibri"/>
              </a:rPr>
              <a:t>In a signal phrase somewhere in a sentence:</a:t>
            </a:r>
          </a:p>
          <a:p>
            <a:pPr marL="0" indent="0">
              <a:buNone/>
            </a:pPr>
            <a:r>
              <a:rPr lang="en-US" dirty="0">
                <a:cs typeface="Calibri"/>
              </a:rPr>
              <a:t>      According to </a:t>
            </a:r>
            <a:r>
              <a:rPr lang="en-US" dirty="0" err="1">
                <a:cs typeface="Calibri"/>
              </a:rPr>
              <a:t>LaScotte</a:t>
            </a:r>
            <a:r>
              <a:rPr lang="en-US" dirty="0">
                <a:cs typeface="Calibri"/>
              </a:rPr>
              <a:t> and Peters (2021), the first challenge is ...in class (p. 57).</a:t>
            </a:r>
            <a:endParaRPr lang="en-US" dirty="0">
              <a:ea typeface="Calibri"/>
              <a:cs typeface="Calibri"/>
            </a:endParaRPr>
          </a:p>
          <a:p>
            <a:pPr marL="0" indent="0">
              <a:buNone/>
            </a:pPr>
            <a:r>
              <a:rPr lang="en-US" dirty="0">
                <a:cs typeface="Calibri"/>
              </a:rPr>
              <a:t>      The problem, according to Chavez (2022), is that people do not...</a:t>
            </a:r>
          </a:p>
          <a:p>
            <a:pPr marL="0" indent="0">
              <a:buNone/>
            </a:pPr>
            <a:r>
              <a:rPr lang="en-US" b="1" dirty="0">
                <a:cs typeface="Calibri"/>
              </a:rPr>
              <a:t>Usually author's last name and date.  May include a page number.</a:t>
            </a:r>
          </a:p>
        </p:txBody>
      </p:sp>
    </p:spTree>
    <p:extLst>
      <p:ext uri="{BB962C8B-B14F-4D97-AF65-F5344CB8AC3E}">
        <p14:creationId xmlns:p14="http://schemas.microsoft.com/office/powerpoint/2010/main" val="3114946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7A8DA-BE11-4E64-16E8-2AFCC5CD52A0}"/>
              </a:ext>
            </a:extLst>
          </p:cNvPr>
          <p:cNvSpPr>
            <a:spLocks noGrp="1"/>
          </p:cNvSpPr>
          <p:nvPr>
            <p:ph type="title"/>
          </p:nvPr>
        </p:nvSpPr>
        <p:spPr>
          <a:xfrm>
            <a:off x="838200" y="365125"/>
            <a:ext cx="10515600" cy="1293813"/>
          </a:xfrm>
        </p:spPr>
        <p:txBody>
          <a:bodyPr>
            <a:normAutofit fontScale="90000"/>
          </a:bodyPr>
          <a:lstStyle/>
          <a:p>
            <a:r>
              <a:rPr lang="en-US" b="1" dirty="0">
                <a:cs typeface="Calibri Light"/>
              </a:rPr>
              <a:t>References page </a:t>
            </a:r>
            <a:r>
              <a:rPr lang="en-US" b="1" dirty="0">
                <a:latin typeface="Calibri"/>
                <a:cs typeface="Calibri"/>
              </a:rPr>
              <a:t>(should be on a separate page and in alphabetical order by last name.)</a:t>
            </a:r>
            <a:endParaRPr lang="en-US" dirty="0">
              <a:ea typeface="+mj-lt"/>
              <a:cs typeface="+mj-lt"/>
            </a:endParaRPr>
          </a:p>
        </p:txBody>
      </p:sp>
      <p:sp>
        <p:nvSpPr>
          <p:cNvPr id="3" name="Content Placeholder 2">
            <a:extLst>
              <a:ext uri="{FF2B5EF4-FFF2-40B4-BE49-F238E27FC236}">
                <a16:creationId xmlns:a16="http://schemas.microsoft.com/office/drawing/2014/main" id="{18A9AE99-CFBB-9428-892E-FC4BCAA56D3B}"/>
              </a:ext>
            </a:extLst>
          </p:cNvPr>
          <p:cNvSpPr>
            <a:spLocks noGrp="1"/>
          </p:cNvSpPr>
          <p:nvPr>
            <p:ph idx="1"/>
          </p:nvPr>
        </p:nvSpPr>
        <p:spPr>
          <a:xfrm>
            <a:off x="838200" y="1825625"/>
            <a:ext cx="10698162" cy="4351338"/>
          </a:xfrm>
        </p:spPr>
        <p:txBody>
          <a:bodyPr vert="horz" lIns="91440" tIns="45720" rIns="91440" bIns="45720" rtlCol="0" anchor="t">
            <a:normAutofit/>
          </a:bodyPr>
          <a:lstStyle/>
          <a:p>
            <a:pPr marL="0" indent="0">
              <a:buNone/>
            </a:pPr>
            <a:r>
              <a:rPr lang="en-US" dirty="0">
                <a:ea typeface="+mn-lt"/>
                <a:cs typeface="+mn-lt"/>
              </a:rPr>
              <a:t>Herbert, M. C. (2003). Development and marketing strategies for</a:t>
            </a:r>
          </a:p>
          <a:p>
            <a:pPr marL="0" indent="0">
              <a:buNone/>
            </a:pPr>
            <a:r>
              <a:rPr lang="en-US" dirty="0">
                <a:ea typeface="+mn-lt"/>
                <a:cs typeface="+mn-lt"/>
              </a:rPr>
              <a:t>      functional foods. </a:t>
            </a:r>
            <a:r>
              <a:rPr lang="en-US" i="1" dirty="0" err="1">
                <a:ea typeface="+mn-lt"/>
                <a:cs typeface="+mn-lt"/>
              </a:rPr>
              <a:t>AgBioForum</a:t>
            </a:r>
            <a:r>
              <a:rPr lang="en-US" i="1" dirty="0">
                <a:ea typeface="+mn-lt"/>
                <a:cs typeface="+mn-lt"/>
              </a:rPr>
              <a:t>, 6</a:t>
            </a:r>
            <a:r>
              <a:rPr lang="en-US" dirty="0">
                <a:ea typeface="+mn-lt"/>
                <a:cs typeface="+mn-lt"/>
              </a:rPr>
              <a:t>(1&amp;2), 75-78. </a:t>
            </a:r>
            <a:r>
              <a:rPr lang="en-US" sz="2000" dirty="0">
                <a:ea typeface="+mn-lt"/>
                <a:cs typeface="+mn-lt"/>
              </a:rPr>
              <a:t>(Academic article)</a:t>
            </a:r>
          </a:p>
          <a:p>
            <a:pPr marL="0" indent="0">
              <a:buNone/>
            </a:pPr>
            <a:r>
              <a:rPr lang="en-US" dirty="0">
                <a:ea typeface="+mn-lt"/>
                <a:cs typeface="+mn-lt"/>
              </a:rPr>
              <a:t>Lorette, K. (2015). Cybersecurity for small businesses: A manual for</a:t>
            </a:r>
          </a:p>
          <a:p>
            <a:pPr marL="0" indent="0">
              <a:buNone/>
            </a:pPr>
            <a:r>
              <a:rPr lang="en-US" dirty="0">
                <a:ea typeface="+mn-lt"/>
                <a:cs typeface="+mn-lt"/>
              </a:rPr>
              <a:t>     beginners. Random Pub.  </a:t>
            </a:r>
            <a:r>
              <a:rPr lang="en-US" sz="2000" dirty="0">
                <a:ea typeface="+mn-lt"/>
                <a:cs typeface="+mn-lt"/>
              </a:rPr>
              <a:t>(book)</a:t>
            </a:r>
            <a:r>
              <a:rPr lang="en-US" dirty="0">
                <a:ea typeface="+mn-lt"/>
                <a:cs typeface="+mn-lt"/>
              </a:rPr>
              <a:t>  </a:t>
            </a:r>
          </a:p>
          <a:p>
            <a:pPr marL="0" indent="0">
              <a:buNone/>
            </a:pPr>
            <a:r>
              <a:rPr lang="en-US" dirty="0">
                <a:ea typeface="+mn-lt"/>
                <a:cs typeface="+mn-lt"/>
              </a:rPr>
              <a:t>Perner, L. (2008). Adapting Brands. </a:t>
            </a:r>
            <a:r>
              <a:rPr lang="en-US" i="1" dirty="0">
                <a:ea typeface="+mn-lt"/>
                <a:cs typeface="+mn-lt"/>
              </a:rPr>
              <a:t>Food Marketing</a:t>
            </a:r>
            <a:r>
              <a:rPr lang="en-US" dirty="0">
                <a:ea typeface="+mn-lt"/>
                <a:cs typeface="+mn-lt"/>
              </a:rPr>
              <a:t>. </a:t>
            </a:r>
          </a:p>
          <a:p>
            <a:pPr marL="457200" lvl="1">
              <a:buNone/>
            </a:pPr>
            <a:r>
              <a:rPr lang="en-US" u="sng" dirty="0">
                <a:ea typeface="+mn-lt"/>
                <a:cs typeface="+mn-lt"/>
                <a:hlinkClick r:id="rId2"/>
              </a:rPr>
              <a:t>http://webcache.googleusercontent.com/search?q=cache:nDx-qnncJjgJ:www.consumerpsychologist.com/food_marketing.html&amp;hl=en&amp;strip=1</a:t>
            </a:r>
            <a:r>
              <a:rPr lang="en-US" dirty="0">
                <a:ea typeface="+mn-lt"/>
                <a:cs typeface="+mn-lt"/>
              </a:rPr>
              <a:t>.</a:t>
            </a:r>
            <a:endParaRPr lang="en-US" dirty="0">
              <a:cs typeface="Calibri"/>
            </a:endParaRPr>
          </a:p>
          <a:p>
            <a:pPr marL="457200" lvl="1">
              <a:buNone/>
            </a:pPr>
            <a:r>
              <a:rPr lang="en-US" sz="2000" dirty="0">
                <a:cs typeface="Calibri"/>
              </a:rPr>
              <a:t>   (article in a website)</a:t>
            </a:r>
          </a:p>
          <a:p>
            <a:pPr marL="0" indent="0">
              <a:buNone/>
            </a:pPr>
            <a:endParaRPr lang="en-US" dirty="0">
              <a:cs typeface="Calibri"/>
            </a:endParaRPr>
          </a:p>
        </p:txBody>
      </p:sp>
    </p:spTree>
    <p:extLst>
      <p:ext uri="{BB962C8B-B14F-4D97-AF65-F5344CB8AC3E}">
        <p14:creationId xmlns:p14="http://schemas.microsoft.com/office/powerpoint/2010/main" val="4261087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7C2C1-5A89-ADF9-1639-B3DD3F1CF606}"/>
              </a:ext>
            </a:extLst>
          </p:cNvPr>
          <p:cNvSpPr>
            <a:spLocks noGrp="1"/>
          </p:cNvSpPr>
          <p:nvPr>
            <p:ph type="title"/>
          </p:nvPr>
        </p:nvSpPr>
        <p:spPr/>
        <p:txBody>
          <a:bodyPr/>
          <a:lstStyle/>
          <a:p>
            <a:r>
              <a:rPr lang="en-US" dirty="0">
                <a:cs typeface="Calibri Light"/>
              </a:rPr>
              <a:t>Basic format for books APA</a:t>
            </a:r>
            <a:endParaRPr lang="en-US" dirty="0"/>
          </a:p>
        </p:txBody>
      </p:sp>
      <p:sp>
        <p:nvSpPr>
          <p:cNvPr id="3" name="Content Placeholder 2">
            <a:extLst>
              <a:ext uri="{FF2B5EF4-FFF2-40B4-BE49-F238E27FC236}">
                <a16:creationId xmlns:a16="http://schemas.microsoft.com/office/drawing/2014/main" id="{13FC89FF-FC5F-D0A0-EDD9-1258314E18BD}"/>
              </a:ext>
            </a:extLst>
          </p:cNvPr>
          <p:cNvSpPr>
            <a:spLocks noGrp="1"/>
          </p:cNvSpPr>
          <p:nvPr>
            <p:ph idx="1"/>
          </p:nvPr>
        </p:nvSpPr>
        <p:spPr/>
        <p:txBody>
          <a:bodyPr vert="horz" lIns="91440" tIns="45720" rIns="91440" bIns="45720" rtlCol="0" anchor="t">
            <a:normAutofit/>
          </a:bodyPr>
          <a:lstStyle/>
          <a:p>
            <a:pPr>
              <a:buNone/>
            </a:pPr>
            <a:r>
              <a:rPr lang="en-US" cap="all" dirty="0"/>
              <a:t>BASIC FORMAT FOR BOOKS</a:t>
            </a:r>
            <a:endParaRPr lang="en-US" dirty="0"/>
          </a:p>
          <a:p>
            <a:pPr>
              <a:buNone/>
            </a:pPr>
            <a:r>
              <a:rPr lang="en-US" dirty="0">
                <a:ea typeface="+mn-lt"/>
                <a:cs typeface="+mn-lt"/>
              </a:rPr>
              <a:t>Author, A. A. (Year of publication). </a:t>
            </a:r>
            <a:r>
              <a:rPr lang="en-US" i="1" dirty="0">
                <a:ea typeface="+mn-lt"/>
                <a:cs typeface="+mn-lt"/>
              </a:rPr>
              <a:t>Title of work: Capital letter also for subtitle</a:t>
            </a:r>
            <a:r>
              <a:rPr lang="en-US" dirty="0">
                <a:ea typeface="+mn-lt"/>
                <a:cs typeface="+mn-lt"/>
              </a:rPr>
              <a:t>. Publisher Name. DOI (if available)</a:t>
            </a:r>
          </a:p>
          <a:p>
            <a:pPr>
              <a:buNone/>
            </a:pPr>
            <a:r>
              <a:rPr lang="en-US" dirty="0">
                <a:ea typeface="+mn-lt"/>
                <a:cs typeface="+mn-lt"/>
              </a:rPr>
              <a:t>Stoneman, R. (2008). </a:t>
            </a:r>
            <a:r>
              <a:rPr lang="en-US" i="1" dirty="0">
                <a:ea typeface="+mn-lt"/>
                <a:cs typeface="+mn-lt"/>
              </a:rPr>
              <a:t>Alexander the Great: A life in legend</a:t>
            </a:r>
            <a:r>
              <a:rPr lang="en-US" dirty="0">
                <a:ea typeface="+mn-lt"/>
                <a:cs typeface="+mn-lt"/>
              </a:rPr>
              <a:t>. Yale University Press.</a:t>
            </a:r>
          </a:p>
          <a:p>
            <a:pPr>
              <a:buNone/>
            </a:pPr>
            <a:endParaRPr lang="en-US" dirty="0">
              <a:cs typeface="Calibri"/>
            </a:endParaRPr>
          </a:p>
          <a:p>
            <a:pPr>
              <a:buNone/>
            </a:pPr>
            <a:r>
              <a:rPr lang="en-US" sz="1800" dirty="0">
                <a:ea typeface="+mn-lt"/>
                <a:cs typeface="+mn-lt"/>
              </a:rPr>
              <a:t>https://owl.purdue.edu/owl/research_and_citation/apa_style/apa_formatting_and_style_guide/reference_list_books.html</a:t>
            </a:r>
            <a:endParaRPr lang="en-US" sz="1800" dirty="0">
              <a:cs typeface="Calibri"/>
            </a:endParaRPr>
          </a:p>
          <a:p>
            <a:pPr marL="0" indent="0">
              <a:buNone/>
            </a:pPr>
            <a:endParaRPr lang="en-US" sz="1800" dirty="0">
              <a:cs typeface="Calibri"/>
            </a:endParaRPr>
          </a:p>
        </p:txBody>
      </p:sp>
    </p:spTree>
    <p:extLst>
      <p:ext uri="{BB962C8B-B14F-4D97-AF65-F5344CB8AC3E}">
        <p14:creationId xmlns:p14="http://schemas.microsoft.com/office/powerpoint/2010/main" val="2241708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B89F1-989B-47F8-3724-7E94EE74D6D5}"/>
              </a:ext>
            </a:extLst>
          </p:cNvPr>
          <p:cNvSpPr>
            <a:spLocks noGrp="1"/>
          </p:cNvSpPr>
          <p:nvPr>
            <p:ph type="title"/>
          </p:nvPr>
        </p:nvSpPr>
        <p:spPr/>
        <p:txBody>
          <a:bodyPr/>
          <a:lstStyle/>
          <a:p>
            <a:r>
              <a:rPr lang="en-US" dirty="0">
                <a:cs typeface="Calibri Light"/>
              </a:rPr>
              <a:t>Basic format for an academic article</a:t>
            </a:r>
            <a:endParaRPr lang="en-US" dirty="0"/>
          </a:p>
        </p:txBody>
      </p:sp>
      <p:sp>
        <p:nvSpPr>
          <p:cNvPr id="3" name="Content Placeholder 2">
            <a:extLst>
              <a:ext uri="{FF2B5EF4-FFF2-40B4-BE49-F238E27FC236}">
                <a16:creationId xmlns:a16="http://schemas.microsoft.com/office/drawing/2014/main" id="{87E64144-DF6F-97A1-23BF-A407992F1B18}"/>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Author, A. A., Author, B. B., &amp; Author, C. C. (Year). Title of article. </a:t>
            </a:r>
            <a:r>
              <a:rPr lang="en-US" i="1" dirty="0">
                <a:ea typeface="+mn-lt"/>
                <a:cs typeface="+mn-lt"/>
              </a:rPr>
              <a:t>Title of</a:t>
            </a:r>
            <a:endParaRPr lang="en-US" dirty="0">
              <a:ea typeface="+mn-lt"/>
              <a:cs typeface="+mn-lt"/>
            </a:endParaRPr>
          </a:p>
          <a:p>
            <a:pPr marL="457200" lvl="1" indent="0">
              <a:buNone/>
            </a:pPr>
            <a:r>
              <a:rPr lang="en-US" i="1" dirty="0">
                <a:ea typeface="+mn-lt"/>
                <a:cs typeface="+mn-lt"/>
              </a:rPr>
              <a:t> Periodical</a:t>
            </a:r>
            <a:r>
              <a:rPr lang="en-US" dirty="0">
                <a:ea typeface="+mn-lt"/>
                <a:cs typeface="+mn-lt"/>
              </a:rPr>
              <a:t>,</a:t>
            </a:r>
            <a:r>
              <a:rPr lang="en-US" i="1" dirty="0">
                <a:ea typeface="+mn-lt"/>
                <a:cs typeface="+mn-lt"/>
              </a:rPr>
              <a:t> volume number</a:t>
            </a:r>
            <a:r>
              <a:rPr lang="en-US" dirty="0">
                <a:ea typeface="+mn-lt"/>
                <a:cs typeface="+mn-lt"/>
              </a:rPr>
              <a:t>(issue number), pages. </a:t>
            </a:r>
            <a:r>
              <a:rPr lang="en-US" dirty="0">
                <a:ea typeface="+mn-lt"/>
                <a:cs typeface="+mn-lt"/>
                <a:hlinkClick r:id="rId2"/>
              </a:rPr>
              <a:t>https://doi.org/xx.xxx/yyyy</a:t>
            </a:r>
            <a:endParaRPr lang="en-US" dirty="0">
              <a:ea typeface="+mn-lt"/>
              <a:cs typeface="+mn-lt"/>
            </a:endParaRPr>
          </a:p>
          <a:p>
            <a:pPr marL="0" indent="0">
              <a:buNone/>
            </a:pPr>
            <a:r>
              <a:rPr lang="en-US" dirty="0">
                <a:ea typeface="+mn-lt"/>
                <a:cs typeface="+mn-lt"/>
              </a:rPr>
              <a:t>Scruton, R. (1996). The eclipse of listening. </a:t>
            </a:r>
            <a:r>
              <a:rPr lang="en-US" i="1" dirty="0">
                <a:ea typeface="+mn-lt"/>
                <a:cs typeface="+mn-lt"/>
              </a:rPr>
              <a:t>The New Criterion, 15</a:t>
            </a:r>
            <a:r>
              <a:rPr lang="en-US" dirty="0">
                <a:ea typeface="+mn-lt"/>
                <a:cs typeface="+mn-lt"/>
              </a:rPr>
              <a:t>(3), 5–</a:t>
            </a:r>
          </a:p>
          <a:p>
            <a:pPr marL="0" indent="0">
              <a:buNone/>
            </a:pPr>
            <a:r>
              <a:rPr lang="en-US" dirty="0">
                <a:ea typeface="+mn-lt"/>
                <a:cs typeface="+mn-lt"/>
              </a:rPr>
              <a:t>     13.  </a:t>
            </a:r>
            <a:r>
              <a:rPr lang="en-US" sz="2000" dirty="0">
                <a:ea typeface="+mn-lt"/>
                <a:cs typeface="+mn-lt"/>
              </a:rPr>
              <a:t>(No DOI available).  </a:t>
            </a:r>
          </a:p>
          <a:p>
            <a:pPr marL="0" indent="0">
              <a:buNone/>
            </a:pPr>
            <a:r>
              <a:rPr lang="en-US" dirty="0">
                <a:ea typeface="+mn-lt"/>
                <a:cs typeface="+mn-lt"/>
              </a:rPr>
              <a:t>Denny, H., Nordlof, J., &amp; Salem, L. (2018). Understanding the needs and</a:t>
            </a:r>
          </a:p>
          <a:p>
            <a:pPr marL="457200" lvl="1" indent="0">
              <a:buNone/>
            </a:pPr>
            <a:r>
              <a:rPr lang="en-US" dirty="0">
                <a:ea typeface="+mn-lt"/>
                <a:cs typeface="+mn-lt"/>
              </a:rPr>
              <a:t> expectations of working-class students in writing centers. </a:t>
            </a:r>
            <a:r>
              <a:rPr lang="en-US" i="1" dirty="0">
                <a:ea typeface="+mn-lt"/>
                <a:cs typeface="+mn-lt"/>
              </a:rPr>
              <a:t>Writing Center Journal</a:t>
            </a:r>
            <a:r>
              <a:rPr lang="en-US" dirty="0">
                <a:ea typeface="+mn-lt"/>
                <a:cs typeface="+mn-lt"/>
              </a:rPr>
              <a:t>,</a:t>
            </a:r>
            <a:r>
              <a:rPr lang="en-US" i="1" dirty="0">
                <a:ea typeface="+mn-lt"/>
                <a:cs typeface="+mn-lt"/>
              </a:rPr>
              <a:t> 37</a:t>
            </a:r>
            <a:r>
              <a:rPr lang="en-US" dirty="0">
                <a:ea typeface="+mn-lt"/>
                <a:cs typeface="+mn-lt"/>
              </a:rPr>
              <a:t>(1), 67–98. </a:t>
            </a:r>
            <a:r>
              <a:rPr lang="en-US" b="1" u="sng" dirty="0">
                <a:ea typeface="+mn-lt"/>
                <a:cs typeface="+mn-lt"/>
                <a:hlinkClick r:id="rId3"/>
              </a:rPr>
              <a:t>https://www.jstor.org/stable/26537363</a:t>
            </a:r>
            <a:endParaRPr lang="en-US" sz="1600">
              <a:ea typeface="+mn-lt"/>
              <a:cs typeface="+mn-lt"/>
            </a:endParaRPr>
          </a:p>
          <a:p>
            <a:pPr marL="0" indent="0">
              <a:buNone/>
            </a:pPr>
            <a:r>
              <a:rPr lang="en-US" sz="2000" dirty="0">
                <a:ea typeface="+mn-lt"/>
                <a:cs typeface="+mn-lt"/>
              </a:rPr>
              <a:t>https</a:t>
            </a:r>
            <a:r>
              <a:rPr lang="en-US" sz="2000" dirty="0">
                <a:cs typeface="Calibri"/>
              </a:rPr>
              <a:t>://owl.purdue.edu/owl/research_and_citation/apa_style/apa_formatting_and_style_guide/reference_list_books.html</a:t>
            </a:r>
            <a:endParaRPr lang="en-US" sz="2000" dirty="0">
              <a:ea typeface="+mn-lt"/>
              <a:cs typeface="+mn-lt"/>
            </a:endParaRPr>
          </a:p>
          <a:p>
            <a:pPr marL="457200" lvl="1" indent="0">
              <a:buNone/>
            </a:pPr>
            <a:endParaRPr lang="en-US" b="1" u="sng" dirty="0">
              <a:cs typeface="Calibri"/>
            </a:endParaRPr>
          </a:p>
        </p:txBody>
      </p:sp>
    </p:spTree>
    <p:extLst>
      <p:ext uri="{BB962C8B-B14F-4D97-AF65-F5344CB8AC3E}">
        <p14:creationId xmlns:p14="http://schemas.microsoft.com/office/powerpoint/2010/main" val="39522512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97BBE-7DD9-BC27-29CE-2EBB009A28B0}"/>
              </a:ext>
            </a:extLst>
          </p:cNvPr>
          <p:cNvSpPr>
            <a:spLocks noGrp="1"/>
          </p:cNvSpPr>
          <p:nvPr>
            <p:ph type="title"/>
          </p:nvPr>
        </p:nvSpPr>
        <p:spPr/>
        <p:txBody>
          <a:bodyPr/>
          <a:lstStyle/>
          <a:p>
            <a:r>
              <a:rPr lang="en-US" dirty="0">
                <a:cs typeface="Calibri Light"/>
              </a:rPr>
              <a:t>Alphabetical order to last names or title</a:t>
            </a:r>
            <a:endParaRPr lang="en-US" dirty="0"/>
          </a:p>
        </p:txBody>
      </p:sp>
      <p:sp>
        <p:nvSpPr>
          <p:cNvPr id="3" name="Content Placeholder 2">
            <a:extLst>
              <a:ext uri="{FF2B5EF4-FFF2-40B4-BE49-F238E27FC236}">
                <a16:creationId xmlns:a16="http://schemas.microsoft.com/office/drawing/2014/main" id="{531E4109-0BB2-DEAD-BB92-087E726224D2}"/>
              </a:ext>
            </a:extLst>
          </p:cNvPr>
          <p:cNvSpPr>
            <a:spLocks noGrp="1"/>
          </p:cNvSpPr>
          <p:nvPr>
            <p:ph idx="1"/>
          </p:nvPr>
        </p:nvSpPr>
        <p:spPr/>
        <p:txBody>
          <a:bodyPr vert="horz" lIns="91440" tIns="45720" rIns="91440" bIns="45720" rtlCol="0" anchor="t">
            <a:normAutofit/>
          </a:bodyPr>
          <a:lstStyle/>
          <a:p>
            <a:r>
              <a:rPr lang="en-US" dirty="0">
                <a:cs typeface="Calibri"/>
              </a:rPr>
              <a:t>Pascoe, D.  (2010)…</a:t>
            </a:r>
          </a:p>
          <a:p>
            <a:r>
              <a:rPr lang="en-US" dirty="0">
                <a:cs typeface="Calibri"/>
              </a:rPr>
              <a:t>Stevens, F. H., Johnson, F, &amp; Perry, J.  (2022)...</a:t>
            </a:r>
          </a:p>
          <a:p>
            <a:r>
              <a:rPr lang="en-US" dirty="0">
                <a:cs typeface="Calibri"/>
              </a:rPr>
              <a:t>Sverdrup, E. (2020)…</a:t>
            </a:r>
          </a:p>
          <a:p>
            <a:r>
              <a:rPr lang="en-US" dirty="0">
                <a:cs typeface="Calibri"/>
              </a:rPr>
              <a:t>Westward ways to cook food. (2022)…  (No author)</a:t>
            </a:r>
          </a:p>
          <a:p>
            <a:pPr marL="0" indent="0">
              <a:buNone/>
            </a:pPr>
            <a:endParaRPr lang="en-US" dirty="0">
              <a:cs typeface="Calibri"/>
            </a:endParaRPr>
          </a:p>
          <a:p>
            <a:pPr marL="0" indent="0">
              <a:buNone/>
            </a:pPr>
            <a:r>
              <a:rPr lang="en-US" b="1" dirty="0">
                <a:cs typeface="Calibri"/>
              </a:rPr>
              <a:t>Which is the last name?</a:t>
            </a:r>
          </a:p>
          <a:p>
            <a:r>
              <a:rPr lang="en-US" dirty="0">
                <a:cs typeface="Calibri"/>
              </a:rPr>
              <a:t>James Boone.</a:t>
            </a:r>
          </a:p>
          <a:p>
            <a:r>
              <a:rPr lang="en-US" dirty="0">
                <a:cs typeface="Calibri"/>
              </a:rPr>
              <a:t>Joyce, James.</a:t>
            </a:r>
          </a:p>
        </p:txBody>
      </p:sp>
    </p:spTree>
    <p:extLst>
      <p:ext uri="{BB962C8B-B14F-4D97-AF65-F5344CB8AC3E}">
        <p14:creationId xmlns:p14="http://schemas.microsoft.com/office/powerpoint/2010/main" val="576323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681B5-3488-7AF7-3719-B1B10BB503BB}"/>
              </a:ext>
            </a:extLst>
          </p:cNvPr>
          <p:cNvSpPr>
            <a:spLocks noGrp="1"/>
          </p:cNvSpPr>
          <p:nvPr>
            <p:ph type="title"/>
          </p:nvPr>
        </p:nvSpPr>
        <p:spPr/>
        <p:txBody>
          <a:bodyPr/>
          <a:lstStyle/>
          <a:p>
            <a:r>
              <a:rPr lang="en-US" b="1" dirty="0">
                <a:cs typeface="Calibri Light"/>
              </a:rPr>
              <a:t>What is a research paper or case study?</a:t>
            </a:r>
            <a:endParaRPr lang="en-US" b="1" dirty="0"/>
          </a:p>
        </p:txBody>
      </p:sp>
      <p:sp>
        <p:nvSpPr>
          <p:cNvPr id="3" name="Content Placeholder 2">
            <a:extLst>
              <a:ext uri="{FF2B5EF4-FFF2-40B4-BE49-F238E27FC236}">
                <a16:creationId xmlns:a16="http://schemas.microsoft.com/office/drawing/2014/main" id="{86796E34-B5BB-53C9-D6D0-58BBD7EB5A22}"/>
              </a:ext>
            </a:extLst>
          </p:cNvPr>
          <p:cNvSpPr>
            <a:spLocks noGrp="1"/>
          </p:cNvSpPr>
          <p:nvPr>
            <p:ph idx="1"/>
          </p:nvPr>
        </p:nvSpPr>
        <p:spPr>
          <a:xfrm>
            <a:off x="651294" y="1308040"/>
            <a:ext cx="10515600" cy="4351338"/>
          </a:xfrm>
        </p:spPr>
        <p:txBody>
          <a:bodyPr vert="horz" lIns="91440" tIns="45720" rIns="91440" bIns="45720" rtlCol="0" anchor="t">
            <a:normAutofit fontScale="92500" lnSpcReduction="10000"/>
          </a:bodyPr>
          <a:lstStyle/>
          <a:p>
            <a:pPr marL="0" indent="0">
              <a:buNone/>
            </a:pPr>
            <a:endParaRPr lang="en-US" dirty="0">
              <a:cs typeface="Calibri"/>
            </a:endParaRPr>
          </a:p>
          <a:p>
            <a:r>
              <a:rPr lang="en-US" dirty="0">
                <a:ea typeface="+mn-lt"/>
                <a:cs typeface="+mn-lt"/>
              </a:rPr>
              <a:t>A research paper is a common form of academic writing. Research papers require students and academics to locate information, take a stand on that topic, and provide support (or evidence) for that position in an organized report.  They can be short, 4 – 10 pages, or 200+ pages.</a:t>
            </a:r>
            <a:endParaRPr lang="en-US" dirty="0"/>
          </a:p>
          <a:p>
            <a:r>
              <a:rPr lang="en-US" dirty="0">
                <a:ea typeface="+mn-lt"/>
                <a:cs typeface="+mn-lt"/>
              </a:rPr>
              <a:t>The term </a:t>
            </a:r>
            <a:r>
              <a:rPr lang="en-US" i="1" dirty="0">
                <a:ea typeface="+mn-lt"/>
                <a:cs typeface="+mn-lt"/>
              </a:rPr>
              <a:t>research paper</a:t>
            </a:r>
            <a:r>
              <a:rPr lang="en-US" dirty="0">
                <a:ea typeface="+mn-lt"/>
                <a:cs typeface="+mn-lt"/>
              </a:rPr>
              <a:t> may also refer to a scholarly article that contains the results of original research or an evaluation of research conducted by others. Most scholarly articles must undergo a process of peer review before they can be accepted for publication in an academic journal.</a:t>
            </a:r>
            <a:endParaRPr lang="en-US" dirty="0"/>
          </a:p>
          <a:p>
            <a:r>
              <a:rPr lang="en-US" dirty="0">
                <a:cs typeface="Calibri"/>
              </a:rPr>
              <a:t>Research papers must document the sources using a recognized style handbook.</a:t>
            </a:r>
          </a:p>
          <a:p>
            <a:pPr marL="0" indent="0">
              <a:buNone/>
            </a:pPr>
            <a:r>
              <a:rPr lang="en-US" sz="1800" dirty="0">
                <a:cs typeface="Calibri"/>
              </a:rPr>
              <a:t>Valdes, O. (2019). </a:t>
            </a:r>
            <a:r>
              <a:rPr lang="en-US" sz="1800" dirty="0">
                <a:ea typeface="+mn-lt"/>
                <a:cs typeface="+mn-lt"/>
              </a:rPr>
              <a:t>https://www.thoughtco.com/research-paper-1691912</a:t>
            </a:r>
            <a:endParaRPr lang="en-US" sz="1800" dirty="0">
              <a:cs typeface="Calibri"/>
            </a:endParaRPr>
          </a:p>
        </p:txBody>
      </p:sp>
    </p:spTree>
    <p:extLst>
      <p:ext uri="{BB962C8B-B14F-4D97-AF65-F5344CB8AC3E}">
        <p14:creationId xmlns:p14="http://schemas.microsoft.com/office/powerpoint/2010/main" val="2458671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0201B-C55B-404B-A601-86EE52AB00C2}"/>
              </a:ext>
            </a:extLst>
          </p:cNvPr>
          <p:cNvSpPr>
            <a:spLocks noGrp="1"/>
          </p:cNvSpPr>
          <p:nvPr>
            <p:ph type="title"/>
          </p:nvPr>
        </p:nvSpPr>
        <p:spPr/>
        <p:txBody>
          <a:bodyPr/>
          <a:lstStyle/>
          <a:p>
            <a:r>
              <a:rPr lang="en-US" b="1" dirty="0"/>
              <a:t>What resources can you use to improve?</a:t>
            </a:r>
            <a:endParaRPr lang="en-US" b="1" dirty="0">
              <a:cs typeface="Calibri Light"/>
            </a:endParaRPr>
          </a:p>
        </p:txBody>
      </p:sp>
      <p:sp>
        <p:nvSpPr>
          <p:cNvPr id="3" name="Content Placeholder 2">
            <a:extLst>
              <a:ext uri="{FF2B5EF4-FFF2-40B4-BE49-F238E27FC236}">
                <a16:creationId xmlns:a16="http://schemas.microsoft.com/office/drawing/2014/main" id="{7D9E93B7-679C-4152-BDCF-55254012F86F}"/>
              </a:ext>
            </a:extLst>
          </p:cNvPr>
          <p:cNvSpPr>
            <a:spLocks noGrp="1"/>
          </p:cNvSpPr>
          <p:nvPr>
            <p:ph idx="1"/>
          </p:nvPr>
        </p:nvSpPr>
        <p:spPr/>
        <p:txBody>
          <a:bodyPr vert="horz" lIns="91440" tIns="45720" rIns="91440" bIns="45720" rtlCol="0" anchor="t">
            <a:normAutofit/>
          </a:bodyPr>
          <a:lstStyle/>
          <a:p>
            <a:r>
              <a:rPr lang="en-US" dirty="0">
                <a:ea typeface="+mn-lt"/>
                <a:cs typeface="+mn-lt"/>
              </a:rPr>
              <a:t>OWL Perdue APA References</a:t>
            </a:r>
          </a:p>
          <a:p>
            <a:pPr marL="0" indent="0">
              <a:buNone/>
            </a:pPr>
            <a:r>
              <a:rPr lang="en-US" dirty="0">
                <a:ea typeface="+mn-lt"/>
                <a:cs typeface="+mn-lt"/>
                <a:hlinkClick r:id="rId2"/>
              </a:rPr>
              <a:t>https://owl.purdue.edu/owl/research_and_citation/apa_style/apa_formatting_and_style_guide/reference_list_basic_rules.html</a:t>
            </a:r>
            <a:r>
              <a:rPr lang="en-US" dirty="0">
                <a:ea typeface="+mn-lt"/>
                <a:cs typeface="+mn-lt"/>
              </a:rPr>
              <a:t> </a:t>
            </a:r>
            <a:endParaRPr lang="en-US" dirty="0">
              <a:cs typeface="Calibri"/>
            </a:endParaRPr>
          </a:p>
          <a:p>
            <a:r>
              <a:rPr lang="en-US" dirty="0">
                <a:hlinkClick r:id="rId3"/>
              </a:rPr>
              <a:t>APA Citation Manual </a:t>
            </a:r>
            <a:r>
              <a:rPr lang="en-US" dirty="0"/>
              <a:t>or </a:t>
            </a:r>
            <a:r>
              <a:rPr lang="en-US" dirty="0">
                <a:hlinkClick r:id="rId4"/>
              </a:rPr>
              <a:t>MLA </a:t>
            </a:r>
            <a:r>
              <a:rPr lang="en-US" dirty="0"/>
              <a:t>Handbook</a:t>
            </a:r>
            <a:endParaRPr lang="en-US"/>
          </a:p>
          <a:p>
            <a:r>
              <a:rPr lang="en-US" dirty="0">
                <a:hlinkClick r:id="rId5"/>
              </a:rPr>
              <a:t>A Writer’s Reference </a:t>
            </a:r>
            <a:r>
              <a:rPr lang="en-US" dirty="0"/>
              <a:t>or other combined citation manuals</a:t>
            </a:r>
            <a:endParaRPr lang="en-US" dirty="0">
              <a:cs typeface="Calibri"/>
            </a:endParaRPr>
          </a:p>
          <a:p>
            <a:r>
              <a:rPr lang="en-US" dirty="0">
                <a:hlinkClick r:id="rId6"/>
              </a:rPr>
              <a:t>Webster University Library Citation Guides</a:t>
            </a:r>
            <a:endParaRPr lang="en-US" dirty="0"/>
          </a:p>
          <a:p>
            <a:r>
              <a:rPr lang="en-US" dirty="0">
                <a:hlinkClick r:id="rId7"/>
              </a:rPr>
              <a:t>Reeg Academic Resource Center – Writing Center</a:t>
            </a:r>
            <a:endParaRPr lang="en-US" dirty="0"/>
          </a:p>
          <a:p>
            <a:pPr marL="0" indent="0">
              <a:buNone/>
            </a:pPr>
            <a:endParaRPr lang="en-US" dirty="0">
              <a:cs typeface="Calibri" panose="020F0502020204030204"/>
            </a:endParaRPr>
          </a:p>
        </p:txBody>
      </p:sp>
    </p:spTree>
    <p:extLst>
      <p:ext uri="{BB962C8B-B14F-4D97-AF65-F5344CB8AC3E}">
        <p14:creationId xmlns:p14="http://schemas.microsoft.com/office/powerpoint/2010/main" val="38169786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6FE84-D642-4103-86EC-CC098A2B5F0C}"/>
              </a:ext>
            </a:extLst>
          </p:cNvPr>
          <p:cNvSpPr>
            <a:spLocks noGrp="1"/>
          </p:cNvSpPr>
          <p:nvPr>
            <p:ph type="title"/>
          </p:nvPr>
        </p:nvSpPr>
        <p:spPr/>
        <p:txBody>
          <a:bodyPr/>
          <a:lstStyle/>
          <a:p>
            <a:r>
              <a:rPr lang="en-US" b="1" dirty="0"/>
              <a:t>Homework:  2 parts</a:t>
            </a:r>
          </a:p>
        </p:txBody>
      </p:sp>
      <p:sp>
        <p:nvSpPr>
          <p:cNvPr id="3" name="Content Placeholder 2">
            <a:extLst>
              <a:ext uri="{FF2B5EF4-FFF2-40B4-BE49-F238E27FC236}">
                <a16:creationId xmlns:a16="http://schemas.microsoft.com/office/drawing/2014/main" id="{BA912870-4456-484D-8E7A-B9A7544B09AD}"/>
              </a:ext>
            </a:extLst>
          </p:cNvPr>
          <p:cNvSpPr>
            <a:spLocks noGrp="1"/>
          </p:cNvSpPr>
          <p:nvPr>
            <p:ph idx="1"/>
          </p:nvPr>
        </p:nvSpPr>
        <p:spPr/>
        <p:txBody>
          <a:bodyPr vert="horz" lIns="91440" tIns="45720" rIns="91440" bIns="45720" rtlCol="0" anchor="t">
            <a:normAutofit fontScale="92500"/>
          </a:bodyPr>
          <a:lstStyle/>
          <a:p>
            <a:pPr marL="514350" indent="-514350">
              <a:buAutoNum type="alphaUcPeriod"/>
            </a:pPr>
            <a:r>
              <a:rPr lang="en-US" u="sng" dirty="0">
                <a:cs typeface="Calibri" panose="020F0502020204030204"/>
              </a:rPr>
              <a:t>Short answer</a:t>
            </a:r>
            <a:r>
              <a:rPr lang="en-US" dirty="0">
                <a:cs typeface="Calibri" panose="020F0502020204030204"/>
              </a:rPr>
              <a:t> based on book reading.  Remember to "echo" and indent.</a:t>
            </a:r>
          </a:p>
          <a:p>
            <a:pPr marL="514350" indent="-514350">
              <a:buAutoNum type="alphaUcPeriod"/>
            </a:pPr>
            <a:r>
              <a:rPr lang="en-US" dirty="0">
                <a:cs typeface="Calibri" panose="020F0502020204030204"/>
              </a:rPr>
              <a:t>Make a </a:t>
            </a:r>
            <a:r>
              <a:rPr lang="en-US" u="sng" dirty="0">
                <a:cs typeface="Calibri" panose="020F0502020204030204"/>
              </a:rPr>
              <a:t>References</a:t>
            </a:r>
            <a:r>
              <a:rPr lang="en-US" dirty="0">
                <a:cs typeface="Calibri" panose="020F0502020204030204"/>
              </a:rPr>
              <a:t> page </a:t>
            </a:r>
            <a:endParaRPr lang="en-US" dirty="0"/>
          </a:p>
          <a:p>
            <a:r>
              <a:rPr lang="en-US" dirty="0"/>
              <a:t>Use a citation guide source to create a short reference list from the items in the file.</a:t>
            </a:r>
            <a:endParaRPr lang="en-US">
              <a:cs typeface="Calibri"/>
            </a:endParaRPr>
          </a:p>
          <a:p>
            <a:r>
              <a:rPr lang="en-US" dirty="0">
                <a:cs typeface="Calibri"/>
              </a:rPr>
              <a:t>The three sources are given to you.</a:t>
            </a:r>
          </a:p>
          <a:p>
            <a:r>
              <a:rPr lang="en-US" dirty="0">
                <a:cs typeface="Calibri"/>
              </a:rPr>
              <a:t>You do not have to write a paper, just the References, using APA.</a:t>
            </a:r>
          </a:p>
          <a:p>
            <a:r>
              <a:rPr lang="en-US" dirty="0">
                <a:cs typeface="Calibri"/>
              </a:rPr>
              <a:t>Remember </a:t>
            </a:r>
            <a:r>
              <a:rPr lang="en-US" u="sng" dirty="0">
                <a:cs typeface="Calibri"/>
              </a:rPr>
              <a:t>to alphabetize</a:t>
            </a:r>
            <a:r>
              <a:rPr lang="en-US" dirty="0">
                <a:cs typeface="Calibri"/>
              </a:rPr>
              <a:t> the names according to the last name.</a:t>
            </a:r>
          </a:p>
          <a:p>
            <a:r>
              <a:rPr lang="en-US" dirty="0">
                <a:cs typeface="Calibri"/>
              </a:rPr>
              <a:t>There are two articles and one book.   See assignment.</a:t>
            </a:r>
          </a:p>
          <a:p>
            <a:r>
              <a:rPr lang="en-US" dirty="0">
                <a:cs typeface="Calibri"/>
              </a:rPr>
              <a:t>Let's visit the library page to see examples.</a:t>
            </a:r>
          </a:p>
          <a:p>
            <a:endParaRPr lang="en-US" dirty="0">
              <a:cs typeface="Calibri"/>
            </a:endParaRPr>
          </a:p>
        </p:txBody>
      </p:sp>
    </p:spTree>
    <p:extLst>
      <p:ext uri="{BB962C8B-B14F-4D97-AF65-F5344CB8AC3E}">
        <p14:creationId xmlns:p14="http://schemas.microsoft.com/office/powerpoint/2010/main" val="1024960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59BF9-68FE-1467-5BD8-FF8C8D7A5830}"/>
              </a:ext>
            </a:extLst>
          </p:cNvPr>
          <p:cNvSpPr>
            <a:spLocks noGrp="1"/>
          </p:cNvSpPr>
          <p:nvPr>
            <p:ph type="title"/>
          </p:nvPr>
        </p:nvSpPr>
        <p:spPr>
          <a:xfrm>
            <a:off x="838200" y="365125"/>
            <a:ext cx="10515600" cy="520431"/>
          </a:xfrm>
        </p:spPr>
        <p:txBody>
          <a:bodyPr>
            <a:normAutofit/>
          </a:bodyPr>
          <a:lstStyle/>
          <a:p>
            <a:pPr algn="ctr"/>
            <a:r>
              <a:rPr lang="en-US" sz="2400" dirty="0">
                <a:cs typeface="Calibri Light"/>
              </a:rPr>
              <a:t>References</a:t>
            </a:r>
          </a:p>
        </p:txBody>
      </p:sp>
      <p:sp>
        <p:nvSpPr>
          <p:cNvPr id="3" name="Content Placeholder 2">
            <a:extLst>
              <a:ext uri="{FF2B5EF4-FFF2-40B4-BE49-F238E27FC236}">
                <a16:creationId xmlns:a16="http://schemas.microsoft.com/office/drawing/2014/main" id="{177FF8D7-F26B-F706-E851-FA00D252A071}"/>
              </a:ext>
            </a:extLst>
          </p:cNvPr>
          <p:cNvSpPr>
            <a:spLocks noGrp="1"/>
          </p:cNvSpPr>
          <p:nvPr>
            <p:ph idx="1"/>
          </p:nvPr>
        </p:nvSpPr>
        <p:spPr>
          <a:xfrm>
            <a:off x="665672" y="905475"/>
            <a:ext cx="10688128" cy="5271488"/>
          </a:xfrm>
        </p:spPr>
        <p:txBody>
          <a:bodyPr vert="horz" lIns="91440" tIns="45720" rIns="91440" bIns="45720" rtlCol="0" anchor="t">
            <a:normAutofit fontScale="92500"/>
          </a:bodyPr>
          <a:lstStyle/>
          <a:p>
            <a:pPr marL="0" indent="0">
              <a:buNone/>
            </a:pPr>
            <a:br>
              <a:rPr lang="en-US" sz="2400" dirty="0">
                <a:ea typeface="+mn-lt"/>
                <a:cs typeface="+mn-lt"/>
              </a:rPr>
            </a:br>
            <a:r>
              <a:rPr lang="en-US" sz="2400" dirty="0">
                <a:ea typeface="+mn-lt"/>
                <a:cs typeface="+mn-lt"/>
              </a:rPr>
              <a:t>Ahmad, S. (2016). The flipped classroom model to develop Egyptian EFL students’ listening</a:t>
            </a:r>
          </a:p>
          <a:p>
            <a:pPr marL="0" indent="0">
              <a:buNone/>
            </a:pPr>
            <a:r>
              <a:rPr lang="en-US" sz="2400" dirty="0">
                <a:ea typeface="+mn-lt"/>
                <a:cs typeface="+mn-lt"/>
              </a:rPr>
              <a:t>     comprehension.</a:t>
            </a:r>
            <a:r>
              <a:rPr lang="en-US" sz="2400" i="1" dirty="0">
                <a:ea typeface="+mn-lt"/>
                <a:cs typeface="+mn-lt"/>
              </a:rPr>
              <a:t> English Language Teaching</a:t>
            </a:r>
            <a:r>
              <a:rPr lang="en-US" sz="2400" dirty="0">
                <a:ea typeface="+mn-lt"/>
                <a:cs typeface="+mn-lt"/>
              </a:rPr>
              <a:t>, 9, 166.  </a:t>
            </a:r>
            <a:r>
              <a:rPr lang="en-US" sz="2400" dirty="0">
                <a:ea typeface="+mn-lt"/>
                <a:cs typeface="+mn-lt"/>
                <a:hlinkClick r:id="rId2"/>
              </a:rPr>
              <a:t>http://dx.doi.org/10.5539/elt.v9n9</a:t>
            </a:r>
            <a:r>
              <a:rPr lang="en-US" sz="2400" dirty="0">
                <a:ea typeface="+mn-lt"/>
                <a:cs typeface="+mn-lt"/>
              </a:rPr>
              <a:t>.</a:t>
            </a:r>
          </a:p>
          <a:p>
            <a:pPr marL="0" indent="0">
              <a:buNone/>
            </a:pPr>
            <a:r>
              <a:rPr lang="en-US" sz="2400" dirty="0">
                <a:ea typeface="+mn-lt"/>
                <a:cs typeface="+mn-lt"/>
              </a:rPr>
              <a:t>Byram, M., &amp; Wagner, M. (2018). Making a difference: Language teaching for intercultural</a:t>
            </a:r>
          </a:p>
          <a:p>
            <a:pPr marL="0" indent="0">
              <a:buNone/>
            </a:pPr>
            <a:r>
              <a:rPr lang="en-US" sz="2400" dirty="0">
                <a:ea typeface="+mn-lt"/>
                <a:cs typeface="+mn-lt"/>
              </a:rPr>
              <a:t>     and international dialogue. </a:t>
            </a:r>
            <a:r>
              <a:rPr lang="en-US" sz="2400" i="1" dirty="0">
                <a:ea typeface="+mn-lt"/>
                <a:cs typeface="+mn-lt"/>
              </a:rPr>
              <a:t>Foreign Language Annals</a:t>
            </a:r>
            <a:r>
              <a:rPr lang="en-US" sz="2400" dirty="0">
                <a:ea typeface="+mn-lt"/>
                <a:cs typeface="+mn-lt"/>
              </a:rPr>
              <a:t>, 51, 140–151. </a:t>
            </a:r>
          </a:p>
          <a:p>
            <a:pPr marL="0" indent="0">
              <a:buNone/>
            </a:pPr>
            <a:r>
              <a:rPr lang="en-US" sz="2400" dirty="0">
                <a:ea typeface="+mn-lt"/>
                <a:cs typeface="+mn-lt"/>
              </a:rPr>
              <a:t>Chistyakova, T. B. (2016). </a:t>
            </a:r>
            <a:r>
              <a:rPr lang="en-US" sz="2400" err="1">
                <a:ea typeface="+mn-lt"/>
                <a:cs typeface="+mn-lt"/>
              </a:rPr>
              <a:t>Elektronnaya</a:t>
            </a:r>
            <a:r>
              <a:rPr lang="en-US" sz="2400" dirty="0">
                <a:ea typeface="+mn-lt"/>
                <a:cs typeface="+mn-lt"/>
              </a:rPr>
              <a:t> </a:t>
            </a:r>
            <a:r>
              <a:rPr lang="en-US" sz="2400" err="1">
                <a:ea typeface="+mn-lt"/>
                <a:cs typeface="+mn-lt"/>
              </a:rPr>
              <a:t>obrazovatel’naya</a:t>
            </a:r>
            <a:r>
              <a:rPr lang="en-US" sz="2400" dirty="0">
                <a:ea typeface="+mn-lt"/>
                <a:cs typeface="+mn-lt"/>
              </a:rPr>
              <a:t> </a:t>
            </a:r>
            <a:r>
              <a:rPr lang="en-US" sz="2400" err="1">
                <a:ea typeface="+mn-lt"/>
                <a:cs typeface="+mn-lt"/>
              </a:rPr>
              <a:t>sreda</a:t>
            </a:r>
            <a:r>
              <a:rPr lang="en-US" sz="2400" dirty="0">
                <a:ea typeface="+mn-lt"/>
                <a:cs typeface="+mn-lt"/>
              </a:rPr>
              <a:t> </a:t>
            </a:r>
            <a:r>
              <a:rPr lang="en-US" sz="2400" err="1">
                <a:ea typeface="+mn-lt"/>
                <a:cs typeface="+mn-lt"/>
              </a:rPr>
              <a:t>dlya</a:t>
            </a:r>
            <a:r>
              <a:rPr lang="en-US" sz="2400" dirty="0">
                <a:ea typeface="+mn-lt"/>
                <a:cs typeface="+mn-lt"/>
              </a:rPr>
              <a:t> </a:t>
            </a:r>
            <a:r>
              <a:rPr lang="en-US" sz="2400" err="1">
                <a:ea typeface="+mn-lt"/>
                <a:cs typeface="+mn-lt"/>
              </a:rPr>
              <a:t>kompetentnostno</a:t>
            </a:r>
            <a:endParaRPr lang="en-US" sz="2400">
              <a:ea typeface="+mn-lt"/>
              <a:cs typeface="+mn-lt"/>
            </a:endParaRPr>
          </a:p>
          <a:p>
            <a:pPr marL="0" indent="0">
              <a:buNone/>
            </a:pPr>
            <a:r>
              <a:rPr lang="en-US" sz="2400" dirty="0">
                <a:ea typeface="+mn-lt"/>
                <a:cs typeface="+mn-lt"/>
              </a:rPr>
              <a:t>   -</a:t>
            </a:r>
            <a:r>
              <a:rPr lang="en-US" sz="2400" err="1">
                <a:ea typeface="+mn-lt"/>
                <a:cs typeface="+mn-lt"/>
              </a:rPr>
              <a:t>oriyentirovanogo</a:t>
            </a:r>
            <a:r>
              <a:rPr lang="en-US" sz="2400" dirty="0">
                <a:ea typeface="+mn-lt"/>
                <a:cs typeface="+mn-lt"/>
              </a:rPr>
              <a:t> </a:t>
            </a:r>
            <a:r>
              <a:rPr lang="en-US" sz="2400" err="1">
                <a:ea typeface="+mn-lt"/>
                <a:cs typeface="+mn-lt"/>
              </a:rPr>
              <a:t>obucheniya</a:t>
            </a:r>
            <a:r>
              <a:rPr lang="en-US" sz="2400" dirty="0">
                <a:ea typeface="+mn-lt"/>
                <a:cs typeface="+mn-lt"/>
              </a:rPr>
              <a:t> </a:t>
            </a:r>
            <a:r>
              <a:rPr lang="en-US" sz="2400" err="1">
                <a:ea typeface="+mn-lt"/>
                <a:cs typeface="+mn-lt"/>
              </a:rPr>
              <a:t>spetsialistov</a:t>
            </a:r>
            <a:r>
              <a:rPr lang="en-US" sz="2400" dirty="0">
                <a:ea typeface="+mn-lt"/>
                <a:cs typeface="+mn-lt"/>
              </a:rPr>
              <a:t> Nauka </a:t>
            </a:r>
            <a:r>
              <a:rPr lang="en-US" sz="2400" err="1">
                <a:ea typeface="+mn-lt"/>
                <a:cs typeface="+mn-lt"/>
              </a:rPr>
              <a:t>i</a:t>
            </a:r>
            <a:r>
              <a:rPr lang="en-US" sz="2400" dirty="0">
                <a:ea typeface="+mn-lt"/>
                <a:cs typeface="+mn-lt"/>
              </a:rPr>
              <a:t> </a:t>
            </a:r>
            <a:r>
              <a:rPr lang="en-US" sz="2400" err="1">
                <a:ea typeface="+mn-lt"/>
                <a:cs typeface="+mn-lt"/>
              </a:rPr>
              <a:t>Obrazovaniye</a:t>
            </a:r>
            <a:r>
              <a:rPr lang="en-US" sz="2400" dirty="0">
                <a:ea typeface="+mn-lt"/>
                <a:cs typeface="+mn-lt"/>
              </a:rPr>
              <a:t>. MGTU, 7, 230–241.</a:t>
            </a:r>
          </a:p>
          <a:p>
            <a:pPr marL="0" indent="0">
              <a:buNone/>
            </a:pPr>
            <a:r>
              <a:rPr lang="en-US" sz="2400" dirty="0">
                <a:ea typeface="+mn-lt"/>
                <a:cs typeface="+mn-lt"/>
              </a:rPr>
              <a:t>    Retrieved November, 15, 2018, from </a:t>
            </a:r>
            <a:r>
              <a:rPr lang="en-US" sz="2400" dirty="0">
                <a:ea typeface="+mn-lt"/>
                <a:cs typeface="+mn-lt"/>
                <a:hlinkClick r:id="rId3"/>
              </a:rPr>
              <a:t>http://technomag.edu.ru/doc/845179.html</a:t>
            </a:r>
            <a:endParaRPr lang="en-US" sz="2400" dirty="0">
              <a:ea typeface="+mn-lt"/>
              <a:cs typeface="+mn-lt"/>
            </a:endParaRPr>
          </a:p>
          <a:p>
            <a:pPr marL="0" indent="0">
              <a:buNone/>
            </a:pPr>
            <a:r>
              <a:rPr lang="en-US" sz="2400" dirty="0">
                <a:ea typeface="+mn-lt"/>
                <a:cs typeface="+mn-lt"/>
              </a:rPr>
              <a:t>Fedoruk, H. M. (2015). Formation of information and communication technologies</a:t>
            </a:r>
          </a:p>
          <a:p>
            <a:pPr marL="0" indent="0">
              <a:buNone/>
            </a:pPr>
            <a:r>
              <a:rPr lang="en-US" sz="2400" dirty="0">
                <a:ea typeface="+mn-lt"/>
                <a:cs typeface="+mn-lt"/>
              </a:rPr>
              <a:t>     competence of future teachers in the course of vocational training. (Unpublished doctoral</a:t>
            </a:r>
          </a:p>
          <a:p>
            <a:pPr marL="0" indent="0">
              <a:buNone/>
            </a:pPr>
            <a:r>
              <a:rPr lang="en-US" sz="2400" dirty="0">
                <a:ea typeface="+mn-lt"/>
                <a:cs typeface="+mn-lt"/>
              </a:rPr>
              <a:t>    dissertation). Mykhailo </a:t>
            </a:r>
            <a:r>
              <a:rPr lang="en-US" sz="2400" dirty="0" err="1">
                <a:ea typeface="+mn-lt"/>
                <a:cs typeface="+mn-lt"/>
              </a:rPr>
              <a:t>Kotsiubynsky</a:t>
            </a:r>
            <a:r>
              <a:rPr lang="en-US" sz="2400" dirty="0">
                <a:ea typeface="+mn-lt"/>
                <a:cs typeface="+mn-lt"/>
              </a:rPr>
              <a:t> Vinnitsa State Pedagogical University, Vinnytsia,</a:t>
            </a:r>
          </a:p>
          <a:p>
            <a:pPr marL="0" indent="0">
              <a:buNone/>
            </a:pPr>
            <a:r>
              <a:rPr lang="en-US" sz="2400" dirty="0">
                <a:ea typeface="+mn-lt"/>
                <a:cs typeface="+mn-lt"/>
              </a:rPr>
              <a:t>    Ukraine.</a:t>
            </a:r>
            <a:endParaRPr lang="en-US" sz="2400" dirty="0">
              <a:cs typeface="Calibri" panose="020F0502020204030204"/>
            </a:endParaRPr>
          </a:p>
        </p:txBody>
      </p:sp>
    </p:spTree>
    <p:extLst>
      <p:ext uri="{BB962C8B-B14F-4D97-AF65-F5344CB8AC3E}">
        <p14:creationId xmlns:p14="http://schemas.microsoft.com/office/powerpoint/2010/main" val="41137503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in a tunnel">
            <a:extLst>
              <a:ext uri="{FF2B5EF4-FFF2-40B4-BE49-F238E27FC236}">
                <a16:creationId xmlns:a16="http://schemas.microsoft.com/office/drawing/2014/main" id="{44A1CD02-DEFA-1267-ADA3-83B9F0242D09}"/>
              </a:ext>
            </a:extLst>
          </p:cNvPr>
          <p:cNvPicPr>
            <a:picLocks noChangeAspect="1"/>
          </p:cNvPicPr>
          <p:nvPr/>
        </p:nvPicPr>
        <p:blipFill rotWithShape="1">
          <a:blip r:embed="rId2">
            <a:alphaModFix amt="50000"/>
          </a:blip>
          <a:srcRect t="13296" r="-2" b="2491"/>
          <a:stretch/>
        </p:blipFill>
        <p:spPr>
          <a:xfrm>
            <a:off x="20" y="1"/>
            <a:ext cx="12191980" cy="6857999"/>
          </a:xfrm>
          <a:prstGeom prst="rect">
            <a:avLst/>
          </a:prstGeom>
        </p:spPr>
      </p:pic>
      <p:sp>
        <p:nvSpPr>
          <p:cNvPr id="2" name="Title 1">
            <a:extLst>
              <a:ext uri="{FF2B5EF4-FFF2-40B4-BE49-F238E27FC236}">
                <a16:creationId xmlns:a16="http://schemas.microsoft.com/office/drawing/2014/main" id="{4CB4BDB6-639E-D8F3-12F4-ECD7B031E559}"/>
              </a:ext>
            </a:extLst>
          </p:cNvPr>
          <p:cNvSpPr>
            <a:spLocks noGrp="1"/>
          </p:cNvSpPr>
          <p:nvPr>
            <p:ph type="title"/>
          </p:nvPr>
        </p:nvSpPr>
        <p:spPr>
          <a:xfrm>
            <a:off x="790755" y="590400"/>
            <a:ext cx="10481094" cy="4783951"/>
          </a:xfrm>
        </p:spPr>
        <p:txBody>
          <a:bodyPr vert="horz" lIns="91440" tIns="45720" rIns="91440" bIns="45720" rtlCol="0" anchor="b">
            <a:normAutofit fontScale="90000"/>
          </a:bodyPr>
          <a:lstStyle/>
          <a:p>
            <a:pPr algn="ctr"/>
            <a:r>
              <a:rPr lang="en-US" sz="6000" dirty="0">
                <a:solidFill>
                  <a:srgbClr val="FFFFFF"/>
                </a:solidFill>
              </a:rPr>
              <a:t>Questions and Make-up Work On Thursday.   Extra</a:t>
            </a:r>
            <a:r>
              <a:rPr lang="en-US" sz="6000" dirty="0">
                <a:cs typeface="Calibri Light"/>
              </a:rPr>
              <a:t> Credit questions.  One or two.</a:t>
            </a:r>
            <a:br>
              <a:rPr lang="en-US" sz="6000" dirty="0"/>
            </a:br>
            <a:r>
              <a:rPr lang="en-US" sz="3600" b="1" dirty="0">
                <a:solidFill>
                  <a:srgbClr val="FFFFFF"/>
                </a:solidFill>
                <a:cs typeface="Calibri Light"/>
              </a:rPr>
              <a:t>You should review the power points beforehand.</a:t>
            </a:r>
            <a:br>
              <a:rPr lang="en-US" sz="3600" b="1" dirty="0">
                <a:solidFill>
                  <a:srgbClr val="FFFFFF"/>
                </a:solidFill>
                <a:cs typeface="Calibri Light"/>
              </a:rPr>
            </a:br>
            <a:r>
              <a:rPr lang="en-US" sz="3600" b="1" dirty="0">
                <a:solidFill>
                  <a:srgbClr val="FFFFFF"/>
                </a:solidFill>
                <a:cs typeface="Calibri Light"/>
              </a:rPr>
              <a:t>If you missed class, make sure you put your name in the chat so that I can give you attendance points. </a:t>
            </a:r>
            <a:br>
              <a:rPr lang="en-US" sz="3600" b="1" dirty="0">
                <a:solidFill>
                  <a:srgbClr val="FFFFFF"/>
                </a:solidFill>
                <a:cs typeface="Calibri Light"/>
              </a:rPr>
            </a:br>
            <a:br>
              <a:rPr lang="en-US" sz="3600" b="1" dirty="0">
                <a:cs typeface="Calibri Light"/>
              </a:rPr>
            </a:br>
            <a:r>
              <a:rPr lang="en-US" sz="3600" b="1" dirty="0">
                <a:solidFill>
                  <a:srgbClr val="FFFFFF"/>
                </a:solidFill>
                <a:cs typeface="Calibri Light"/>
              </a:rPr>
              <a:t>If you have a question about the homework, say hi and ask.</a:t>
            </a:r>
            <a:br>
              <a:rPr lang="en-US" sz="3600" b="1" dirty="0">
                <a:solidFill>
                  <a:srgbClr val="FFFFFF"/>
                </a:solidFill>
                <a:cs typeface="Calibri Light"/>
              </a:rPr>
            </a:br>
            <a:r>
              <a:rPr lang="en-US" sz="3600" b="1" dirty="0">
                <a:solidFill>
                  <a:srgbClr val="FFFFFF"/>
                </a:solidFill>
                <a:ea typeface="Calibri Light"/>
                <a:cs typeface="Calibri Light"/>
              </a:rPr>
              <a:t>Come on time.  </a:t>
            </a:r>
          </a:p>
        </p:txBody>
      </p:sp>
    </p:spTree>
    <p:extLst>
      <p:ext uri="{BB962C8B-B14F-4D97-AF65-F5344CB8AC3E}">
        <p14:creationId xmlns:p14="http://schemas.microsoft.com/office/powerpoint/2010/main" val="317512094"/>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F198-F251-9048-8C83-CA4983E22657}"/>
              </a:ext>
            </a:extLst>
          </p:cNvPr>
          <p:cNvSpPr>
            <a:spLocks noGrp="1"/>
          </p:cNvSpPr>
          <p:nvPr>
            <p:ph type="title"/>
          </p:nvPr>
        </p:nvSpPr>
        <p:spPr>
          <a:xfrm>
            <a:off x="640080" y="325369"/>
            <a:ext cx="5648186" cy="921672"/>
          </a:xfrm>
        </p:spPr>
        <p:txBody>
          <a:bodyPr anchor="b">
            <a:normAutofit/>
          </a:bodyPr>
          <a:lstStyle/>
          <a:p>
            <a:r>
              <a:rPr lang="en-US" sz="5400" b="1" dirty="0">
                <a:cs typeface="Calibri Light"/>
              </a:rPr>
              <a:t>Participation Exit  2</a:t>
            </a:r>
          </a:p>
        </p:txBody>
      </p:sp>
      <p:sp>
        <p:nvSpPr>
          <p:cNvPr id="3" name="Content Placeholder 2">
            <a:extLst>
              <a:ext uri="{FF2B5EF4-FFF2-40B4-BE49-F238E27FC236}">
                <a16:creationId xmlns:a16="http://schemas.microsoft.com/office/drawing/2014/main" id="{4E126E50-1D2A-21F4-8BFF-175295FB9F92}"/>
              </a:ext>
            </a:extLst>
          </p:cNvPr>
          <p:cNvSpPr>
            <a:spLocks noGrp="1"/>
          </p:cNvSpPr>
          <p:nvPr>
            <p:ph idx="1"/>
          </p:nvPr>
        </p:nvSpPr>
        <p:spPr>
          <a:xfrm>
            <a:off x="424420" y="1392032"/>
            <a:ext cx="4459249" cy="4801535"/>
          </a:xfrm>
        </p:spPr>
        <p:txBody>
          <a:bodyPr vert="horz" lIns="91440" tIns="45720" rIns="91440" bIns="45720" rtlCol="0" anchor="t">
            <a:noAutofit/>
          </a:bodyPr>
          <a:lstStyle/>
          <a:p>
            <a:r>
              <a:rPr lang="en-US" sz="3600" dirty="0">
                <a:cs typeface="Calibri"/>
              </a:rPr>
              <a:t>Last five minutes of class.</a:t>
            </a:r>
          </a:p>
          <a:p>
            <a:r>
              <a:rPr lang="en-US" sz="3600" dirty="0">
                <a:cs typeface="Calibri"/>
              </a:rPr>
              <a:t>Online Multiple Choice</a:t>
            </a:r>
          </a:p>
          <a:p>
            <a:r>
              <a:rPr lang="en-US" sz="3600" dirty="0">
                <a:cs typeface="Calibri"/>
              </a:rPr>
              <a:t>Counts as participation and attendance for this week.</a:t>
            </a:r>
          </a:p>
          <a:p>
            <a:r>
              <a:rPr lang="en-US" sz="3600" dirty="0">
                <a:ea typeface="Calibri" panose="020F0502020204030204"/>
                <a:cs typeface="Calibri"/>
              </a:rPr>
              <a:t>Found on Canvas.</a:t>
            </a:r>
          </a:p>
        </p:txBody>
      </p:sp>
      <p:pic>
        <p:nvPicPr>
          <p:cNvPr id="4" name="Picture 4" descr="Icon&#10;&#10;Description automatically generated">
            <a:extLst>
              <a:ext uri="{FF2B5EF4-FFF2-40B4-BE49-F238E27FC236}">
                <a16:creationId xmlns:a16="http://schemas.microsoft.com/office/drawing/2014/main" id="{1004EEB9-F16A-2FFC-8C6E-7C07422417C0}"/>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17962" r="17844"/>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3C8C2E22-B7DE-1C40-F23D-CA0B04289B38}"/>
              </a:ext>
            </a:extLst>
          </p:cNvPr>
          <p:cNvSpPr txBox="1"/>
          <p:nvPr/>
        </p:nvSpPr>
        <p:spPr>
          <a:xfrm>
            <a:off x="9870532" y="6657945"/>
            <a:ext cx="232146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a:t>
            </a:r>
            <a:r>
              <a:rPr lang="en-US" sz="700">
                <a:solidFill>
                  <a:srgbClr val="FFFFFF"/>
                </a:solidFill>
              </a:rPr>
              <a:t>.</a:t>
            </a:r>
          </a:p>
        </p:txBody>
      </p:sp>
    </p:spTree>
    <p:extLst>
      <p:ext uri="{BB962C8B-B14F-4D97-AF65-F5344CB8AC3E}">
        <p14:creationId xmlns:p14="http://schemas.microsoft.com/office/powerpoint/2010/main" val="282697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3280</Words>
  <Application>Microsoft Office PowerPoint</Application>
  <PresentationFormat>Widescreen</PresentationFormat>
  <Paragraphs>216</Paragraphs>
  <Slides>36</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36</vt:i4>
      </vt:variant>
    </vt:vector>
  </HeadingPairs>
  <TitlesOfParts>
    <vt:vector size="42" baseType="lpstr">
      <vt:lpstr>Arial</vt:lpstr>
      <vt:lpstr>Calibri</vt:lpstr>
      <vt:lpstr>Calibri Light</vt:lpstr>
      <vt:lpstr>Times New Roman</vt:lpstr>
      <vt:lpstr>Office Theme</vt:lpstr>
      <vt:lpstr>Office Theme</vt:lpstr>
      <vt:lpstr>Week 2</vt:lpstr>
      <vt:lpstr>Assignment 1 Homework Feedback </vt:lpstr>
      <vt:lpstr>Writing assignments:   Be specific in your answers and check any rubric and comments</vt:lpstr>
      <vt:lpstr>Format for a short answer:  1 point on the rubric:  echo and indent</vt:lpstr>
      <vt:lpstr>Indent at the beginning</vt:lpstr>
      <vt:lpstr>Topic Sentence = echoing the prompt</vt:lpstr>
      <vt:lpstr>Plagiarism:  Automatic 0</vt:lpstr>
      <vt:lpstr>Do NOT copy the prompt</vt:lpstr>
      <vt:lpstr>Example of a short answer as a paragraph:</vt:lpstr>
      <vt:lpstr>IN ? Which COUNTRY OR CULTURE?</vt:lpstr>
      <vt:lpstr>    Participation Entry Task 2 Reminder:    5 minutes 1) Read everything carefully. 2) Careful with ones that say "all of the following except."</vt:lpstr>
      <vt:lpstr>Today's Objectives:</vt:lpstr>
      <vt:lpstr>Academic language and Style in Research</vt:lpstr>
      <vt:lpstr>Emailing your professors</vt:lpstr>
      <vt:lpstr>Whole group question:</vt:lpstr>
      <vt:lpstr>Research Part 1: Citations</vt:lpstr>
      <vt:lpstr>Citing = Documenting Sources</vt:lpstr>
      <vt:lpstr>What is citation? Why does it exist?</vt:lpstr>
      <vt:lpstr>When to cite</vt:lpstr>
      <vt:lpstr>What are the two most used citation styles at Webster?</vt:lpstr>
      <vt:lpstr>Major differences between APA and MLA</vt:lpstr>
      <vt:lpstr>Example:  in-text citation  APA style</vt:lpstr>
      <vt:lpstr>In-text and References list citation</vt:lpstr>
      <vt:lpstr>Compare: APA</vt:lpstr>
      <vt:lpstr>Do you need to memorize citation style? </vt:lpstr>
      <vt:lpstr>Types of in-text citations using APA</vt:lpstr>
      <vt:lpstr>References page (should be on a separate page and in alphabetical order by last name.)</vt:lpstr>
      <vt:lpstr>Basic format for books APA</vt:lpstr>
      <vt:lpstr>Basic format for an academic article</vt:lpstr>
      <vt:lpstr>Alphabetical order to last names or title</vt:lpstr>
      <vt:lpstr>What is a research paper or case study?</vt:lpstr>
      <vt:lpstr>What resources can you use to improve?</vt:lpstr>
      <vt:lpstr>Homework:  2 parts</vt:lpstr>
      <vt:lpstr>References</vt:lpstr>
      <vt:lpstr>Questions and Make-up Work On Thursday.   Extra Credit questions.  One or two. You should review the power points beforehand. If you missed class, make sure you put your name in the chat so that I can give you attendance points.   If you have a question about the homework, say hi and ask. Come on time.  </vt:lpstr>
      <vt:lpstr>Participation Exit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Citation styles</dc:title>
  <dc:creator>Carolyn Trachtova</dc:creator>
  <cp:lastModifiedBy>Diana Chavez</cp:lastModifiedBy>
  <cp:revision>1728</cp:revision>
  <dcterms:created xsi:type="dcterms:W3CDTF">2022-06-30T18:16:43Z</dcterms:created>
  <dcterms:modified xsi:type="dcterms:W3CDTF">2024-08-27T20:57:01Z</dcterms:modified>
</cp:coreProperties>
</file>