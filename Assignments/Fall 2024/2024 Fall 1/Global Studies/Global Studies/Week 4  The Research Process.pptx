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310" r:id="rId4"/>
    <p:sldId id="269" r:id="rId5"/>
    <p:sldId id="295" r:id="rId6"/>
    <p:sldId id="296" r:id="rId7"/>
    <p:sldId id="288" r:id="rId8"/>
    <p:sldId id="309" r:id="rId9"/>
    <p:sldId id="300" r:id="rId10"/>
    <p:sldId id="297" r:id="rId11"/>
    <p:sldId id="257" r:id="rId12"/>
    <p:sldId id="291" r:id="rId13"/>
    <p:sldId id="275" r:id="rId14"/>
    <p:sldId id="293" r:id="rId15"/>
    <p:sldId id="258" r:id="rId16"/>
    <p:sldId id="272" r:id="rId17"/>
    <p:sldId id="271" r:id="rId18"/>
    <p:sldId id="262" r:id="rId19"/>
    <p:sldId id="276" r:id="rId20"/>
    <p:sldId id="273" r:id="rId21"/>
    <p:sldId id="283" r:id="rId22"/>
    <p:sldId id="285" r:id="rId23"/>
    <p:sldId id="284" r:id="rId24"/>
    <p:sldId id="259" r:id="rId25"/>
    <p:sldId id="261" r:id="rId26"/>
    <p:sldId id="265" r:id="rId27"/>
    <p:sldId id="266" r:id="rId28"/>
    <p:sldId id="277" r:id="rId29"/>
    <p:sldId id="264" r:id="rId30"/>
    <p:sldId id="279" r:id="rId31"/>
    <p:sldId id="298" r:id="rId32"/>
    <p:sldId id="280" r:id="rId33"/>
    <p:sldId id="281" r:id="rId34"/>
    <p:sldId id="294" r:id="rId35"/>
    <p:sldId id="312" r:id="rId36"/>
    <p:sldId id="263" r:id="rId37"/>
    <p:sldId id="270" r:id="rId38"/>
    <p:sldId id="313" r:id="rId39"/>
    <p:sldId id="28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E907E9-5621-F918-7199-7DA49AF54824}" v="1067" dt="2024-09-10T14:54:32.919"/>
    <p1510:client id="{74F35A2E-E2C4-1CF8-7BE5-8E61D5BE807C}" v="5" dt="2024-09-10T19:14:02.336"/>
    <p1510:client id="{929D8DFF-3254-FCD5-EBD0-B9B600635F56}" v="30" dt="2024-09-10T20:15:04.3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D027C8-0CD1-4FDE-958D-A491C0284F87}"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en-US"/>
        </a:p>
      </dgm:t>
    </dgm:pt>
    <dgm:pt modelId="{80BEFBB3-835F-4CE0-A33E-6C14A122F471}">
      <dgm:prSet phldrT="[Text]" phldr="1"/>
      <dgm:spPr/>
      <dgm:t>
        <a:bodyPr/>
        <a:lstStyle/>
        <a:p>
          <a:endParaRPr lang="en-US"/>
        </a:p>
      </dgm:t>
    </dgm:pt>
    <dgm:pt modelId="{2049C85D-2BD8-48C9-B8E8-FEF3244A01C2}" type="parTrans" cxnId="{3E0473D7-125F-4965-923B-E47CB5F37192}">
      <dgm:prSet/>
      <dgm:spPr/>
      <dgm:t>
        <a:bodyPr/>
        <a:lstStyle/>
        <a:p>
          <a:endParaRPr lang="en-US"/>
        </a:p>
      </dgm:t>
    </dgm:pt>
    <dgm:pt modelId="{3EBD5D94-238A-420B-A56D-3322A16E4B92}" type="sibTrans" cxnId="{3E0473D7-125F-4965-923B-E47CB5F37192}">
      <dgm:prSet/>
      <dgm:spPr/>
      <dgm:t>
        <a:bodyPr/>
        <a:lstStyle/>
        <a:p>
          <a:endParaRPr lang="en-US"/>
        </a:p>
      </dgm:t>
    </dgm:pt>
    <dgm:pt modelId="{261454D5-8F7A-477F-8007-B5F27FE8FEA0}">
      <dgm:prSet phldrT="[Text]" phldr="1"/>
      <dgm:spPr/>
      <dgm:t>
        <a:bodyPr/>
        <a:lstStyle/>
        <a:p>
          <a:endParaRPr lang="en-US"/>
        </a:p>
      </dgm:t>
    </dgm:pt>
    <dgm:pt modelId="{D060B8B0-5C5C-4E22-B058-A8CF757F8CA3}" type="parTrans" cxnId="{3D1CF8BC-E968-4C2B-9CA5-1033C1E25EE0}">
      <dgm:prSet/>
      <dgm:spPr/>
      <dgm:t>
        <a:bodyPr/>
        <a:lstStyle/>
        <a:p>
          <a:endParaRPr lang="en-US"/>
        </a:p>
      </dgm:t>
    </dgm:pt>
    <dgm:pt modelId="{7532B238-BAAD-49E7-9CDB-7C1D2934C0F2}" type="sibTrans" cxnId="{3D1CF8BC-E968-4C2B-9CA5-1033C1E25EE0}">
      <dgm:prSet/>
      <dgm:spPr/>
      <dgm:t>
        <a:bodyPr/>
        <a:lstStyle/>
        <a:p>
          <a:endParaRPr lang="en-US"/>
        </a:p>
      </dgm:t>
    </dgm:pt>
    <dgm:pt modelId="{F7C581A7-FCB6-41CC-9044-BDA18D0AFC2E}">
      <dgm:prSet phldrT="[Text]" phldr="1"/>
      <dgm:spPr/>
      <dgm:t>
        <a:bodyPr/>
        <a:lstStyle/>
        <a:p>
          <a:endParaRPr lang="en-US"/>
        </a:p>
      </dgm:t>
    </dgm:pt>
    <dgm:pt modelId="{86342655-E3A8-4F67-A584-2A14F649B673}" type="parTrans" cxnId="{6B4A2031-1956-4969-8812-48C3CC481209}">
      <dgm:prSet/>
      <dgm:spPr/>
      <dgm:t>
        <a:bodyPr/>
        <a:lstStyle/>
        <a:p>
          <a:endParaRPr lang="en-US"/>
        </a:p>
      </dgm:t>
    </dgm:pt>
    <dgm:pt modelId="{A81645F0-D309-4013-ABFE-80C2091BC18E}" type="sibTrans" cxnId="{6B4A2031-1956-4969-8812-48C3CC481209}">
      <dgm:prSet/>
      <dgm:spPr/>
      <dgm:t>
        <a:bodyPr/>
        <a:lstStyle/>
        <a:p>
          <a:endParaRPr lang="en-US"/>
        </a:p>
      </dgm:t>
    </dgm:pt>
    <dgm:pt modelId="{72CDF864-D113-4852-8B0A-82682FA82B74}">
      <dgm:prSet phldrT="[Text]" phldr="1"/>
      <dgm:spPr/>
      <dgm:t>
        <a:bodyPr/>
        <a:lstStyle/>
        <a:p>
          <a:endParaRPr lang="en-US"/>
        </a:p>
      </dgm:t>
    </dgm:pt>
    <dgm:pt modelId="{DFAEB614-D48D-42CC-A7B5-CE8EE317DC02}" type="parTrans" cxnId="{32541C17-80B6-4033-BED8-81C332C6AF5B}">
      <dgm:prSet/>
      <dgm:spPr/>
      <dgm:t>
        <a:bodyPr/>
        <a:lstStyle/>
        <a:p>
          <a:endParaRPr lang="en-US"/>
        </a:p>
      </dgm:t>
    </dgm:pt>
    <dgm:pt modelId="{F6C95F2A-28F4-4651-BEF1-409FECE8379C}" type="sibTrans" cxnId="{32541C17-80B6-4033-BED8-81C332C6AF5B}">
      <dgm:prSet/>
      <dgm:spPr/>
      <dgm:t>
        <a:bodyPr/>
        <a:lstStyle/>
        <a:p>
          <a:endParaRPr lang="en-US"/>
        </a:p>
      </dgm:t>
    </dgm:pt>
    <dgm:pt modelId="{9A1E7E41-C356-4DA5-9D39-58980655D785}">
      <dgm:prSet phldrT="[Text]" phldr="1"/>
      <dgm:spPr/>
      <dgm:t>
        <a:bodyPr/>
        <a:lstStyle/>
        <a:p>
          <a:endParaRPr lang="en-US"/>
        </a:p>
      </dgm:t>
    </dgm:pt>
    <dgm:pt modelId="{932C10C5-1754-4251-AFAD-907ABD1AE6A0}" type="parTrans" cxnId="{646512B2-BB45-47D6-8B18-9312BBA025A8}">
      <dgm:prSet/>
      <dgm:spPr/>
      <dgm:t>
        <a:bodyPr/>
        <a:lstStyle/>
        <a:p>
          <a:endParaRPr lang="en-US"/>
        </a:p>
      </dgm:t>
    </dgm:pt>
    <dgm:pt modelId="{A17C788E-0341-4B9E-A281-8582E5CEE9FB}" type="sibTrans" cxnId="{646512B2-BB45-47D6-8B18-9312BBA025A8}">
      <dgm:prSet/>
      <dgm:spPr/>
      <dgm:t>
        <a:bodyPr/>
        <a:lstStyle/>
        <a:p>
          <a:endParaRPr lang="en-US"/>
        </a:p>
      </dgm:t>
    </dgm:pt>
    <dgm:pt modelId="{5BD8B28A-6EA8-4AB4-BED5-5BA5133B001A}" type="pres">
      <dgm:prSet presAssocID="{4AD027C8-0CD1-4FDE-958D-A491C0284F87}" presName="diagram" presStyleCnt="0">
        <dgm:presLayoutVars>
          <dgm:dir/>
          <dgm:resizeHandles val="exact"/>
        </dgm:presLayoutVars>
      </dgm:prSet>
      <dgm:spPr/>
    </dgm:pt>
    <dgm:pt modelId="{45C287A6-27F1-470D-AF64-E5FC4D132921}" type="pres">
      <dgm:prSet presAssocID="{80BEFBB3-835F-4CE0-A33E-6C14A122F471}" presName="node" presStyleLbl="node1" presStyleIdx="0" presStyleCnt="5">
        <dgm:presLayoutVars>
          <dgm:bulletEnabled val="1"/>
        </dgm:presLayoutVars>
      </dgm:prSet>
      <dgm:spPr/>
    </dgm:pt>
    <dgm:pt modelId="{E29DA54B-3352-4063-80CB-54ED5D801DA9}" type="pres">
      <dgm:prSet presAssocID="{3EBD5D94-238A-420B-A56D-3322A16E4B92}" presName="sibTrans" presStyleCnt="0"/>
      <dgm:spPr/>
    </dgm:pt>
    <dgm:pt modelId="{FDA971BD-E9A3-4263-82E1-0475C0C278D6}" type="pres">
      <dgm:prSet presAssocID="{261454D5-8F7A-477F-8007-B5F27FE8FEA0}" presName="node" presStyleLbl="node1" presStyleIdx="1" presStyleCnt="5">
        <dgm:presLayoutVars>
          <dgm:bulletEnabled val="1"/>
        </dgm:presLayoutVars>
      </dgm:prSet>
      <dgm:spPr/>
    </dgm:pt>
    <dgm:pt modelId="{4C23371F-CF6D-47EC-AC1E-0C1AB2803F36}" type="pres">
      <dgm:prSet presAssocID="{7532B238-BAAD-49E7-9CDB-7C1D2934C0F2}" presName="sibTrans" presStyleCnt="0"/>
      <dgm:spPr/>
    </dgm:pt>
    <dgm:pt modelId="{E962FD7A-5C36-4E63-AD3B-7107060FA958}" type="pres">
      <dgm:prSet presAssocID="{F7C581A7-FCB6-41CC-9044-BDA18D0AFC2E}" presName="node" presStyleLbl="node1" presStyleIdx="2" presStyleCnt="5">
        <dgm:presLayoutVars>
          <dgm:bulletEnabled val="1"/>
        </dgm:presLayoutVars>
      </dgm:prSet>
      <dgm:spPr/>
    </dgm:pt>
    <dgm:pt modelId="{AB36FF45-897D-4D9C-B310-3326228EDB48}" type="pres">
      <dgm:prSet presAssocID="{A81645F0-D309-4013-ABFE-80C2091BC18E}" presName="sibTrans" presStyleCnt="0"/>
      <dgm:spPr/>
    </dgm:pt>
    <dgm:pt modelId="{85C21CB4-1509-48F7-B7C9-6D9E0D6B87A8}" type="pres">
      <dgm:prSet presAssocID="{72CDF864-D113-4852-8B0A-82682FA82B74}" presName="node" presStyleLbl="node1" presStyleIdx="3" presStyleCnt="5">
        <dgm:presLayoutVars>
          <dgm:bulletEnabled val="1"/>
        </dgm:presLayoutVars>
      </dgm:prSet>
      <dgm:spPr/>
    </dgm:pt>
    <dgm:pt modelId="{07F45A34-A9D6-4FEC-B420-760279EFD74F}" type="pres">
      <dgm:prSet presAssocID="{F6C95F2A-28F4-4651-BEF1-409FECE8379C}" presName="sibTrans" presStyleCnt="0"/>
      <dgm:spPr/>
    </dgm:pt>
    <dgm:pt modelId="{2BD1C21E-DEB1-498D-BA3A-D79A10A435EB}" type="pres">
      <dgm:prSet presAssocID="{9A1E7E41-C356-4DA5-9D39-58980655D785}" presName="node" presStyleLbl="node1" presStyleIdx="4" presStyleCnt="5">
        <dgm:presLayoutVars>
          <dgm:bulletEnabled val="1"/>
        </dgm:presLayoutVars>
      </dgm:prSet>
      <dgm:spPr/>
    </dgm:pt>
  </dgm:ptLst>
  <dgm:cxnLst>
    <dgm:cxn modelId="{32541C17-80B6-4033-BED8-81C332C6AF5B}" srcId="{4AD027C8-0CD1-4FDE-958D-A491C0284F87}" destId="{72CDF864-D113-4852-8B0A-82682FA82B74}" srcOrd="3" destOrd="0" parTransId="{DFAEB614-D48D-42CC-A7B5-CE8EE317DC02}" sibTransId="{F6C95F2A-28F4-4651-BEF1-409FECE8379C}"/>
    <dgm:cxn modelId="{1FE57C1C-C92C-430B-BED6-29B25E78A001}" type="presOf" srcId="{261454D5-8F7A-477F-8007-B5F27FE8FEA0}" destId="{FDA971BD-E9A3-4263-82E1-0475C0C278D6}" srcOrd="0" destOrd="0" presId="urn:microsoft.com/office/officeart/2005/8/layout/default"/>
    <dgm:cxn modelId="{432B802E-4022-447C-9F09-B3CAD49827B0}" type="presOf" srcId="{4AD027C8-0CD1-4FDE-958D-A491C0284F87}" destId="{5BD8B28A-6EA8-4AB4-BED5-5BA5133B001A}" srcOrd="0" destOrd="0" presId="urn:microsoft.com/office/officeart/2005/8/layout/default"/>
    <dgm:cxn modelId="{6B4A2031-1956-4969-8812-48C3CC481209}" srcId="{4AD027C8-0CD1-4FDE-958D-A491C0284F87}" destId="{F7C581A7-FCB6-41CC-9044-BDA18D0AFC2E}" srcOrd="2" destOrd="0" parTransId="{86342655-E3A8-4F67-A584-2A14F649B673}" sibTransId="{A81645F0-D309-4013-ABFE-80C2091BC18E}"/>
    <dgm:cxn modelId="{A6B35040-19D3-437C-AEB5-012698317A2D}" type="presOf" srcId="{9A1E7E41-C356-4DA5-9D39-58980655D785}" destId="{2BD1C21E-DEB1-498D-BA3A-D79A10A435EB}" srcOrd="0" destOrd="0" presId="urn:microsoft.com/office/officeart/2005/8/layout/default"/>
    <dgm:cxn modelId="{4FD35F44-6169-435B-947F-01FCA760E353}" type="presOf" srcId="{72CDF864-D113-4852-8B0A-82682FA82B74}" destId="{85C21CB4-1509-48F7-B7C9-6D9E0D6B87A8}" srcOrd="0" destOrd="0" presId="urn:microsoft.com/office/officeart/2005/8/layout/default"/>
    <dgm:cxn modelId="{646512B2-BB45-47D6-8B18-9312BBA025A8}" srcId="{4AD027C8-0CD1-4FDE-958D-A491C0284F87}" destId="{9A1E7E41-C356-4DA5-9D39-58980655D785}" srcOrd="4" destOrd="0" parTransId="{932C10C5-1754-4251-AFAD-907ABD1AE6A0}" sibTransId="{A17C788E-0341-4B9E-A281-8582E5CEE9FB}"/>
    <dgm:cxn modelId="{3D1CF8BC-E968-4C2B-9CA5-1033C1E25EE0}" srcId="{4AD027C8-0CD1-4FDE-958D-A491C0284F87}" destId="{261454D5-8F7A-477F-8007-B5F27FE8FEA0}" srcOrd="1" destOrd="0" parTransId="{D060B8B0-5C5C-4E22-B058-A8CF757F8CA3}" sibTransId="{7532B238-BAAD-49E7-9CDB-7C1D2934C0F2}"/>
    <dgm:cxn modelId="{3F905EC0-769B-4AEE-A689-CABCC8709DEA}" type="presOf" srcId="{F7C581A7-FCB6-41CC-9044-BDA18D0AFC2E}" destId="{E962FD7A-5C36-4E63-AD3B-7107060FA958}" srcOrd="0" destOrd="0" presId="urn:microsoft.com/office/officeart/2005/8/layout/default"/>
    <dgm:cxn modelId="{3E0473D7-125F-4965-923B-E47CB5F37192}" srcId="{4AD027C8-0CD1-4FDE-958D-A491C0284F87}" destId="{80BEFBB3-835F-4CE0-A33E-6C14A122F471}" srcOrd="0" destOrd="0" parTransId="{2049C85D-2BD8-48C9-B8E8-FEF3244A01C2}" sibTransId="{3EBD5D94-238A-420B-A56D-3322A16E4B92}"/>
    <dgm:cxn modelId="{568857F3-03D1-4620-81CA-7F7CD04CD43C}" type="presOf" srcId="{80BEFBB3-835F-4CE0-A33E-6C14A122F471}" destId="{45C287A6-27F1-470D-AF64-E5FC4D132921}" srcOrd="0" destOrd="0" presId="urn:microsoft.com/office/officeart/2005/8/layout/default"/>
    <dgm:cxn modelId="{05CB1E62-1CA9-4258-A230-722F640D43DF}" type="presParOf" srcId="{5BD8B28A-6EA8-4AB4-BED5-5BA5133B001A}" destId="{45C287A6-27F1-470D-AF64-E5FC4D132921}" srcOrd="0" destOrd="0" presId="urn:microsoft.com/office/officeart/2005/8/layout/default"/>
    <dgm:cxn modelId="{9231C6A2-D52B-43A3-9442-4B8F3EE271DF}" type="presParOf" srcId="{5BD8B28A-6EA8-4AB4-BED5-5BA5133B001A}" destId="{E29DA54B-3352-4063-80CB-54ED5D801DA9}" srcOrd="1" destOrd="0" presId="urn:microsoft.com/office/officeart/2005/8/layout/default"/>
    <dgm:cxn modelId="{2EDA769A-606A-42A7-80D1-3966DDC85D28}" type="presParOf" srcId="{5BD8B28A-6EA8-4AB4-BED5-5BA5133B001A}" destId="{FDA971BD-E9A3-4263-82E1-0475C0C278D6}" srcOrd="2" destOrd="0" presId="urn:microsoft.com/office/officeart/2005/8/layout/default"/>
    <dgm:cxn modelId="{C5C38D84-7F59-4A2E-A00E-45E429F400DA}" type="presParOf" srcId="{5BD8B28A-6EA8-4AB4-BED5-5BA5133B001A}" destId="{4C23371F-CF6D-47EC-AC1E-0C1AB2803F36}" srcOrd="3" destOrd="0" presId="urn:microsoft.com/office/officeart/2005/8/layout/default"/>
    <dgm:cxn modelId="{FFE15F56-FEF0-4216-9216-E16D27AB8AC9}" type="presParOf" srcId="{5BD8B28A-6EA8-4AB4-BED5-5BA5133B001A}" destId="{E962FD7A-5C36-4E63-AD3B-7107060FA958}" srcOrd="4" destOrd="0" presId="urn:microsoft.com/office/officeart/2005/8/layout/default"/>
    <dgm:cxn modelId="{BB723B07-45EA-4A83-9F26-6DF4F9F7A517}" type="presParOf" srcId="{5BD8B28A-6EA8-4AB4-BED5-5BA5133B001A}" destId="{AB36FF45-897D-4D9C-B310-3326228EDB48}" srcOrd="5" destOrd="0" presId="urn:microsoft.com/office/officeart/2005/8/layout/default"/>
    <dgm:cxn modelId="{DBB53950-7B0A-43EC-AB27-EC47B745C1DA}" type="presParOf" srcId="{5BD8B28A-6EA8-4AB4-BED5-5BA5133B001A}" destId="{85C21CB4-1509-48F7-B7C9-6D9E0D6B87A8}" srcOrd="6" destOrd="0" presId="urn:microsoft.com/office/officeart/2005/8/layout/default"/>
    <dgm:cxn modelId="{98E80AB0-D956-46A6-B401-6B7E94EDB17A}" type="presParOf" srcId="{5BD8B28A-6EA8-4AB4-BED5-5BA5133B001A}" destId="{07F45A34-A9D6-4FEC-B420-760279EFD74F}" srcOrd="7" destOrd="0" presId="urn:microsoft.com/office/officeart/2005/8/layout/default"/>
    <dgm:cxn modelId="{AC3DCF96-DE53-4F88-8DA2-C192743766F0}" type="presParOf" srcId="{5BD8B28A-6EA8-4AB4-BED5-5BA5133B001A}" destId="{2BD1C21E-DEB1-498D-BA3A-D79A10A435EB}" srcOrd="8"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D027C8-0CD1-4FDE-958D-A491C0284F87}"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en-US"/>
        </a:p>
      </dgm:t>
    </dgm:pt>
    <dgm:pt modelId="{80BEFBB3-835F-4CE0-A33E-6C14A122F471}">
      <dgm:prSet phldrT="[Text]" phldr="1"/>
      <dgm:spPr/>
      <dgm:t>
        <a:bodyPr/>
        <a:lstStyle/>
        <a:p>
          <a:endParaRPr lang="en-US"/>
        </a:p>
      </dgm:t>
    </dgm:pt>
    <dgm:pt modelId="{2049C85D-2BD8-48C9-B8E8-FEF3244A01C2}" type="parTrans" cxnId="{3E0473D7-125F-4965-923B-E47CB5F37192}">
      <dgm:prSet/>
      <dgm:spPr/>
      <dgm:t>
        <a:bodyPr/>
        <a:lstStyle/>
        <a:p>
          <a:endParaRPr lang="en-US"/>
        </a:p>
      </dgm:t>
    </dgm:pt>
    <dgm:pt modelId="{3EBD5D94-238A-420B-A56D-3322A16E4B92}" type="sibTrans" cxnId="{3E0473D7-125F-4965-923B-E47CB5F37192}">
      <dgm:prSet/>
      <dgm:spPr/>
      <dgm:t>
        <a:bodyPr/>
        <a:lstStyle/>
        <a:p>
          <a:endParaRPr lang="en-US"/>
        </a:p>
      </dgm:t>
    </dgm:pt>
    <dgm:pt modelId="{261454D5-8F7A-477F-8007-B5F27FE8FEA0}">
      <dgm:prSet phldrT="[Text]" phldr="1"/>
      <dgm:spPr/>
      <dgm:t>
        <a:bodyPr/>
        <a:lstStyle/>
        <a:p>
          <a:endParaRPr lang="en-US"/>
        </a:p>
      </dgm:t>
    </dgm:pt>
    <dgm:pt modelId="{D060B8B0-5C5C-4E22-B058-A8CF757F8CA3}" type="parTrans" cxnId="{3D1CF8BC-E968-4C2B-9CA5-1033C1E25EE0}">
      <dgm:prSet/>
      <dgm:spPr/>
      <dgm:t>
        <a:bodyPr/>
        <a:lstStyle/>
        <a:p>
          <a:endParaRPr lang="en-US"/>
        </a:p>
      </dgm:t>
    </dgm:pt>
    <dgm:pt modelId="{7532B238-BAAD-49E7-9CDB-7C1D2934C0F2}" type="sibTrans" cxnId="{3D1CF8BC-E968-4C2B-9CA5-1033C1E25EE0}">
      <dgm:prSet/>
      <dgm:spPr/>
      <dgm:t>
        <a:bodyPr/>
        <a:lstStyle/>
        <a:p>
          <a:endParaRPr lang="en-US"/>
        </a:p>
      </dgm:t>
    </dgm:pt>
    <dgm:pt modelId="{F7C581A7-FCB6-41CC-9044-BDA18D0AFC2E}">
      <dgm:prSet phldrT="[Text]" phldr="1"/>
      <dgm:spPr/>
      <dgm:t>
        <a:bodyPr/>
        <a:lstStyle/>
        <a:p>
          <a:endParaRPr lang="en-US"/>
        </a:p>
      </dgm:t>
    </dgm:pt>
    <dgm:pt modelId="{86342655-E3A8-4F67-A584-2A14F649B673}" type="parTrans" cxnId="{6B4A2031-1956-4969-8812-48C3CC481209}">
      <dgm:prSet/>
      <dgm:spPr/>
      <dgm:t>
        <a:bodyPr/>
        <a:lstStyle/>
        <a:p>
          <a:endParaRPr lang="en-US"/>
        </a:p>
      </dgm:t>
    </dgm:pt>
    <dgm:pt modelId="{A81645F0-D309-4013-ABFE-80C2091BC18E}" type="sibTrans" cxnId="{6B4A2031-1956-4969-8812-48C3CC481209}">
      <dgm:prSet/>
      <dgm:spPr/>
      <dgm:t>
        <a:bodyPr/>
        <a:lstStyle/>
        <a:p>
          <a:endParaRPr lang="en-US"/>
        </a:p>
      </dgm:t>
    </dgm:pt>
    <dgm:pt modelId="{72CDF864-D113-4852-8B0A-82682FA82B74}">
      <dgm:prSet phldrT="[Text]" phldr="1"/>
      <dgm:spPr/>
      <dgm:t>
        <a:bodyPr/>
        <a:lstStyle/>
        <a:p>
          <a:endParaRPr lang="en-US"/>
        </a:p>
      </dgm:t>
    </dgm:pt>
    <dgm:pt modelId="{DFAEB614-D48D-42CC-A7B5-CE8EE317DC02}" type="parTrans" cxnId="{32541C17-80B6-4033-BED8-81C332C6AF5B}">
      <dgm:prSet/>
      <dgm:spPr/>
      <dgm:t>
        <a:bodyPr/>
        <a:lstStyle/>
        <a:p>
          <a:endParaRPr lang="en-US"/>
        </a:p>
      </dgm:t>
    </dgm:pt>
    <dgm:pt modelId="{F6C95F2A-28F4-4651-BEF1-409FECE8379C}" type="sibTrans" cxnId="{32541C17-80B6-4033-BED8-81C332C6AF5B}">
      <dgm:prSet/>
      <dgm:spPr/>
      <dgm:t>
        <a:bodyPr/>
        <a:lstStyle/>
        <a:p>
          <a:endParaRPr lang="en-US"/>
        </a:p>
      </dgm:t>
    </dgm:pt>
    <dgm:pt modelId="{9A1E7E41-C356-4DA5-9D39-58980655D785}">
      <dgm:prSet phldrT="[Text]" phldr="1"/>
      <dgm:spPr/>
      <dgm:t>
        <a:bodyPr/>
        <a:lstStyle/>
        <a:p>
          <a:endParaRPr lang="en-US"/>
        </a:p>
      </dgm:t>
    </dgm:pt>
    <dgm:pt modelId="{932C10C5-1754-4251-AFAD-907ABD1AE6A0}" type="parTrans" cxnId="{646512B2-BB45-47D6-8B18-9312BBA025A8}">
      <dgm:prSet/>
      <dgm:spPr/>
      <dgm:t>
        <a:bodyPr/>
        <a:lstStyle/>
        <a:p>
          <a:endParaRPr lang="en-US"/>
        </a:p>
      </dgm:t>
    </dgm:pt>
    <dgm:pt modelId="{A17C788E-0341-4B9E-A281-8582E5CEE9FB}" type="sibTrans" cxnId="{646512B2-BB45-47D6-8B18-9312BBA025A8}">
      <dgm:prSet/>
      <dgm:spPr/>
      <dgm:t>
        <a:bodyPr/>
        <a:lstStyle/>
        <a:p>
          <a:endParaRPr lang="en-US"/>
        </a:p>
      </dgm:t>
    </dgm:pt>
    <dgm:pt modelId="{5BD8B28A-6EA8-4AB4-BED5-5BA5133B001A}" type="pres">
      <dgm:prSet presAssocID="{4AD027C8-0CD1-4FDE-958D-A491C0284F87}" presName="diagram" presStyleCnt="0">
        <dgm:presLayoutVars>
          <dgm:dir/>
          <dgm:resizeHandles val="exact"/>
        </dgm:presLayoutVars>
      </dgm:prSet>
      <dgm:spPr/>
    </dgm:pt>
    <dgm:pt modelId="{45C287A6-27F1-470D-AF64-E5FC4D132921}" type="pres">
      <dgm:prSet presAssocID="{80BEFBB3-835F-4CE0-A33E-6C14A122F471}" presName="node" presStyleLbl="node1" presStyleIdx="0" presStyleCnt="5">
        <dgm:presLayoutVars>
          <dgm:bulletEnabled val="1"/>
        </dgm:presLayoutVars>
      </dgm:prSet>
      <dgm:spPr/>
    </dgm:pt>
    <dgm:pt modelId="{E29DA54B-3352-4063-80CB-54ED5D801DA9}" type="pres">
      <dgm:prSet presAssocID="{3EBD5D94-238A-420B-A56D-3322A16E4B92}" presName="sibTrans" presStyleCnt="0"/>
      <dgm:spPr/>
    </dgm:pt>
    <dgm:pt modelId="{FDA971BD-E9A3-4263-82E1-0475C0C278D6}" type="pres">
      <dgm:prSet presAssocID="{261454D5-8F7A-477F-8007-B5F27FE8FEA0}" presName="node" presStyleLbl="node1" presStyleIdx="1" presStyleCnt="5">
        <dgm:presLayoutVars>
          <dgm:bulletEnabled val="1"/>
        </dgm:presLayoutVars>
      </dgm:prSet>
      <dgm:spPr/>
    </dgm:pt>
    <dgm:pt modelId="{4C23371F-CF6D-47EC-AC1E-0C1AB2803F36}" type="pres">
      <dgm:prSet presAssocID="{7532B238-BAAD-49E7-9CDB-7C1D2934C0F2}" presName="sibTrans" presStyleCnt="0"/>
      <dgm:spPr/>
    </dgm:pt>
    <dgm:pt modelId="{E962FD7A-5C36-4E63-AD3B-7107060FA958}" type="pres">
      <dgm:prSet presAssocID="{F7C581A7-FCB6-41CC-9044-BDA18D0AFC2E}" presName="node" presStyleLbl="node1" presStyleIdx="2" presStyleCnt="5">
        <dgm:presLayoutVars>
          <dgm:bulletEnabled val="1"/>
        </dgm:presLayoutVars>
      </dgm:prSet>
      <dgm:spPr/>
    </dgm:pt>
    <dgm:pt modelId="{AB36FF45-897D-4D9C-B310-3326228EDB48}" type="pres">
      <dgm:prSet presAssocID="{A81645F0-D309-4013-ABFE-80C2091BC18E}" presName="sibTrans" presStyleCnt="0"/>
      <dgm:spPr/>
    </dgm:pt>
    <dgm:pt modelId="{85C21CB4-1509-48F7-B7C9-6D9E0D6B87A8}" type="pres">
      <dgm:prSet presAssocID="{72CDF864-D113-4852-8B0A-82682FA82B74}" presName="node" presStyleLbl="node1" presStyleIdx="3" presStyleCnt="5">
        <dgm:presLayoutVars>
          <dgm:bulletEnabled val="1"/>
        </dgm:presLayoutVars>
      </dgm:prSet>
      <dgm:spPr/>
    </dgm:pt>
    <dgm:pt modelId="{07F45A34-A9D6-4FEC-B420-760279EFD74F}" type="pres">
      <dgm:prSet presAssocID="{F6C95F2A-28F4-4651-BEF1-409FECE8379C}" presName="sibTrans" presStyleCnt="0"/>
      <dgm:spPr/>
    </dgm:pt>
    <dgm:pt modelId="{2BD1C21E-DEB1-498D-BA3A-D79A10A435EB}" type="pres">
      <dgm:prSet presAssocID="{9A1E7E41-C356-4DA5-9D39-58980655D785}" presName="node" presStyleLbl="node1" presStyleIdx="4" presStyleCnt="5">
        <dgm:presLayoutVars>
          <dgm:bulletEnabled val="1"/>
        </dgm:presLayoutVars>
      </dgm:prSet>
      <dgm:spPr/>
    </dgm:pt>
  </dgm:ptLst>
  <dgm:cxnLst>
    <dgm:cxn modelId="{32541C17-80B6-4033-BED8-81C332C6AF5B}" srcId="{4AD027C8-0CD1-4FDE-958D-A491C0284F87}" destId="{72CDF864-D113-4852-8B0A-82682FA82B74}" srcOrd="3" destOrd="0" parTransId="{DFAEB614-D48D-42CC-A7B5-CE8EE317DC02}" sibTransId="{F6C95F2A-28F4-4651-BEF1-409FECE8379C}"/>
    <dgm:cxn modelId="{1FE57C1C-C92C-430B-BED6-29B25E78A001}" type="presOf" srcId="{261454D5-8F7A-477F-8007-B5F27FE8FEA0}" destId="{FDA971BD-E9A3-4263-82E1-0475C0C278D6}" srcOrd="0" destOrd="0" presId="urn:microsoft.com/office/officeart/2005/8/layout/default"/>
    <dgm:cxn modelId="{432B802E-4022-447C-9F09-B3CAD49827B0}" type="presOf" srcId="{4AD027C8-0CD1-4FDE-958D-A491C0284F87}" destId="{5BD8B28A-6EA8-4AB4-BED5-5BA5133B001A}" srcOrd="0" destOrd="0" presId="urn:microsoft.com/office/officeart/2005/8/layout/default"/>
    <dgm:cxn modelId="{6B4A2031-1956-4969-8812-48C3CC481209}" srcId="{4AD027C8-0CD1-4FDE-958D-A491C0284F87}" destId="{F7C581A7-FCB6-41CC-9044-BDA18D0AFC2E}" srcOrd="2" destOrd="0" parTransId="{86342655-E3A8-4F67-A584-2A14F649B673}" sibTransId="{A81645F0-D309-4013-ABFE-80C2091BC18E}"/>
    <dgm:cxn modelId="{A6B35040-19D3-437C-AEB5-012698317A2D}" type="presOf" srcId="{9A1E7E41-C356-4DA5-9D39-58980655D785}" destId="{2BD1C21E-DEB1-498D-BA3A-D79A10A435EB}" srcOrd="0" destOrd="0" presId="urn:microsoft.com/office/officeart/2005/8/layout/default"/>
    <dgm:cxn modelId="{4FD35F44-6169-435B-947F-01FCA760E353}" type="presOf" srcId="{72CDF864-D113-4852-8B0A-82682FA82B74}" destId="{85C21CB4-1509-48F7-B7C9-6D9E0D6B87A8}" srcOrd="0" destOrd="0" presId="urn:microsoft.com/office/officeart/2005/8/layout/default"/>
    <dgm:cxn modelId="{646512B2-BB45-47D6-8B18-9312BBA025A8}" srcId="{4AD027C8-0CD1-4FDE-958D-A491C0284F87}" destId="{9A1E7E41-C356-4DA5-9D39-58980655D785}" srcOrd="4" destOrd="0" parTransId="{932C10C5-1754-4251-AFAD-907ABD1AE6A0}" sibTransId="{A17C788E-0341-4B9E-A281-8582E5CEE9FB}"/>
    <dgm:cxn modelId="{3D1CF8BC-E968-4C2B-9CA5-1033C1E25EE0}" srcId="{4AD027C8-0CD1-4FDE-958D-A491C0284F87}" destId="{261454D5-8F7A-477F-8007-B5F27FE8FEA0}" srcOrd="1" destOrd="0" parTransId="{D060B8B0-5C5C-4E22-B058-A8CF757F8CA3}" sibTransId="{7532B238-BAAD-49E7-9CDB-7C1D2934C0F2}"/>
    <dgm:cxn modelId="{3F905EC0-769B-4AEE-A689-CABCC8709DEA}" type="presOf" srcId="{F7C581A7-FCB6-41CC-9044-BDA18D0AFC2E}" destId="{E962FD7A-5C36-4E63-AD3B-7107060FA958}" srcOrd="0" destOrd="0" presId="urn:microsoft.com/office/officeart/2005/8/layout/default"/>
    <dgm:cxn modelId="{3E0473D7-125F-4965-923B-E47CB5F37192}" srcId="{4AD027C8-0CD1-4FDE-958D-A491C0284F87}" destId="{80BEFBB3-835F-4CE0-A33E-6C14A122F471}" srcOrd="0" destOrd="0" parTransId="{2049C85D-2BD8-48C9-B8E8-FEF3244A01C2}" sibTransId="{3EBD5D94-238A-420B-A56D-3322A16E4B92}"/>
    <dgm:cxn modelId="{568857F3-03D1-4620-81CA-7F7CD04CD43C}" type="presOf" srcId="{80BEFBB3-835F-4CE0-A33E-6C14A122F471}" destId="{45C287A6-27F1-470D-AF64-E5FC4D132921}" srcOrd="0" destOrd="0" presId="urn:microsoft.com/office/officeart/2005/8/layout/default"/>
    <dgm:cxn modelId="{05CB1E62-1CA9-4258-A230-722F640D43DF}" type="presParOf" srcId="{5BD8B28A-6EA8-4AB4-BED5-5BA5133B001A}" destId="{45C287A6-27F1-470D-AF64-E5FC4D132921}" srcOrd="0" destOrd="0" presId="urn:microsoft.com/office/officeart/2005/8/layout/default"/>
    <dgm:cxn modelId="{9231C6A2-D52B-43A3-9442-4B8F3EE271DF}" type="presParOf" srcId="{5BD8B28A-6EA8-4AB4-BED5-5BA5133B001A}" destId="{E29DA54B-3352-4063-80CB-54ED5D801DA9}" srcOrd="1" destOrd="0" presId="urn:microsoft.com/office/officeart/2005/8/layout/default"/>
    <dgm:cxn modelId="{2EDA769A-606A-42A7-80D1-3966DDC85D28}" type="presParOf" srcId="{5BD8B28A-6EA8-4AB4-BED5-5BA5133B001A}" destId="{FDA971BD-E9A3-4263-82E1-0475C0C278D6}" srcOrd="2" destOrd="0" presId="urn:microsoft.com/office/officeart/2005/8/layout/default"/>
    <dgm:cxn modelId="{C5C38D84-7F59-4A2E-A00E-45E429F400DA}" type="presParOf" srcId="{5BD8B28A-6EA8-4AB4-BED5-5BA5133B001A}" destId="{4C23371F-CF6D-47EC-AC1E-0C1AB2803F36}" srcOrd="3" destOrd="0" presId="urn:microsoft.com/office/officeart/2005/8/layout/default"/>
    <dgm:cxn modelId="{FFE15F56-FEF0-4216-9216-E16D27AB8AC9}" type="presParOf" srcId="{5BD8B28A-6EA8-4AB4-BED5-5BA5133B001A}" destId="{E962FD7A-5C36-4E63-AD3B-7107060FA958}" srcOrd="4" destOrd="0" presId="urn:microsoft.com/office/officeart/2005/8/layout/default"/>
    <dgm:cxn modelId="{BB723B07-45EA-4A83-9F26-6DF4F9F7A517}" type="presParOf" srcId="{5BD8B28A-6EA8-4AB4-BED5-5BA5133B001A}" destId="{AB36FF45-897D-4D9C-B310-3326228EDB48}" srcOrd="5" destOrd="0" presId="urn:microsoft.com/office/officeart/2005/8/layout/default"/>
    <dgm:cxn modelId="{DBB53950-7B0A-43EC-AB27-EC47B745C1DA}" type="presParOf" srcId="{5BD8B28A-6EA8-4AB4-BED5-5BA5133B001A}" destId="{85C21CB4-1509-48F7-B7C9-6D9E0D6B87A8}" srcOrd="6" destOrd="0" presId="urn:microsoft.com/office/officeart/2005/8/layout/default"/>
    <dgm:cxn modelId="{98E80AB0-D956-46A6-B401-6B7E94EDB17A}" type="presParOf" srcId="{5BD8B28A-6EA8-4AB4-BED5-5BA5133B001A}" destId="{07F45A34-A9D6-4FEC-B420-760279EFD74F}" srcOrd="7" destOrd="0" presId="urn:microsoft.com/office/officeart/2005/8/layout/default"/>
    <dgm:cxn modelId="{AC3DCF96-DE53-4F88-8DA2-C192743766F0}" type="presParOf" srcId="{5BD8B28A-6EA8-4AB4-BED5-5BA5133B001A}" destId="{2BD1C21E-DEB1-498D-BA3A-D79A10A435EB}" srcOrd="8"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C287A6-27F1-470D-AF64-E5FC4D132921}">
      <dsp:nvSpPr>
        <dsp:cNvPr id="0" name=""/>
        <dsp:cNvSpPr/>
      </dsp:nvSpPr>
      <dsp:spPr>
        <a:xfrm>
          <a:off x="1051582"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51582" y="10"/>
        <a:ext cx="152072" cy="91243"/>
      </dsp:txXfrm>
    </dsp:sp>
    <dsp:sp modelId="{FDA971BD-E9A3-4263-82E1-0475C0C278D6}">
      <dsp:nvSpPr>
        <dsp:cNvPr id="0" name=""/>
        <dsp:cNvSpPr/>
      </dsp:nvSpPr>
      <dsp:spPr>
        <a:xfrm>
          <a:off x="1218862"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18862" y="10"/>
        <a:ext cx="152072" cy="91243"/>
      </dsp:txXfrm>
    </dsp:sp>
    <dsp:sp modelId="{E962FD7A-5C36-4E63-AD3B-7107060FA958}">
      <dsp:nvSpPr>
        <dsp:cNvPr id="0" name=""/>
        <dsp:cNvSpPr/>
      </dsp:nvSpPr>
      <dsp:spPr>
        <a:xfrm>
          <a:off x="1386141"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86141" y="10"/>
        <a:ext cx="152072" cy="91243"/>
      </dsp:txXfrm>
    </dsp:sp>
    <dsp:sp modelId="{85C21CB4-1509-48F7-B7C9-6D9E0D6B87A8}">
      <dsp:nvSpPr>
        <dsp:cNvPr id="0" name=""/>
        <dsp:cNvSpPr/>
      </dsp:nvSpPr>
      <dsp:spPr>
        <a:xfrm>
          <a:off x="1553421"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53421" y="10"/>
        <a:ext cx="152072" cy="91243"/>
      </dsp:txXfrm>
    </dsp:sp>
    <dsp:sp modelId="{2BD1C21E-DEB1-498D-BA3A-D79A10A435EB}">
      <dsp:nvSpPr>
        <dsp:cNvPr id="0" name=""/>
        <dsp:cNvSpPr/>
      </dsp:nvSpPr>
      <dsp:spPr>
        <a:xfrm>
          <a:off x="1720700"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20700" y="10"/>
        <a:ext cx="152072" cy="912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C287A6-27F1-470D-AF64-E5FC4D132921}">
      <dsp:nvSpPr>
        <dsp:cNvPr id="0" name=""/>
        <dsp:cNvSpPr/>
      </dsp:nvSpPr>
      <dsp:spPr>
        <a:xfrm>
          <a:off x="1051582"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51582" y="10"/>
        <a:ext cx="152072" cy="91243"/>
      </dsp:txXfrm>
    </dsp:sp>
    <dsp:sp modelId="{FDA971BD-E9A3-4263-82E1-0475C0C278D6}">
      <dsp:nvSpPr>
        <dsp:cNvPr id="0" name=""/>
        <dsp:cNvSpPr/>
      </dsp:nvSpPr>
      <dsp:spPr>
        <a:xfrm>
          <a:off x="1218862"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18862" y="10"/>
        <a:ext cx="152072" cy="91243"/>
      </dsp:txXfrm>
    </dsp:sp>
    <dsp:sp modelId="{E962FD7A-5C36-4E63-AD3B-7107060FA958}">
      <dsp:nvSpPr>
        <dsp:cNvPr id="0" name=""/>
        <dsp:cNvSpPr/>
      </dsp:nvSpPr>
      <dsp:spPr>
        <a:xfrm>
          <a:off x="1386141"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86141" y="10"/>
        <a:ext cx="152072" cy="91243"/>
      </dsp:txXfrm>
    </dsp:sp>
    <dsp:sp modelId="{85C21CB4-1509-48F7-B7C9-6D9E0D6B87A8}">
      <dsp:nvSpPr>
        <dsp:cNvPr id="0" name=""/>
        <dsp:cNvSpPr/>
      </dsp:nvSpPr>
      <dsp:spPr>
        <a:xfrm>
          <a:off x="1553421"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53421" y="10"/>
        <a:ext cx="152072" cy="91243"/>
      </dsp:txXfrm>
    </dsp:sp>
    <dsp:sp modelId="{2BD1C21E-DEB1-498D-BA3A-D79A10A435EB}">
      <dsp:nvSpPr>
        <dsp:cNvPr id="0" name=""/>
        <dsp:cNvSpPr/>
      </dsp:nvSpPr>
      <dsp:spPr>
        <a:xfrm>
          <a:off x="1720700" y="10"/>
          <a:ext cx="152072" cy="912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20700" y="10"/>
        <a:ext cx="152072" cy="9124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8315-65AA-4869-BDFA-0BAD13D825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7D1439-B8C4-4640-97F4-7D0A8633C7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52C888-F603-42ED-9244-D9F9E5B43008}"/>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5" name="Footer Placeholder 4">
            <a:extLst>
              <a:ext uri="{FF2B5EF4-FFF2-40B4-BE49-F238E27FC236}">
                <a16:creationId xmlns:a16="http://schemas.microsoft.com/office/drawing/2014/main" id="{9358D1A3-A39E-4AE8-8ECD-74515C202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C5263-BD76-4CE1-97B4-6DA703C9A9B9}"/>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3334010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D33D6-A339-402C-B90C-8C7ADB5497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B42CAF-F172-41C1-9379-49C4A6CCB2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BC5240-26BD-4126-92AF-D368B5047FB5}"/>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5" name="Footer Placeholder 4">
            <a:extLst>
              <a:ext uri="{FF2B5EF4-FFF2-40B4-BE49-F238E27FC236}">
                <a16:creationId xmlns:a16="http://schemas.microsoft.com/office/drawing/2014/main" id="{C0721380-4BDF-4D39-A75D-71A541433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91799-37CF-465C-8E9F-7A45491BE2D8}"/>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103031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9B68F-D94A-42C3-A864-938EF464E9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B60E93-DC9C-4D20-8B3D-5649B17CF0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E68F3F-C6C2-42BF-AE5C-F90A45835E2D}"/>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5" name="Footer Placeholder 4">
            <a:extLst>
              <a:ext uri="{FF2B5EF4-FFF2-40B4-BE49-F238E27FC236}">
                <a16:creationId xmlns:a16="http://schemas.microsoft.com/office/drawing/2014/main" id="{AF2E1112-C895-4E5A-8830-A6A91ACBB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35B7A2-1F56-439A-A5C2-9CDD2F65AFD5}"/>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306087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BFBB2-DB79-406A-9EDC-50C6B551E9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741289-EB95-4512-A43D-2F6D5AD366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B666EE-A62F-43BC-B7E7-96E014C875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D14404-E322-4201-AC79-5409033303C1}"/>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6" name="Footer Placeholder 5">
            <a:extLst>
              <a:ext uri="{FF2B5EF4-FFF2-40B4-BE49-F238E27FC236}">
                <a16:creationId xmlns:a16="http://schemas.microsoft.com/office/drawing/2014/main" id="{3C645E79-40D8-4CAB-B1D8-933E177E5C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9227E-B3E3-4C6E-8B45-1EFC08B9ACA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2279695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7F8C4-9B9E-4FED-BF77-15AA20344D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1F11B0-B825-47ED-851C-2D2A974274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E4CF17-A610-4DB3-B2CB-3195B56F27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5945DF-EB8E-4694-B290-8B50C1C331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27D36D-EF82-4B8C-B63B-0806F872EF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ACE6B0-98B4-4F57-B20B-5378D7C81122}"/>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8" name="Footer Placeholder 7">
            <a:extLst>
              <a:ext uri="{FF2B5EF4-FFF2-40B4-BE49-F238E27FC236}">
                <a16:creationId xmlns:a16="http://schemas.microsoft.com/office/drawing/2014/main" id="{891016EF-B0D3-4CD1-A692-A3DA57C8DA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C9B7E4-FB55-42F4-982C-D4F05A811B9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112888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8D2F0-0CD9-4B32-BDC7-D5FDB4F178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646611-8E16-4B72-9856-7630C084B50B}"/>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4" name="Footer Placeholder 3">
            <a:extLst>
              <a:ext uri="{FF2B5EF4-FFF2-40B4-BE49-F238E27FC236}">
                <a16:creationId xmlns:a16="http://schemas.microsoft.com/office/drawing/2014/main" id="{5B850C3D-BACE-47C1-A920-A921B61110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B85631-D3B2-445D-95FC-F47B5EB1D0B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72740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5E526-E368-4C0F-804E-C20829807A50}"/>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3" name="Footer Placeholder 2">
            <a:extLst>
              <a:ext uri="{FF2B5EF4-FFF2-40B4-BE49-F238E27FC236}">
                <a16:creationId xmlns:a16="http://schemas.microsoft.com/office/drawing/2014/main" id="{DF3E6CF8-0AC4-4F10-8870-54375E7DD8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0DA395-535F-4198-AB63-5E8880782C0E}"/>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236542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E9610-16B2-4BAA-B75F-BE0F9A229E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BA2BC2-1DED-4E80-9C04-DD2CA5267F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52D8A6-B57F-4171-B6F6-18C5AFB802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300878-125D-4398-B74E-770770242617}"/>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6" name="Footer Placeholder 5">
            <a:extLst>
              <a:ext uri="{FF2B5EF4-FFF2-40B4-BE49-F238E27FC236}">
                <a16:creationId xmlns:a16="http://schemas.microsoft.com/office/drawing/2014/main" id="{6FD304BC-BA20-41D3-94DD-A257235425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A7586-44B1-4824-824B-72575FD952A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1213403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010E-292A-412C-93B5-C381BEC521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B33B21-66CC-4DF6-9F0B-E1111D1A3E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F8D157-1044-4168-B8C3-4462FDEAE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E8734D-A4D4-4751-BDC0-9B1AFE8B9B82}"/>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6" name="Footer Placeholder 5">
            <a:extLst>
              <a:ext uri="{FF2B5EF4-FFF2-40B4-BE49-F238E27FC236}">
                <a16:creationId xmlns:a16="http://schemas.microsoft.com/office/drawing/2014/main" id="{AAD36ACE-E312-4475-9F32-C4C44093E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A92AEE-B7E2-49A2-B477-076E55AFBFB9}"/>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2364773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EBA8A-60B2-4407-8C6C-8729A753EF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F7C46E-36D8-4C57-9EBB-CB7202FB3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8A7346-B6D8-49AB-A895-3D8A43DC678A}"/>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5" name="Footer Placeholder 4">
            <a:extLst>
              <a:ext uri="{FF2B5EF4-FFF2-40B4-BE49-F238E27FC236}">
                <a16:creationId xmlns:a16="http://schemas.microsoft.com/office/drawing/2014/main" id="{B57775CC-8877-4726-883D-563C686C8B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1E12E-79FD-480D-B289-1B38DD17749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4257339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3841F7-5378-40BF-8764-209700FD46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4E88CD-BA90-4639-8E21-0A25541FF0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BD722E-F183-4C71-89A1-BB48F430EF73}"/>
              </a:ext>
            </a:extLst>
          </p:cNvPr>
          <p:cNvSpPr>
            <a:spLocks noGrp="1"/>
          </p:cNvSpPr>
          <p:nvPr>
            <p:ph type="dt" sz="half" idx="10"/>
          </p:nvPr>
        </p:nvSpPr>
        <p:spPr/>
        <p:txBody>
          <a:bodyPr/>
          <a:lstStyle/>
          <a:p>
            <a:fld id="{AE5D0DC4-DC38-4FE3-B158-BF9D9F29DBA6}" type="datetimeFigureOut">
              <a:rPr lang="en-US" smtClean="0"/>
              <a:t>9/10/2024</a:t>
            </a:fld>
            <a:endParaRPr lang="en-US"/>
          </a:p>
        </p:txBody>
      </p:sp>
      <p:sp>
        <p:nvSpPr>
          <p:cNvPr id="5" name="Footer Placeholder 4">
            <a:extLst>
              <a:ext uri="{FF2B5EF4-FFF2-40B4-BE49-F238E27FC236}">
                <a16:creationId xmlns:a16="http://schemas.microsoft.com/office/drawing/2014/main" id="{BA90CF01-A9EF-4953-98B4-7D3DD159E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120776-4042-4794-BBE2-B5760D8DBCFF}"/>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1529821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EC6F06-6E61-4A00-A55D-91CA1621F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DEA88-C9D5-4149-9B0D-8AA7B6547F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9207D1-45EC-4ADB-ACA7-23C7FD678E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5D0DC4-DC38-4FE3-B158-BF9D9F29DBA6}" type="datetimeFigureOut">
              <a:rPr lang="en-US" smtClean="0"/>
              <a:t>9/10/2024</a:t>
            </a:fld>
            <a:endParaRPr lang="en-US"/>
          </a:p>
        </p:txBody>
      </p:sp>
      <p:sp>
        <p:nvSpPr>
          <p:cNvPr id="5" name="Footer Placeholder 4">
            <a:extLst>
              <a:ext uri="{FF2B5EF4-FFF2-40B4-BE49-F238E27FC236}">
                <a16:creationId xmlns:a16="http://schemas.microsoft.com/office/drawing/2014/main" id="{CC3DE4B6-8FA5-4447-B435-AE3DE958BD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F799D33-6334-408D-8A17-760C8F1C70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4CA63-1E3B-409A-9653-41C5C3FD64AC}" type="slidenum">
              <a:rPr lang="en-US" smtClean="0"/>
              <a:t>‹#›</a:t>
            </a:fld>
            <a:endParaRPr lang="en-US"/>
          </a:p>
        </p:txBody>
      </p:sp>
    </p:spTree>
    <p:extLst>
      <p:ext uri="{BB962C8B-B14F-4D97-AF65-F5344CB8AC3E}">
        <p14:creationId xmlns:p14="http://schemas.microsoft.com/office/powerpoint/2010/main" val="1065184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hebluediamondgallery.com/tablet/b/business-research.html" TargetMode="External"/><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creativecommons.org/licenses/by-sa/3.0/" TargetMode="Externa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hyperlink" Target="https://courses.lumenlearning.com/engcomp1-wmopen/chapter/text-the-research-process/" TargetMode="External"/><Relationship Id="rId7" Type="http://schemas.openxmlformats.org/officeDocument/2006/relationships/diagramQuickStyle" Target="../diagrams/quickStyle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hyperlink" Target="https://creativecommons.org/licenses/by-nc-sa/3.0/" TargetMode="External"/><Relationship Id="rId4" Type="http://schemas.openxmlformats.org/officeDocument/2006/relationships/image" Target="../media/image7.jpeg"/><Relationship Id="rId9" Type="http://schemas.microsoft.com/office/2007/relationships/diagramDrawing" Target="../diagrams/drawing1.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hyperlink" Target="https://courses.lumenlearning.com/engcomp1-wmopen/chapter/text-the-research-process/" TargetMode="External"/><Relationship Id="rId7" Type="http://schemas.openxmlformats.org/officeDocument/2006/relationships/diagramQuickStyle" Target="../diagrams/quickStyle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hyperlink" Target="https://creativecommons.org/licenses/by-nc-sa/3.0/" TargetMode="External"/><Relationship Id="rId4" Type="http://schemas.openxmlformats.org/officeDocument/2006/relationships/image" Target="../media/image7.jpeg"/><Relationship Id="rId9" Type="http://schemas.microsoft.com/office/2007/relationships/diagramDrawing" Target="../diagrams/drawin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business.tcnj.edu/wp-content/uploads/sites/219/2022/04/BUS200-Chiarello-SP22.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uides.library.uwm.edu/libguidesrepository/sourcetypes"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s://web-p-ebscohost-com.library3.webster.edu/ehost/viewarticle/render?data=dGJyMPPp44rp2%2fdV0%2bnjisfk5Ie46bZRt62wUbCk63nn5Kx95uXxjL6vrUmupbBIsKqeSrimtlKvrJ5oy5zyit%2fk8Xnh6ueH7N%2fiVa%2bsr06vp7ZNs6eki%2bfau0i0rbBR4K%2bwRbGm4n2rquFLt6O2eeCnq3nf2q5NsK3iSuKqt1jw2%2bKB8Zzqeezdu33snOJ6u9fugKTq33%2b7t8w%2b3%2bS7S7Optk%2bvq68%2b5OXwhd%2fqu4ji3MSN6uLSffbq&amp;vid=4&amp;sid=06729b92-30de-4c39-8ab1-aad0527d2d49@redis" TargetMode="External"/><Relationship Id="rId2" Type="http://schemas.openxmlformats.org/officeDocument/2006/relationships/hyperlink" Target="https://web-p-ebscohost-com.library3.webster.edu/ehost/viewarticle/render?data=dGJyMPPp44rp2%2fdV0%2bnjisfk5Ie46bZRt62wUbCk63nn5Kx95uXxjL6vrUmupbBIsKqeSrimtlKvrJ5oy5zyit%2fk8Xnh6ueH7N%2fiVa%2bsr06vp7ZNs6eki%2bfau0i0rbBR4K%2bwRbGm4n2rquFLt6O2eeCnq3nf2q5NsK3iSuKqt1jw2%2bKB8Zzqeezdu33snOJ6u9fugKTq33%2b7t8w%2b3%2bS7S7Optk%2bvq68%2b5OXwhd%2fqu37z4uqM4%2b7y&amp;vid=4&amp;sid=06729b92-30de-4c39-8ab1-aad0527d2d49@redis"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29782-3459-4C98-9F87-579B0429648F}"/>
              </a:ext>
            </a:extLst>
          </p:cNvPr>
          <p:cNvSpPr>
            <a:spLocks noGrp="1"/>
          </p:cNvSpPr>
          <p:nvPr>
            <p:ph type="ctrTitle"/>
          </p:nvPr>
        </p:nvSpPr>
        <p:spPr>
          <a:xfrm>
            <a:off x="7132105" y="-3277"/>
            <a:ext cx="4419815" cy="6200350"/>
          </a:xfrm>
        </p:spPr>
        <p:txBody>
          <a:bodyPr anchor="b">
            <a:normAutofit/>
          </a:bodyPr>
          <a:lstStyle/>
          <a:p>
            <a:pPr algn="l"/>
            <a:r>
              <a:rPr lang="en-US" sz="5000"/>
              <a:t>Week 4: The Research Process</a:t>
            </a:r>
            <a:br>
              <a:rPr lang="en-US" sz="5000"/>
            </a:br>
            <a:r>
              <a:rPr lang="en-US" sz="5000"/>
              <a:t> </a:t>
            </a:r>
            <a:br>
              <a:rPr lang="en-US" sz="5000">
                <a:ea typeface="Calibri Light"/>
                <a:cs typeface="Calibri Light"/>
              </a:rPr>
            </a:br>
            <a:r>
              <a:rPr lang="en-US" sz="3200">
                <a:ea typeface="Calibri Light"/>
                <a:cs typeface="Calibri Light"/>
              </a:rPr>
              <a:t>Reminder:  You have two attempts to correct your homework.</a:t>
            </a:r>
          </a:p>
        </p:txBody>
      </p:sp>
      <p:sp>
        <p:nvSpPr>
          <p:cNvPr id="3" name="Subtitle 2">
            <a:extLst>
              <a:ext uri="{FF2B5EF4-FFF2-40B4-BE49-F238E27FC236}">
                <a16:creationId xmlns:a16="http://schemas.microsoft.com/office/drawing/2014/main" id="{D389A282-DA0A-4E09-B8B8-F162C6D27F27}"/>
              </a:ext>
            </a:extLst>
          </p:cNvPr>
          <p:cNvSpPr>
            <a:spLocks noGrp="1"/>
          </p:cNvSpPr>
          <p:nvPr>
            <p:ph type="subTitle" idx="1"/>
          </p:nvPr>
        </p:nvSpPr>
        <p:spPr>
          <a:xfrm>
            <a:off x="7464612" y="4750893"/>
            <a:ext cx="4087305" cy="1147863"/>
          </a:xfrm>
        </p:spPr>
        <p:txBody>
          <a:bodyPr anchor="t">
            <a:normAutofit/>
          </a:bodyPr>
          <a:lstStyle/>
          <a:p>
            <a:pPr algn="l"/>
            <a:r>
              <a:rPr lang="en-US" sz="3200">
                <a:cs typeface="Calibri"/>
              </a:rPr>
              <a:t>  </a:t>
            </a:r>
            <a:endParaRPr lang="en-US" sz="3200"/>
          </a:p>
        </p:txBody>
      </p:sp>
      <p:sp>
        <p:nvSpPr>
          <p:cNvPr id="10" name="Freeform: Shape 9">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4" descr="Text&#10;&#10;Description automatically generated">
            <a:extLst>
              <a:ext uri="{FF2B5EF4-FFF2-40B4-BE49-F238E27FC236}">
                <a16:creationId xmlns:a16="http://schemas.microsoft.com/office/drawing/2014/main" id="{7E866480-CBDC-09E1-C04A-DC24623B0426}"/>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31591" r="-1" b="-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5" name="TextBox 4">
            <a:extLst>
              <a:ext uri="{FF2B5EF4-FFF2-40B4-BE49-F238E27FC236}">
                <a16:creationId xmlns:a16="http://schemas.microsoft.com/office/drawing/2014/main" id="{D82347BB-4A9C-62EB-36BB-0C90BF9CFA0F}"/>
              </a:ext>
            </a:extLst>
          </p:cNvPr>
          <p:cNvSpPr txBox="1"/>
          <p:nvPr/>
        </p:nvSpPr>
        <p:spPr>
          <a:xfrm>
            <a:off x="9870532" y="6657945"/>
            <a:ext cx="232146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a:t>
            </a:r>
            <a:r>
              <a:rPr lang="en-US" sz="700">
                <a:solidFill>
                  <a:srgbClr val="FFFFFF"/>
                </a:solidFill>
              </a:rPr>
              <a:t>.</a:t>
            </a:r>
          </a:p>
        </p:txBody>
      </p:sp>
    </p:spTree>
    <p:extLst>
      <p:ext uri="{BB962C8B-B14F-4D97-AF65-F5344CB8AC3E}">
        <p14:creationId xmlns:p14="http://schemas.microsoft.com/office/powerpoint/2010/main" val="13642760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B55E0EC-42C2-D3DC-94D8-8389A324C5D8}"/>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6250" b="6250"/>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1F8E2E-3874-60FB-7040-0E99BC47D5D8}"/>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b="1">
                <a:solidFill>
                  <a:srgbClr val="FFFFFF"/>
                </a:solidFill>
                <a:cs typeface="Calibri Light"/>
              </a:rPr>
              <a:t>Questions and Answers always on Thursdays.</a:t>
            </a:r>
          </a:p>
        </p:txBody>
      </p:sp>
      <p:sp>
        <p:nvSpPr>
          <p:cNvPr id="3" name="Content Placeholder 2">
            <a:extLst>
              <a:ext uri="{FF2B5EF4-FFF2-40B4-BE49-F238E27FC236}">
                <a16:creationId xmlns:a16="http://schemas.microsoft.com/office/drawing/2014/main" id="{82815784-EA00-CBDC-DA52-8A4C41F928F5}"/>
              </a:ext>
            </a:extLst>
          </p:cNvPr>
          <p:cNvSpPr>
            <a:spLocks noGrp="1"/>
          </p:cNvSpPr>
          <p:nvPr>
            <p:ph type="subTitle" idx="1"/>
          </p:nvPr>
        </p:nvSpPr>
        <p:spPr>
          <a:xfrm>
            <a:off x="1013787" y="4028911"/>
            <a:ext cx="10159041" cy="1325839"/>
          </a:xfrm>
          <a:effectLst>
            <a:outerShdw blurRad="50800" dist="38100" dir="2700000" algn="tl" rotWithShape="0">
              <a:prstClr val="black">
                <a:alpha val="40000"/>
              </a:prstClr>
            </a:outerShdw>
          </a:effectLst>
        </p:spPr>
        <p:txBody>
          <a:bodyPr vert="horz" lIns="91440" tIns="45720" rIns="91440" bIns="45720" rtlCol="0" anchor="t">
            <a:normAutofit lnSpcReduction="10000"/>
          </a:bodyPr>
          <a:lstStyle/>
          <a:p>
            <a:endParaRPr lang="en-US" sz="2800" b="1">
              <a:solidFill>
                <a:srgbClr val="FFFFFF"/>
              </a:solidFill>
              <a:cs typeface="Calibri"/>
            </a:endParaRPr>
          </a:p>
          <a:p>
            <a:r>
              <a:rPr lang="en-US" sz="2800" b="1">
                <a:solidFill>
                  <a:srgbClr val="FFFFFF"/>
                </a:solidFill>
                <a:cs typeface="Calibri"/>
              </a:rPr>
              <a:t>This Thursday I will focus on questions and help with the homework.  Please come if you got a low grade on the homework.</a:t>
            </a:r>
            <a:endParaRPr lang="en-US"/>
          </a:p>
        </p:txBody>
      </p:sp>
    </p:spTree>
    <p:extLst>
      <p:ext uri="{BB962C8B-B14F-4D97-AF65-F5344CB8AC3E}">
        <p14:creationId xmlns:p14="http://schemas.microsoft.com/office/powerpoint/2010/main" val="3540502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D9173-9A30-2638-C940-EDF6A8A9A32A}"/>
              </a:ext>
            </a:extLst>
          </p:cNvPr>
          <p:cNvSpPr>
            <a:spLocks noGrp="1"/>
          </p:cNvSpPr>
          <p:nvPr>
            <p:ph type="title"/>
          </p:nvPr>
        </p:nvSpPr>
        <p:spPr>
          <a:solidFill>
            <a:srgbClr val="FF0000"/>
          </a:solidFill>
        </p:spPr>
        <p:txBody>
          <a:bodyPr/>
          <a:lstStyle/>
          <a:p>
            <a:r>
              <a:rPr lang="en-US" b="1">
                <a:ea typeface="Calibri Light"/>
                <a:cs typeface="Calibri Light"/>
              </a:rPr>
              <a:t>Homework:  Making a quotation</a:t>
            </a:r>
          </a:p>
        </p:txBody>
      </p:sp>
      <p:sp>
        <p:nvSpPr>
          <p:cNvPr id="3" name="Content Placeholder 2">
            <a:extLst>
              <a:ext uri="{FF2B5EF4-FFF2-40B4-BE49-F238E27FC236}">
                <a16:creationId xmlns:a16="http://schemas.microsoft.com/office/drawing/2014/main" id="{0E4BD61E-D550-9295-4E62-73EF19B1F33E}"/>
              </a:ext>
            </a:extLst>
          </p:cNvPr>
          <p:cNvSpPr>
            <a:spLocks noGrp="1"/>
          </p:cNvSpPr>
          <p:nvPr>
            <p:ph idx="1"/>
          </p:nvPr>
        </p:nvSpPr>
        <p:spPr/>
        <p:txBody>
          <a:bodyPr vert="horz" lIns="91440" tIns="45720" rIns="91440" bIns="45720" rtlCol="0" anchor="t">
            <a:normAutofit/>
          </a:bodyPr>
          <a:lstStyle/>
          <a:p>
            <a:pPr marL="0" indent="0">
              <a:buNone/>
            </a:pPr>
            <a:r>
              <a:rPr lang="en-US">
                <a:ea typeface="Calibri"/>
                <a:cs typeface="Calibri"/>
              </a:rPr>
              <a:t>To quote is to copy the exact wording.   You cannot use quotation marks and page numbers for something from a different text or if you changed the words.  Then it is not a quotation.</a:t>
            </a:r>
          </a:p>
          <a:p>
            <a:pPr marL="0" indent="0">
              <a:buNone/>
            </a:pPr>
            <a:endParaRPr lang="en-US">
              <a:ea typeface="Calibri"/>
              <a:cs typeface="Calibri"/>
            </a:endParaRPr>
          </a:p>
          <a:p>
            <a:pPr marL="0" indent="0">
              <a:buNone/>
            </a:pPr>
            <a:r>
              <a:rPr lang="en-US">
                <a:ea typeface="Calibri"/>
                <a:cs typeface="Calibri"/>
              </a:rPr>
              <a:t>Therefore, it is incorrect, and marked wrong on the homework.</a:t>
            </a:r>
          </a:p>
          <a:p>
            <a:pPr marL="0" indent="0">
              <a:buNone/>
            </a:pPr>
            <a:endParaRPr lang="en-US">
              <a:ea typeface="Calibri"/>
              <a:cs typeface="Calibri"/>
            </a:endParaRPr>
          </a:p>
          <a:p>
            <a:pPr marL="0" indent="0">
              <a:buNone/>
            </a:pPr>
            <a:r>
              <a:rPr lang="en-US">
                <a:ea typeface="Calibri"/>
                <a:cs typeface="Calibri"/>
              </a:rPr>
              <a:t>Use the class book, which is online, page 67, only.</a:t>
            </a:r>
          </a:p>
        </p:txBody>
      </p:sp>
    </p:spTree>
    <p:extLst>
      <p:ext uri="{BB962C8B-B14F-4D97-AF65-F5344CB8AC3E}">
        <p14:creationId xmlns:p14="http://schemas.microsoft.com/office/powerpoint/2010/main" val="2923086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DCFB76-5005-023E-C8C0-2C0281FD9774}"/>
              </a:ext>
            </a:extLst>
          </p:cNvPr>
          <p:cNvSpPr>
            <a:spLocks noGrp="1"/>
          </p:cNvSpPr>
          <p:nvPr>
            <p:ph type="title"/>
          </p:nvPr>
        </p:nvSpPr>
        <p:spPr>
          <a:xfrm>
            <a:off x="567953" y="317695"/>
            <a:ext cx="3734014" cy="3634544"/>
          </a:xfrm>
        </p:spPr>
        <p:txBody>
          <a:bodyPr vert="horz" lIns="91440" tIns="45720" rIns="91440" bIns="45720" rtlCol="0" anchor="b">
            <a:normAutofit/>
          </a:bodyPr>
          <a:lstStyle/>
          <a:p>
            <a:r>
              <a:rPr lang="en-US" sz="4200" b="1"/>
              <a:t>Review of APA citation style:  </a:t>
            </a:r>
            <a:endParaRPr lang="en-US" sz="4200" b="1">
              <a:ea typeface="Calibri Light"/>
              <a:cs typeface="Calibri Light"/>
            </a:endParaRPr>
          </a:p>
        </p:txBody>
      </p:sp>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icky notes on a wall">
            <a:extLst>
              <a:ext uri="{FF2B5EF4-FFF2-40B4-BE49-F238E27FC236}">
                <a16:creationId xmlns:a16="http://schemas.microsoft.com/office/drawing/2014/main" id="{DE5D7937-26F9-95FD-72D0-0D093AE9CCE4}"/>
              </a:ext>
            </a:extLst>
          </p:cNvPr>
          <p:cNvPicPr>
            <a:picLocks noChangeAspect="1"/>
          </p:cNvPicPr>
          <p:nvPr/>
        </p:nvPicPr>
        <p:blipFill rotWithShape="1">
          <a:blip r:embed="rId2"/>
          <a:srcRect l="14138" r="15932" b="1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TextBox 2">
            <a:extLst>
              <a:ext uri="{FF2B5EF4-FFF2-40B4-BE49-F238E27FC236}">
                <a16:creationId xmlns:a16="http://schemas.microsoft.com/office/drawing/2014/main" id="{49B60B59-E5D5-8578-AAB1-3D5CC16782CF}"/>
              </a:ext>
            </a:extLst>
          </p:cNvPr>
          <p:cNvSpPr txBox="1"/>
          <p:nvPr/>
        </p:nvSpPr>
        <p:spPr>
          <a:xfrm>
            <a:off x="564773" y="4403343"/>
            <a:ext cx="493714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cs typeface="Calibri"/>
              </a:rPr>
              <a:t>You will do an entry for homework this week.</a:t>
            </a:r>
          </a:p>
        </p:txBody>
      </p:sp>
    </p:spTree>
    <p:extLst>
      <p:ext uri="{BB962C8B-B14F-4D97-AF65-F5344CB8AC3E}">
        <p14:creationId xmlns:p14="http://schemas.microsoft.com/office/powerpoint/2010/main" val="3257038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0E859B-3E3E-6E29-7389-D2DE014CA22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AAB1DE-B1DB-146B-48FD-E19D9AF18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560BEC-A5C0-5691-761D-9EA0814CFA18}"/>
              </a:ext>
            </a:extLst>
          </p:cNvPr>
          <p:cNvSpPr>
            <a:spLocks noGrp="1"/>
          </p:cNvSpPr>
          <p:nvPr>
            <p:ph type="title"/>
          </p:nvPr>
        </p:nvSpPr>
        <p:spPr>
          <a:xfrm>
            <a:off x="567953" y="317695"/>
            <a:ext cx="5313432" cy="2456908"/>
          </a:xfrm>
        </p:spPr>
        <p:txBody>
          <a:bodyPr vert="horz" lIns="91440" tIns="45720" rIns="91440" bIns="45720" rtlCol="0" anchor="b">
            <a:normAutofit/>
          </a:bodyPr>
          <a:lstStyle/>
          <a:p>
            <a:r>
              <a:rPr lang="en-US" sz="4200" b="1"/>
              <a:t>Review of APA citation style:  Title of a book or journal </a:t>
            </a:r>
            <a:r>
              <a:rPr lang="en-US" sz="4200" b="1" u="sng"/>
              <a:t>in citations and in homework.</a:t>
            </a:r>
            <a:endParaRPr lang="en-US" u="sng">
              <a:cs typeface="Calibri Light"/>
            </a:endParaRPr>
          </a:p>
        </p:txBody>
      </p:sp>
      <p:sp>
        <p:nvSpPr>
          <p:cNvPr id="11" name="sketchy line">
            <a:extLst>
              <a:ext uri="{FF2B5EF4-FFF2-40B4-BE49-F238E27FC236}">
                <a16:creationId xmlns:a16="http://schemas.microsoft.com/office/drawing/2014/main" id="{6450DC38-B908-B0C3-D087-51178FA35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icky notes on a wall">
            <a:extLst>
              <a:ext uri="{FF2B5EF4-FFF2-40B4-BE49-F238E27FC236}">
                <a16:creationId xmlns:a16="http://schemas.microsoft.com/office/drawing/2014/main" id="{27805D39-0CE4-E337-55D3-49F73FB1A5DA}"/>
              </a:ext>
            </a:extLst>
          </p:cNvPr>
          <p:cNvPicPr>
            <a:picLocks noChangeAspect="1"/>
          </p:cNvPicPr>
          <p:nvPr/>
        </p:nvPicPr>
        <p:blipFill rotWithShape="1">
          <a:blip r:embed="rId2"/>
          <a:srcRect l="14138" r="15932" b="1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TextBox 2">
            <a:extLst>
              <a:ext uri="{FF2B5EF4-FFF2-40B4-BE49-F238E27FC236}">
                <a16:creationId xmlns:a16="http://schemas.microsoft.com/office/drawing/2014/main" id="{D607CD29-04F9-13A2-20BF-55140F60C720}"/>
              </a:ext>
            </a:extLst>
          </p:cNvPr>
          <p:cNvSpPr txBox="1"/>
          <p:nvPr/>
        </p:nvSpPr>
        <p:spPr>
          <a:xfrm>
            <a:off x="287682" y="2893197"/>
            <a:ext cx="493714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cs typeface="Calibri"/>
              </a:rPr>
              <a:t>In italics, and not capitalized except for the first word of each part and names. </a:t>
            </a:r>
            <a:endParaRPr lang="en-US"/>
          </a:p>
          <a:p>
            <a:endParaRPr lang="en-US" sz="2800" b="1">
              <a:cs typeface="Calibri"/>
            </a:endParaRPr>
          </a:p>
          <a:p>
            <a:r>
              <a:rPr lang="en-US" sz="2800" b="1">
                <a:cs typeface="Calibri"/>
              </a:rPr>
              <a:t>No quotation marks.  No "Intercultural skills..."</a:t>
            </a:r>
            <a:endParaRPr lang="en-US">
              <a:cs typeface="Calibri"/>
            </a:endParaRPr>
          </a:p>
        </p:txBody>
      </p:sp>
    </p:spTree>
    <p:extLst>
      <p:ext uri="{BB962C8B-B14F-4D97-AF65-F5344CB8AC3E}">
        <p14:creationId xmlns:p14="http://schemas.microsoft.com/office/powerpoint/2010/main" val="1603969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57BD5-9483-1E15-B8ED-1C4B61A1C867}"/>
              </a:ext>
            </a:extLst>
          </p:cNvPr>
          <p:cNvSpPr>
            <a:spLocks noGrp="1"/>
          </p:cNvSpPr>
          <p:nvPr>
            <p:ph type="title"/>
          </p:nvPr>
        </p:nvSpPr>
        <p:spPr>
          <a:solidFill>
            <a:srgbClr val="FF0000"/>
          </a:solidFill>
        </p:spPr>
        <p:txBody>
          <a:bodyPr/>
          <a:lstStyle/>
          <a:p>
            <a:r>
              <a:rPr lang="en-US">
                <a:cs typeface="Calibri Light"/>
              </a:rPr>
              <a:t>APA References citation entry for an article</a:t>
            </a:r>
            <a:endParaRPr lang="en-US"/>
          </a:p>
        </p:txBody>
      </p:sp>
      <p:sp>
        <p:nvSpPr>
          <p:cNvPr id="3" name="Content Placeholder 2">
            <a:extLst>
              <a:ext uri="{FF2B5EF4-FFF2-40B4-BE49-F238E27FC236}">
                <a16:creationId xmlns:a16="http://schemas.microsoft.com/office/drawing/2014/main" id="{F8DED75B-8D93-D1EC-BA0B-11B019B4EFD2}"/>
              </a:ext>
            </a:extLst>
          </p:cNvPr>
          <p:cNvSpPr>
            <a:spLocks noGrp="1"/>
          </p:cNvSpPr>
          <p:nvPr>
            <p:ph idx="1"/>
          </p:nvPr>
        </p:nvSpPr>
        <p:spPr/>
        <p:txBody>
          <a:bodyPr vert="horz" lIns="91440" tIns="45720" rIns="91440" bIns="45720" rtlCol="0" anchor="t">
            <a:normAutofit/>
          </a:bodyPr>
          <a:lstStyle/>
          <a:p>
            <a:pPr marL="0" indent="0">
              <a:buNone/>
            </a:pPr>
            <a:r>
              <a:rPr lang="en-US">
                <a:cs typeface="Calibri"/>
              </a:rPr>
              <a:t>Lothery, E. (2022).  Information technology governance mechanisms:</a:t>
            </a:r>
            <a:endParaRPr lang="en-US"/>
          </a:p>
          <a:p>
            <a:pPr marL="0" indent="0">
              <a:buNone/>
            </a:pPr>
            <a:r>
              <a:rPr lang="en-US">
                <a:cs typeface="Calibri"/>
              </a:rPr>
              <a:t>      Achieving business-IT alignment in a local government.   </a:t>
            </a:r>
          </a:p>
          <a:p>
            <a:pPr marL="0" indent="0">
              <a:buNone/>
            </a:pPr>
            <a:r>
              <a:rPr lang="en-US">
                <a:cs typeface="Calibri"/>
              </a:rPr>
              <a:t>     </a:t>
            </a:r>
            <a:r>
              <a:rPr lang="en-US" i="1">
                <a:cs typeface="Calibri"/>
              </a:rPr>
              <a:t>Organization Development Review 54 </a:t>
            </a:r>
            <a:r>
              <a:rPr lang="en-US">
                <a:cs typeface="Calibri"/>
              </a:rPr>
              <a:t>(4), pp. 25 – 29.</a:t>
            </a:r>
          </a:p>
          <a:p>
            <a:pPr marL="0" indent="0">
              <a:buNone/>
            </a:pPr>
            <a:endParaRPr lang="en-US">
              <a:cs typeface="Calibri"/>
            </a:endParaRPr>
          </a:p>
          <a:p>
            <a:pPr marL="0" indent="0">
              <a:buNone/>
            </a:pPr>
            <a:r>
              <a:rPr lang="en-US">
                <a:cs typeface="Calibri"/>
              </a:rPr>
              <a:t>See the article on the Home page as an example of what the original would look like.</a:t>
            </a:r>
            <a:endParaRPr lang="en-US">
              <a:ea typeface="Calibri"/>
              <a:cs typeface="Calibri"/>
            </a:endParaRPr>
          </a:p>
        </p:txBody>
      </p:sp>
    </p:spTree>
    <p:extLst>
      <p:ext uri="{BB962C8B-B14F-4D97-AF65-F5344CB8AC3E}">
        <p14:creationId xmlns:p14="http://schemas.microsoft.com/office/powerpoint/2010/main" val="4178109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5EA02-5E8B-E13C-A6F3-06BF2B2BEB56}"/>
              </a:ext>
            </a:extLst>
          </p:cNvPr>
          <p:cNvSpPr>
            <a:spLocks noGrp="1"/>
          </p:cNvSpPr>
          <p:nvPr>
            <p:ph type="title"/>
          </p:nvPr>
        </p:nvSpPr>
        <p:spPr/>
        <p:txBody>
          <a:bodyPr/>
          <a:lstStyle/>
          <a:p>
            <a:r>
              <a:rPr lang="en-US">
                <a:cs typeface="Calibri Light"/>
              </a:rPr>
              <a:t>Reference entry for an academic article</a:t>
            </a:r>
            <a:endParaRPr lang="en-US"/>
          </a:p>
        </p:txBody>
      </p:sp>
      <p:sp>
        <p:nvSpPr>
          <p:cNvPr id="3" name="Content Placeholder 2">
            <a:extLst>
              <a:ext uri="{FF2B5EF4-FFF2-40B4-BE49-F238E27FC236}">
                <a16:creationId xmlns:a16="http://schemas.microsoft.com/office/drawing/2014/main" id="{06D604C5-4CA4-1DF3-0B50-5AA204784A96}"/>
              </a:ext>
            </a:extLst>
          </p:cNvPr>
          <p:cNvSpPr>
            <a:spLocks noGrp="1"/>
          </p:cNvSpPr>
          <p:nvPr>
            <p:ph idx="1"/>
          </p:nvPr>
        </p:nvSpPr>
        <p:spPr/>
        <p:txBody>
          <a:bodyPr vert="horz" lIns="91440" tIns="45720" rIns="91440" bIns="45720" rtlCol="0" anchor="t">
            <a:normAutofit/>
          </a:bodyPr>
          <a:lstStyle/>
          <a:p>
            <a:pPr marL="0" indent="0">
              <a:buNone/>
            </a:pPr>
            <a:r>
              <a:rPr lang="en-US" sz="2200">
                <a:cs typeface="Calibri" panose="020F0502020204030204"/>
              </a:rPr>
              <a:t>Byram, M., &amp; Wagner, M. (2018). </a:t>
            </a:r>
            <a:r>
              <a:rPr lang="en-US" sz="2200">
                <a:highlight>
                  <a:srgbClr val="FFFF00"/>
                </a:highlight>
                <a:cs typeface="Calibri" panose="020F0502020204030204"/>
              </a:rPr>
              <a:t>M</a:t>
            </a:r>
            <a:r>
              <a:rPr lang="en-US" sz="2200">
                <a:cs typeface="Calibri" panose="020F0502020204030204"/>
              </a:rPr>
              <a:t>aking a difference: </a:t>
            </a:r>
            <a:r>
              <a:rPr lang="en-US" sz="2200">
                <a:highlight>
                  <a:srgbClr val="FFFF00"/>
                </a:highlight>
                <a:cs typeface="Calibri" panose="020F0502020204030204"/>
              </a:rPr>
              <a:t>La</a:t>
            </a:r>
            <a:r>
              <a:rPr lang="en-US" sz="2200">
                <a:cs typeface="Calibri" panose="020F0502020204030204"/>
              </a:rPr>
              <a:t>nguage teaching for intercultural</a:t>
            </a:r>
          </a:p>
          <a:p>
            <a:pPr marL="0" indent="0">
              <a:buNone/>
            </a:pPr>
            <a:r>
              <a:rPr lang="en-US" sz="2200">
                <a:cs typeface="Calibri" panose="020F0502020204030204"/>
              </a:rPr>
              <a:t>     and international dialogue. </a:t>
            </a:r>
            <a:r>
              <a:rPr lang="en-US" sz="2200" i="1">
                <a:highlight>
                  <a:srgbClr val="FFFF00"/>
                </a:highlight>
                <a:cs typeface="Calibri" panose="020F0502020204030204"/>
              </a:rPr>
              <a:t>F</a:t>
            </a:r>
            <a:r>
              <a:rPr lang="en-US" sz="2200" i="1">
                <a:cs typeface="Calibri" panose="020F0502020204030204"/>
              </a:rPr>
              <a:t>oreign </a:t>
            </a:r>
            <a:r>
              <a:rPr lang="en-US" sz="2200" i="1">
                <a:highlight>
                  <a:srgbClr val="FFFF00"/>
                </a:highlight>
                <a:cs typeface="Calibri" panose="020F0502020204030204"/>
              </a:rPr>
              <a:t>L</a:t>
            </a:r>
            <a:r>
              <a:rPr lang="en-US" sz="2200" i="1">
                <a:cs typeface="Calibri" panose="020F0502020204030204"/>
              </a:rPr>
              <a:t>anguage</a:t>
            </a:r>
            <a:r>
              <a:rPr lang="en-US" sz="2200" i="1">
                <a:highlight>
                  <a:srgbClr val="FFFF00"/>
                </a:highlight>
                <a:cs typeface="Calibri" panose="020F0502020204030204"/>
              </a:rPr>
              <a:t> A</a:t>
            </a:r>
            <a:r>
              <a:rPr lang="en-US" sz="2200" i="1">
                <a:cs typeface="Calibri" panose="020F0502020204030204"/>
              </a:rPr>
              <a:t>nnals</a:t>
            </a:r>
            <a:r>
              <a:rPr lang="en-US" sz="2200">
                <a:cs typeface="Calibri" panose="020F0502020204030204"/>
              </a:rPr>
              <a:t>, 51 (1). </a:t>
            </a:r>
          </a:p>
          <a:p>
            <a:pPr marL="0" indent="0">
              <a:buNone/>
            </a:pPr>
            <a:endParaRPr lang="en-US" sz="2200">
              <a:cs typeface="Calibri" panose="020F0502020204030204"/>
            </a:endParaRPr>
          </a:p>
          <a:p>
            <a:pPr>
              <a:buNone/>
            </a:pPr>
            <a:r>
              <a:rPr lang="en-US" b="1">
                <a:cs typeface="Calibri" panose="020F0502020204030204"/>
              </a:rPr>
              <a:t>Author's last name, initial.  (year).  Title of article. </a:t>
            </a:r>
            <a:r>
              <a:rPr lang="en-US" b="1" i="1">
                <a:cs typeface="Calibri" panose="020F0502020204030204"/>
              </a:rPr>
              <a:t>Title of  Journal</a:t>
            </a:r>
            <a:r>
              <a:rPr lang="en-US" b="1">
                <a:cs typeface="Calibri" panose="020F0502020204030204"/>
              </a:rPr>
              <a:t> </a:t>
            </a:r>
            <a:endParaRPr lang="en-US">
              <a:cs typeface="Calibri" panose="020F0502020204030204"/>
            </a:endParaRPr>
          </a:p>
          <a:p>
            <a:pPr>
              <a:buNone/>
            </a:pPr>
            <a:r>
              <a:rPr lang="en-US" b="1">
                <a:cs typeface="Calibri" panose="020F0502020204030204"/>
              </a:rPr>
              <a:t>      in </a:t>
            </a:r>
            <a:r>
              <a:rPr lang="en-US" b="1" i="1">
                <a:cs typeface="Calibri" panose="020F0502020204030204"/>
              </a:rPr>
              <a:t>italics</a:t>
            </a:r>
            <a:r>
              <a:rPr lang="en-US" b="1">
                <a:cs typeface="Calibri" panose="020F0502020204030204"/>
              </a:rPr>
              <a:t>,</a:t>
            </a:r>
            <a:r>
              <a:rPr lang="en-US" b="1" i="1">
                <a:cs typeface="Calibri" panose="020F0502020204030204"/>
              </a:rPr>
              <a:t> 2 (</a:t>
            </a:r>
            <a:r>
              <a:rPr lang="en-US" b="1">
                <a:cs typeface="Calibri" panose="020F0502020204030204"/>
              </a:rPr>
              <a:t>3), pages.  DOI or web address if necessary.</a:t>
            </a:r>
            <a:endParaRPr lang="en-US">
              <a:cs typeface="Calibri" panose="020F0502020204030204"/>
            </a:endParaRPr>
          </a:p>
          <a:p>
            <a:pPr>
              <a:buNone/>
            </a:pPr>
            <a:r>
              <a:rPr lang="en-US" b="1">
                <a:cs typeface="Calibri" panose="020F0502020204030204"/>
              </a:rPr>
              <a:t>Title of article or book only </a:t>
            </a:r>
            <a:r>
              <a:rPr lang="en-US" b="1" u="sng">
                <a:cs typeface="Calibri" panose="020F0502020204030204"/>
              </a:rPr>
              <a:t>capitalizes (caps) </a:t>
            </a:r>
            <a:r>
              <a:rPr lang="en-US" b="1">
                <a:cs typeface="Calibri" panose="020F0502020204030204"/>
              </a:rPr>
              <a:t>the first word and first word after a colon.  </a:t>
            </a:r>
          </a:p>
          <a:p>
            <a:pPr>
              <a:buNone/>
            </a:pPr>
            <a:r>
              <a:rPr lang="en-US" b="1">
                <a:cs typeface="Calibri" panose="020F0502020204030204"/>
              </a:rPr>
              <a:t>The title of the journal (magazine) is capitalized and in</a:t>
            </a:r>
            <a:r>
              <a:rPr lang="en-US" b="1" i="1">
                <a:cs typeface="Calibri" panose="020F0502020204030204"/>
              </a:rPr>
              <a:t> ITALICS.</a:t>
            </a:r>
            <a:endParaRPr lang="en-US" b="1">
              <a:cs typeface="Calibri" panose="020F0502020204030204"/>
            </a:endParaRPr>
          </a:p>
          <a:p>
            <a:pPr>
              <a:buNone/>
            </a:pPr>
            <a:r>
              <a:rPr lang="en-US" b="1" i="1">
                <a:cs typeface="Calibri" panose="020F0502020204030204"/>
              </a:rPr>
              <a:t>                  </a:t>
            </a:r>
            <a:r>
              <a:rPr lang="en-US" b="1">
                <a:cs typeface="Calibri" panose="020F0502020204030204"/>
              </a:rPr>
              <a:t>And NEVER, NEVER, NEVER USE ALL CAPS.</a:t>
            </a:r>
            <a:endParaRPr lang="en-US" b="1">
              <a:ea typeface="Calibri"/>
              <a:cs typeface="Calibri" panose="020F0502020204030204"/>
            </a:endParaRPr>
          </a:p>
          <a:p>
            <a:pPr marL="0" indent="0">
              <a:buNone/>
            </a:pPr>
            <a:endParaRPr lang="en-US">
              <a:cs typeface="Calibri" panose="020F0502020204030204"/>
            </a:endParaRPr>
          </a:p>
        </p:txBody>
      </p:sp>
    </p:spTree>
    <p:extLst>
      <p:ext uri="{BB962C8B-B14F-4D97-AF65-F5344CB8AC3E}">
        <p14:creationId xmlns:p14="http://schemas.microsoft.com/office/powerpoint/2010/main" val="944899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4ED02E5E-47DA-AAAE-E966-5E5A74991BE2}"/>
              </a:ext>
            </a:extLst>
          </p:cNvPr>
          <p:cNvPicPr>
            <a:picLocks noGrp="1" noChangeAspect="1"/>
          </p:cNvPicPr>
          <p:nvPr>
            <p:ph idx="1"/>
          </p:nvPr>
        </p:nvPicPr>
        <p:blipFill>
          <a:blip r:embed="rId2"/>
          <a:stretch>
            <a:fillRect/>
          </a:stretch>
        </p:blipFill>
        <p:spPr>
          <a:xfrm>
            <a:off x="255339" y="83528"/>
            <a:ext cx="11175677" cy="6292280"/>
          </a:xfrm>
        </p:spPr>
      </p:pic>
      <p:sp>
        <p:nvSpPr>
          <p:cNvPr id="2" name="Title 1">
            <a:extLst>
              <a:ext uri="{FF2B5EF4-FFF2-40B4-BE49-F238E27FC236}">
                <a16:creationId xmlns:a16="http://schemas.microsoft.com/office/drawing/2014/main" id="{D0A3397C-7C64-DB9D-3F8C-36C474B1AFBE}"/>
              </a:ext>
            </a:extLst>
          </p:cNvPr>
          <p:cNvSpPr>
            <a:spLocks noGrp="1"/>
          </p:cNvSpPr>
          <p:nvPr>
            <p:ph type="title"/>
          </p:nvPr>
        </p:nvSpPr>
        <p:spPr>
          <a:xfrm>
            <a:off x="838200" y="365125"/>
            <a:ext cx="7323827" cy="1339940"/>
          </a:xfrm>
          <a:solidFill>
            <a:srgbClr val="FF0000"/>
          </a:solidFill>
        </p:spPr>
        <p:txBody>
          <a:bodyPr/>
          <a:lstStyle/>
          <a:p>
            <a:r>
              <a:rPr lang="en-US">
                <a:cs typeface="Calibri Light"/>
              </a:rPr>
              <a:t>Careful with citation generators</a:t>
            </a:r>
            <a:endParaRPr lang="en-US"/>
          </a:p>
        </p:txBody>
      </p:sp>
    </p:spTree>
    <p:extLst>
      <p:ext uri="{BB962C8B-B14F-4D97-AF65-F5344CB8AC3E}">
        <p14:creationId xmlns:p14="http://schemas.microsoft.com/office/powerpoint/2010/main" val="3840189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55040-C28A-FE48-398F-C0199A438D73}"/>
              </a:ext>
            </a:extLst>
          </p:cNvPr>
          <p:cNvSpPr>
            <a:spLocks noGrp="1"/>
          </p:cNvSpPr>
          <p:nvPr>
            <p:ph type="title"/>
          </p:nvPr>
        </p:nvSpPr>
        <p:spPr>
          <a:solidFill>
            <a:srgbClr val="92D050"/>
          </a:solidFill>
        </p:spPr>
        <p:txBody>
          <a:bodyPr/>
          <a:lstStyle/>
          <a:p>
            <a:r>
              <a:rPr lang="en-US" b="1">
                <a:ea typeface="Calibri Light"/>
                <a:cs typeface="Calibri Light"/>
              </a:rPr>
              <a:t>"Quotation mark" use in APA</a:t>
            </a:r>
          </a:p>
        </p:txBody>
      </p:sp>
      <p:sp>
        <p:nvSpPr>
          <p:cNvPr id="3" name="Content Placeholder 2">
            <a:extLst>
              <a:ext uri="{FF2B5EF4-FFF2-40B4-BE49-F238E27FC236}">
                <a16:creationId xmlns:a16="http://schemas.microsoft.com/office/drawing/2014/main" id="{718EE0E4-5577-CD26-96BC-8FC795ADDAEB}"/>
              </a:ext>
            </a:extLst>
          </p:cNvPr>
          <p:cNvSpPr>
            <a:spLocks noGrp="1"/>
          </p:cNvSpPr>
          <p:nvPr>
            <p:ph idx="1"/>
          </p:nvPr>
        </p:nvSpPr>
        <p:spPr/>
        <p:txBody>
          <a:bodyPr vert="horz" lIns="91440" tIns="45720" rIns="91440" bIns="45720" rtlCol="0" anchor="t">
            <a:normAutofit/>
          </a:bodyPr>
          <a:lstStyle/>
          <a:p>
            <a:r>
              <a:rPr lang="en-US" b="1">
                <a:ea typeface="Calibri"/>
                <a:cs typeface="Calibri"/>
              </a:rPr>
              <a:t>Not used for titles of books, journals or articles.  MLA does for articles.</a:t>
            </a:r>
          </a:p>
          <a:p>
            <a:pPr marL="0" indent="0">
              <a:buNone/>
            </a:pPr>
            <a:endParaRPr lang="en-US" b="1">
              <a:ea typeface="Calibri"/>
              <a:cs typeface="Calibri"/>
            </a:endParaRPr>
          </a:p>
          <a:p>
            <a:r>
              <a:rPr lang="en-US" b="1">
                <a:ea typeface="Calibri"/>
                <a:cs typeface="Calibri"/>
              </a:rPr>
              <a:t>Used to indicate the exact words of a speaker or from an article.  The author indicated that "less is more" (Smith, 2024, p. 10). = </a:t>
            </a:r>
            <a:r>
              <a:rPr lang="en-US" b="1" u="sng">
                <a:ea typeface="Calibri"/>
                <a:cs typeface="Calibri"/>
              </a:rPr>
              <a:t>a quotation.</a:t>
            </a:r>
          </a:p>
          <a:p>
            <a:endParaRPr lang="en-US" b="1">
              <a:ea typeface="Calibri"/>
              <a:cs typeface="Calibri"/>
            </a:endParaRPr>
          </a:p>
          <a:p>
            <a:r>
              <a:rPr lang="en-US" b="1">
                <a:ea typeface="Calibri"/>
                <a:cs typeface="Calibri"/>
              </a:rPr>
              <a:t>Used to indicate special meanings of words or phrases, especially if from another language.</a:t>
            </a:r>
          </a:p>
        </p:txBody>
      </p:sp>
    </p:spTree>
    <p:extLst>
      <p:ext uri="{BB962C8B-B14F-4D97-AF65-F5344CB8AC3E}">
        <p14:creationId xmlns:p14="http://schemas.microsoft.com/office/powerpoint/2010/main" val="3517407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F7CC6-C743-6608-D548-0E6B47C740CD}"/>
              </a:ext>
            </a:extLst>
          </p:cNvPr>
          <p:cNvSpPr>
            <a:spLocks noGrp="1"/>
          </p:cNvSpPr>
          <p:nvPr>
            <p:ph type="title"/>
          </p:nvPr>
        </p:nvSpPr>
        <p:spPr>
          <a:solidFill>
            <a:srgbClr val="FF0000"/>
          </a:solidFill>
        </p:spPr>
        <p:txBody>
          <a:bodyPr/>
          <a:lstStyle/>
          <a:p>
            <a:r>
              <a:rPr lang="en-US">
                <a:cs typeface="Calibri Light"/>
              </a:rPr>
              <a:t>Types of in-text citations using APA</a:t>
            </a:r>
            <a:endParaRPr lang="en-US"/>
          </a:p>
        </p:txBody>
      </p:sp>
      <p:sp>
        <p:nvSpPr>
          <p:cNvPr id="4" name="Content Placeholder 3">
            <a:extLst>
              <a:ext uri="{FF2B5EF4-FFF2-40B4-BE49-F238E27FC236}">
                <a16:creationId xmlns:a16="http://schemas.microsoft.com/office/drawing/2014/main" id="{A6723BFD-4BAB-FCF4-E340-DC1A941B4FFA}"/>
              </a:ext>
            </a:extLst>
          </p:cNvPr>
          <p:cNvSpPr>
            <a:spLocks noGrp="1"/>
          </p:cNvSpPr>
          <p:nvPr>
            <p:ph idx="1"/>
          </p:nvPr>
        </p:nvSpPr>
        <p:spPr/>
        <p:txBody>
          <a:bodyPr vert="horz" lIns="91440" tIns="45720" rIns="91440" bIns="45720" rtlCol="0" anchor="t">
            <a:normAutofit/>
          </a:bodyPr>
          <a:lstStyle/>
          <a:p>
            <a:r>
              <a:rPr lang="en-US">
                <a:cs typeface="Calibri"/>
              </a:rPr>
              <a:t>At the end or middle of a </a:t>
            </a:r>
            <a:r>
              <a:rPr lang="en-US" b="1">
                <a:cs typeface="Calibri"/>
              </a:rPr>
              <a:t>sentence in parenthesis:</a:t>
            </a:r>
          </a:p>
          <a:p>
            <a:pPr marL="0" indent="0">
              <a:buNone/>
            </a:pPr>
            <a:r>
              <a:rPr lang="en-US" b="1">
                <a:cs typeface="Calibri"/>
              </a:rPr>
              <a:t>       </a:t>
            </a:r>
            <a:r>
              <a:rPr lang="en-US">
                <a:cs typeface="Calibri"/>
              </a:rPr>
              <a:t>The values mentioned are best referred to as a cumulative</a:t>
            </a:r>
            <a:endParaRPr lang="en-US">
              <a:ea typeface="Calibri"/>
              <a:cs typeface="Calibri"/>
            </a:endParaRPr>
          </a:p>
          <a:p>
            <a:pPr marL="0" indent="0">
              <a:buNone/>
            </a:pPr>
            <a:r>
              <a:rPr lang="en-US">
                <a:cs typeface="Calibri"/>
              </a:rPr>
              <a:t>       collaboration of evidence (</a:t>
            </a:r>
            <a:r>
              <a:rPr lang="en-US" err="1">
                <a:cs typeface="Calibri"/>
              </a:rPr>
              <a:t>LaScotte</a:t>
            </a:r>
            <a:r>
              <a:rPr lang="en-US">
                <a:cs typeface="Calibri"/>
              </a:rPr>
              <a:t> &amp; Peters, 2021, p. 49).</a:t>
            </a:r>
            <a:endParaRPr lang="en-US"/>
          </a:p>
          <a:p>
            <a:r>
              <a:rPr lang="en-US" b="1">
                <a:cs typeface="Calibri"/>
              </a:rPr>
              <a:t>In a signal phrase somewhere in a sentence:</a:t>
            </a:r>
          </a:p>
          <a:p>
            <a:pPr marL="0" indent="0">
              <a:buNone/>
            </a:pPr>
            <a:r>
              <a:rPr lang="en-US">
                <a:cs typeface="Calibri"/>
              </a:rPr>
              <a:t>      According to </a:t>
            </a:r>
            <a:r>
              <a:rPr lang="en-US" err="1">
                <a:cs typeface="Calibri"/>
              </a:rPr>
              <a:t>LaScotte</a:t>
            </a:r>
            <a:r>
              <a:rPr lang="en-US">
                <a:cs typeface="Calibri"/>
              </a:rPr>
              <a:t> and Peters (2021), the first challenge is ...in class (p. 57).</a:t>
            </a:r>
            <a:endParaRPr lang="en-US">
              <a:ea typeface="Calibri"/>
              <a:cs typeface="Calibri"/>
            </a:endParaRPr>
          </a:p>
          <a:p>
            <a:pPr marL="0" indent="0">
              <a:buNone/>
            </a:pPr>
            <a:r>
              <a:rPr lang="en-US">
                <a:cs typeface="Calibri"/>
              </a:rPr>
              <a:t>      The problem, according to Chavez (2022), is that people do not...</a:t>
            </a:r>
          </a:p>
          <a:p>
            <a:pPr marL="0" indent="0">
              <a:buNone/>
            </a:pPr>
            <a:r>
              <a:rPr lang="en-US" b="1">
                <a:cs typeface="Calibri"/>
              </a:rPr>
              <a:t>Usually author's last name and date.  May include a page number.</a:t>
            </a:r>
          </a:p>
        </p:txBody>
      </p:sp>
    </p:spTree>
    <p:extLst>
      <p:ext uri="{BB962C8B-B14F-4D97-AF65-F5344CB8AC3E}">
        <p14:creationId xmlns:p14="http://schemas.microsoft.com/office/powerpoint/2010/main" val="3114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75EA2-D5C7-4F4B-990F-FF93A8BFC6A8}"/>
              </a:ext>
            </a:extLst>
          </p:cNvPr>
          <p:cNvSpPr>
            <a:spLocks noGrp="1"/>
          </p:cNvSpPr>
          <p:nvPr>
            <p:ph type="title"/>
          </p:nvPr>
        </p:nvSpPr>
        <p:spPr>
          <a:xfrm>
            <a:off x="648929" y="629266"/>
            <a:ext cx="3505495" cy="1622321"/>
          </a:xfrm>
          <a:solidFill>
            <a:srgbClr val="FF0000"/>
          </a:solidFill>
        </p:spPr>
        <p:txBody>
          <a:bodyPr>
            <a:normAutofit fontScale="90000"/>
          </a:bodyPr>
          <a:lstStyle/>
          <a:p>
            <a:r>
              <a:rPr lang="en-US" b="1">
                <a:ea typeface="Calibri Light"/>
                <a:cs typeface="Calibri Light"/>
              </a:rPr>
              <a:t>Topic Today:</a:t>
            </a:r>
            <a:br>
              <a:rPr lang="en-US" b="1">
                <a:ea typeface="Calibri Light"/>
                <a:cs typeface="Calibri Light"/>
              </a:rPr>
            </a:br>
            <a:r>
              <a:rPr lang="en-US" b="1">
                <a:ea typeface="Calibri Light"/>
                <a:cs typeface="Calibri Light"/>
              </a:rPr>
              <a:t>The Research Process</a:t>
            </a:r>
          </a:p>
        </p:txBody>
      </p:sp>
      <p:sp>
        <p:nvSpPr>
          <p:cNvPr id="3" name="Content Placeholder 2">
            <a:extLst>
              <a:ext uri="{FF2B5EF4-FFF2-40B4-BE49-F238E27FC236}">
                <a16:creationId xmlns:a16="http://schemas.microsoft.com/office/drawing/2014/main" id="{F7117590-4AA9-460F-93EC-2D48DA3FB5C1}"/>
              </a:ext>
            </a:extLst>
          </p:cNvPr>
          <p:cNvSpPr>
            <a:spLocks noGrp="1"/>
          </p:cNvSpPr>
          <p:nvPr>
            <p:ph idx="1"/>
          </p:nvPr>
        </p:nvSpPr>
        <p:spPr>
          <a:xfrm>
            <a:off x="648931" y="2438400"/>
            <a:ext cx="3505494" cy="3785419"/>
          </a:xfrm>
        </p:spPr>
        <p:txBody>
          <a:bodyPr vert="horz" lIns="91440" tIns="45720" rIns="91440" bIns="45720" rtlCol="0" anchor="t">
            <a:normAutofit/>
          </a:bodyPr>
          <a:lstStyle/>
          <a:p>
            <a:pPr marL="0" indent="0">
              <a:buNone/>
            </a:pPr>
            <a:r>
              <a:rPr lang="en-US" sz="3600" b="1">
                <a:ea typeface="Calibri"/>
                <a:cs typeface="Calibri"/>
              </a:rPr>
              <a:t>First steps?</a:t>
            </a:r>
          </a:p>
          <a:p>
            <a:pPr marL="0" indent="0">
              <a:buNone/>
            </a:pPr>
            <a:endParaRPr lang="en-US" sz="3600" b="1">
              <a:ea typeface="Calibri"/>
              <a:cs typeface="Calibri"/>
            </a:endParaRPr>
          </a:p>
          <a:p>
            <a:pPr marL="0" indent="0">
              <a:buNone/>
            </a:pPr>
            <a:r>
              <a:rPr lang="en-US" sz="3600" b="1">
                <a:ea typeface="Calibri"/>
                <a:cs typeface="Calibri"/>
              </a:rPr>
              <a:t>When do you actually write the paper or a proposal?</a:t>
            </a:r>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86D30C3-2ECC-4E87-A9E5-9D072EA9D77B}"/>
              </a:ext>
            </a:extLst>
          </p:cNvPr>
          <p:cNvPicPr>
            <a:picLocks noChangeAspect="1"/>
          </p:cNvPicPr>
          <p:nvPr/>
        </p:nvPicPr>
        <p:blipFill>
          <a:blip r:embed="rId2"/>
          <a:stretch>
            <a:fillRect/>
          </a:stretch>
        </p:blipFill>
        <p:spPr>
          <a:xfrm>
            <a:off x="4057030" y="-256330"/>
            <a:ext cx="8055638" cy="7180508"/>
          </a:xfrm>
          <a:prstGeom prst="rect">
            <a:avLst/>
          </a:prstGeom>
          <a:effectLst/>
        </p:spPr>
      </p:pic>
      <p:sp>
        <p:nvSpPr>
          <p:cNvPr id="10" name="TextBox 9">
            <a:extLst>
              <a:ext uri="{FF2B5EF4-FFF2-40B4-BE49-F238E27FC236}">
                <a16:creationId xmlns:a16="http://schemas.microsoft.com/office/drawing/2014/main" id="{84F5271A-41ED-43DB-A69B-6BB6718190D2}"/>
              </a:ext>
            </a:extLst>
          </p:cNvPr>
          <p:cNvSpPr txBox="1"/>
          <p:nvPr/>
        </p:nvSpPr>
        <p:spPr>
          <a:xfrm>
            <a:off x="254000" y="5783249"/>
            <a:ext cx="3900424" cy="881139"/>
          </a:xfrm>
          <a:prstGeom prst="rect">
            <a:avLst/>
          </a:prstGeom>
          <a:noFill/>
        </p:spPr>
        <p:txBody>
          <a:bodyPr wrap="square">
            <a:spAutoFit/>
          </a:bodyPr>
          <a:lstStyle/>
          <a:p>
            <a:pPr marL="457200" indent="-457200">
              <a:lnSpc>
                <a:spcPct val="200000"/>
              </a:lnSpc>
            </a:pPr>
            <a:r>
              <a:rPr lang="en-US" sz="900">
                <a:effectLst/>
                <a:latin typeface="Times New Roman" panose="02020603050405020304" pitchFamily="18" charset="0"/>
              </a:rPr>
              <a:t>Carlock, J., Maeve Eberhardt, Horst, J., &amp; </a:t>
            </a:r>
            <a:r>
              <a:rPr lang="en-US" sz="900" err="1">
                <a:effectLst/>
                <a:latin typeface="Times New Roman" panose="02020603050405020304" pitchFamily="18" charset="0"/>
              </a:rPr>
              <a:t>Kolenich</a:t>
            </a:r>
            <a:r>
              <a:rPr lang="en-US" sz="900">
                <a:effectLst/>
                <a:latin typeface="Times New Roman" panose="02020603050405020304" pitchFamily="18" charset="0"/>
              </a:rPr>
              <a:t>, P. (2017). </a:t>
            </a:r>
            <a:r>
              <a:rPr lang="en-US" sz="900" i="1">
                <a:effectLst/>
                <a:latin typeface="Times New Roman" panose="02020603050405020304" pitchFamily="18" charset="0"/>
              </a:rPr>
              <a:t>The international student’s guide to writing a research paper</a:t>
            </a:r>
            <a:r>
              <a:rPr lang="en-US" sz="900">
                <a:effectLst/>
                <a:latin typeface="Times New Roman" panose="02020603050405020304" pitchFamily="18" charset="0"/>
              </a:rPr>
              <a:t>. University Of Michigan Press.</a:t>
            </a:r>
          </a:p>
        </p:txBody>
      </p:sp>
    </p:spTree>
    <p:extLst>
      <p:ext uri="{BB962C8B-B14F-4D97-AF65-F5344CB8AC3E}">
        <p14:creationId xmlns:p14="http://schemas.microsoft.com/office/powerpoint/2010/main" val="118097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3AD41DB-DF9F-49BC-85AE-6AB1840A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914C90-9103-65D2-FB2A-A73577161B6B}"/>
              </a:ext>
            </a:extLst>
          </p:cNvPr>
          <p:cNvSpPr>
            <a:spLocks noGrp="1"/>
          </p:cNvSpPr>
          <p:nvPr>
            <p:ph type="title"/>
          </p:nvPr>
        </p:nvSpPr>
        <p:spPr>
          <a:xfrm>
            <a:off x="838200" y="4669978"/>
            <a:ext cx="10501401" cy="1173700"/>
          </a:xfrm>
        </p:spPr>
        <p:txBody>
          <a:bodyPr vert="horz" lIns="91440" tIns="45720" rIns="91440" bIns="45720" rtlCol="0" anchor="t">
            <a:normAutofit/>
          </a:bodyPr>
          <a:lstStyle/>
          <a:p>
            <a:pPr algn="ctr"/>
            <a:r>
              <a:rPr lang="en-US" sz="3600" b="1">
                <a:solidFill>
                  <a:schemeClr val="bg1"/>
                </a:solidFill>
                <a:ea typeface="Calibri Light"/>
                <a:cs typeface="Calibri Light"/>
              </a:rPr>
              <a:t>The Research Process is an interactive, non-linear process that requires time and a lot of reading.</a:t>
            </a:r>
            <a:endParaRPr lang="en-US"/>
          </a:p>
        </p:txBody>
      </p:sp>
      <p:pic>
        <p:nvPicPr>
          <p:cNvPr id="4" name="Content Placeholder 3" descr="A diagram of a process&#10;&#10;Description automatically generated">
            <a:extLst>
              <a:ext uri="{FF2B5EF4-FFF2-40B4-BE49-F238E27FC236}">
                <a16:creationId xmlns:a16="http://schemas.microsoft.com/office/drawing/2014/main" id="{2F50CC31-C3C4-6ABD-01F0-38F671E0EAC4}"/>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18323" b="14631"/>
          <a:stretch/>
        </p:blipFill>
        <p:spPr>
          <a:xfrm>
            <a:off x="20" y="-1"/>
            <a:ext cx="12191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p:spPr>
      </p:pic>
      <p:grpSp>
        <p:nvGrpSpPr>
          <p:cNvPr id="30" name="Group 29">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31" name="Freeform: Shape 30">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7" name="Content Placeholder 6">
            <a:extLst>
              <a:ext uri="{FF2B5EF4-FFF2-40B4-BE49-F238E27FC236}">
                <a16:creationId xmlns:a16="http://schemas.microsoft.com/office/drawing/2014/main" id="{4F49C6DE-A5E9-D487-1880-AEFBB00C13A9}"/>
              </a:ext>
            </a:extLst>
          </p:cNvPr>
          <p:cNvGraphicFramePr>
            <a:graphicFrameLocks noGrp="1"/>
          </p:cNvGraphicFramePr>
          <p:nvPr>
            <p:ph idx="1"/>
            <p:extLst>
              <p:ext uri="{D42A27DB-BD31-4B8C-83A1-F6EECF244321}">
                <p14:modId xmlns:p14="http://schemas.microsoft.com/office/powerpoint/2010/main" val="2892183122"/>
              </p:ext>
            </p:extLst>
          </p:nvPr>
        </p:nvGraphicFramePr>
        <p:xfrm>
          <a:off x="8415067" y="6176963"/>
          <a:ext cx="2924356" cy="912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TextBox 4">
            <a:extLst>
              <a:ext uri="{FF2B5EF4-FFF2-40B4-BE49-F238E27FC236}">
                <a16:creationId xmlns:a16="http://schemas.microsoft.com/office/drawing/2014/main" id="{2D69F528-4440-BE82-41C0-1AE97B285814}"/>
              </a:ext>
            </a:extLst>
          </p:cNvPr>
          <p:cNvSpPr txBox="1"/>
          <p:nvPr/>
        </p:nvSpPr>
        <p:spPr>
          <a:xfrm>
            <a:off x="9737482" y="6657945"/>
            <a:ext cx="245451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10">
                  <a:extLst>
                    <a:ext uri="{A12FA001-AC4F-418D-AE19-62706E023703}">
                      <ahyp:hlinkClr xmlns:ahyp="http://schemas.microsoft.com/office/drawing/2018/hyperlinkcolor" val="tx"/>
                    </a:ext>
                  </a:extLst>
                </a:hlinkClick>
              </a:rPr>
              <a:t>CC BY-SA-NC</a:t>
            </a:r>
            <a:r>
              <a:rPr lang="en-US" sz="700">
                <a:solidFill>
                  <a:srgbClr val="FFFFFF"/>
                </a:solidFill>
              </a:rPr>
              <a:t>.</a:t>
            </a:r>
          </a:p>
        </p:txBody>
      </p:sp>
    </p:spTree>
    <p:extLst>
      <p:ext uri="{BB962C8B-B14F-4D97-AF65-F5344CB8AC3E}">
        <p14:creationId xmlns:p14="http://schemas.microsoft.com/office/powerpoint/2010/main" val="856224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icky notes with question marks">
            <a:extLst>
              <a:ext uri="{FF2B5EF4-FFF2-40B4-BE49-F238E27FC236}">
                <a16:creationId xmlns:a16="http://schemas.microsoft.com/office/drawing/2014/main" id="{E1C01023-8DBB-FDD4-57AF-EAA3BC4396D4}"/>
              </a:ext>
            </a:extLst>
          </p:cNvPr>
          <p:cNvPicPr>
            <a:picLocks noChangeAspect="1"/>
          </p:cNvPicPr>
          <p:nvPr/>
        </p:nvPicPr>
        <p:blipFill rotWithShape="1">
          <a:blip r:embed="rId2"/>
          <a:srcRect l="3301" t="9090" r="20117" b="8"/>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C63965-140C-54FD-4CDA-15929387892F}"/>
              </a:ext>
            </a:extLst>
          </p:cNvPr>
          <p:cNvSpPr>
            <a:spLocks noGrp="1"/>
          </p:cNvSpPr>
          <p:nvPr>
            <p:ph type="title"/>
          </p:nvPr>
        </p:nvSpPr>
        <p:spPr>
          <a:xfrm>
            <a:off x="477981" y="461005"/>
            <a:ext cx="6467510" cy="946889"/>
          </a:xfrm>
        </p:spPr>
        <p:txBody>
          <a:bodyPr vert="horz" lIns="91440" tIns="45720" rIns="91440" bIns="45720" rtlCol="0" anchor="b">
            <a:normAutofit/>
          </a:bodyPr>
          <a:lstStyle/>
          <a:p>
            <a:r>
              <a:rPr lang="en-US" sz="4800" b="1">
                <a:cs typeface="Calibri Light"/>
              </a:rPr>
              <a:t>Participation Entry Task 4</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BA43993-1C7E-0718-22B9-F66AD74F7349}"/>
              </a:ext>
            </a:extLst>
          </p:cNvPr>
          <p:cNvSpPr txBox="1"/>
          <p:nvPr/>
        </p:nvSpPr>
        <p:spPr>
          <a:xfrm>
            <a:off x="471068" y="1968853"/>
            <a:ext cx="8499836"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cs typeface="Calibri"/>
              </a:rPr>
              <a:t>Don't forget that in Multiple Choice,  "all of the following except" means that you are looking for the  False answer.</a:t>
            </a:r>
          </a:p>
          <a:p>
            <a:endParaRPr lang="en-US" sz="3200" b="1">
              <a:cs typeface="Calibri"/>
            </a:endParaRPr>
          </a:p>
        </p:txBody>
      </p:sp>
    </p:spTree>
    <p:extLst>
      <p:ext uri="{BB962C8B-B14F-4D97-AF65-F5344CB8AC3E}">
        <p14:creationId xmlns:p14="http://schemas.microsoft.com/office/powerpoint/2010/main" val="3298519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3AD41DB-DF9F-49BC-85AE-6AB1840A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914C90-9103-65D2-FB2A-A73577161B6B}"/>
              </a:ext>
            </a:extLst>
          </p:cNvPr>
          <p:cNvSpPr>
            <a:spLocks noGrp="1"/>
          </p:cNvSpPr>
          <p:nvPr>
            <p:ph type="title"/>
          </p:nvPr>
        </p:nvSpPr>
        <p:spPr>
          <a:xfrm>
            <a:off x="838200" y="4669978"/>
            <a:ext cx="10501401" cy="1173700"/>
          </a:xfrm>
        </p:spPr>
        <p:txBody>
          <a:bodyPr vert="horz" lIns="91440" tIns="45720" rIns="91440" bIns="45720" rtlCol="0" anchor="t">
            <a:normAutofit/>
          </a:bodyPr>
          <a:lstStyle/>
          <a:p>
            <a:pPr algn="ctr"/>
            <a:r>
              <a:rPr lang="en-US" sz="3600" b="1">
                <a:solidFill>
                  <a:schemeClr val="bg1"/>
                </a:solidFill>
                <a:ea typeface="Calibri Light"/>
                <a:cs typeface="Calibri Light"/>
              </a:rPr>
              <a:t>Understanding the Assignment Instructions</a:t>
            </a:r>
            <a:endParaRPr lang="en-US" sz="3600" b="1">
              <a:solidFill>
                <a:schemeClr val="bg1"/>
              </a:solidFill>
              <a:cs typeface="Calibri Light"/>
            </a:endParaRPr>
          </a:p>
        </p:txBody>
      </p:sp>
      <p:pic>
        <p:nvPicPr>
          <p:cNvPr id="4" name="Content Placeholder 3" descr="A diagram of a process&#10;&#10;Description automatically generated">
            <a:extLst>
              <a:ext uri="{FF2B5EF4-FFF2-40B4-BE49-F238E27FC236}">
                <a16:creationId xmlns:a16="http://schemas.microsoft.com/office/drawing/2014/main" id="{2F50CC31-C3C4-6ABD-01F0-38F671E0EAC4}"/>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18083" b="14597"/>
          <a:stretch/>
        </p:blipFill>
        <p:spPr>
          <a:xfrm>
            <a:off x="20" y="-1"/>
            <a:ext cx="12191980" cy="4001221"/>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p:spPr>
      </p:pic>
      <p:grpSp>
        <p:nvGrpSpPr>
          <p:cNvPr id="30" name="Group 29">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31" name="Freeform: Shape 30">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7" name="Content Placeholder 6">
            <a:extLst>
              <a:ext uri="{FF2B5EF4-FFF2-40B4-BE49-F238E27FC236}">
                <a16:creationId xmlns:a16="http://schemas.microsoft.com/office/drawing/2014/main" id="{4F49C6DE-A5E9-D487-1880-AEFBB00C13A9}"/>
              </a:ext>
            </a:extLst>
          </p:cNvPr>
          <p:cNvGraphicFramePr>
            <a:graphicFrameLocks noGrp="1"/>
          </p:cNvGraphicFramePr>
          <p:nvPr>
            <p:ph idx="1"/>
          </p:nvPr>
        </p:nvGraphicFramePr>
        <p:xfrm>
          <a:off x="8415067" y="6176963"/>
          <a:ext cx="2924356" cy="912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TextBox 4">
            <a:extLst>
              <a:ext uri="{FF2B5EF4-FFF2-40B4-BE49-F238E27FC236}">
                <a16:creationId xmlns:a16="http://schemas.microsoft.com/office/drawing/2014/main" id="{2D69F528-4440-BE82-41C0-1AE97B285814}"/>
              </a:ext>
            </a:extLst>
          </p:cNvPr>
          <p:cNvSpPr txBox="1"/>
          <p:nvPr/>
        </p:nvSpPr>
        <p:spPr>
          <a:xfrm>
            <a:off x="9737482" y="6657945"/>
            <a:ext cx="245451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10">
                  <a:extLst>
                    <a:ext uri="{A12FA001-AC4F-418D-AE19-62706E023703}">
                      <ahyp:hlinkClr xmlns:ahyp="http://schemas.microsoft.com/office/drawing/2018/hyperlinkcolor" val="tx"/>
                    </a:ext>
                  </a:extLst>
                </a:hlinkClick>
              </a:rPr>
              <a:t>CC BY-SA-NC</a:t>
            </a:r>
            <a:r>
              <a:rPr lang="en-US" sz="700">
                <a:solidFill>
                  <a:srgbClr val="FFFFFF"/>
                </a:solidFill>
              </a:rPr>
              <a:t>.</a:t>
            </a:r>
          </a:p>
        </p:txBody>
      </p:sp>
    </p:spTree>
    <p:extLst>
      <p:ext uri="{BB962C8B-B14F-4D97-AF65-F5344CB8AC3E}">
        <p14:creationId xmlns:p14="http://schemas.microsoft.com/office/powerpoint/2010/main" val="428009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6C1FB84-6C08-4211-9D2B-93BC9FA195B5}"/>
              </a:ext>
            </a:extLst>
          </p:cNvPr>
          <p:cNvSpPr>
            <a:spLocks noGrp="1"/>
          </p:cNvSpPr>
          <p:nvPr>
            <p:ph type="title"/>
          </p:nvPr>
        </p:nvSpPr>
        <p:spPr>
          <a:xfrm>
            <a:off x="410041" y="1142371"/>
            <a:ext cx="3697570" cy="3969408"/>
          </a:xfrm>
        </p:spPr>
        <p:txBody>
          <a:bodyPr>
            <a:normAutofit/>
          </a:bodyPr>
          <a:lstStyle/>
          <a:p>
            <a:r>
              <a:rPr lang="en-US" b="1">
                <a:solidFill>
                  <a:schemeClr val="tx2"/>
                </a:solidFill>
              </a:rPr>
              <a:t>First step:</a:t>
            </a:r>
            <a:br>
              <a:rPr lang="en-US" b="1"/>
            </a:br>
            <a:r>
              <a:rPr lang="en-US" b="1">
                <a:solidFill>
                  <a:schemeClr val="tx2"/>
                </a:solidFill>
                <a:ea typeface="Calibri Light"/>
                <a:cs typeface="Calibri Light"/>
              </a:rPr>
              <a:t>Before looking for a topic</a:t>
            </a:r>
          </a:p>
        </p:txBody>
      </p:sp>
      <p:sp>
        <p:nvSpPr>
          <p:cNvPr id="3" name="Content Placeholder 2">
            <a:extLst>
              <a:ext uri="{FF2B5EF4-FFF2-40B4-BE49-F238E27FC236}">
                <a16:creationId xmlns:a16="http://schemas.microsoft.com/office/drawing/2014/main" id="{EB2FC37B-0A6B-4B2F-87B4-8CA0D34285BC}"/>
              </a:ext>
            </a:extLst>
          </p:cNvPr>
          <p:cNvSpPr>
            <a:spLocks noGrp="1"/>
          </p:cNvSpPr>
          <p:nvPr>
            <p:ph idx="1"/>
          </p:nvPr>
        </p:nvSpPr>
        <p:spPr>
          <a:xfrm>
            <a:off x="4993257" y="373352"/>
            <a:ext cx="6400167" cy="6538706"/>
          </a:xfrm>
        </p:spPr>
        <p:txBody>
          <a:bodyPr vert="horz" lIns="91440" tIns="45720" rIns="91440" bIns="45720" rtlCol="0" anchor="ctr">
            <a:noAutofit/>
          </a:bodyPr>
          <a:lstStyle/>
          <a:p>
            <a:r>
              <a:rPr lang="en-US" sz="3600" b="1" u="sng">
                <a:solidFill>
                  <a:schemeClr val="tx2"/>
                </a:solidFill>
              </a:rPr>
              <a:t>Read the teacher instructions and understand the research assignment type and format.</a:t>
            </a:r>
            <a:endParaRPr lang="en-US" sz="3600" b="1" u="sng">
              <a:solidFill>
                <a:schemeClr val="tx2"/>
              </a:solidFill>
              <a:ea typeface="Calibri"/>
              <a:cs typeface="Calibri"/>
            </a:endParaRPr>
          </a:p>
          <a:p>
            <a:pPr lvl="1"/>
            <a:r>
              <a:rPr lang="en-US" sz="3600" b="1">
                <a:solidFill>
                  <a:schemeClr val="tx2"/>
                </a:solidFill>
              </a:rPr>
              <a:t>Ask yourself: What is the </a:t>
            </a:r>
            <a:r>
              <a:rPr lang="en-US" sz="3600" b="1" u="sng">
                <a:solidFill>
                  <a:schemeClr val="tx2"/>
                </a:solidFill>
              </a:rPr>
              <a:t>goal</a:t>
            </a:r>
            <a:r>
              <a:rPr lang="en-US" sz="3600" b="1">
                <a:solidFill>
                  <a:schemeClr val="tx2"/>
                </a:solidFill>
              </a:rPr>
              <a:t> of the assignment?</a:t>
            </a:r>
            <a:endParaRPr lang="en-US" sz="3600" b="1">
              <a:solidFill>
                <a:schemeClr val="tx2"/>
              </a:solidFill>
              <a:ea typeface="Calibri"/>
              <a:cs typeface="Calibri"/>
            </a:endParaRPr>
          </a:p>
          <a:p>
            <a:pPr lvl="1"/>
            <a:r>
              <a:rPr lang="en-US" sz="3600" b="1">
                <a:solidFill>
                  <a:schemeClr val="tx2"/>
                </a:solidFill>
              </a:rPr>
              <a:t> How do themes and content from the course figure in your final product?</a:t>
            </a:r>
            <a:endParaRPr lang="en-US" sz="3600" b="1">
              <a:solidFill>
                <a:schemeClr val="tx2"/>
              </a:solidFill>
              <a:ea typeface="Calibri"/>
              <a:cs typeface="Calibri"/>
            </a:endParaRPr>
          </a:p>
          <a:p>
            <a:pPr lvl="1"/>
            <a:r>
              <a:rPr lang="en-US" sz="3600" b="1">
                <a:solidFill>
                  <a:schemeClr val="tx2"/>
                </a:solidFill>
                <a:ea typeface="Calibri"/>
                <a:cs typeface="Calibri"/>
              </a:rPr>
              <a:t>Is there anything you are personally interested in?</a:t>
            </a:r>
          </a:p>
          <a:p>
            <a:pPr lvl="1"/>
            <a:endParaRPr lang="en-US" sz="1800">
              <a:solidFill>
                <a:schemeClr val="tx2"/>
              </a:solidFill>
              <a:ea typeface="Calibri"/>
              <a:cs typeface="Calibri"/>
            </a:endParaRPr>
          </a:p>
        </p:txBody>
      </p:sp>
    </p:spTree>
    <p:extLst>
      <p:ext uri="{BB962C8B-B14F-4D97-AF65-F5344CB8AC3E}">
        <p14:creationId xmlns:p14="http://schemas.microsoft.com/office/powerpoint/2010/main" val="1673755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F2F39-BB63-5673-2EE3-E61F1E2E3E94}"/>
              </a:ext>
            </a:extLst>
          </p:cNvPr>
          <p:cNvSpPr>
            <a:spLocks noGrp="1"/>
          </p:cNvSpPr>
          <p:nvPr>
            <p:ph type="title"/>
          </p:nvPr>
        </p:nvSpPr>
        <p:spPr/>
        <p:txBody>
          <a:bodyPr/>
          <a:lstStyle/>
          <a:p>
            <a:r>
              <a:rPr lang="en-US">
                <a:cs typeface="Calibri Light"/>
              </a:rPr>
              <a:t>Sample assignment instructions in syllabus:</a:t>
            </a:r>
          </a:p>
        </p:txBody>
      </p:sp>
      <p:sp>
        <p:nvSpPr>
          <p:cNvPr id="3" name="Content Placeholder 2">
            <a:extLst>
              <a:ext uri="{FF2B5EF4-FFF2-40B4-BE49-F238E27FC236}">
                <a16:creationId xmlns:a16="http://schemas.microsoft.com/office/drawing/2014/main" id="{A344CD93-8EAC-7F26-4000-CF430FCC2F99}"/>
              </a:ext>
            </a:extLst>
          </p:cNvPr>
          <p:cNvSpPr>
            <a:spLocks noGrp="1"/>
          </p:cNvSpPr>
          <p:nvPr>
            <p:ph idx="1"/>
          </p:nvPr>
        </p:nvSpPr>
        <p:spPr/>
        <p:txBody>
          <a:bodyPr vert="horz" lIns="91440" tIns="45720" rIns="91440" bIns="45720" rtlCol="0" anchor="t">
            <a:normAutofit fontScale="92500" lnSpcReduction="10000"/>
          </a:bodyPr>
          <a:lstStyle/>
          <a:p>
            <a:r>
              <a:rPr lang="en-US">
                <a:ea typeface="+mn-lt"/>
                <a:cs typeface="+mn-lt"/>
              </a:rPr>
              <a:t>Paper #3: Business Law Thesis Paper (20%) You will write an independently researched thesis paper (outline + 6-8 pages text) discussing a current business law issue of your choice. The issue can come from the textbook, current news, or other class material. I will provide guidance on issues that would be suitable for research for this paper. You will be required to develop a thesis on your selected dilemma and support your argument by describing and discussing the law and policy in question, analyzing the issue and alternative solutions, and supporting your view with citations to at least four relevant outside sources. These sources should generally be peer-reviewed journal articles on law, policy and justice, actual laws and regulations, and court cases. Google and Wikipedia information will not be sufficient sources for this paper. A thesis, outline, and/or draft(s) for this paper will be due prior to final submission.</a:t>
            </a:r>
            <a:endParaRPr lang="en-US"/>
          </a:p>
        </p:txBody>
      </p:sp>
    </p:spTree>
    <p:extLst>
      <p:ext uri="{BB962C8B-B14F-4D97-AF65-F5344CB8AC3E}">
        <p14:creationId xmlns:p14="http://schemas.microsoft.com/office/powerpoint/2010/main" val="2377343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71A4C-D7A8-B085-7DE4-32BA65201FB3}"/>
              </a:ext>
            </a:extLst>
          </p:cNvPr>
          <p:cNvSpPr>
            <a:spLocks noGrp="1"/>
          </p:cNvSpPr>
          <p:nvPr>
            <p:ph type="title"/>
          </p:nvPr>
        </p:nvSpPr>
        <p:spPr/>
        <p:txBody>
          <a:bodyPr/>
          <a:lstStyle/>
          <a:p>
            <a:r>
              <a:rPr lang="en-US">
                <a:cs typeface="Calibri Light"/>
              </a:rPr>
              <a:t>Paper Requirements in a sample syllabus</a:t>
            </a:r>
            <a:endParaRPr lang="en-US"/>
          </a:p>
        </p:txBody>
      </p:sp>
      <p:sp>
        <p:nvSpPr>
          <p:cNvPr id="3" name="Content Placeholder 2">
            <a:extLst>
              <a:ext uri="{FF2B5EF4-FFF2-40B4-BE49-F238E27FC236}">
                <a16:creationId xmlns:a16="http://schemas.microsoft.com/office/drawing/2014/main" id="{1EDA14FF-E842-747E-51E5-C0CAA0999CA9}"/>
              </a:ext>
            </a:extLst>
          </p:cNvPr>
          <p:cNvSpPr>
            <a:spLocks noGrp="1"/>
          </p:cNvSpPr>
          <p:nvPr>
            <p:ph idx="1"/>
          </p:nvPr>
        </p:nvSpPr>
        <p:spPr/>
        <p:txBody>
          <a:bodyPr vert="horz" lIns="91440" tIns="45720" rIns="91440" bIns="45720" rtlCol="0" anchor="t">
            <a:normAutofit lnSpcReduction="10000"/>
          </a:bodyPr>
          <a:lstStyle/>
          <a:p>
            <a:pPr marL="0" indent="0">
              <a:buNone/>
            </a:pPr>
            <a:r>
              <a:rPr lang="en-US">
                <a:ea typeface="+mn-lt"/>
                <a:cs typeface="+mn-lt"/>
              </a:rPr>
              <a:t>Papers must be formatted as follows:</a:t>
            </a:r>
            <a:endParaRPr lang="en-US" err="1">
              <a:ea typeface="+mn-lt"/>
              <a:cs typeface="+mn-lt"/>
            </a:endParaRPr>
          </a:p>
          <a:p>
            <a:r>
              <a:rPr lang="en-US">
                <a:ea typeface="+mn-lt"/>
                <a:cs typeface="+mn-lt"/>
              </a:rPr>
              <a:t>one-inch margins on all sides  </a:t>
            </a:r>
          </a:p>
          <a:p>
            <a:r>
              <a:rPr lang="en-US">
                <a:ea typeface="+mn-lt"/>
                <a:cs typeface="+mn-lt"/>
              </a:rPr>
              <a:t>double-spaced, without extra lines between paragraphs  </a:t>
            </a:r>
            <a:endParaRPr lang="en-US"/>
          </a:p>
          <a:p>
            <a:r>
              <a:rPr lang="en-US">
                <a:ea typeface="+mn-lt"/>
                <a:cs typeface="+mn-lt"/>
              </a:rPr>
              <a:t>Times New Roman, Calibri, or Arial font in 12 point  </a:t>
            </a:r>
          </a:p>
          <a:p>
            <a:r>
              <a:rPr lang="en-US">
                <a:ea typeface="+mn-lt"/>
                <a:cs typeface="+mn-lt"/>
              </a:rPr>
              <a:t>page numbers on all pages, except the first page if desired o first page heading in upper left corner stating your ID number, prof/class/section, and the date – single spaced, max 3 lines o title, centered above first paragraph, without extra lines after  </a:t>
            </a:r>
          </a:p>
          <a:p>
            <a:r>
              <a:rPr lang="en-US">
                <a:ea typeface="+mn-lt"/>
                <a:cs typeface="+mn-lt"/>
              </a:rPr>
              <a:t>APA or MLA citations, as you prefer</a:t>
            </a:r>
          </a:p>
          <a:p>
            <a:pPr marL="0" indent="0">
              <a:buNone/>
            </a:pPr>
            <a:r>
              <a:rPr lang="en-US">
                <a:ea typeface="+mn-lt"/>
                <a:cs typeface="+mn-lt"/>
                <a:hlinkClick r:id="rId2"/>
              </a:rPr>
              <a:t>(1 Syllabus Bus 200 Spr22 v1 2Jan2022 CNSC (tcnj.edu))</a:t>
            </a:r>
            <a:endParaRPr lang="en-US">
              <a:cs typeface="Calibri"/>
            </a:endParaRPr>
          </a:p>
        </p:txBody>
      </p:sp>
    </p:spTree>
    <p:extLst>
      <p:ext uri="{BB962C8B-B14F-4D97-AF65-F5344CB8AC3E}">
        <p14:creationId xmlns:p14="http://schemas.microsoft.com/office/powerpoint/2010/main" val="4017420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4" name="Rectangle 2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A340D3-629D-D299-4723-0747A7E385BC}"/>
              </a:ext>
            </a:extLst>
          </p:cNvPr>
          <p:cNvSpPr>
            <a:spLocks noGrp="1"/>
          </p:cNvSpPr>
          <p:nvPr>
            <p:ph type="title"/>
          </p:nvPr>
        </p:nvSpPr>
        <p:spPr>
          <a:xfrm>
            <a:off x="761803" y="350196"/>
            <a:ext cx="4646904" cy="1624520"/>
          </a:xfrm>
        </p:spPr>
        <p:txBody>
          <a:bodyPr anchor="ctr">
            <a:normAutofit/>
          </a:bodyPr>
          <a:lstStyle/>
          <a:p>
            <a:r>
              <a:rPr lang="en-US" sz="4000" b="1">
                <a:ea typeface="Calibri Light"/>
                <a:cs typeface="Calibri Light"/>
              </a:rPr>
              <a:t>2. Finding a Topic</a:t>
            </a:r>
          </a:p>
        </p:txBody>
      </p:sp>
      <p:sp>
        <p:nvSpPr>
          <p:cNvPr id="3" name="Content Placeholder 2">
            <a:extLst>
              <a:ext uri="{FF2B5EF4-FFF2-40B4-BE49-F238E27FC236}">
                <a16:creationId xmlns:a16="http://schemas.microsoft.com/office/drawing/2014/main" id="{528DE992-675D-82AD-2AED-21087D7C66E9}"/>
              </a:ext>
            </a:extLst>
          </p:cNvPr>
          <p:cNvSpPr>
            <a:spLocks noGrp="1"/>
          </p:cNvSpPr>
          <p:nvPr>
            <p:ph idx="1"/>
          </p:nvPr>
        </p:nvSpPr>
        <p:spPr>
          <a:xfrm>
            <a:off x="445500" y="1621766"/>
            <a:ext cx="5725206" cy="5036507"/>
          </a:xfrm>
        </p:spPr>
        <p:txBody>
          <a:bodyPr vert="horz" lIns="91440" tIns="45720" rIns="91440" bIns="45720" rtlCol="0" anchor="ctr">
            <a:normAutofit/>
          </a:bodyPr>
          <a:lstStyle/>
          <a:p>
            <a:r>
              <a:rPr lang="en-US" sz="3200" b="1">
                <a:ea typeface="+mn-lt"/>
                <a:cs typeface="+mn-lt"/>
              </a:rPr>
              <a:t>Explore the topic</a:t>
            </a:r>
            <a:endParaRPr lang="en-US" sz="3200">
              <a:ea typeface="+mn-lt"/>
              <a:cs typeface="+mn-lt"/>
            </a:endParaRPr>
          </a:p>
          <a:p>
            <a:r>
              <a:rPr lang="en-US" sz="3200" b="1" u="sng">
                <a:ea typeface="+mn-lt"/>
                <a:cs typeface="+mn-lt"/>
              </a:rPr>
              <a:t>Brainstorm: </a:t>
            </a:r>
            <a:r>
              <a:rPr lang="en-US" sz="3200" b="1">
                <a:ea typeface="+mn-lt"/>
                <a:cs typeface="+mn-lt"/>
              </a:rPr>
              <a:t>Write questions, make lists, make diagrams</a:t>
            </a:r>
            <a:endParaRPr lang="en-US" sz="3200">
              <a:ea typeface="+mn-lt"/>
              <a:cs typeface="+mn-lt"/>
            </a:endParaRPr>
          </a:p>
          <a:p>
            <a:r>
              <a:rPr lang="en-US" sz="3200" b="1">
                <a:ea typeface="+mn-lt"/>
                <a:cs typeface="+mn-lt"/>
              </a:rPr>
              <a:t>Think about ways to </a:t>
            </a:r>
            <a:r>
              <a:rPr lang="en-US" sz="3200" b="1" u="sng">
                <a:ea typeface="+mn-lt"/>
                <a:cs typeface="+mn-lt"/>
              </a:rPr>
              <a:t>narrow and focus</a:t>
            </a:r>
            <a:r>
              <a:rPr lang="en-US" sz="3200" b="1">
                <a:ea typeface="+mn-lt"/>
                <a:cs typeface="+mn-lt"/>
              </a:rPr>
              <a:t> your topic</a:t>
            </a:r>
            <a:endParaRPr lang="en-US" sz="3200">
              <a:ea typeface="+mn-lt"/>
              <a:cs typeface="+mn-lt"/>
            </a:endParaRPr>
          </a:p>
          <a:p>
            <a:r>
              <a:rPr lang="en-US" sz="3200" b="1">
                <a:ea typeface="+mn-lt"/>
                <a:cs typeface="+mn-lt"/>
              </a:rPr>
              <a:t>Look for </a:t>
            </a:r>
            <a:r>
              <a:rPr lang="en-US" sz="3200" b="1" u="sng">
                <a:ea typeface="+mn-lt"/>
                <a:cs typeface="+mn-lt"/>
              </a:rPr>
              <a:t>keywords</a:t>
            </a:r>
            <a:endParaRPr lang="en-US" sz="3200" u="sng">
              <a:ea typeface="+mn-lt"/>
              <a:cs typeface="+mn-lt"/>
            </a:endParaRPr>
          </a:p>
          <a:p>
            <a:r>
              <a:rPr lang="en-US" sz="3200" b="1">
                <a:ea typeface="+mn-lt"/>
                <a:cs typeface="+mn-lt"/>
              </a:rPr>
              <a:t>Make connections to the class content</a:t>
            </a:r>
            <a:endParaRPr lang="en-US" sz="3200">
              <a:ea typeface="+mn-lt"/>
              <a:cs typeface="+mn-lt"/>
            </a:endParaRPr>
          </a:p>
          <a:p>
            <a:r>
              <a:rPr lang="en-US" sz="3200" b="1">
                <a:ea typeface="+mn-lt"/>
                <a:cs typeface="+mn-lt"/>
              </a:rPr>
              <a:t>Talk to your professor</a:t>
            </a:r>
            <a:endParaRPr lang="en-US" sz="3200">
              <a:ea typeface="+mn-lt"/>
              <a:cs typeface="+mn-lt"/>
            </a:endParaRPr>
          </a:p>
        </p:txBody>
      </p:sp>
      <p:pic>
        <p:nvPicPr>
          <p:cNvPr id="18" name="Picture 17" descr="Person with idea concept">
            <a:extLst>
              <a:ext uri="{FF2B5EF4-FFF2-40B4-BE49-F238E27FC236}">
                <a16:creationId xmlns:a16="http://schemas.microsoft.com/office/drawing/2014/main" id="{1912F35E-EB48-9A80-6368-0118AB5C7DAE}"/>
              </a:ext>
            </a:extLst>
          </p:cNvPr>
          <p:cNvPicPr>
            <a:picLocks noChangeAspect="1"/>
          </p:cNvPicPr>
          <p:nvPr/>
        </p:nvPicPr>
        <p:blipFill rotWithShape="1">
          <a:blip r:embed="rId2"/>
          <a:srcRect l="26809" r="13878" b="-3"/>
          <a:stretch/>
        </p:blipFill>
        <p:spPr>
          <a:xfrm>
            <a:off x="6096000" y="1"/>
            <a:ext cx="6102825" cy="6858000"/>
          </a:xfrm>
          <a:prstGeom prst="rect">
            <a:avLst/>
          </a:prstGeom>
        </p:spPr>
      </p:pic>
    </p:spTree>
    <p:extLst>
      <p:ext uri="{BB962C8B-B14F-4D97-AF65-F5344CB8AC3E}">
        <p14:creationId xmlns:p14="http://schemas.microsoft.com/office/powerpoint/2010/main" val="1246649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19F65-65AB-7A42-DD27-C641A23A1834}"/>
              </a:ext>
            </a:extLst>
          </p:cNvPr>
          <p:cNvSpPr>
            <a:spLocks noGrp="1"/>
          </p:cNvSpPr>
          <p:nvPr>
            <p:ph type="title"/>
          </p:nvPr>
        </p:nvSpPr>
        <p:spPr/>
        <p:txBody>
          <a:bodyPr/>
          <a:lstStyle/>
          <a:p>
            <a:r>
              <a:rPr lang="en-US">
                <a:cs typeface="Calibri Light"/>
              </a:rPr>
              <a:t>Focusing/Narrowing down your topic</a:t>
            </a:r>
            <a:endParaRPr lang="en-US"/>
          </a:p>
        </p:txBody>
      </p:sp>
      <p:sp>
        <p:nvSpPr>
          <p:cNvPr id="3" name="Content Placeholder 2">
            <a:extLst>
              <a:ext uri="{FF2B5EF4-FFF2-40B4-BE49-F238E27FC236}">
                <a16:creationId xmlns:a16="http://schemas.microsoft.com/office/drawing/2014/main" id="{5A4C7D2E-2B8F-2FCA-5214-AFFA2AEAE44B}"/>
              </a:ext>
            </a:extLst>
          </p:cNvPr>
          <p:cNvSpPr>
            <a:spLocks noGrp="1"/>
          </p:cNvSpPr>
          <p:nvPr>
            <p:ph idx="1"/>
          </p:nvPr>
        </p:nvSpPr>
        <p:spPr/>
        <p:txBody>
          <a:bodyPr vert="horz" lIns="91440" tIns="45720" rIns="91440" bIns="45720" rtlCol="0" anchor="t">
            <a:normAutofit/>
          </a:bodyPr>
          <a:lstStyle/>
          <a:p>
            <a:r>
              <a:rPr lang="en-US">
                <a:cs typeface="Calibri"/>
              </a:rPr>
              <a:t>Class in cybersecurity    Some keywords </a:t>
            </a:r>
          </a:p>
          <a:p>
            <a:r>
              <a:rPr lang="en-US">
                <a:cs typeface="Calibri"/>
              </a:rPr>
              <a:t>Topics covered in class:</a:t>
            </a:r>
            <a:r>
              <a:rPr lang="en-US">
                <a:ea typeface="+mn-lt"/>
                <a:cs typeface="+mn-lt"/>
              </a:rPr>
              <a:t> </a:t>
            </a:r>
            <a:r>
              <a:rPr lang="en-US" b="1">
                <a:ea typeface="+mn-lt"/>
                <a:cs typeface="+mn-lt"/>
              </a:rPr>
              <a:t>business intelligence data mining, information security, risk management, </a:t>
            </a:r>
            <a:r>
              <a:rPr lang="en-US" b="1">
                <a:highlight>
                  <a:srgbClr val="FFFF00"/>
                </a:highlight>
                <a:ea typeface="+mn-lt"/>
                <a:cs typeface="+mn-lt"/>
              </a:rPr>
              <a:t>systems security management,</a:t>
            </a:r>
            <a:r>
              <a:rPr lang="en-US" b="1">
                <a:ea typeface="+mn-lt"/>
                <a:cs typeface="+mn-lt"/>
              </a:rPr>
              <a:t> penetration testing, network security, and system cybersecurity engineering</a:t>
            </a:r>
            <a:r>
              <a:rPr lang="en-US">
                <a:ea typeface="+mn-lt"/>
                <a:cs typeface="+mn-lt"/>
              </a:rPr>
              <a:t>.</a:t>
            </a:r>
          </a:p>
          <a:p>
            <a:pPr lvl="1"/>
            <a:r>
              <a:rPr lang="en-US">
                <a:cs typeface="Calibri"/>
              </a:rPr>
              <a:t>Systems security management: </a:t>
            </a:r>
            <a:r>
              <a:rPr lang="en-US" b="1">
                <a:highlight>
                  <a:srgbClr val="FFFF00"/>
                </a:highlight>
                <a:ea typeface="+mn-lt"/>
                <a:cs typeface="+mn-lt"/>
              </a:rPr>
              <a:t>protection of confidentiality,</a:t>
            </a:r>
            <a:r>
              <a:rPr lang="en-US" b="1">
                <a:ea typeface="+mn-lt"/>
                <a:cs typeface="+mn-lt"/>
              </a:rPr>
              <a:t> integrity, availability, authenticity, and non-repudiation of user data</a:t>
            </a:r>
            <a:r>
              <a:rPr lang="en-US">
                <a:ea typeface="+mn-lt"/>
                <a:cs typeface="+mn-lt"/>
              </a:rPr>
              <a:t>.</a:t>
            </a:r>
          </a:p>
          <a:p>
            <a:pPr lvl="2"/>
            <a:r>
              <a:rPr lang="en-US">
                <a:cs typeface="Calibri"/>
              </a:rPr>
              <a:t>Protection of confidentiality:  </a:t>
            </a:r>
            <a:r>
              <a:rPr lang="en-US" b="1">
                <a:ea typeface="+mn-lt"/>
                <a:cs typeface="+mn-lt"/>
              </a:rPr>
              <a:t>autonomy, </a:t>
            </a:r>
            <a:r>
              <a:rPr lang="en-US" b="1">
                <a:highlight>
                  <a:srgbClr val="FFFF00"/>
                </a:highlight>
                <a:ea typeface="+mn-lt"/>
                <a:cs typeface="+mn-lt"/>
              </a:rPr>
              <a:t>privacy</a:t>
            </a:r>
            <a:r>
              <a:rPr lang="en-US" b="1">
                <a:ea typeface="+mn-lt"/>
                <a:cs typeface="+mn-lt"/>
              </a:rPr>
              <a:t>, promise-keeping and utility (or welfare)</a:t>
            </a:r>
            <a:endParaRPr lang="en-US">
              <a:cs typeface="Calibri"/>
            </a:endParaRPr>
          </a:p>
        </p:txBody>
      </p:sp>
    </p:spTree>
    <p:extLst>
      <p:ext uri="{BB962C8B-B14F-4D97-AF65-F5344CB8AC3E}">
        <p14:creationId xmlns:p14="http://schemas.microsoft.com/office/powerpoint/2010/main" val="2726094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C6724B-D59A-90D9-F684-4484CC6D769D}"/>
              </a:ext>
            </a:extLst>
          </p:cNvPr>
          <p:cNvSpPr>
            <a:spLocks noGrp="1"/>
          </p:cNvSpPr>
          <p:nvPr>
            <p:ph type="title"/>
          </p:nvPr>
        </p:nvSpPr>
        <p:spPr>
          <a:xfrm>
            <a:off x="4137112" y="623909"/>
            <a:ext cx="7259546" cy="5615114"/>
          </a:xfrm>
        </p:spPr>
        <p:txBody>
          <a:bodyPr vert="horz" lIns="91440" tIns="45720" rIns="91440" bIns="45720" rtlCol="0" anchor="t">
            <a:normAutofit/>
          </a:bodyPr>
          <a:lstStyle/>
          <a:p>
            <a:r>
              <a:rPr lang="en-US" sz="4000" b="1">
                <a:solidFill>
                  <a:schemeClr val="tx2"/>
                </a:solidFill>
              </a:rPr>
              <a:t>Brainstorm</a:t>
            </a:r>
            <a:r>
              <a:rPr lang="en-US" sz="4000" b="1" kern="1200">
                <a:solidFill>
                  <a:schemeClr val="tx2"/>
                </a:solidFill>
                <a:latin typeface="+mj-lt"/>
                <a:ea typeface="+mj-ea"/>
                <a:cs typeface="+mj-cs"/>
              </a:rPr>
              <a:t> research </a:t>
            </a:r>
            <a:r>
              <a:rPr lang="en-US" sz="4000" b="1">
                <a:solidFill>
                  <a:schemeClr val="tx2"/>
                </a:solidFill>
              </a:rPr>
              <a:t>questions for your topic:</a:t>
            </a:r>
            <a:br>
              <a:rPr lang="en-US" sz="4000" b="1">
                <a:cs typeface="Calibri Light"/>
              </a:rPr>
            </a:br>
            <a:br>
              <a:rPr lang="en-US" sz="4000">
                <a:solidFill>
                  <a:schemeClr val="tx2"/>
                </a:solidFill>
                <a:cs typeface="Calibri Light"/>
              </a:rPr>
            </a:br>
            <a:r>
              <a:rPr lang="en-US" sz="4000">
                <a:solidFill>
                  <a:schemeClr val="tx2"/>
                </a:solidFill>
                <a:cs typeface="Calibri Light"/>
              </a:rPr>
              <a:t>What is the difference between confidentiality and privacy?</a:t>
            </a:r>
            <a:br>
              <a:rPr lang="en-US" sz="4000">
                <a:solidFill>
                  <a:schemeClr val="tx2"/>
                </a:solidFill>
                <a:cs typeface="Calibri Light"/>
              </a:rPr>
            </a:br>
            <a:r>
              <a:rPr lang="en-US" sz="4000">
                <a:solidFill>
                  <a:schemeClr val="tx2"/>
                </a:solidFill>
                <a:cs typeface="Calibri Light"/>
              </a:rPr>
              <a:t>What are the laws at state, government or international levels?</a:t>
            </a:r>
            <a:br>
              <a:rPr lang="en-US" sz="4000">
                <a:solidFill>
                  <a:schemeClr val="tx2"/>
                </a:solidFill>
                <a:cs typeface="Calibri Light"/>
              </a:rPr>
            </a:br>
            <a:r>
              <a:rPr lang="en-US" sz="4000">
                <a:solidFill>
                  <a:schemeClr val="tx2"/>
                </a:solidFill>
                <a:cs typeface="Calibri Light"/>
              </a:rPr>
              <a:t>How to ensure privacy of clients?</a:t>
            </a:r>
            <a:endParaRPr lang="en-US" sz="4000" kern="1200">
              <a:solidFill>
                <a:schemeClr val="tx2"/>
              </a:solidFill>
              <a:latin typeface="+mj-lt"/>
              <a:cs typeface="Calibri Light"/>
            </a:endParaRPr>
          </a:p>
        </p:txBody>
      </p:sp>
      <p:pic>
        <p:nvPicPr>
          <p:cNvPr id="7" name="Graphic 6" descr="Magnifying glass">
            <a:extLst>
              <a:ext uri="{FF2B5EF4-FFF2-40B4-BE49-F238E27FC236}">
                <a16:creationId xmlns:a16="http://schemas.microsoft.com/office/drawing/2014/main" id="{D6FB567D-0550-F30B-669D-67EB411997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1EF55874-4CC6-D5C4-7633-47E9DC92966B}"/>
              </a:ext>
            </a:extLst>
          </p:cNvPr>
          <p:cNvSpPr txBox="1"/>
          <p:nvPr/>
        </p:nvSpPr>
        <p:spPr>
          <a:xfrm>
            <a:off x="495032" y="1213900"/>
            <a:ext cx="3414763"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cs typeface="Calibri"/>
              </a:rPr>
              <a:t>Topic: </a:t>
            </a:r>
          </a:p>
          <a:p>
            <a:r>
              <a:rPr lang="en-US" sz="4000" b="1">
                <a:cs typeface="Calibri"/>
              </a:rPr>
              <a:t>Confidentiality and Privacy Protection</a:t>
            </a:r>
          </a:p>
        </p:txBody>
      </p:sp>
    </p:spTree>
    <p:extLst>
      <p:ext uri="{BB962C8B-B14F-4D97-AF65-F5344CB8AC3E}">
        <p14:creationId xmlns:p14="http://schemas.microsoft.com/office/powerpoint/2010/main" val="2677909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04FE35-DE0E-F483-39AA-ADA3D10534DD}"/>
              </a:ext>
            </a:extLst>
          </p:cNvPr>
          <p:cNvSpPr>
            <a:spLocks noGrp="1"/>
          </p:cNvSpPr>
          <p:nvPr>
            <p:ph type="title"/>
          </p:nvPr>
        </p:nvSpPr>
        <p:spPr>
          <a:xfrm>
            <a:off x="643468" y="643467"/>
            <a:ext cx="5195678" cy="5357891"/>
          </a:xfrm>
        </p:spPr>
        <p:txBody>
          <a:bodyPr vert="horz" lIns="91440" tIns="45720" rIns="91440" bIns="45720" rtlCol="0" anchor="b">
            <a:normAutofit fontScale="90000"/>
          </a:bodyPr>
          <a:lstStyle/>
          <a:p>
            <a:r>
              <a:rPr lang="en-US" sz="7200" b="1"/>
              <a:t>NEXT identify</a:t>
            </a:r>
            <a:br>
              <a:rPr lang="en-US" sz="7200" b="1"/>
            </a:br>
            <a:r>
              <a:rPr lang="en-US" sz="7200" b="1"/>
              <a:t>Keywords:</a:t>
            </a:r>
            <a:r>
              <a:rPr lang="en-US"/>
              <a:t>  The key to a more efficient search of databases.   You </a:t>
            </a:r>
            <a:r>
              <a:rPr lang="en-US" u="sng"/>
              <a:t>cannot</a:t>
            </a:r>
            <a:r>
              <a:rPr lang="en-US"/>
              <a:t> type a question into the search box in a database.</a:t>
            </a:r>
          </a:p>
        </p:txBody>
      </p:sp>
      <p:pic>
        <p:nvPicPr>
          <p:cNvPr id="5" name="Picture 4" descr="Different types of keys">
            <a:extLst>
              <a:ext uri="{FF2B5EF4-FFF2-40B4-BE49-F238E27FC236}">
                <a16:creationId xmlns:a16="http://schemas.microsoft.com/office/drawing/2014/main" id="{3966001D-0EB4-F721-8E58-CE2ABEC04DC5}"/>
              </a:ext>
            </a:extLst>
          </p:cNvPr>
          <p:cNvPicPr>
            <a:picLocks noChangeAspect="1"/>
          </p:cNvPicPr>
          <p:nvPr/>
        </p:nvPicPr>
        <p:blipFill rotWithShape="1">
          <a:blip r:embed="rId2"/>
          <a:srcRect l="20001" r="24136"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769814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04FE35-DE0E-F483-39AA-ADA3D10534DD}"/>
              </a:ext>
            </a:extLst>
          </p:cNvPr>
          <p:cNvSpPr>
            <a:spLocks noGrp="1"/>
          </p:cNvSpPr>
          <p:nvPr>
            <p:ph type="title"/>
          </p:nvPr>
        </p:nvSpPr>
        <p:spPr>
          <a:xfrm>
            <a:off x="643468" y="643467"/>
            <a:ext cx="6130206" cy="5357891"/>
          </a:xfrm>
        </p:spPr>
        <p:txBody>
          <a:bodyPr vert="horz" lIns="91440" tIns="45720" rIns="91440" bIns="45720" rtlCol="0" anchor="b">
            <a:normAutofit fontScale="90000"/>
          </a:bodyPr>
          <a:lstStyle/>
          <a:p>
            <a:r>
              <a:rPr lang="en-US" sz="7200" b="1"/>
              <a:t>Keywords:</a:t>
            </a:r>
            <a:r>
              <a:rPr lang="en-US"/>
              <a:t>  </a:t>
            </a:r>
            <a:br>
              <a:rPr lang="en-US"/>
            </a:br>
            <a:r>
              <a:rPr lang="en-US">
                <a:cs typeface="Calibri Light"/>
              </a:rPr>
              <a:t>-subject or topic words</a:t>
            </a:r>
            <a:br>
              <a:rPr lang="en-US">
                <a:cs typeface="Calibri Light"/>
              </a:rPr>
            </a:br>
            <a:r>
              <a:rPr lang="en-US">
                <a:cs typeface="Calibri Light"/>
              </a:rPr>
              <a:t>-synonyms</a:t>
            </a:r>
            <a:br>
              <a:rPr lang="en-US">
                <a:cs typeface="Calibri Light"/>
              </a:rPr>
            </a:br>
            <a:r>
              <a:rPr lang="en-US">
                <a:cs typeface="Calibri Light"/>
              </a:rPr>
              <a:t>-limiters, such as places or dates</a:t>
            </a:r>
            <a:br>
              <a:rPr lang="en-US">
                <a:cs typeface="Calibri Light"/>
              </a:rPr>
            </a:br>
            <a:r>
              <a:rPr lang="en-US">
                <a:cs typeface="Calibri Light"/>
              </a:rPr>
              <a:t>-way to narrow down your topic and number of articles</a:t>
            </a:r>
            <a:br>
              <a:rPr lang="en-US">
                <a:cs typeface="Calibri Light"/>
              </a:rPr>
            </a:br>
            <a:endParaRPr lang="en-US">
              <a:cs typeface="Calibri Light"/>
            </a:endParaRPr>
          </a:p>
        </p:txBody>
      </p:sp>
      <p:pic>
        <p:nvPicPr>
          <p:cNvPr id="5" name="Picture 4" descr="Different types of keys">
            <a:extLst>
              <a:ext uri="{FF2B5EF4-FFF2-40B4-BE49-F238E27FC236}">
                <a16:creationId xmlns:a16="http://schemas.microsoft.com/office/drawing/2014/main" id="{3966001D-0EB4-F721-8E58-CE2ABEC04DC5}"/>
              </a:ext>
            </a:extLst>
          </p:cNvPr>
          <p:cNvPicPr>
            <a:picLocks noChangeAspect="1"/>
          </p:cNvPicPr>
          <p:nvPr/>
        </p:nvPicPr>
        <p:blipFill rotWithShape="1">
          <a:blip r:embed="rId2"/>
          <a:srcRect l="20001" r="24136"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614398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8AC46-AD28-2EDB-C1E4-9D28D3E07A4D}"/>
              </a:ext>
            </a:extLst>
          </p:cNvPr>
          <p:cNvSpPr>
            <a:spLocks noGrp="1"/>
          </p:cNvSpPr>
          <p:nvPr>
            <p:ph type="title"/>
          </p:nvPr>
        </p:nvSpPr>
        <p:spPr>
          <a:xfrm>
            <a:off x="838200" y="365125"/>
            <a:ext cx="10515600" cy="807979"/>
          </a:xfrm>
        </p:spPr>
        <p:txBody>
          <a:bodyPr/>
          <a:lstStyle/>
          <a:p>
            <a:r>
              <a:rPr lang="en-US">
                <a:ea typeface="+mj-lt"/>
                <a:cs typeface="+mj-lt"/>
              </a:rPr>
              <a:t>How to search </a:t>
            </a:r>
            <a:r>
              <a:rPr lang="en-US" i="1">
                <a:ea typeface="+mj-lt"/>
                <a:cs typeface="+mj-lt"/>
              </a:rPr>
              <a:t>Business Source Complete</a:t>
            </a:r>
            <a:endParaRPr lang="en-US"/>
          </a:p>
        </p:txBody>
      </p:sp>
      <p:sp>
        <p:nvSpPr>
          <p:cNvPr id="3" name="Content Placeholder 2">
            <a:extLst>
              <a:ext uri="{FF2B5EF4-FFF2-40B4-BE49-F238E27FC236}">
                <a16:creationId xmlns:a16="http://schemas.microsoft.com/office/drawing/2014/main" id="{E5965E64-6AC6-2DA2-A5CF-3429512565F9}"/>
              </a:ext>
            </a:extLst>
          </p:cNvPr>
          <p:cNvSpPr>
            <a:spLocks noGrp="1"/>
          </p:cNvSpPr>
          <p:nvPr>
            <p:ph idx="1"/>
          </p:nvPr>
        </p:nvSpPr>
        <p:spPr>
          <a:xfrm>
            <a:off x="378125" y="1178645"/>
            <a:ext cx="11378241" cy="5616544"/>
          </a:xfrm>
        </p:spPr>
        <p:txBody>
          <a:bodyPr vert="horz" lIns="91440" tIns="45720" rIns="91440" bIns="45720" rtlCol="0" anchor="t">
            <a:normAutofit fontScale="77500" lnSpcReduction="20000"/>
          </a:bodyPr>
          <a:lstStyle/>
          <a:p>
            <a:pPr marL="0" indent="0">
              <a:buNone/>
            </a:pPr>
            <a:r>
              <a:rPr lang="en-US">
                <a:ea typeface="+mn-lt"/>
                <a:cs typeface="+mn-lt"/>
              </a:rPr>
              <a:t>Business Source Complete includes scholarly, peer-reviewed journal and trade publication articles on security management topics from publications such as </a:t>
            </a:r>
            <a:r>
              <a:rPr lang="en-US" i="1">
                <a:ea typeface="+mn-lt"/>
                <a:cs typeface="+mn-lt"/>
              </a:rPr>
              <a:t>MIS Quarterly, Security Director's Report, </a:t>
            </a:r>
            <a:r>
              <a:rPr lang="en-US">
                <a:ea typeface="+mn-lt"/>
                <a:cs typeface="+mn-lt"/>
              </a:rPr>
              <a:t>and </a:t>
            </a:r>
            <a:r>
              <a:rPr lang="en-US" i="1">
                <a:ea typeface="+mn-lt"/>
                <a:cs typeface="+mn-lt"/>
              </a:rPr>
              <a:t>Security: Solutions for Enterprise Security Leaders.</a:t>
            </a:r>
            <a:r>
              <a:rPr lang="en-US">
                <a:ea typeface="+mn-lt"/>
                <a:cs typeface="+mn-lt"/>
              </a:rPr>
              <a:t> Some common search terms include:        </a:t>
            </a:r>
            <a:endParaRPr lang="en-US">
              <a:cs typeface="Calibri" panose="020F0502020204030204"/>
            </a:endParaRPr>
          </a:p>
          <a:p>
            <a:r>
              <a:rPr lang="en-US">
                <a:ea typeface="+mn-lt"/>
                <a:cs typeface="+mn-lt"/>
              </a:rPr>
              <a:t>cyberterrorism</a:t>
            </a:r>
            <a:endParaRPr lang="en-US"/>
          </a:p>
          <a:p>
            <a:r>
              <a:rPr lang="en-US">
                <a:ea typeface="+mn-lt"/>
                <a:cs typeface="+mn-lt"/>
              </a:rPr>
              <a:t>data protection</a:t>
            </a:r>
            <a:endParaRPr lang="en-US"/>
          </a:p>
          <a:p>
            <a:r>
              <a:rPr lang="en-US">
                <a:ea typeface="+mn-lt"/>
                <a:cs typeface="+mn-lt"/>
              </a:rPr>
              <a:t>data security</a:t>
            </a:r>
            <a:endParaRPr lang="en-US"/>
          </a:p>
          <a:p>
            <a:r>
              <a:rPr lang="en-US">
                <a:ea typeface="+mn-lt"/>
                <a:cs typeface="+mn-lt"/>
              </a:rPr>
              <a:t>emergency management</a:t>
            </a:r>
            <a:endParaRPr lang="en-US"/>
          </a:p>
          <a:p>
            <a:r>
              <a:rPr lang="en-US">
                <a:ea typeface="+mn-lt"/>
                <a:cs typeface="+mn-lt"/>
              </a:rPr>
              <a:t>industries--security measures</a:t>
            </a:r>
            <a:endParaRPr lang="en-US"/>
          </a:p>
          <a:p>
            <a:r>
              <a:rPr lang="en-US">
                <a:ea typeface="+mn-lt"/>
                <a:cs typeface="+mn-lt"/>
              </a:rPr>
              <a:t>information technology security</a:t>
            </a:r>
            <a:endParaRPr lang="en-US"/>
          </a:p>
          <a:p>
            <a:r>
              <a:rPr lang="en-US">
                <a:ea typeface="+mn-lt"/>
                <a:cs typeface="+mn-lt"/>
              </a:rPr>
              <a:t>national security</a:t>
            </a:r>
            <a:endParaRPr lang="en-US"/>
          </a:p>
          <a:p>
            <a:r>
              <a:rPr lang="en-US">
                <a:ea typeface="+mn-lt"/>
                <a:cs typeface="+mn-lt"/>
              </a:rPr>
              <a:t>risk assessment</a:t>
            </a:r>
            <a:endParaRPr lang="en-US"/>
          </a:p>
          <a:p>
            <a:r>
              <a:rPr lang="en-US">
                <a:ea typeface="+mn-lt"/>
                <a:cs typeface="+mn-lt"/>
              </a:rPr>
              <a:t>risk management in business </a:t>
            </a:r>
            <a:endParaRPr lang="en-US"/>
          </a:p>
          <a:p>
            <a:r>
              <a:rPr lang="en-US">
                <a:ea typeface="+mn-lt"/>
                <a:cs typeface="+mn-lt"/>
              </a:rPr>
              <a:t>security management</a:t>
            </a:r>
            <a:endParaRPr lang="en-US"/>
          </a:p>
          <a:p>
            <a:r>
              <a:rPr lang="en-US">
                <a:ea typeface="+mn-lt"/>
                <a:cs typeface="+mn-lt"/>
              </a:rPr>
              <a:t>security measures</a:t>
            </a:r>
            <a:endParaRPr lang="en-US"/>
          </a:p>
          <a:p>
            <a:r>
              <a:rPr lang="en-US">
                <a:ea typeface="+mn-lt"/>
                <a:cs typeface="+mn-lt"/>
              </a:rPr>
              <a:t>vulnerability                                                            From Webster Library site</a:t>
            </a:r>
            <a:endParaRPr lang="en-US"/>
          </a:p>
          <a:p>
            <a:endParaRPr lang="en-US">
              <a:cs typeface="Calibri"/>
            </a:endParaRPr>
          </a:p>
        </p:txBody>
      </p:sp>
      <p:sp>
        <p:nvSpPr>
          <p:cNvPr id="4" name="TextBox 3">
            <a:extLst>
              <a:ext uri="{FF2B5EF4-FFF2-40B4-BE49-F238E27FC236}">
                <a16:creationId xmlns:a16="http://schemas.microsoft.com/office/drawing/2014/main" id="{41AE534A-51F4-ACEE-F21C-F23C500A3728}"/>
              </a:ext>
            </a:extLst>
          </p:cNvPr>
          <p:cNvSpPr txBox="1"/>
          <p:nvPr/>
        </p:nvSpPr>
        <p:spPr>
          <a:xfrm>
            <a:off x="5319059" y="2300941"/>
            <a:ext cx="5742767"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cs typeface="Calibri"/>
              </a:rPr>
              <a:t>You can add two or three keywords to narrow down your topic, and add a date range and look for information from a specific region or country.  All this happens in the search boxes and on the initial search page in the library databases.</a:t>
            </a:r>
          </a:p>
        </p:txBody>
      </p:sp>
    </p:spTree>
    <p:extLst>
      <p:ext uri="{BB962C8B-B14F-4D97-AF65-F5344CB8AC3E}">
        <p14:creationId xmlns:p14="http://schemas.microsoft.com/office/powerpoint/2010/main" val="100315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F0DF74A7-5F0D-41DE-A5B3-2C53CD28AA60}"/>
              </a:ext>
            </a:extLst>
          </p:cNvPr>
          <p:cNvSpPr>
            <a:spLocks noGrp="1"/>
          </p:cNvSpPr>
          <p:nvPr>
            <p:ph type="title"/>
          </p:nvPr>
        </p:nvSpPr>
        <p:spPr>
          <a:xfrm>
            <a:off x="838200" y="713312"/>
            <a:ext cx="4038600" cy="5431376"/>
          </a:xfrm>
        </p:spPr>
        <p:txBody>
          <a:bodyPr>
            <a:normAutofit/>
          </a:bodyPr>
          <a:lstStyle/>
          <a:p>
            <a:r>
              <a:rPr lang="en-US" b="1"/>
              <a:t>3. Start your research</a:t>
            </a:r>
            <a:endParaRPr lang="en-US" b="1">
              <a:ea typeface="Calibri Light"/>
              <a:cs typeface="Calibri Light"/>
            </a:endParaRPr>
          </a:p>
        </p:txBody>
      </p:sp>
      <p:sp>
        <p:nvSpPr>
          <p:cNvPr id="3" name="Content Placeholder 2">
            <a:extLst>
              <a:ext uri="{FF2B5EF4-FFF2-40B4-BE49-F238E27FC236}">
                <a16:creationId xmlns:a16="http://schemas.microsoft.com/office/drawing/2014/main" id="{E696FF0B-0BF9-4F64-AE58-38EBB814F424}"/>
              </a:ext>
            </a:extLst>
          </p:cNvPr>
          <p:cNvSpPr>
            <a:spLocks noGrp="1"/>
          </p:cNvSpPr>
          <p:nvPr>
            <p:ph idx="1"/>
          </p:nvPr>
        </p:nvSpPr>
        <p:spPr>
          <a:xfrm>
            <a:off x="4615132" y="713313"/>
            <a:ext cx="6738668" cy="5920206"/>
          </a:xfrm>
        </p:spPr>
        <p:txBody>
          <a:bodyPr vert="horz" lIns="91440" tIns="45720" rIns="91440" bIns="45720" rtlCol="0" anchor="ctr">
            <a:noAutofit/>
          </a:bodyPr>
          <a:lstStyle/>
          <a:p>
            <a:r>
              <a:rPr lang="en-US" sz="3200" b="1"/>
              <a:t>If you haven’t yet, watch the videos – the library is your first stop</a:t>
            </a:r>
            <a:endParaRPr lang="en-US" sz="3200" b="1">
              <a:ea typeface="Calibri"/>
              <a:cs typeface="Calibri"/>
            </a:endParaRPr>
          </a:p>
          <a:p>
            <a:r>
              <a:rPr lang="en-US" sz="3200" b="1"/>
              <a:t>Contact your subject librarian and find your subject guide.</a:t>
            </a:r>
            <a:endParaRPr lang="en-US" sz="3200" b="1">
              <a:ea typeface="Calibri"/>
              <a:cs typeface="Calibri"/>
            </a:endParaRPr>
          </a:p>
          <a:p>
            <a:r>
              <a:rPr lang="en-US" sz="3200" b="1"/>
              <a:t>Ask yourself questions.</a:t>
            </a:r>
            <a:endParaRPr lang="en-US" sz="3200" b="1">
              <a:cs typeface="Calibri"/>
            </a:endParaRPr>
          </a:p>
          <a:p>
            <a:r>
              <a:rPr lang="en-US" sz="3200" b="1"/>
              <a:t>Set aside time every day to search for materials from all resources – catalog, databases, online.</a:t>
            </a:r>
            <a:endParaRPr lang="en-US" sz="3200" b="1">
              <a:ea typeface="Calibri"/>
              <a:cs typeface="Calibri"/>
            </a:endParaRPr>
          </a:p>
          <a:p>
            <a:r>
              <a:rPr lang="en-US" sz="3200" b="1"/>
              <a:t>Keep your sources and notes organized or documented in a list on your </a:t>
            </a:r>
            <a:r>
              <a:rPr lang="en-US" sz="3200" b="1" err="1"/>
              <a:t>Onedrive</a:t>
            </a:r>
            <a:r>
              <a:rPr lang="en-US" sz="3200" b="1"/>
              <a:t> or in a notebook. This is your working bibliography.</a:t>
            </a:r>
            <a:endParaRPr lang="en-US" sz="3200" b="1">
              <a:ea typeface="Calibri"/>
              <a:cs typeface="Calibri"/>
            </a:endParaRPr>
          </a:p>
          <a:p>
            <a:endParaRPr lang="en-US" sz="3200" b="1">
              <a:ea typeface="Calibri"/>
              <a:cs typeface="Calibri"/>
            </a:endParaRPr>
          </a:p>
        </p:txBody>
      </p:sp>
    </p:spTree>
    <p:extLst>
      <p:ext uri="{BB962C8B-B14F-4D97-AF65-F5344CB8AC3E}">
        <p14:creationId xmlns:p14="http://schemas.microsoft.com/office/powerpoint/2010/main" val="1586702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D1D57-2226-8ECA-F428-15330C7BC6EC}"/>
              </a:ext>
            </a:extLst>
          </p:cNvPr>
          <p:cNvSpPr>
            <a:spLocks noGrp="1"/>
          </p:cNvSpPr>
          <p:nvPr>
            <p:ph type="title"/>
          </p:nvPr>
        </p:nvSpPr>
        <p:spPr/>
        <p:txBody>
          <a:bodyPr/>
          <a:lstStyle/>
          <a:p>
            <a:r>
              <a:rPr lang="en-US" b="1">
                <a:ea typeface="Calibri Light"/>
                <a:cs typeface="Calibri Light"/>
              </a:rPr>
              <a:t>How many sources for a research or case study paper?</a:t>
            </a:r>
          </a:p>
        </p:txBody>
      </p:sp>
      <p:sp>
        <p:nvSpPr>
          <p:cNvPr id="3" name="Content Placeholder 2">
            <a:extLst>
              <a:ext uri="{FF2B5EF4-FFF2-40B4-BE49-F238E27FC236}">
                <a16:creationId xmlns:a16="http://schemas.microsoft.com/office/drawing/2014/main" id="{DE5ADE5E-A852-A4E5-76BA-F72A8070C45C}"/>
              </a:ext>
            </a:extLst>
          </p:cNvPr>
          <p:cNvSpPr>
            <a:spLocks noGrp="1"/>
          </p:cNvSpPr>
          <p:nvPr>
            <p:ph idx="1"/>
          </p:nvPr>
        </p:nvSpPr>
        <p:spPr/>
        <p:txBody>
          <a:bodyPr vert="horz" lIns="91440" tIns="45720" rIns="91440" bIns="45720" rtlCol="0" anchor="t">
            <a:normAutofit/>
          </a:bodyPr>
          <a:lstStyle/>
          <a:p>
            <a:pPr marL="0" indent="0">
              <a:buNone/>
            </a:pPr>
            <a:r>
              <a:rPr lang="en-US" b="1" u="sng">
                <a:ea typeface="+mn-lt"/>
                <a:cs typeface="+mn-lt"/>
              </a:rPr>
              <a:t>A rule of thumb</a:t>
            </a:r>
            <a:r>
              <a:rPr lang="en-US" b="1">
                <a:ea typeface="+mn-lt"/>
                <a:cs typeface="+mn-lt"/>
              </a:rPr>
              <a:t>:  A research paper or essay should have a minimum number of sources as the number of its pages.  So, a 3-page paper should have at least 3 sources, and a 10-page paper around 10 sources.</a:t>
            </a:r>
          </a:p>
          <a:p>
            <a:pPr marL="0" indent="0">
              <a:buNone/>
            </a:pPr>
            <a:r>
              <a:rPr lang="en-US" b="1">
                <a:ea typeface="Calibri" panose="020F0502020204030204"/>
                <a:cs typeface="Calibri" panose="020F0502020204030204"/>
              </a:rPr>
              <a:t>When you find a good source, take notes and keep a record, with a bibliographic entry, APA or MLA, and page number if appropriate.</a:t>
            </a:r>
          </a:p>
          <a:p>
            <a:pPr marL="0" indent="0">
              <a:buNone/>
            </a:pPr>
            <a:endParaRPr lang="en-US" b="1">
              <a:ea typeface="Calibri" panose="020F0502020204030204"/>
              <a:cs typeface="Calibri" panose="020F0502020204030204"/>
            </a:endParaRPr>
          </a:p>
          <a:p>
            <a:pPr marL="0" indent="0">
              <a:buNone/>
            </a:pPr>
            <a:r>
              <a:rPr lang="en-US" b="1">
                <a:ea typeface="Calibri" panose="020F0502020204030204"/>
                <a:cs typeface="Calibri" panose="020F0502020204030204"/>
              </a:rPr>
              <a:t>That way you have it ready for any present or future paper.</a:t>
            </a:r>
          </a:p>
        </p:txBody>
      </p:sp>
    </p:spTree>
    <p:extLst>
      <p:ext uri="{BB962C8B-B14F-4D97-AF65-F5344CB8AC3E}">
        <p14:creationId xmlns:p14="http://schemas.microsoft.com/office/powerpoint/2010/main" val="3126874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12192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5B31B7-CDC3-5355-FA27-EEA18114400E}"/>
              </a:ext>
            </a:extLst>
          </p:cNvPr>
          <p:cNvSpPr>
            <a:spLocks noGrp="1"/>
          </p:cNvSpPr>
          <p:nvPr>
            <p:ph type="title"/>
          </p:nvPr>
        </p:nvSpPr>
        <p:spPr>
          <a:xfrm>
            <a:off x="526073" y="489439"/>
            <a:ext cx="11139854" cy="930447"/>
          </a:xfrm>
        </p:spPr>
        <p:txBody>
          <a:bodyPr vert="horz" lIns="91440" tIns="45720" rIns="91440" bIns="45720" rtlCol="0" anchor="b">
            <a:normAutofit/>
          </a:bodyPr>
          <a:lstStyle/>
          <a:p>
            <a:pPr algn="ctr"/>
            <a:r>
              <a:rPr lang="en-US" sz="5400" kern="1200">
                <a:solidFill>
                  <a:schemeClr val="bg1"/>
                </a:solidFill>
                <a:latin typeface="+mj-lt"/>
                <a:ea typeface="+mj-ea"/>
                <a:cs typeface="+mj-cs"/>
              </a:rPr>
              <a:t>Research Sources</a:t>
            </a:r>
          </a:p>
        </p:txBody>
      </p:sp>
      <p:cxnSp>
        <p:nvCxnSpPr>
          <p:cNvPr id="20" name="Straight Connector 19">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1479733"/>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Picture 7" descr="A picture containing text, indoor, several&#10;&#10;Description automatically generated">
            <a:extLst>
              <a:ext uri="{FF2B5EF4-FFF2-40B4-BE49-F238E27FC236}">
                <a16:creationId xmlns:a16="http://schemas.microsoft.com/office/drawing/2014/main" id="{7D6DE909-26B4-1053-C018-A4FC1E7001AC}"/>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357540" y="2427541"/>
            <a:ext cx="11421821" cy="3997637"/>
          </a:xfrm>
          <a:prstGeom prst="rect">
            <a:avLst/>
          </a:prstGeom>
        </p:spPr>
      </p:pic>
      <p:sp>
        <p:nvSpPr>
          <p:cNvPr id="8" name="TextBox 7">
            <a:extLst>
              <a:ext uri="{FF2B5EF4-FFF2-40B4-BE49-F238E27FC236}">
                <a16:creationId xmlns:a16="http://schemas.microsoft.com/office/drawing/2014/main" id="{B4A868AE-522B-BD32-D9CD-F0A2CFE2A366}"/>
              </a:ext>
            </a:extLst>
          </p:cNvPr>
          <p:cNvSpPr txBox="1"/>
          <p:nvPr/>
        </p:nvSpPr>
        <p:spPr>
          <a:xfrm>
            <a:off x="9324843" y="6225123"/>
            <a:ext cx="245451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BY-SA-NC</a:t>
            </a:r>
            <a:r>
              <a:rPr lang="en-US" sz="700">
                <a:solidFill>
                  <a:srgbClr val="FFFFFF"/>
                </a:solidFill>
              </a:rPr>
              <a:t>.</a:t>
            </a:r>
          </a:p>
        </p:txBody>
      </p:sp>
    </p:spTree>
    <p:extLst>
      <p:ext uri="{BB962C8B-B14F-4D97-AF65-F5344CB8AC3E}">
        <p14:creationId xmlns:p14="http://schemas.microsoft.com/office/powerpoint/2010/main" val="1195216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FFEA4-0E8F-482E-889C-24081E4B6368}"/>
              </a:ext>
            </a:extLst>
          </p:cNvPr>
          <p:cNvSpPr>
            <a:spLocks noGrp="1"/>
          </p:cNvSpPr>
          <p:nvPr>
            <p:ph type="title"/>
          </p:nvPr>
        </p:nvSpPr>
        <p:spPr/>
        <p:txBody>
          <a:bodyPr/>
          <a:lstStyle/>
          <a:p>
            <a:r>
              <a:rPr lang="en-US" b="1">
                <a:ea typeface="Calibri Light"/>
                <a:cs typeface="Calibri Light"/>
              </a:rPr>
              <a:t>Academic Sources vs General Sources</a:t>
            </a:r>
          </a:p>
        </p:txBody>
      </p:sp>
      <p:sp>
        <p:nvSpPr>
          <p:cNvPr id="4" name="Text Placeholder 3">
            <a:extLst>
              <a:ext uri="{FF2B5EF4-FFF2-40B4-BE49-F238E27FC236}">
                <a16:creationId xmlns:a16="http://schemas.microsoft.com/office/drawing/2014/main" id="{ED46074A-9268-AF53-392C-FAD49595B958}"/>
              </a:ext>
            </a:extLst>
          </p:cNvPr>
          <p:cNvSpPr>
            <a:spLocks noGrp="1"/>
          </p:cNvSpPr>
          <p:nvPr>
            <p:ph type="body" idx="1"/>
          </p:nvPr>
        </p:nvSpPr>
        <p:spPr/>
        <p:txBody>
          <a:bodyPr/>
          <a:lstStyle/>
          <a:p>
            <a:r>
              <a:rPr lang="en-US">
                <a:ea typeface="Calibri"/>
                <a:cs typeface="Calibri"/>
              </a:rPr>
              <a:t>Academic: Used in References</a:t>
            </a:r>
            <a:endParaRPr lang="en-US"/>
          </a:p>
        </p:txBody>
      </p:sp>
      <p:sp>
        <p:nvSpPr>
          <p:cNvPr id="3" name="Content Placeholder 2">
            <a:extLst>
              <a:ext uri="{FF2B5EF4-FFF2-40B4-BE49-F238E27FC236}">
                <a16:creationId xmlns:a16="http://schemas.microsoft.com/office/drawing/2014/main" id="{82AE64EB-4DC0-CB0F-7650-7D12A4DCF099}"/>
              </a:ext>
            </a:extLst>
          </p:cNvPr>
          <p:cNvSpPr>
            <a:spLocks noGrp="1"/>
          </p:cNvSpPr>
          <p:nvPr>
            <p:ph sz="half" idx="2"/>
          </p:nvPr>
        </p:nvSpPr>
        <p:spPr/>
        <p:txBody>
          <a:bodyPr vert="horz" lIns="91440" tIns="45720" rIns="91440" bIns="45720" rtlCol="0" anchor="t">
            <a:normAutofit fontScale="92500" lnSpcReduction="10000"/>
          </a:bodyPr>
          <a:lstStyle/>
          <a:p>
            <a:r>
              <a:rPr lang="en-US">
                <a:ea typeface="Calibri"/>
                <a:cs typeface="Calibri"/>
              </a:rPr>
              <a:t>Books</a:t>
            </a:r>
          </a:p>
          <a:p>
            <a:r>
              <a:rPr lang="en-US">
                <a:ea typeface="Calibri"/>
                <a:cs typeface="Calibri"/>
              </a:rPr>
              <a:t>Journals (peer reviewed or not)</a:t>
            </a:r>
          </a:p>
          <a:p>
            <a:r>
              <a:rPr lang="en-US">
                <a:ea typeface="Calibri"/>
                <a:cs typeface="Calibri"/>
              </a:rPr>
              <a:t>Newspapers</a:t>
            </a:r>
          </a:p>
          <a:p>
            <a:r>
              <a:rPr lang="en-US">
                <a:ea typeface="Calibri"/>
                <a:cs typeface="Calibri"/>
              </a:rPr>
              <a:t>Websites of organizations, institutions, etc.</a:t>
            </a:r>
          </a:p>
          <a:p>
            <a:r>
              <a:rPr lang="en-US">
                <a:ea typeface="Calibri"/>
                <a:cs typeface="Calibri"/>
              </a:rPr>
              <a:t>Source usually has authors</a:t>
            </a:r>
          </a:p>
          <a:p>
            <a:r>
              <a:rPr lang="en-US">
                <a:ea typeface="Calibri"/>
                <a:cs typeface="Calibri"/>
              </a:rPr>
              <a:t>Uses keywords in searches</a:t>
            </a:r>
          </a:p>
        </p:txBody>
      </p:sp>
      <p:sp>
        <p:nvSpPr>
          <p:cNvPr id="5" name="Text Placeholder 4">
            <a:extLst>
              <a:ext uri="{FF2B5EF4-FFF2-40B4-BE49-F238E27FC236}">
                <a16:creationId xmlns:a16="http://schemas.microsoft.com/office/drawing/2014/main" id="{0D63B778-13E1-46A0-F0FA-7DC1E2F82E88}"/>
              </a:ext>
            </a:extLst>
          </p:cNvPr>
          <p:cNvSpPr>
            <a:spLocks noGrp="1"/>
          </p:cNvSpPr>
          <p:nvPr>
            <p:ph type="body" sz="quarter" idx="3"/>
          </p:nvPr>
        </p:nvSpPr>
        <p:spPr/>
        <p:txBody>
          <a:bodyPr/>
          <a:lstStyle/>
          <a:p>
            <a:r>
              <a:rPr lang="en-US">
                <a:ea typeface="Calibri"/>
                <a:cs typeface="Calibri"/>
              </a:rPr>
              <a:t>General:  Generally not cited</a:t>
            </a:r>
            <a:endParaRPr lang="en-US"/>
          </a:p>
        </p:txBody>
      </p:sp>
      <p:sp>
        <p:nvSpPr>
          <p:cNvPr id="6" name="Content Placeholder 5">
            <a:extLst>
              <a:ext uri="{FF2B5EF4-FFF2-40B4-BE49-F238E27FC236}">
                <a16:creationId xmlns:a16="http://schemas.microsoft.com/office/drawing/2014/main" id="{4379B42B-A46C-173B-D73C-4B8F54F62BA8}"/>
              </a:ext>
            </a:extLst>
          </p:cNvPr>
          <p:cNvSpPr>
            <a:spLocks noGrp="1"/>
          </p:cNvSpPr>
          <p:nvPr>
            <p:ph sz="quarter" idx="4"/>
          </p:nvPr>
        </p:nvSpPr>
        <p:spPr/>
        <p:txBody>
          <a:bodyPr vert="horz" lIns="91440" tIns="45720" rIns="91440" bIns="45720" rtlCol="0" anchor="t">
            <a:normAutofit fontScale="92500" lnSpcReduction="10000"/>
          </a:bodyPr>
          <a:lstStyle/>
          <a:p>
            <a:r>
              <a:rPr lang="en-US">
                <a:ea typeface="Calibri"/>
                <a:cs typeface="Calibri"/>
              </a:rPr>
              <a:t>Wikipedia</a:t>
            </a:r>
          </a:p>
          <a:p>
            <a:r>
              <a:rPr lang="en-US">
                <a:ea typeface="Calibri"/>
                <a:cs typeface="Calibri"/>
              </a:rPr>
              <a:t>Google searches</a:t>
            </a:r>
          </a:p>
          <a:p>
            <a:r>
              <a:rPr lang="en-US">
                <a:ea typeface="Calibri"/>
                <a:cs typeface="Calibri"/>
              </a:rPr>
              <a:t>Blogs</a:t>
            </a:r>
          </a:p>
          <a:p>
            <a:r>
              <a:rPr lang="en-US">
                <a:ea typeface="Calibri"/>
                <a:cs typeface="Calibri"/>
              </a:rPr>
              <a:t>Websites without authors or institutions checking them</a:t>
            </a:r>
          </a:p>
          <a:p>
            <a:r>
              <a:rPr lang="en-US">
                <a:ea typeface="Calibri"/>
                <a:cs typeface="Calibri"/>
              </a:rPr>
              <a:t>Popular magazines</a:t>
            </a:r>
          </a:p>
          <a:p>
            <a:r>
              <a:rPr lang="en-US">
                <a:ea typeface="Calibri"/>
                <a:cs typeface="Calibri"/>
              </a:rPr>
              <a:t>Usually has "common knowledge"</a:t>
            </a:r>
          </a:p>
          <a:p>
            <a:r>
              <a:rPr lang="en-US">
                <a:ea typeface="Calibri"/>
                <a:cs typeface="Calibri"/>
              </a:rPr>
              <a:t>You can type in questions</a:t>
            </a:r>
          </a:p>
        </p:txBody>
      </p:sp>
    </p:spTree>
    <p:extLst>
      <p:ext uri="{BB962C8B-B14F-4D97-AF65-F5344CB8AC3E}">
        <p14:creationId xmlns:p14="http://schemas.microsoft.com/office/powerpoint/2010/main" val="1563940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9B856-7A9F-D7C7-75E4-5278ABE23441}"/>
              </a:ext>
            </a:extLst>
          </p:cNvPr>
          <p:cNvSpPr>
            <a:spLocks noGrp="1"/>
          </p:cNvSpPr>
          <p:nvPr>
            <p:ph type="title" idx="4294967295"/>
          </p:nvPr>
        </p:nvSpPr>
        <p:spPr>
          <a:xfrm>
            <a:off x="948905" y="365125"/>
            <a:ext cx="9566695" cy="1339940"/>
          </a:xfrm>
          <a:solidFill>
            <a:srgbClr val="92D050"/>
          </a:solidFill>
        </p:spPr>
        <p:txBody>
          <a:bodyPr/>
          <a:lstStyle/>
          <a:p>
            <a:r>
              <a:rPr lang="en-US" b="1">
                <a:cs typeface="Calibri Light"/>
              </a:rPr>
              <a:t>Homework Assignment</a:t>
            </a:r>
            <a:endParaRPr lang="en-US" b="1"/>
          </a:p>
        </p:txBody>
      </p:sp>
      <p:sp>
        <p:nvSpPr>
          <p:cNvPr id="3" name="Content Placeholder 2">
            <a:extLst>
              <a:ext uri="{FF2B5EF4-FFF2-40B4-BE49-F238E27FC236}">
                <a16:creationId xmlns:a16="http://schemas.microsoft.com/office/drawing/2014/main" id="{887A924D-CD96-0FA2-B9FE-DABB82756C4B}"/>
              </a:ext>
            </a:extLst>
          </p:cNvPr>
          <p:cNvSpPr>
            <a:spLocks noGrp="1"/>
          </p:cNvSpPr>
          <p:nvPr>
            <p:ph idx="4294967295"/>
          </p:nvPr>
        </p:nvSpPr>
        <p:spPr>
          <a:xfrm>
            <a:off x="1193320" y="1825625"/>
            <a:ext cx="9322280" cy="4351338"/>
          </a:xfrm>
        </p:spPr>
        <p:txBody>
          <a:bodyPr vert="horz" lIns="91440" tIns="45720" rIns="91440" bIns="45720" rtlCol="0" anchor="t">
            <a:normAutofit/>
          </a:bodyPr>
          <a:lstStyle/>
          <a:p>
            <a:r>
              <a:rPr lang="en-US">
                <a:ea typeface="+mn-lt"/>
                <a:cs typeface="+mn-lt"/>
              </a:rPr>
              <a:t>Short questions based on a reading and  video 2.</a:t>
            </a:r>
          </a:p>
          <a:p>
            <a:r>
              <a:rPr lang="en-US" u="sng">
                <a:ea typeface="+mn-lt"/>
                <a:cs typeface="+mn-lt"/>
              </a:rPr>
              <a:t>Online Library usage: </a:t>
            </a:r>
            <a:r>
              <a:rPr lang="en-US">
                <a:ea typeface="+mn-lt"/>
                <a:cs typeface="+mn-lt"/>
              </a:rPr>
              <a:t> Go the Webster Library site and find the name of your program librarian.   Write the name of the program you are studying and the name of the librarian for that program.  (1 pt) </a:t>
            </a:r>
            <a:endParaRPr lang="en-US" b="1">
              <a:ea typeface="+mn-lt"/>
              <a:cs typeface="+mn-lt"/>
            </a:endParaRPr>
          </a:p>
          <a:p>
            <a:pPr marL="0" indent="0">
              <a:buNone/>
            </a:pPr>
            <a:r>
              <a:rPr lang="en-US">
                <a:ea typeface="+mn-lt"/>
                <a:cs typeface="+mn-lt"/>
              </a:rPr>
              <a:t>  Then pick one database and find an </a:t>
            </a:r>
            <a:r>
              <a:rPr lang="en-US" u="sng">
                <a:ea typeface="+mn-lt"/>
                <a:cs typeface="+mn-lt"/>
              </a:rPr>
              <a:t>academic article </a:t>
            </a:r>
            <a:r>
              <a:rPr lang="en-US">
                <a:ea typeface="+mn-lt"/>
                <a:cs typeface="+mn-lt"/>
              </a:rPr>
              <a:t>that has something to do with your area of study.  </a:t>
            </a:r>
            <a:r>
              <a:rPr lang="en-US" b="1">
                <a:ea typeface="+mn-lt"/>
                <a:cs typeface="+mn-lt"/>
              </a:rPr>
              <a:t>Write an APA References page entry for that article. (2 pts)</a:t>
            </a:r>
            <a:endParaRPr lang="en-US" b="1">
              <a:cs typeface="Calibri"/>
            </a:endParaRPr>
          </a:p>
          <a:p>
            <a:pPr marL="0" indent="0">
              <a:buNone/>
            </a:pPr>
            <a:endParaRPr lang="en-US" b="1">
              <a:ea typeface="Calibri" panose="020F0502020204030204"/>
              <a:cs typeface="Calibri"/>
            </a:endParaRPr>
          </a:p>
          <a:p>
            <a:endParaRPr lang="en-US">
              <a:cs typeface="Calibri"/>
            </a:endParaRPr>
          </a:p>
        </p:txBody>
      </p:sp>
    </p:spTree>
    <p:extLst>
      <p:ext uri="{BB962C8B-B14F-4D97-AF65-F5344CB8AC3E}">
        <p14:creationId xmlns:p14="http://schemas.microsoft.com/office/powerpoint/2010/main" val="1577711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5" descr="Text&#10;&#10;Description automatically generated">
            <a:extLst>
              <a:ext uri="{FF2B5EF4-FFF2-40B4-BE49-F238E27FC236}">
                <a16:creationId xmlns:a16="http://schemas.microsoft.com/office/drawing/2014/main" id="{BE1B2E2D-683A-D4BA-BABB-262157299B12}"/>
              </a:ext>
            </a:extLst>
          </p:cNvPr>
          <p:cNvPicPr>
            <a:picLocks noChangeAspect="1"/>
          </p:cNvPicPr>
          <p:nvPr/>
        </p:nvPicPr>
        <p:blipFill>
          <a:blip r:embed="rId2"/>
          <a:stretch>
            <a:fillRect/>
          </a:stretch>
        </p:blipFill>
        <p:spPr>
          <a:xfrm>
            <a:off x="2342344" y="575186"/>
            <a:ext cx="9915643" cy="6369498"/>
          </a:xfrm>
          <a:prstGeom prst="rect">
            <a:avLst/>
          </a:prstGeom>
        </p:spPr>
      </p:pic>
      <p:sp>
        <p:nvSpPr>
          <p:cNvPr id="16" name="Rectangle 15">
            <a:extLst>
              <a:ext uri="{FF2B5EF4-FFF2-40B4-BE49-F238E27FC236}">
                <a16:creationId xmlns:a16="http://schemas.microsoft.com/office/drawing/2014/main" id="{96918796-2918-40D6-BE3A-4600C47FC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bstract blurred public library with bookshelves">
            <a:extLst>
              <a:ext uri="{FF2B5EF4-FFF2-40B4-BE49-F238E27FC236}">
                <a16:creationId xmlns:a16="http://schemas.microsoft.com/office/drawing/2014/main" id="{F7B90EC4-A82E-AED5-088D-1064F3041190}"/>
              </a:ext>
            </a:extLst>
          </p:cNvPr>
          <p:cNvPicPr>
            <a:picLocks noChangeAspect="1"/>
          </p:cNvPicPr>
          <p:nvPr/>
        </p:nvPicPr>
        <p:blipFill rotWithShape="1">
          <a:blip r:embed="rId3"/>
          <a:srcRect r="5890" b="4"/>
          <a:stretch/>
        </p:blipFill>
        <p:spPr>
          <a:xfrm>
            <a:off x="4314" y="1322809"/>
            <a:ext cx="5445574" cy="5621875"/>
          </a:xfrm>
          <a:prstGeom prst="rect">
            <a:avLst/>
          </a:prstGeom>
        </p:spPr>
      </p:pic>
      <p:sp>
        <p:nvSpPr>
          <p:cNvPr id="2" name="Title 1">
            <a:extLst>
              <a:ext uri="{FF2B5EF4-FFF2-40B4-BE49-F238E27FC236}">
                <a16:creationId xmlns:a16="http://schemas.microsoft.com/office/drawing/2014/main" id="{00F3961C-FB3D-1BB2-B137-2FB6498EFB8E}"/>
              </a:ext>
            </a:extLst>
          </p:cNvPr>
          <p:cNvSpPr>
            <a:spLocks noGrp="1"/>
          </p:cNvSpPr>
          <p:nvPr>
            <p:ph type="title"/>
          </p:nvPr>
        </p:nvSpPr>
        <p:spPr>
          <a:xfrm>
            <a:off x="838200" y="672747"/>
            <a:ext cx="10515600" cy="715556"/>
          </a:xfrm>
        </p:spPr>
        <p:txBody>
          <a:bodyPr vert="horz" lIns="91440" tIns="45720" rIns="91440" bIns="45720" rtlCol="0">
            <a:normAutofit/>
          </a:bodyPr>
          <a:lstStyle/>
          <a:p>
            <a:pPr algn="ctr"/>
            <a:r>
              <a:rPr lang="en-US" sz="3200" b="1">
                <a:solidFill>
                  <a:schemeClr val="bg1"/>
                </a:solidFill>
              </a:rPr>
              <a:t>Exploring the Library Website and Databases</a:t>
            </a:r>
          </a:p>
        </p:txBody>
      </p:sp>
    </p:spTree>
    <p:extLst>
      <p:ext uri="{BB962C8B-B14F-4D97-AF65-F5344CB8AC3E}">
        <p14:creationId xmlns:p14="http://schemas.microsoft.com/office/powerpoint/2010/main" val="1738577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02BB0AC9-2E71-8A8D-3A4B-E23B88A5C4F8}"/>
              </a:ext>
            </a:extLst>
          </p:cNvPr>
          <p:cNvPicPr>
            <a:picLocks noChangeAspect="1"/>
          </p:cNvPicPr>
          <p:nvPr/>
        </p:nvPicPr>
        <p:blipFill>
          <a:blip r:embed="rId2"/>
          <a:stretch>
            <a:fillRect/>
          </a:stretch>
        </p:blipFill>
        <p:spPr>
          <a:xfrm>
            <a:off x="215661" y="73560"/>
            <a:ext cx="11976338" cy="6696500"/>
          </a:xfrm>
          <a:prstGeom prst="rect">
            <a:avLst/>
          </a:prstGeom>
        </p:spPr>
      </p:pic>
      <p:sp>
        <p:nvSpPr>
          <p:cNvPr id="3" name="TextBox 2">
            <a:extLst>
              <a:ext uri="{FF2B5EF4-FFF2-40B4-BE49-F238E27FC236}">
                <a16:creationId xmlns:a16="http://schemas.microsoft.com/office/drawing/2014/main" id="{1EA66B9A-5B99-07EC-06B1-6ED8E211EAEB}"/>
              </a:ext>
            </a:extLst>
          </p:cNvPr>
          <p:cNvSpPr txBox="1"/>
          <p:nvPr/>
        </p:nvSpPr>
        <p:spPr>
          <a:xfrm>
            <a:off x="4609507" y="960782"/>
            <a:ext cx="399127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cs typeface="Calibri"/>
              </a:rPr>
              <a:t>Go to Research Guides</a:t>
            </a:r>
            <a:endParaRPr lang="en-US" sz="3200" b="1"/>
          </a:p>
        </p:txBody>
      </p:sp>
    </p:spTree>
    <p:extLst>
      <p:ext uri="{BB962C8B-B14F-4D97-AF65-F5344CB8AC3E}">
        <p14:creationId xmlns:p14="http://schemas.microsoft.com/office/powerpoint/2010/main" val="3192010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A screenshot of a computer&#10;&#10;Description automatically generated">
            <a:extLst>
              <a:ext uri="{FF2B5EF4-FFF2-40B4-BE49-F238E27FC236}">
                <a16:creationId xmlns:a16="http://schemas.microsoft.com/office/drawing/2014/main" id="{F4F6A2AF-2BAB-072C-497D-1AEEB58A1E5B}"/>
              </a:ext>
            </a:extLst>
          </p:cNvPr>
          <p:cNvPicPr>
            <a:picLocks noChangeAspect="1"/>
          </p:cNvPicPr>
          <p:nvPr/>
        </p:nvPicPr>
        <p:blipFill rotWithShape="1">
          <a:blip r:embed="rId2"/>
          <a:srcRect b="19"/>
          <a:stretch/>
        </p:blipFill>
        <p:spPr>
          <a:xfrm>
            <a:off x="0" y="1673"/>
            <a:ext cx="12192000" cy="6854653"/>
          </a:xfrm>
          <a:prstGeom prst="rect">
            <a:avLst/>
          </a:prstGeom>
        </p:spPr>
      </p:pic>
      <p:sp>
        <p:nvSpPr>
          <p:cNvPr id="3" name="TextBox 2">
            <a:extLst>
              <a:ext uri="{FF2B5EF4-FFF2-40B4-BE49-F238E27FC236}">
                <a16:creationId xmlns:a16="http://schemas.microsoft.com/office/drawing/2014/main" id="{80A87994-94F4-5BA4-2D5C-041B085C2013}"/>
              </a:ext>
            </a:extLst>
          </p:cNvPr>
          <p:cNvSpPr txBox="1"/>
          <p:nvPr/>
        </p:nvSpPr>
        <p:spPr>
          <a:xfrm>
            <a:off x="4324865" y="1081216"/>
            <a:ext cx="357831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cs typeface="Calibri"/>
              </a:rPr>
              <a:t>Find your program</a:t>
            </a:r>
            <a:endParaRPr lang="en-US" sz="3200" b="1"/>
          </a:p>
        </p:txBody>
      </p:sp>
    </p:spTree>
    <p:extLst>
      <p:ext uri="{BB962C8B-B14F-4D97-AF65-F5344CB8AC3E}">
        <p14:creationId xmlns:p14="http://schemas.microsoft.com/office/powerpoint/2010/main" val="2760917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1B84A8BB-9879-4DE3-FE74-D7CDE3619CEC}"/>
              </a:ext>
            </a:extLst>
          </p:cNvPr>
          <p:cNvPicPr>
            <a:picLocks noChangeAspect="1"/>
          </p:cNvPicPr>
          <p:nvPr/>
        </p:nvPicPr>
        <p:blipFill>
          <a:blip r:embed="rId2"/>
          <a:stretch>
            <a:fillRect/>
          </a:stretch>
        </p:blipFill>
        <p:spPr>
          <a:xfrm>
            <a:off x="0" y="1673"/>
            <a:ext cx="12192000" cy="6854653"/>
          </a:xfrm>
          <a:prstGeom prst="rect">
            <a:avLst/>
          </a:prstGeom>
        </p:spPr>
      </p:pic>
      <p:sp>
        <p:nvSpPr>
          <p:cNvPr id="4" name="TextBox 3">
            <a:extLst>
              <a:ext uri="{FF2B5EF4-FFF2-40B4-BE49-F238E27FC236}">
                <a16:creationId xmlns:a16="http://schemas.microsoft.com/office/drawing/2014/main" id="{7A6CE2C2-943D-BC61-441B-79B4127ABD3D}"/>
              </a:ext>
            </a:extLst>
          </p:cNvPr>
          <p:cNvSpPr txBox="1"/>
          <p:nvPr/>
        </p:nvSpPr>
        <p:spPr>
          <a:xfrm>
            <a:off x="3561521" y="5615608"/>
            <a:ext cx="543339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cs typeface="Calibri"/>
              </a:rPr>
              <a:t>Program or specialist librarian</a:t>
            </a:r>
            <a:endParaRPr lang="en-US" sz="3200" b="1"/>
          </a:p>
        </p:txBody>
      </p:sp>
    </p:spTree>
    <p:extLst>
      <p:ext uri="{BB962C8B-B14F-4D97-AF65-F5344CB8AC3E}">
        <p14:creationId xmlns:p14="http://schemas.microsoft.com/office/powerpoint/2010/main" val="847533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 email&#10;&#10;Description automatically generated">
            <a:extLst>
              <a:ext uri="{FF2B5EF4-FFF2-40B4-BE49-F238E27FC236}">
                <a16:creationId xmlns:a16="http://schemas.microsoft.com/office/drawing/2014/main" id="{42E09CAA-93B2-49A2-5023-999D62A38FF3}"/>
              </a:ext>
            </a:extLst>
          </p:cNvPr>
          <p:cNvPicPr>
            <a:picLocks noChangeAspect="1"/>
          </p:cNvPicPr>
          <p:nvPr/>
        </p:nvPicPr>
        <p:blipFill>
          <a:blip r:embed="rId2"/>
          <a:stretch>
            <a:fillRect/>
          </a:stretch>
        </p:blipFill>
        <p:spPr>
          <a:xfrm>
            <a:off x="-63260" y="-45091"/>
            <a:ext cx="12519803" cy="7063202"/>
          </a:xfrm>
          <a:prstGeom prst="rect">
            <a:avLst/>
          </a:prstGeom>
        </p:spPr>
      </p:pic>
      <p:sp>
        <p:nvSpPr>
          <p:cNvPr id="3" name="TextBox 2">
            <a:extLst>
              <a:ext uri="{FF2B5EF4-FFF2-40B4-BE49-F238E27FC236}">
                <a16:creationId xmlns:a16="http://schemas.microsoft.com/office/drawing/2014/main" id="{EB1AD7C4-DFF1-5C2D-BDF7-24FB04E5E9C5}"/>
              </a:ext>
            </a:extLst>
          </p:cNvPr>
          <p:cNvSpPr txBox="1"/>
          <p:nvPr/>
        </p:nvSpPr>
        <p:spPr>
          <a:xfrm>
            <a:off x="3135515" y="3283664"/>
            <a:ext cx="838731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cs typeface="Calibri"/>
              </a:rPr>
              <a:t>Choose a database and look for an academic article in a journal</a:t>
            </a:r>
          </a:p>
        </p:txBody>
      </p:sp>
    </p:spTree>
    <p:extLst>
      <p:ext uri="{BB962C8B-B14F-4D97-AF65-F5344CB8AC3E}">
        <p14:creationId xmlns:p14="http://schemas.microsoft.com/office/powerpoint/2010/main" val="3935843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A screenshot of a computer&#10;&#10;Description automatically generated">
            <a:extLst>
              <a:ext uri="{FF2B5EF4-FFF2-40B4-BE49-F238E27FC236}">
                <a16:creationId xmlns:a16="http://schemas.microsoft.com/office/drawing/2014/main" id="{4EBEFC0C-E9CB-0FC5-8FBE-0C1E841CDAC0}"/>
              </a:ext>
            </a:extLst>
          </p:cNvPr>
          <p:cNvPicPr>
            <a:picLocks noChangeAspect="1"/>
          </p:cNvPicPr>
          <p:nvPr/>
        </p:nvPicPr>
        <p:blipFill rotWithShape="1">
          <a:blip r:embed="rId2"/>
          <a:srcRect t="19"/>
          <a:stretch/>
        </p:blipFill>
        <p:spPr>
          <a:xfrm>
            <a:off x="20" y="1282"/>
            <a:ext cx="12723942" cy="7158642"/>
          </a:xfrm>
          <a:prstGeom prst="rect">
            <a:avLst/>
          </a:prstGeom>
        </p:spPr>
      </p:pic>
    </p:spTree>
    <p:extLst>
      <p:ext uri="{BB962C8B-B14F-4D97-AF65-F5344CB8AC3E}">
        <p14:creationId xmlns:p14="http://schemas.microsoft.com/office/powerpoint/2010/main" val="493975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4C55-F723-8B9B-703B-4952EDAE3BA6}"/>
              </a:ext>
            </a:extLst>
          </p:cNvPr>
          <p:cNvSpPr>
            <a:spLocks noGrp="1"/>
          </p:cNvSpPr>
          <p:nvPr>
            <p:ph type="title"/>
          </p:nvPr>
        </p:nvSpPr>
        <p:spPr>
          <a:xfrm>
            <a:off x="838200" y="365125"/>
            <a:ext cx="10515600" cy="836733"/>
          </a:xfrm>
          <a:solidFill>
            <a:srgbClr val="FF0000"/>
          </a:solidFill>
        </p:spPr>
        <p:txBody>
          <a:bodyPr/>
          <a:lstStyle/>
          <a:p>
            <a:r>
              <a:rPr lang="en-US" b="1">
                <a:ea typeface="Calibri Light"/>
                <a:cs typeface="Calibri Light"/>
              </a:rPr>
              <a:t>Narrowing down</a:t>
            </a:r>
          </a:p>
        </p:txBody>
      </p:sp>
      <p:sp>
        <p:nvSpPr>
          <p:cNvPr id="3" name="Content Placeholder 2">
            <a:extLst>
              <a:ext uri="{FF2B5EF4-FFF2-40B4-BE49-F238E27FC236}">
                <a16:creationId xmlns:a16="http://schemas.microsoft.com/office/drawing/2014/main" id="{9A20B7DC-8C08-0801-05E3-6A2F92AF7C87}"/>
              </a:ext>
            </a:extLst>
          </p:cNvPr>
          <p:cNvSpPr>
            <a:spLocks noGrp="1"/>
          </p:cNvSpPr>
          <p:nvPr>
            <p:ph idx="1"/>
          </p:nvPr>
        </p:nvSpPr>
        <p:spPr>
          <a:xfrm>
            <a:off x="680050" y="1394305"/>
            <a:ext cx="10673750" cy="4782658"/>
          </a:xfrm>
        </p:spPr>
        <p:txBody>
          <a:bodyPr vert="horz" lIns="91440" tIns="45720" rIns="91440" bIns="45720" rtlCol="0" anchor="t">
            <a:normAutofit/>
          </a:bodyPr>
          <a:lstStyle/>
          <a:p>
            <a:r>
              <a:rPr lang="en-US">
                <a:ea typeface="Calibri"/>
                <a:cs typeface="Calibri"/>
              </a:rPr>
              <a:t>Culture and Business</a:t>
            </a:r>
          </a:p>
          <a:p>
            <a:r>
              <a:rPr lang="en-US">
                <a:ea typeface="Calibri"/>
                <a:cs typeface="Calibri"/>
              </a:rPr>
              <a:t>Type Business and see choose Business Practices = 14,000 + entries</a:t>
            </a:r>
          </a:p>
          <a:p>
            <a:r>
              <a:rPr lang="en-US">
                <a:ea typeface="Calibri"/>
                <a:cs typeface="Calibri"/>
              </a:rPr>
              <a:t>Add Culture = 734 entries and topics all over the place </a:t>
            </a:r>
          </a:p>
          <a:p>
            <a:r>
              <a:rPr lang="en-US">
                <a:ea typeface="Calibri"/>
                <a:cs typeface="Calibri"/>
              </a:rPr>
              <a:t>I saw the option of adding differences = cultural differences = 12 entries.</a:t>
            </a:r>
          </a:p>
          <a:p>
            <a:r>
              <a:rPr lang="en-US">
                <a:ea typeface="Calibri"/>
                <a:cs typeface="Calibri"/>
              </a:rPr>
              <a:t>The first one in the Result List:  </a:t>
            </a:r>
          </a:p>
          <a:p>
            <a:pPr marL="0" indent="0">
              <a:buNone/>
            </a:pPr>
            <a:r>
              <a:rPr lang="en-US" sz="1000">
                <a:solidFill>
                  <a:srgbClr val="005BC6"/>
                </a:solidFill>
                <a:latin typeface="Helvetica"/>
                <a:ea typeface="Calibri"/>
                <a:cs typeface="Helvetica"/>
                <a:hlinkClick r:id="rId2"/>
              </a:rPr>
              <a:t>Cultural theory in use: the intersection of structure, process and communication in </a:t>
            </a:r>
            <a:r>
              <a:rPr lang="en-US" sz="1500" b="1">
                <a:solidFill>
                  <a:srgbClr val="005BC6"/>
                </a:solidFill>
                <a:latin typeface="Helvetica"/>
                <a:ea typeface="Calibri"/>
                <a:cs typeface="Helvetica"/>
                <a:hlinkClick r:id="rId2"/>
              </a:rPr>
              <a:t>business</a:t>
            </a:r>
            <a:r>
              <a:rPr lang="en-US" sz="1000">
                <a:solidFill>
                  <a:srgbClr val="005BC6"/>
                </a:solidFill>
                <a:latin typeface="Helvetica"/>
                <a:ea typeface="Calibri"/>
                <a:cs typeface="Helvetica"/>
                <a:hlinkClick r:id="rId2"/>
              </a:rPr>
              <a:t> </a:t>
            </a:r>
            <a:r>
              <a:rPr lang="en-US" sz="1500" b="1">
                <a:solidFill>
                  <a:srgbClr val="005BC6"/>
                </a:solidFill>
                <a:latin typeface="Helvetica"/>
                <a:ea typeface="Calibri"/>
                <a:cs typeface="Helvetica"/>
                <a:hlinkClick r:id="rId2"/>
              </a:rPr>
              <a:t>practice</a:t>
            </a:r>
            <a:r>
              <a:rPr lang="en-US" sz="1000">
                <a:solidFill>
                  <a:srgbClr val="005BC6"/>
                </a:solidFill>
                <a:latin typeface="Helvetica"/>
                <a:ea typeface="Calibri"/>
                <a:cs typeface="Helvetica"/>
                <a:hlinkClick r:id="rId2"/>
              </a:rPr>
              <a:t>.</a:t>
            </a:r>
            <a:r>
              <a:rPr lang="en-US" sz="1000">
                <a:solidFill>
                  <a:srgbClr val="535353"/>
                </a:solidFill>
                <a:latin typeface="Helvetica"/>
                <a:ea typeface="Calibri"/>
                <a:cs typeface="Helvetica"/>
              </a:rPr>
              <a:t>   By: Schuster, Camille P.; Copeland, Michael J. Journal of Public Affairs (14723891). Nov2008, Vol. 8 Issue 4, p261-280. 20p. 1 Diagram, 1 Chart, 1 Graph. DOI: 10.1002/pa.290.</a:t>
            </a:r>
            <a:endParaRPr lang="en-US">
              <a:ea typeface="Calibri" panose="020F0502020204030204"/>
              <a:cs typeface="Calibri" panose="020F0502020204030204"/>
            </a:endParaRPr>
          </a:p>
          <a:p>
            <a:pPr marL="0" indent="0">
              <a:buNone/>
            </a:pPr>
            <a:r>
              <a:rPr lang="en-US" sz="1000">
                <a:solidFill>
                  <a:srgbClr val="535353"/>
                </a:solidFill>
                <a:latin typeface="Helvetica"/>
                <a:ea typeface="Calibri"/>
                <a:cs typeface="Helvetica"/>
              </a:rPr>
              <a:t>Examining and understanding the </a:t>
            </a:r>
            <a:r>
              <a:rPr lang="en-US" sz="1000" b="1">
                <a:solidFill>
                  <a:srgbClr val="535353"/>
                </a:solidFill>
                <a:latin typeface="Helvetica"/>
                <a:ea typeface="Calibri"/>
                <a:cs typeface="Helvetica"/>
              </a:rPr>
              <a:t>culture</a:t>
            </a:r>
            <a:r>
              <a:rPr lang="en-US" sz="1000">
                <a:solidFill>
                  <a:srgbClr val="535353"/>
                </a:solidFill>
                <a:latin typeface="Helvetica"/>
                <a:ea typeface="Calibri"/>
                <a:cs typeface="Helvetica"/>
              </a:rPr>
              <a:t> of 200+ countries to determine how </a:t>
            </a:r>
            <a:r>
              <a:rPr lang="en-US" sz="1000" b="1">
                <a:solidFill>
                  <a:srgbClr val="535353"/>
                </a:solidFill>
                <a:latin typeface="Helvetica"/>
                <a:ea typeface="Calibri"/>
                <a:cs typeface="Helvetica"/>
              </a:rPr>
              <a:t>business</a:t>
            </a:r>
            <a:r>
              <a:rPr lang="en-US" sz="1000">
                <a:solidFill>
                  <a:srgbClr val="535353"/>
                </a:solidFill>
                <a:latin typeface="Helvetica"/>
                <a:ea typeface="Calibri"/>
                <a:cs typeface="Helvetica"/>
              </a:rPr>
              <a:t> is conducted in those countries is a daunting and overwhelming prospect. By combining theories of </a:t>
            </a:r>
            <a:r>
              <a:rPr lang="en-US" sz="1000" b="1">
                <a:solidFill>
                  <a:srgbClr val="535353"/>
                </a:solidFill>
                <a:latin typeface="Helvetica"/>
                <a:ea typeface="Calibri"/>
                <a:cs typeface="Helvetica"/>
              </a:rPr>
              <a:t>culture</a:t>
            </a:r>
            <a:r>
              <a:rPr lang="en-US" sz="1000">
                <a:solidFill>
                  <a:srgbClr val="535353"/>
                </a:solidFill>
                <a:latin typeface="Helvetica"/>
                <a:ea typeface="Calibri"/>
                <a:cs typeface="Helvetica"/>
              </a:rPr>
              <a:t>, it </a:t>
            </a:r>
            <a:r>
              <a:rPr lang="en-US" sz="1000" err="1">
                <a:solidFill>
                  <a:srgbClr val="535353"/>
                </a:solidFill>
                <a:latin typeface="Helvetica"/>
                <a:ea typeface="Calibri"/>
                <a:cs typeface="Helvetica"/>
              </a:rPr>
              <a:t>i</a:t>
            </a:r>
            <a:r>
              <a:rPr lang="en-US" sz="1000">
                <a:solidFill>
                  <a:srgbClr val="535353"/>
                </a:solidFill>
                <a:latin typeface="Helvetica"/>
                <a:ea typeface="Calibri"/>
                <a:cs typeface="Helvetica"/>
              </a:rPr>
              <a:t>...</a:t>
            </a:r>
            <a:endParaRPr lang="en-US">
              <a:ea typeface="Calibri" panose="020F0502020204030204"/>
              <a:cs typeface="Calibri" panose="020F0502020204030204"/>
            </a:endParaRPr>
          </a:p>
          <a:p>
            <a:pPr marL="0" indent="0">
              <a:buNone/>
            </a:pPr>
            <a:r>
              <a:rPr lang="en-US" sz="1000" b="1">
                <a:solidFill>
                  <a:srgbClr val="262626"/>
                </a:solidFill>
                <a:latin typeface="Helvetica"/>
                <a:ea typeface="Calibri"/>
                <a:cs typeface="Helvetica"/>
              </a:rPr>
              <a:t>Subjects: </a:t>
            </a:r>
            <a:r>
              <a:rPr lang="en-US" sz="1000">
                <a:solidFill>
                  <a:srgbClr val="262626"/>
                </a:solidFill>
                <a:latin typeface="Helvetica"/>
                <a:ea typeface="Calibri"/>
                <a:cs typeface="Helvetica"/>
              </a:rPr>
              <a:t>CORPORATE </a:t>
            </a:r>
            <a:r>
              <a:rPr lang="en-US" sz="1000" b="1">
                <a:solidFill>
                  <a:srgbClr val="262626"/>
                </a:solidFill>
                <a:latin typeface="Helvetica"/>
                <a:ea typeface="Calibri"/>
                <a:cs typeface="Helvetica"/>
              </a:rPr>
              <a:t>culture</a:t>
            </a:r>
            <a:r>
              <a:rPr lang="en-US" sz="1000">
                <a:solidFill>
                  <a:srgbClr val="262626"/>
                </a:solidFill>
                <a:latin typeface="Helvetica"/>
                <a:ea typeface="Calibri"/>
                <a:cs typeface="Helvetica"/>
              </a:rPr>
              <a:t>; </a:t>
            </a:r>
            <a:r>
              <a:rPr lang="en-US" sz="1000" b="1">
                <a:solidFill>
                  <a:srgbClr val="262626"/>
                </a:solidFill>
                <a:latin typeface="Helvetica"/>
                <a:ea typeface="Calibri"/>
                <a:cs typeface="Helvetica"/>
              </a:rPr>
              <a:t>BUSINESS</a:t>
            </a:r>
            <a:r>
              <a:rPr lang="en-US" sz="1000">
                <a:solidFill>
                  <a:srgbClr val="262626"/>
                </a:solidFill>
                <a:latin typeface="Helvetica"/>
                <a:ea typeface="Calibri"/>
                <a:cs typeface="Helvetica"/>
              </a:rPr>
              <a:t> communication; COMMUNICATION &amp; </a:t>
            </a:r>
            <a:r>
              <a:rPr lang="en-US" sz="1000" b="1">
                <a:solidFill>
                  <a:srgbClr val="262626"/>
                </a:solidFill>
                <a:latin typeface="Helvetica"/>
                <a:ea typeface="Calibri"/>
                <a:cs typeface="Helvetica"/>
              </a:rPr>
              <a:t>culture</a:t>
            </a:r>
            <a:r>
              <a:rPr lang="en-US" sz="1000">
                <a:solidFill>
                  <a:srgbClr val="262626"/>
                </a:solidFill>
                <a:latin typeface="Helvetica"/>
                <a:ea typeface="Calibri"/>
                <a:cs typeface="Helvetica"/>
              </a:rPr>
              <a:t>; ORGANIZATIONAL behavior; </a:t>
            </a:r>
            <a:r>
              <a:rPr lang="en-US" sz="1000" b="1">
                <a:solidFill>
                  <a:srgbClr val="262626"/>
                </a:solidFill>
                <a:latin typeface="Helvetica"/>
                <a:ea typeface="Calibri"/>
                <a:cs typeface="Helvetica"/>
              </a:rPr>
              <a:t>BUSINESS</a:t>
            </a:r>
            <a:r>
              <a:rPr lang="en-US" sz="1000">
                <a:solidFill>
                  <a:srgbClr val="262626"/>
                </a:solidFill>
                <a:latin typeface="Helvetica"/>
                <a:ea typeface="Calibri"/>
                <a:cs typeface="Helvetica"/>
              </a:rPr>
              <a:t> models; SOCIOLOGY of </a:t>
            </a:r>
            <a:r>
              <a:rPr lang="en-US" sz="1000" err="1">
                <a:solidFill>
                  <a:srgbClr val="262626"/>
                </a:solidFill>
                <a:latin typeface="Helvetica"/>
                <a:ea typeface="Calibri"/>
                <a:cs typeface="Helvetica"/>
              </a:rPr>
              <a:t>corporations</a:t>
            </a:r>
            <a:r>
              <a:rPr lang="en-US" sz="1000" err="1">
                <a:solidFill>
                  <a:srgbClr val="535353"/>
                </a:solidFill>
                <a:latin typeface="Helvetica"/>
                <a:ea typeface="Calibri"/>
                <a:cs typeface="Helvetica"/>
              </a:rPr>
              <a:t>Cultural</a:t>
            </a:r>
            <a:r>
              <a:rPr lang="en-US" sz="1000">
                <a:solidFill>
                  <a:srgbClr val="535353"/>
                </a:solidFill>
                <a:latin typeface="Helvetica"/>
                <a:ea typeface="Calibri"/>
                <a:cs typeface="Helvetica"/>
              </a:rPr>
              <a:t> theory in use: the intersection of structure, process and communication in business practice. Full Text Available</a:t>
            </a:r>
            <a:endParaRPr lang="en-US">
              <a:ea typeface="Calibri" panose="020F0502020204030204"/>
              <a:cs typeface="Calibri" panose="020F0502020204030204"/>
            </a:endParaRPr>
          </a:p>
          <a:p>
            <a:r>
              <a:rPr lang="en-US" sz="1000" b="1">
                <a:solidFill>
                  <a:srgbClr val="005BC6"/>
                </a:solidFill>
                <a:latin typeface="Helvetica"/>
                <a:ea typeface="Calibri"/>
                <a:cs typeface="Helvetica"/>
                <a:hlinkClick r:id="rId3"/>
              </a:rPr>
              <a:t>PDF Full Text</a:t>
            </a:r>
            <a:r>
              <a:rPr lang="en-US" sz="1000">
                <a:solidFill>
                  <a:srgbClr val="535353"/>
                </a:solidFill>
                <a:latin typeface="Helvetica"/>
                <a:ea typeface="Calibri"/>
                <a:cs typeface="Helvetica"/>
              </a:rPr>
              <a:t>(247KB)</a:t>
            </a:r>
            <a:endParaRPr lang="en-US"/>
          </a:p>
          <a:p>
            <a:endParaRPr lang="en-US">
              <a:ea typeface="Calibri"/>
              <a:cs typeface="Calibri"/>
            </a:endParaRPr>
          </a:p>
        </p:txBody>
      </p:sp>
    </p:spTree>
    <p:extLst>
      <p:ext uri="{BB962C8B-B14F-4D97-AF65-F5344CB8AC3E}">
        <p14:creationId xmlns:p14="http://schemas.microsoft.com/office/powerpoint/2010/main" val="3552928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F2CCC-2E2A-D457-2DF4-7E368D699054}"/>
              </a:ext>
            </a:extLst>
          </p:cNvPr>
          <p:cNvSpPr>
            <a:spLocks noGrp="1"/>
          </p:cNvSpPr>
          <p:nvPr>
            <p:ph type="title"/>
          </p:nvPr>
        </p:nvSpPr>
        <p:spPr>
          <a:solidFill>
            <a:srgbClr val="FF0000"/>
          </a:solidFill>
        </p:spPr>
        <p:txBody>
          <a:bodyPr/>
          <a:lstStyle/>
          <a:p>
            <a:r>
              <a:rPr lang="en-US" b="1">
                <a:ea typeface="Calibri Light"/>
                <a:cs typeface="Calibri Light"/>
              </a:rPr>
              <a:t>Example of the homework assignment:</a:t>
            </a:r>
          </a:p>
        </p:txBody>
      </p:sp>
      <p:sp>
        <p:nvSpPr>
          <p:cNvPr id="3" name="Content Placeholder 2">
            <a:extLst>
              <a:ext uri="{FF2B5EF4-FFF2-40B4-BE49-F238E27FC236}">
                <a16:creationId xmlns:a16="http://schemas.microsoft.com/office/drawing/2014/main" id="{0DF47BF9-8DC0-B210-D970-D847DFD90C42}"/>
              </a:ext>
            </a:extLst>
          </p:cNvPr>
          <p:cNvSpPr>
            <a:spLocks noGrp="1"/>
          </p:cNvSpPr>
          <p:nvPr>
            <p:ph idx="1"/>
          </p:nvPr>
        </p:nvSpPr>
        <p:spPr/>
        <p:txBody>
          <a:bodyPr vert="horz" lIns="91440" tIns="45720" rIns="91440" bIns="45720" rtlCol="0" anchor="t">
            <a:normAutofit/>
          </a:bodyPr>
          <a:lstStyle/>
          <a:p>
            <a:pPr marL="0" indent="0">
              <a:buNone/>
            </a:pPr>
            <a:r>
              <a:rPr lang="en-US">
                <a:latin typeface="Times New Roman"/>
                <a:cs typeface="Times New Roman"/>
              </a:rPr>
              <a:t>3.  Diana Pascoe   Program:   Art History, Global Languages, Cultures and Societies</a:t>
            </a:r>
          </a:p>
          <a:p>
            <a:pPr marL="0" indent="0">
              <a:buNone/>
            </a:pPr>
            <a:r>
              <a:rPr lang="en-US">
                <a:latin typeface="Times New Roman"/>
                <a:cs typeface="Times New Roman"/>
              </a:rPr>
              <a:t>Program Librarian:  Julie Laramie</a:t>
            </a:r>
          </a:p>
          <a:p>
            <a:pPr marL="0" indent="0">
              <a:buNone/>
            </a:pPr>
            <a:r>
              <a:rPr lang="en-US">
                <a:latin typeface="Times New Roman"/>
                <a:cs typeface="Times New Roman"/>
              </a:rPr>
              <a:t>Example of a relevant article in Academic Search Premier, using APA:</a:t>
            </a:r>
          </a:p>
          <a:p>
            <a:pPr marL="0" indent="0">
              <a:buNone/>
            </a:pPr>
            <a:r>
              <a:rPr lang="en-US">
                <a:latin typeface="Times New Roman"/>
                <a:cs typeface="Times New Roman"/>
              </a:rPr>
              <a:t>Schuster, C. P., &amp; Copeland, M.J.  (2008). Cultural theory in use: The </a:t>
            </a:r>
          </a:p>
          <a:p>
            <a:pPr marL="0" indent="0">
              <a:buNone/>
            </a:pPr>
            <a:r>
              <a:rPr lang="en-US">
                <a:latin typeface="Times New Roman"/>
                <a:cs typeface="Times New Roman"/>
              </a:rPr>
              <a:t>     intersection of structure, process and communication.  </a:t>
            </a:r>
            <a:r>
              <a:rPr lang="en-US" i="1">
                <a:latin typeface="Times New Roman"/>
                <a:cs typeface="Times New Roman"/>
              </a:rPr>
              <a:t>Journal</a:t>
            </a:r>
          </a:p>
          <a:p>
            <a:pPr marL="0" indent="0">
              <a:buNone/>
            </a:pPr>
            <a:r>
              <a:rPr lang="en-US" i="1">
                <a:latin typeface="Times New Roman"/>
                <a:cs typeface="Times New Roman"/>
              </a:rPr>
              <a:t>     of  Public Affairs 8</a:t>
            </a:r>
            <a:r>
              <a:rPr lang="en-US">
                <a:latin typeface="Times New Roman"/>
                <a:cs typeface="Times New Roman"/>
              </a:rPr>
              <a:t> (4), 261 – 280.  </a:t>
            </a:r>
            <a:r>
              <a:rPr lang="en-US">
                <a:latin typeface="Calibri"/>
                <a:ea typeface="Calibri"/>
                <a:cs typeface="Calibri"/>
              </a:rPr>
              <a:t>doi</a:t>
            </a:r>
            <a:r>
              <a:rPr lang="en-US">
                <a:ea typeface="+mn-lt"/>
                <a:cs typeface="+mn-lt"/>
              </a:rPr>
              <a:t>:10.1002/pa.290  </a:t>
            </a:r>
            <a:endParaRPr lang="en-US">
              <a:latin typeface="Times New Roman"/>
              <a:ea typeface="+mn-lt"/>
              <a:cs typeface="Times New Roman"/>
            </a:endParaRPr>
          </a:p>
        </p:txBody>
      </p:sp>
    </p:spTree>
    <p:extLst>
      <p:ext uri="{BB962C8B-B14F-4D97-AF65-F5344CB8AC3E}">
        <p14:creationId xmlns:p14="http://schemas.microsoft.com/office/powerpoint/2010/main" val="1100563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D04F5-4A0B-6C3E-0938-14EDF516E8D9}"/>
              </a:ext>
            </a:extLst>
          </p:cNvPr>
          <p:cNvSpPr>
            <a:spLocks noGrp="1"/>
          </p:cNvSpPr>
          <p:nvPr>
            <p:ph type="title"/>
          </p:nvPr>
        </p:nvSpPr>
        <p:spPr>
          <a:xfrm>
            <a:off x="838200" y="365125"/>
            <a:ext cx="10838481" cy="1338478"/>
          </a:xfrm>
          <a:solidFill>
            <a:srgbClr val="FF0000"/>
          </a:solidFill>
        </p:spPr>
        <p:txBody>
          <a:bodyPr/>
          <a:lstStyle/>
          <a:p>
            <a:r>
              <a:rPr lang="en-US">
                <a:cs typeface="Calibri Light"/>
              </a:rPr>
              <a:t>Today's Homework Assignment: Short Answers</a:t>
            </a:r>
            <a:endParaRPr lang="en-US"/>
          </a:p>
        </p:txBody>
      </p:sp>
      <p:sp>
        <p:nvSpPr>
          <p:cNvPr id="3" name="Content Placeholder 2">
            <a:extLst>
              <a:ext uri="{FF2B5EF4-FFF2-40B4-BE49-F238E27FC236}">
                <a16:creationId xmlns:a16="http://schemas.microsoft.com/office/drawing/2014/main" id="{30C54C69-0DEF-B3FA-D83E-2F709E442D1D}"/>
              </a:ext>
            </a:extLst>
          </p:cNvPr>
          <p:cNvSpPr>
            <a:spLocks noGrp="1"/>
          </p:cNvSpPr>
          <p:nvPr>
            <p:ph idx="1"/>
          </p:nvPr>
        </p:nvSpPr>
        <p:spPr/>
        <p:txBody>
          <a:bodyPr vert="horz" lIns="91440" tIns="45720" rIns="91440" bIns="45720" rtlCol="0" anchor="t">
            <a:normAutofit lnSpcReduction="10000"/>
          </a:bodyPr>
          <a:lstStyle/>
          <a:p>
            <a:r>
              <a:rPr lang="en-US">
                <a:cs typeface="Calibri"/>
              </a:rPr>
              <a:t>Remember to answer questions specifically. Be concise and direct.   Careful with the grammar in the 1st sentence.</a:t>
            </a:r>
            <a:endParaRPr lang="en-US">
              <a:ea typeface="Calibri"/>
              <a:cs typeface="Calibri"/>
            </a:endParaRPr>
          </a:p>
          <a:p>
            <a:pPr marL="0" indent="0">
              <a:buNone/>
            </a:pPr>
            <a:r>
              <a:rPr lang="en-US">
                <a:ea typeface="+mn-lt"/>
                <a:cs typeface="+mn-lt"/>
              </a:rPr>
              <a:t>Watch the Video 2 Starting research:  </a:t>
            </a:r>
            <a:r>
              <a:rPr lang="en-US">
                <a:cs typeface="Calibri"/>
              </a:rPr>
              <a:t>Look for the specific topic mentioned in the prompt.   Use the source mention such as </a:t>
            </a:r>
            <a:endParaRPr lang="en-US" i="1">
              <a:cs typeface="Calibri"/>
            </a:endParaRPr>
          </a:p>
          <a:p>
            <a:pPr marL="0" indent="0">
              <a:buNone/>
            </a:pPr>
            <a:r>
              <a:rPr lang="en-US">
                <a:cs typeface="Calibri"/>
              </a:rPr>
              <a:t>     </a:t>
            </a:r>
            <a:r>
              <a:rPr lang="en-US" u="sng">
                <a:cs typeface="Calibri"/>
              </a:rPr>
              <a:t>According to the video Starting research,</a:t>
            </a:r>
            <a:r>
              <a:rPr lang="en-US">
                <a:cs typeface="Calibri"/>
              </a:rPr>
              <a:t> the most common databases are... </a:t>
            </a:r>
            <a:r>
              <a:rPr lang="en-US" i="1">
                <a:cs typeface="Calibri"/>
              </a:rPr>
              <a:t>  </a:t>
            </a:r>
            <a:r>
              <a:rPr lang="en-US">
                <a:cs typeface="Calibri"/>
              </a:rPr>
              <a:t> </a:t>
            </a:r>
            <a:endParaRPr lang="en-US" i="1">
              <a:cs typeface="Calibri"/>
            </a:endParaRPr>
          </a:p>
          <a:p>
            <a:pPr marL="0" indent="0">
              <a:buNone/>
            </a:pPr>
            <a:r>
              <a:rPr lang="en-US">
                <a:cs typeface="Calibri"/>
              </a:rPr>
              <a:t>     </a:t>
            </a:r>
            <a:r>
              <a:rPr lang="en-US" u="sng">
                <a:cs typeface="Calibri"/>
              </a:rPr>
              <a:t>In the </a:t>
            </a:r>
            <a:r>
              <a:rPr lang="en-US" u="sng">
                <a:ea typeface="Calibri"/>
                <a:cs typeface="Calibri"/>
              </a:rPr>
              <a:t>video Starting research</a:t>
            </a:r>
            <a:r>
              <a:rPr lang="en-US">
                <a:ea typeface="Calibri"/>
                <a:cs typeface="Calibri"/>
              </a:rPr>
              <a:t> … there are several ways to find a ….</a:t>
            </a:r>
            <a:endParaRPr lang="en-US" i="1">
              <a:ea typeface="Calibri"/>
              <a:cs typeface="Calibri"/>
            </a:endParaRPr>
          </a:p>
          <a:p>
            <a:pPr marL="0" indent="0">
              <a:buNone/>
            </a:pPr>
            <a:r>
              <a:rPr lang="en-US">
                <a:ea typeface="Calibri"/>
                <a:cs typeface="Calibri"/>
              </a:rPr>
              <a:t>     S</a:t>
            </a:r>
            <a:r>
              <a:rPr lang="en-US" u="sng">
                <a:ea typeface="Calibri"/>
                <a:cs typeface="Calibri"/>
              </a:rPr>
              <a:t>ome advice the librarian in the video Starting research gives</a:t>
            </a:r>
            <a:r>
              <a:rPr lang="en-US">
                <a:ea typeface="Calibri"/>
                <a:cs typeface="Calibri"/>
              </a:rPr>
              <a:t> is to brainstorm, read and narrow down.  </a:t>
            </a:r>
          </a:p>
          <a:p>
            <a:pPr marL="0" indent="0">
              <a:buNone/>
            </a:pPr>
            <a:r>
              <a:rPr lang="en-US" b="1" u="sng">
                <a:ea typeface="Calibri"/>
                <a:cs typeface="Calibri"/>
              </a:rPr>
              <a:t>DO NOT USE "I" phrases.      This is not academic language.</a:t>
            </a:r>
          </a:p>
          <a:p>
            <a:endParaRPr lang="en-US">
              <a:ea typeface="Calibri"/>
              <a:cs typeface="Calibri"/>
            </a:endParaRPr>
          </a:p>
        </p:txBody>
      </p:sp>
    </p:spTree>
    <p:extLst>
      <p:ext uri="{BB962C8B-B14F-4D97-AF65-F5344CB8AC3E}">
        <p14:creationId xmlns:p14="http://schemas.microsoft.com/office/powerpoint/2010/main" val="1557417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5DE5-A623-6B3E-5AF6-FA54CD86A10F}"/>
              </a:ext>
            </a:extLst>
          </p:cNvPr>
          <p:cNvSpPr>
            <a:spLocks noGrp="1"/>
          </p:cNvSpPr>
          <p:nvPr>
            <p:ph type="title"/>
          </p:nvPr>
        </p:nvSpPr>
        <p:spPr>
          <a:solidFill>
            <a:srgbClr val="FF0000"/>
          </a:solidFill>
        </p:spPr>
        <p:txBody>
          <a:bodyPr/>
          <a:lstStyle/>
          <a:p>
            <a:r>
              <a:rPr lang="en-US" b="1">
                <a:ea typeface="Calibri Light"/>
                <a:cs typeface="Calibri Light"/>
              </a:rPr>
              <a:t>Relevant article = something you are studying</a:t>
            </a:r>
          </a:p>
        </p:txBody>
      </p:sp>
      <p:sp>
        <p:nvSpPr>
          <p:cNvPr id="3" name="Content Placeholder 2">
            <a:extLst>
              <a:ext uri="{FF2B5EF4-FFF2-40B4-BE49-F238E27FC236}">
                <a16:creationId xmlns:a16="http://schemas.microsoft.com/office/drawing/2014/main" id="{352F457A-45C1-AD7C-6660-F145165B3892}"/>
              </a:ext>
            </a:extLst>
          </p:cNvPr>
          <p:cNvSpPr>
            <a:spLocks noGrp="1"/>
          </p:cNvSpPr>
          <p:nvPr>
            <p:ph idx="1"/>
          </p:nvPr>
        </p:nvSpPr>
        <p:spPr/>
        <p:txBody>
          <a:bodyPr vert="horz" lIns="91440" tIns="45720" rIns="91440" bIns="45720" rtlCol="0" anchor="t">
            <a:normAutofit/>
          </a:bodyPr>
          <a:lstStyle/>
          <a:p>
            <a:r>
              <a:rPr lang="en-US">
                <a:ea typeface="Calibri"/>
                <a:cs typeface="Calibri"/>
              </a:rPr>
              <a:t>If you are studying ITM, an article about schools in Honduras is not relevant, unless it also says something about the use of computers in schools.</a:t>
            </a:r>
          </a:p>
          <a:p>
            <a:r>
              <a:rPr lang="en-US">
                <a:ea typeface="Calibri"/>
                <a:cs typeface="Calibri"/>
              </a:rPr>
              <a:t>If you are studying Business Administration, an article about growing new strains of corn is not relevant.  </a:t>
            </a:r>
          </a:p>
          <a:p>
            <a:r>
              <a:rPr lang="en-US">
                <a:ea typeface="Calibri"/>
                <a:cs typeface="Calibri"/>
              </a:rPr>
              <a:t>I may ask you to tell me why your article is relevant.</a:t>
            </a:r>
          </a:p>
          <a:p>
            <a:endParaRPr lang="en-US">
              <a:ea typeface="Calibri"/>
              <a:cs typeface="Calibri"/>
            </a:endParaRPr>
          </a:p>
          <a:p>
            <a:r>
              <a:rPr lang="en-US">
                <a:ea typeface="Calibri"/>
                <a:cs typeface="Calibri"/>
              </a:rPr>
              <a:t>It must be an article in a journal, not a book, newspaper or conference.</a:t>
            </a:r>
          </a:p>
        </p:txBody>
      </p:sp>
    </p:spTree>
    <p:extLst>
      <p:ext uri="{BB962C8B-B14F-4D97-AF65-F5344CB8AC3E}">
        <p14:creationId xmlns:p14="http://schemas.microsoft.com/office/powerpoint/2010/main" val="19010284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Solo journey">
            <a:extLst>
              <a:ext uri="{FF2B5EF4-FFF2-40B4-BE49-F238E27FC236}">
                <a16:creationId xmlns:a16="http://schemas.microsoft.com/office/drawing/2014/main" id="{C2161F6E-F7F7-DF79-2647-B563210E9BBD}"/>
              </a:ext>
            </a:extLst>
          </p:cNvPr>
          <p:cNvPicPr>
            <a:picLocks noChangeAspect="1"/>
          </p:cNvPicPr>
          <p:nvPr/>
        </p:nvPicPr>
        <p:blipFill rotWithShape="1">
          <a:blip r:embed="rId2"/>
          <a:srcRect t="9092" r="13812" b="-7"/>
          <a:stretch/>
        </p:blipFill>
        <p:spPr>
          <a:xfrm>
            <a:off x="3523488" y="10"/>
            <a:ext cx="8668512" cy="6857990"/>
          </a:xfrm>
          <a:prstGeom prst="rect">
            <a:avLst/>
          </a:prstGeom>
        </p:spPr>
      </p:pic>
      <p:sp>
        <p:nvSpPr>
          <p:cNvPr id="26" name="Rectangle 25">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45EEA1-64A7-EA98-B357-A62BD1147BF8}"/>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rPr>
              <a:t>Participation Exit Task 4  </a:t>
            </a:r>
            <a:br>
              <a:rPr lang="en-US" sz="4800"/>
            </a:br>
            <a:r>
              <a:rPr lang="en-US" sz="4800">
                <a:solidFill>
                  <a:schemeClr val="bg1"/>
                </a:solidFill>
              </a:rPr>
              <a:t>The Research Process</a:t>
            </a:r>
          </a:p>
        </p:txBody>
      </p:sp>
      <p:sp>
        <p:nvSpPr>
          <p:cNvPr id="28" name="Rectangle 2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4657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2236</Words>
  <Application>Microsoft Office PowerPoint</Application>
  <PresentationFormat>Widescreen</PresentationFormat>
  <Paragraphs>175</Paragraphs>
  <Slides>39</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Light</vt:lpstr>
      <vt:lpstr>Helvetica</vt:lpstr>
      <vt:lpstr>Times New Roman</vt:lpstr>
      <vt:lpstr>Office Theme</vt:lpstr>
      <vt:lpstr>Week 4: The Research Process   Reminder:  You have two attempts to correct your homework.</vt:lpstr>
      <vt:lpstr>Questions and Answers always on Thursdays.</vt:lpstr>
      <vt:lpstr>Homework:  Making a quotation</vt:lpstr>
      <vt:lpstr>Review of APA citation style:  </vt:lpstr>
      <vt:lpstr>Review of APA citation style:  Title of a book or journal in citations and in homework.</vt:lpstr>
      <vt:lpstr>APA References citation entry for an article</vt:lpstr>
      <vt:lpstr>Reference entry for an academic article</vt:lpstr>
      <vt:lpstr>Careful with citation generators</vt:lpstr>
      <vt:lpstr>"Quotation mark" use in APA</vt:lpstr>
      <vt:lpstr>Types of in-text citations using APA</vt:lpstr>
      <vt:lpstr>Topic Today: The Research Process</vt:lpstr>
      <vt:lpstr>The Research Process is an interactive, non-linear process that requires time and a lot of reading.</vt:lpstr>
      <vt:lpstr>Participation Entry Task 4</vt:lpstr>
      <vt:lpstr>Understanding the Assignment Instructions</vt:lpstr>
      <vt:lpstr>First step: Before looking for a topic</vt:lpstr>
      <vt:lpstr>Sample assignment instructions in syllabus:</vt:lpstr>
      <vt:lpstr>Paper Requirements in a sample syllabus</vt:lpstr>
      <vt:lpstr>2. Finding a Topic</vt:lpstr>
      <vt:lpstr>Focusing/Narrowing down your topic</vt:lpstr>
      <vt:lpstr>Brainstorm research questions for your topic:  What is the difference between confidentiality and privacy? What are the laws at state, government or international levels? How to ensure privacy of clients?</vt:lpstr>
      <vt:lpstr>NEXT identify Keywords:  The key to a more efficient search of databases.   You cannot type a question into the search box in a database.</vt:lpstr>
      <vt:lpstr>Keywords:   -subject or topic words -synonyms -limiters, such as places or dates -way to narrow down your topic and number of articles </vt:lpstr>
      <vt:lpstr>How to search Business Source Complete</vt:lpstr>
      <vt:lpstr>3. Start your research</vt:lpstr>
      <vt:lpstr>How many sources for a research or case study paper?</vt:lpstr>
      <vt:lpstr>Research Sources</vt:lpstr>
      <vt:lpstr>Academic Sources vs General Sources</vt:lpstr>
      <vt:lpstr>Homework Assignment</vt:lpstr>
      <vt:lpstr>Exploring the Library Website and Databases</vt:lpstr>
      <vt:lpstr>PowerPoint Presentation</vt:lpstr>
      <vt:lpstr>PowerPoint Presentation</vt:lpstr>
      <vt:lpstr>PowerPoint Presentation</vt:lpstr>
      <vt:lpstr>PowerPoint Presentation</vt:lpstr>
      <vt:lpstr>PowerPoint Presentation</vt:lpstr>
      <vt:lpstr>Narrowing down</vt:lpstr>
      <vt:lpstr>Example of the homework assignment:</vt:lpstr>
      <vt:lpstr>Today's Homework Assignment: Short Answers</vt:lpstr>
      <vt:lpstr>Relevant article = something you are studying</vt:lpstr>
      <vt:lpstr>Participation Exit Task 4   The Research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dc:title>
  <dc:creator>Carolyn Trachtova</dc:creator>
  <cp:lastModifiedBy>Diana Chavez</cp:lastModifiedBy>
  <cp:revision>2</cp:revision>
  <dcterms:created xsi:type="dcterms:W3CDTF">2022-07-05T19:22:45Z</dcterms:created>
  <dcterms:modified xsi:type="dcterms:W3CDTF">2024-09-10T20:48:49Z</dcterms:modified>
</cp:coreProperties>
</file>