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6858000" cy="9144000"/>
  <p:embeddedFontLst>
    <p:embeddedFont>
      <p:font typeface="Libre Franklin"/>
      <p:regular r:id="rId39"/>
      <p:bold r:id="rId40"/>
      <p:italic r:id="rId41"/>
      <p:boldItalic r:id="rId42"/>
    </p:embeddedFont>
    <p:embeddedFont>
      <p:font typeface="Libre Franklin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7" roundtripDataSignature="AMtx7miLn27XWw3XC8fj/LfAAYOQFw9/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bold.fntdata"/><Relationship Id="rId20" Type="http://schemas.openxmlformats.org/officeDocument/2006/relationships/slide" Target="slides/slide15.xml"/><Relationship Id="rId42" Type="http://schemas.openxmlformats.org/officeDocument/2006/relationships/font" Target="fonts/LibreFranklin-boldItalic.fntdata"/><Relationship Id="rId41" Type="http://schemas.openxmlformats.org/officeDocument/2006/relationships/font" Target="fonts/LibreFranklin-italic.fntdata"/><Relationship Id="rId22" Type="http://schemas.openxmlformats.org/officeDocument/2006/relationships/slide" Target="slides/slide17.xml"/><Relationship Id="rId44" Type="http://schemas.openxmlformats.org/officeDocument/2006/relationships/font" Target="fonts/LibreFranklinMedium-bold.fntdata"/><Relationship Id="rId21" Type="http://schemas.openxmlformats.org/officeDocument/2006/relationships/slide" Target="slides/slide16.xml"/><Relationship Id="rId43" Type="http://schemas.openxmlformats.org/officeDocument/2006/relationships/font" Target="fonts/LibreFranklinMedium-regular.fntdata"/><Relationship Id="rId24" Type="http://schemas.openxmlformats.org/officeDocument/2006/relationships/slide" Target="slides/slide19.xml"/><Relationship Id="rId46" Type="http://schemas.openxmlformats.org/officeDocument/2006/relationships/font" Target="fonts/LibreFranklinMedium-boldItalic.fntdata"/><Relationship Id="rId23" Type="http://schemas.openxmlformats.org/officeDocument/2006/relationships/slide" Target="slides/slide18.xml"/><Relationship Id="rId45" Type="http://schemas.openxmlformats.org/officeDocument/2006/relationships/font" Target="fonts/LibreFranklin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LibreFranklin-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 name="Google Shape;3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terms “data” and “information” are illustrated on Page 1</a:t>
            </a:r>
            <a:r>
              <a:rPr i="1" lang="en-US"/>
              <a:t> </a:t>
            </a:r>
            <a:r>
              <a:rPr lang="en-US"/>
              <a:t>by the following examples:</a:t>
            </a:r>
            <a:endParaRPr/>
          </a:p>
          <a:p>
            <a:pPr indent="-76200" lvl="0" marL="0" rtl="0" algn="l">
              <a:spcBef>
                <a:spcPts val="0"/>
              </a:spcBef>
              <a:spcAft>
                <a:spcPts val="0"/>
              </a:spcAft>
              <a:buClr>
                <a:schemeClr val="dk1"/>
              </a:buClr>
              <a:buSzPts val="1200"/>
              <a:buFont typeface="Calibri"/>
              <a:buChar char="-"/>
            </a:pPr>
            <a:r>
              <a:rPr lang="en-US"/>
              <a:t>Phone book lookup of the phone number for Pizza Adria</a:t>
            </a:r>
            <a:endParaRPr/>
          </a:p>
          <a:p>
            <a:pPr indent="-76200" lvl="0" marL="0" rtl="0" algn="l">
              <a:spcBef>
                <a:spcPts val="0"/>
              </a:spcBef>
              <a:spcAft>
                <a:spcPts val="0"/>
              </a:spcAft>
              <a:buClr>
                <a:schemeClr val="dk1"/>
              </a:buClr>
              <a:buSzPts val="1200"/>
              <a:buFont typeface="Calibri"/>
              <a:buChar char="-"/>
            </a:pPr>
            <a:r>
              <a:rPr lang="en-US"/>
              <a:t>ZAGI Retail Company manager needing information about quarterly apparel sales</a:t>
            </a:r>
            <a:endParaRPr/>
          </a:p>
          <a:p>
            <a:pPr indent="0" lvl="0" marL="0" rtl="0" algn="l">
              <a:spcBef>
                <a:spcPts val="0"/>
              </a:spcBef>
              <a:spcAft>
                <a:spcPts val="0"/>
              </a:spcAft>
              <a:buClr>
                <a:schemeClr val="dk1"/>
              </a:buClr>
              <a:buSzPts val="1200"/>
              <a:buFont typeface="Calibri"/>
              <a:buNone/>
            </a:pPr>
            <a:r>
              <a:t/>
            </a:r>
            <a:endParaRPr/>
          </a:p>
          <a:p>
            <a:pPr indent="0" lvl="1" marL="0" rtl="0" algn="l">
              <a:spcBef>
                <a:spcPts val="0"/>
              </a:spcBef>
              <a:spcAft>
                <a:spcPts val="0"/>
              </a:spcAft>
              <a:buNone/>
            </a:pPr>
            <a:r>
              <a:rPr lang="en-US"/>
              <a:t>The terms “data” and “information” are often interchanged and used as synonyms for each other (information is simply the data that we need)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Calibri"/>
              <a:buNone/>
            </a:pPr>
            <a:r>
              <a:t/>
            </a:r>
            <a:endParaRPr/>
          </a:p>
        </p:txBody>
      </p:sp>
      <p:sp>
        <p:nvSpPr>
          <p:cNvPr id="40" name="Google Shape;4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 name="Google Shape;4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 name="Google Shape;5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7" name="Google Shape;6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7" name="Google Shape;7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 name="Google Shape;8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comparison of the relationship between a DBMS and a database with the relationship between the presentation software (such as MS PowerPoint) and a presentation, is given on Pages 2-3.</a:t>
            </a:r>
            <a:endParaRPr/>
          </a:p>
        </p:txBody>
      </p:sp>
      <p:sp>
        <p:nvSpPr>
          <p:cNvPr id="88" name="Google Shape;8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7" name="Google Shape;9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7" name="Google Shape;10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example of an ATM user interacting with the DBMS by using a front-end application is described on Page 3.</a:t>
            </a:r>
            <a:endParaRPr/>
          </a:p>
        </p:txBody>
      </p:sp>
      <p:sp>
        <p:nvSpPr>
          <p:cNvPr id="108" name="Google Shape;10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discussion of indirect and direct interaction is given on Pages 3-4.</a:t>
            </a:r>
            <a:endParaRPr/>
          </a:p>
        </p:txBody>
      </p:sp>
      <p:sp>
        <p:nvSpPr>
          <p:cNvPr id="117" name="Google Shape;11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6" name="Google Shape;12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and most critical step in the development of the database.</a:t>
            </a:r>
            <a:endParaRPr/>
          </a:p>
        </p:txBody>
      </p:sp>
      <p:sp>
        <p:nvSpPr>
          <p:cNvPr id="135" name="Google Shape;13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3" name="Google Shape;14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2" name="Google Shape;15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discussion about iterative nature of the database requirements collection, definition, and visualization process is given on Page 4-5.</a:t>
            </a:r>
            <a:endParaRPr/>
          </a:p>
          <a:p>
            <a:pPr indent="0" lvl="0" marL="0" rtl="0" algn="l">
              <a:spcBef>
                <a:spcPts val="0"/>
              </a:spcBef>
              <a:spcAft>
                <a:spcPts val="0"/>
              </a:spcAft>
              <a:buNone/>
            </a:pPr>
            <a:r>
              <a:t/>
            </a:r>
            <a:endParaRPr/>
          </a:p>
        </p:txBody>
      </p:sp>
      <p:sp>
        <p:nvSpPr>
          <p:cNvPr id="153" name="Google Shape;15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2" name="Google Shape;16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2" name="Google Shape;17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database has two models:</a:t>
            </a:r>
            <a:endParaRPr/>
          </a:p>
          <a:p>
            <a:pPr indent="0" lvl="0" marL="0" rtl="0" algn="l">
              <a:spcBef>
                <a:spcPts val="0"/>
              </a:spcBef>
              <a:spcAft>
                <a:spcPts val="0"/>
              </a:spcAft>
              <a:buNone/>
            </a:pPr>
            <a:r>
              <a:rPr lang="en-US"/>
              <a:t>Conceptual model - created as a visualization of requirements during the requirements collection, definition, and visualization step and serves as a as a blueprint for the actual (logical) database model</a:t>
            </a:r>
            <a:endParaRPr/>
          </a:p>
          <a:p>
            <a:pPr indent="0" lvl="0" marL="0" rtl="0" algn="l">
              <a:spcBef>
                <a:spcPts val="0"/>
              </a:spcBef>
              <a:spcAft>
                <a:spcPts val="0"/>
              </a:spcAft>
              <a:buNone/>
            </a:pPr>
            <a:r>
              <a:rPr lang="en-US"/>
              <a:t>Logical model - actual database model, created during the database modeling step to be used in the subsequent step of database implementation using the DBMS</a:t>
            </a:r>
            <a:endParaRPr/>
          </a:p>
          <a:p>
            <a:pPr indent="0" lvl="0" marL="0" rtl="0" algn="l">
              <a:spcBef>
                <a:spcPts val="0"/>
              </a:spcBef>
              <a:spcAft>
                <a:spcPts val="0"/>
              </a:spcAft>
              <a:buNone/>
            </a:pPr>
            <a:r>
              <a:t/>
            </a:r>
            <a:endParaRPr/>
          </a:p>
        </p:txBody>
      </p:sp>
      <p:sp>
        <p:nvSpPr>
          <p:cNvPr id="173" name="Google Shape;17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1" name="Google Shape;18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SQL includes commands for creating, modifying and deleting database structures (these commands are used during database implementation).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2" name="Google Shape;19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0" name="Google Shape;20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1" name="Google Shape;201;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0" name="Google Shape;21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design and creation of front-end applications can commence and proceed in parallel with database implementation (as shown in Figure 1.5).  The actual creation of a front-end application involves connecting it to the database.  Connecting front-end application to the database can only be done once the database is implemented.</a:t>
            </a:r>
            <a:endParaRPr/>
          </a:p>
        </p:txBody>
      </p:sp>
      <p:sp>
        <p:nvSpPr>
          <p:cNvPr id="211" name="Google Shape;21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9" name="Google Shape;219;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9" name="Google Shape;22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Typically, database deployment also involves populating the implemented database with the initial set of data.</a:t>
            </a:r>
            <a:endParaRPr/>
          </a:p>
        </p:txBody>
      </p:sp>
      <p:sp>
        <p:nvSpPr>
          <p:cNvPr id="230" name="Google Shape;230;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8" name="Google Shape;23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database system can be used indirectly, via the front-end applications, or directly via the DBMS.</a:t>
            </a:r>
            <a:endParaRPr/>
          </a:p>
          <a:p>
            <a:pPr indent="0" lvl="0" marL="0" rtl="0" algn="l">
              <a:spcBef>
                <a:spcPts val="0"/>
              </a:spcBef>
              <a:spcAft>
                <a:spcPts val="0"/>
              </a:spcAft>
              <a:buNone/>
            </a:pPr>
            <a:r>
              <a:rPr lang="en-US"/>
              <a:t>SQL includes commands for insertion, modification, deletion and retrieval of the data.  These commands can be issued by front-end applications (indirect use), or directly by the end-users themselves (direct use)</a:t>
            </a:r>
            <a:endParaRPr/>
          </a:p>
          <a:p>
            <a:pPr indent="0" lvl="0" marL="0" rtl="0" algn="l">
              <a:spcBef>
                <a:spcPts val="0"/>
              </a:spcBef>
              <a:spcAft>
                <a:spcPts val="0"/>
              </a:spcAft>
              <a:buNone/>
            </a:pPr>
            <a:r>
              <a:t/>
            </a:r>
            <a:endParaRPr/>
          </a:p>
        </p:txBody>
      </p:sp>
      <p:sp>
        <p:nvSpPr>
          <p:cNvPr id="239" name="Google Shape;239;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7" name="Google Shape;24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database system can be used indirectly, via the front-end applications, or directly via the DBMS.</a:t>
            </a:r>
            <a:endParaRPr/>
          </a:p>
          <a:p>
            <a:pPr indent="0" lvl="0" marL="0" rtl="0" algn="l">
              <a:spcBef>
                <a:spcPts val="0"/>
              </a:spcBef>
              <a:spcAft>
                <a:spcPts val="0"/>
              </a:spcAft>
              <a:buNone/>
            </a:pPr>
            <a:r>
              <a:rPr lang="en-US"/>
              <a:t>SQL includes commands for insertion, modification, deletion and retrieval of the data.  These commands can be issued by front-end applications (indirect use), or directly by the end-users themselves (direct use)</a:t>
            </a:r>
            <a:endParaRPr/>
          </a:p>
          <a:p>
            <a:pPr indent="0" lvl="0" marL="0" rtl="0" algn="l">
              <a:spcBef>
                <a:spcPts val="0"/>
              </a:spcBef>
              <a:spcAft>
                <a:spcPts val="0"/>
              </a:spcAft>
              <a:buNone/>
            </a:pPr>
            <a:r>
              <a:t/>
            </a:r>
            <a:endParaRPr/>
          </a:p>
        </p:txBody>
      </p:sp>
      <p:sp>
        <p:nvSpPr>
          <p:cNvPr id="248" name="Google Shape;248;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7" name="Google Shape;25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6" name="Google Shape;26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most cases, after a certain period of use, the need for modifications and expansion of the existing database system becomes apparent, and the development of a new version of the existing database system is initiated.</a:t>
            </a:r>
            <a:endParaRPr/>
          </a:p>
        </p:txBody>
      </p:sp>
      <p:sp>
        <p:nvSpPr>
          <p:cNvPr id="267" name="Google Shape;26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5" name="Google Shape;27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difference in the scope of databases is reflected in the size, complexity and cost in time and resources required for each of the steps.</a:t>
            </a:r>
            <a:endParaRPr/>
          </a:p>
          <a:p>
            <a:pPr indent="0" lvl="0" marL="0" rtl="0" algn="l">
              <a:spcBef>
                <a:spcPts val="0"/>
              </a:spcBef>
              <a:spcAft>
                <a:spcPts val="0"/>
              </a:spcAft>
              <a:buNone/>
            </a:pPr>
            <a:r>
              <a:t/>
            </a:r>
            <a:endParaRPr/>
          </a:p>
        </p:txBody>
      </p:sp>
      <p:sp>
        <p:nvSpPr>
          <p:cNvPr id="276" name="Google Shape;27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4" name="Google Shape;28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 is not uncommon for the same people to perform more than one of these roles. In fact (especially in smaller companies and organizations), the same people may be in charge of all aspects of the database system, including the design, implementation, administration, and maintenance.</a:t>
            </a:r>
            <a:endParaRPr/>
          </a:p>
          <a:p>
            <a:pPr indent="0" lvl="0" marL="0" rtl="0" algn="l">
              <a:spcBef>
                <a:spcPts val="0"/>
              </a:spcBef>
              <a:spcAft>
                <a:spcPts val="0"/>
              </a:spcAft>
              <a:buNone/>
            </a:pPr>
            <a:r>
              <a:t/>
            </a:r>
            <a:endParaRPr/>
          </a:p>
        </p:txBody>
      </p:sp>
      <p:sp>
        <p:nvSpPr>
          <p:cNvPr id="285" name="Google Shape;28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2" name="Google Shape;30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1" name="Google Shape;31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Arguably, database end users are the most important category of people involved with database systems. They are the reason for the existence of database systems. The quality of a database system is measured by how quickly and easily it can provide the accurate and complete information needed by its end users.</a:t>
            </a:r>
            <a:endParaRPr/>
          </a:p>
        </p:txBody>
      </p:sp>
      <p:sp>
        <p:nvSpPr>
          <p:cNvPr id="312" name="Google Shape;31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0" name="Google Shape;32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Examples of operational information, operational procedures and processes, analytical information, and analytical tasks are given on Pages 10-11</a:t>
            </a:r>
            <a:endParaRPr/>
          </a:p>
        </p:txBody>
      </p:sp>
      <p:sp>
        <p:nvSpPr>
          <p:cNvPr id="321" name="Google Shape;32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9" name="Google Shape;32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CHAPTER 1: Introduction</a:t>
            </a:r>
            <a:endParaRPr/>
          </a:p>
          <a:p>
            <a:pPr indent="0" lvl="0" marL="0" rtl="0" algn="l">
              <a:spcBef>
                <a:spcPts val="0"/>
              </a:spcBef>
              <a:spcAft>
                <a:spcPts val="0"/>
              </a:spcAft>
              <a:buNone/>
            </a:pPr>
            <a:r>
              <a:rPr lang="en-US"/>
              <a:t>CHAPTERS 2-6: Operational databases</a:t>
            </a:r>
            <a:endParaRPr/>
          </a:p>
          <a:p>
            <a:pPr indent="0" lvl="0" marL="0" rtl="0" algn="l">
              <a:spcBef>
                <a:spcPts val="0"/>
              </a:spcBef>
              <a:spcAft>
                <a:spcPts val="0"/>
              </a:spcAft>
              <a:buNone/>
            </a:pPr>
            <a:r>
              <a:rPr lang="en-US"/>
              <a:t>CHAPTERS 7-10: Analytical databases</a:t>
            </a:r>
            <a:endParaRPr/>
          </a:p>
          <a:p>
            <a:pPr indent="0" lvl="0" marL="0" rtl="0" algn="l">
              <a:spcBef>
                <a:spcPts val="0"/>
              </a:spcBef>
              <a:spcAft>
                <a:spcPts val="0"/>
              </a:spcAft>
              <a:buNone/>
            </a:pPr>
            <a:r>
              <a:rPr lang="en-US"/>
              <a:t>CHAPTER 11: Relational DBMS (the relational database model is the basis for the contemporary DBMS software packages that are used to implement the majority of today’s operational and analytical corporate databases) and database administration</a:t>
            </a:r>
            <a:endParaRPr/>
          </a:p>
        </p:txBody>
      </p:sp>
      <p:sp>
        <p:nvSpPr>
          <p:cNvPr id="330" name="Google Shape;33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2">
            <a:alpha val="89803"/>
          </a:schemeClr>
        </a:solidFill>
      </p:bgPr>
    </p:bg>
    <p:spTree>
      <p:nvGrpSpPr>
        <p:cNvPr id="18" name="Shape 18"/>
        <p:cNvGrpSpPr/>
        <p:nvPr/>
      </p:nvGrpSpPr>
      <p:grpSpPr>
        <a:xfrm>
          <a:off x="0" y="0"/>
          <a:ext cx="0" cy="0"/>
          <a:chOff x="0" y="0"/>
          <a:chExt cx="0" cy="0"/>
        </a:xfrm>
      </p:grpSpPr>
      <p:cxnSp>
        <p:nvCxnSpPr>
          <p:cNvPr id="19" name="Google Shape;19;p35"/>
          <p:cNvCxnSpPr/>
          <p:nvPr/>
        </p:nvCxnSpPr>
        <p:spPr>
          <a:xfrm>
            <a:off x="514350" y="5349902"/>
            <a:ext cx="8629650" cy="2381"/>
          </a:xfrm>
          <a:prstGeom prst="straightConnector1">
            <a:avLst/>
          </a:prstGeom>
          <a:noFill/>
          <a:ln cap="flat" cmpd="sng" w="9525">
            <a:solidFill>
              <a:schemeClr val="accent1"/>
            </a:solidFill>
            <a:prstDash val="solid"/>
            <a:round/>
            <a:headEnd len="sm" w="sm" type="none"/>
            <a:tailEnd len="sm" w="sm" type="none"/>
          </a:ln>
        </p:spPr>
      </p:cxnSp>
      <p:sp>
        <p:nvSpPr>
          <p:cNvPr id="20" name="Google Shape;20;p35"/>
          <p:cNvSpPr txBox="1"/>
          <p:nvPr>
            <p:ph idx="1" type="subTitle"/>
          </p:nvPr>
        </p:nvSpPr>
        <p:spPr>
          <a:xfrm>
            <a:off x="381000" y="3886200"/>
            <a:ext cx="8458200" cy="914400"/>
          </a:xfrm>
          <a:prstGeom prst="rect">
            <a:avLst/>
          </a:prstGeom>
          <a:noFill/>
          <a:ln>
            <a:noFill/>
          </a:ln>
        </p:spPr>
        <p:txBody>
          <a:bodyPr anchorCtr="0" anchor="b" bIns="45700" lIns="91425" spcFirstLastPara="1" rIns="91425" wrap="square" tIns="45700">
            <a:noAutofit/>
          </a:bodyPr>
          <a:lstStyle>
            <a:lvl1pPr lvl="0" algn="l">
              <a:spcBef>
                <a:spcPts val="480"/>
              </a:spcBef>
              <a:spcAft>
                <a:spcPts val="0"/>
              </a:spcAft>
              <a:buSzPts val="1680"/>
              <a:buNone/>
              <a:defRPr sz="2400">
                <a:solidFill>
                  <a:srgbClr val="302E3C"/>
                </a:solidFill>
              </a:defRPr>
            </a:lvl1pPr>
            <a:lvl2pPr lvl="1" algn="ctr">
              <a:spcBef>
                <a:spcPts val="360"/>
              </a:spcBef>
              <a:spcAft>
                <a:spcPts val="0"/>
              </a:spcAft>
              <a:buSzPts val="1260"/>
              <a:buNone/>
              <a:defRPr/>
            </a:lvl2pPr>
            <a:lvl3pPr lvl="2" algn="ctr">
              <a:spcBef>
                <a:spcPts val="360"/>
              </a:spcBef>
              <a:spcAft>
                <a:spcPts val="0"/>
              </a:spcAft>
              <a:buSzPts val="1260"/>
              <a:buNone/>
              <a:defRPr/>
            </a:lvl3pPr>
            <a:lvl4pPr lvl="3" algn="ctr">
              <a:spcBef>
                <a:spcPts val="360"/>
              </a:spcBef>
              <a:spcAft>
                <a:spcPts val="0"/>
              </a:spcAft>
              <a:buSzPts val="1260"/>
              <a:buNone/>
              <a:defRPr/>
            </a:lvl4pPr>
            <a:lvl5pPr lvl="4" algn="ctr">
              <a:spcBef>
                <a:spcPts val="360"/>
              </a:spcBef>
              <a:spcAft>
                <a:spcPts val="0"/>
              </a:spcAft>
              <a:buSzPts val="1080"/>
              <a:buNone/>
              <a:defRPr/>
            </a:lvl5pPr>
            <a:lvl6pPr lvl="5" algn="ctr">
              <a:spcBef>
                <a:spcPts val="360"/>
              </a:spcBef>
              <a:spcAft>
                <a:spcPts val="0"/>
              </a:spcAft>
              <a:buSzPts val="1080"/>
              <a:buNone/>
              <a:defRPr/>
            </a:lvl6pPr>
            <a:lvl7pPr lvl="6" algn="ctr">
              <a:spcBef>
                <a:spcPts val="360"/>
              </a:spcBef>
              <a:spcAft>
                <a:spcPts val="0"/>
              </a:spcAft>
              <a:buSzPts val="1080"/>
              <a:buNone/>
              <a:defRPr/>
            </a:lvl7pPr>
            <a:lvl8pPr lvl="7" algn="ctr">
              <a:spcBef>
                <a:spcPts val="360"/>
              </a:spcBef>
              <a:spcAft>
                <a:spcPts val="0"/>
              </a:spcAft>
              <a:buSzPts val="1080"/>
              <a:buNone/>
              <a:defRPr/>
            </a:lvl8pPr>
            <a:lvl9pPr lvl="8" algn="ctr">
              <a:spcBef>
                <a:spcPts val="360"/>
              </a:spcBef>
              <a:spcAft>
                <a:spcPts val="0"/>
              </a:spcAft>
              <a:buSzPts val="1080"/>
              <a:buNone/>
              <a:defRPr/>
            </a:lvl9pPr>
          </a:lstStyle>
          <a:p/>
        </p:txBody>
      </p:sp>
      <p:sp>
        <p:nvSpPr>
          <p:cNvPr id="21" name="Google Shape;21;p35"/>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5"/>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1pPr>
            <a:lvl2pPr indent="0" lvl="1"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2pPr>
            <a:lvl3pPr indent="0" lvl="2"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3pPr>
            <a:lvl4pPr indent="0" lvl="3"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4pPr>
            <a:lvl5pPr indent="0" lvl="4"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5pPr>
            <a:lvl6pPr indent="0" lvl="5"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6pPr>
            <a:lvl7pPr indent="0" lvl="6"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7pPr>
            <a:lvl8pPr indent="0" lvl="7"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8pPr>
            <a:lvl9pPr indent="0" lvl="8"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9pPr>
          </a:lstStyle>
          <a:p>
            <a:pPr indent="0" lvl="0" marL="0" rtl="0" algn="r">
              <a:spcBef>
                <a:spcPts val="0"/>
              </a:spcBef>
              <a:spcAft>
                <a:spcPts val="0"/>
              </a:spcAft>
              <a:buNone/>
            </a:pPr>
            <a:r>
              <a:rPr lang="en-US"/>
              <a:t>Chapter 1 – Slide  </a:t>
            </a:r>
            <a:fld id="{00000000-1234-1234-1234-123412341234}" type="slidenum">
              <a:rPr b="1" lang="en-US"/>
              <a:t>‹#›</a:t>
            </a:fld>
            <a:endParaRPr b="1"/>
          </a:p>
        </p:txBody>
      </p:sp>
      <p:sp>
        <p:nvSpPr>
          <p:cNvPr id="23" name="Google Shape;23;p35"/>
          <p:cNvSpPr txBox="1"/>
          <p:nvPr>
            <p:ph idx="11" type="ftr"/>
          </p:nvPr>
        </p:nvSpPr>
        <p:spPr>
          <a:xfrm>
            <a:off x="0" y="6629400"/>
            <a:ext cx="42672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i="1" sz="900">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2">
            <a:alpha val="89803"/>
          </a:schemeClr>
        </a:solidFill>
      </p:bgPr>
    </p:bg>
    <p:spTree>
      <p:nvGrpSpPr>
        <p:cNvPr id="24" name="Shape 24"/>
        <p:cNvGrpSpPr/>
        <p:nvPr/>
      </p:nvGrpSpPr>
      <p:grpSpPr>
        <a:xfrm>
          <a:off x="0" y="0"/>
          <a:ext cx="0" cy="0"/>
          <a:chOff x="0" y="0"/>
          <a:chExt cx="0" cy="0"/>
        </a:xfrm>
      </p:grpSpPr>
      <p:sp>
        <p:nvSpPr>
          <p:cNvPr id="25" name="Google Shape;25;p36"/>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sz="3200" cap="none">
                <a:solidFill>
                  <a:schemeClr val="dk2"/>
                </a:solidFill>
                <a:latin typeface="Libre Franklin Medium"/>
                <a:ea typeface="Libre Franklin Medium"/>
                <a:cs typeface="Libre Franklin Medium"/>
                <a:sym typeface="Libre Franklin Medium"/>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lvl1pPr indent="-365760" lvl="0" marL="457200" algn="l">
              <a:spcBef>
                <a:spcPts val="480"/>
              </a:spcBef>
              <a:spcAft>
                <a:spcPts val="0"/>
              </a:spcAft>
              <a:buClr>
                <a:schemeClr val="dk2"/>
              </a:buClr>
              <a:buSzPts val="2160"/>
              <a:buFont typeface="Noto Sans Symbols"/>
              <a:buChar char="▪"/>
              <a:defRPr sz="2400"/>
            </a:lvl1pPr>
            <a:lvl2pPr indent="-342900" lvl="1" marL="914400" algn="l">
              <a:spcBef>
                <a:spcPts val="400"/>
              </a:spcBef>
              <a:spcAft>
                <a:spcPts val="0"/>
              </a:spcAft>
              <a:buClr>
                <a:schemeClr val="dk2"/>
              </a:buClr>
              <a:buSzPts val="1800"/>
              <a:buFont typeface="Arial"/>
              <a:buChar char="•"/>
              <a:defRPr sz="2000"/>
            </a:lvl2pPr>
            <a:lvl3pPr indent="-297180" lvl="2" marL="1371600" algn="l">
              <a:spcBef>
                <a:spcPts val="360"/>
              </a:spcBef>
              <a:spcAft>
                <a:spcPts val="0"/>
              </a:spcAft>
              <a:buClr>
                <a:schemeClr val="dk2"/>
              </a:buClr>
              <a:buSzPts val="1080"/>
              <a:buFont typeface="Courier New"/>
              <a:buChar char="o"/>
              <a:defRPr sz="1800"/>
            </a:lvl3pPr>
            <a:lvl4pPr indent="-279400" lvl="3" marL="1828800" algn="l">
              <a:spcBef>
                <a:spcPts val="320"/>
              </a:spcBef>
              <a:spcAft>
                <a:spcPts val="0"/>
              </a:spcAft>
              <a:buClr>
                <a:schemeClr val="dk2"/>
              </a:buClr>
              <a:buSzPts val="800"/>
              <a:buChar char="🞲"/>
              <a:defRPr sz="1600"/>
            </a:lvl4pPr>
            <a:lvl5pPr indent="-264160" lvl="4" marL="2286000" algn="l">
              <a:spcBef>
                <a:spcPts val="280"/>
              </a:spcBef>
              <a:spcAft>
                <a:spcPts val="0"/>
              </a:spcAft>
              <a:buClr>
                <a:schemeClr val="dk2"/>
              </a:buClr>
              <a:buSzPts val="560"/>
              <a:buFont typeface="Noto Sans Symbols"/>
              <a:buChar char="❖"/>
              <a:defRPr sz="1400"/>
            </a:lvl5pPr>
            <a:lvl6pPr indent="-297179" lvl="5" marL="2743200" algn="l">
              <a:spcBef>
                <a:spcPts val="360"/>
              </a:spcBef>
              <a:spcAft>
                <a:spcPts val="0"/>
              </a:spcAft>
              <a:buSzPts val="1080"/>
              <a:buChar char="🞤"/>
              <a:defRPr/>
            </a:lvl6pPr>
            <a:lvl7pPr indent="-297179" lvl="6" marL="3200400" algn="l">
              <a:spcBef>
                <a:spcPts val="360"/>
              </a:spcBef>
              <a:spcAft>
                <a:spcPts val="0"/>
              </a:spcAft>
              <a:buSzPts val="1080"/>
              <a:buChar char="🞲"/>
              <a:defRPr/>
            </a:lvl7pPr>
            <a:lvl8pPr indent="-297179" lvl="7" marL="3657600" algn="l">
              <a:spcBef>
                <a:spcPts val="360"/>
              </a:spcBef>
              <a:spcAft>
                <a:spcPts val="0"/>
              </a:spcAft>
              <a:buSzPts val="1080"/>
              <a:buChar char="◆"/>
              <a:defRPr/>
            </a:lvl8pPr>
            <a:lvl9pPr indent="-297179" lvl="8" marL="4114800" algn="l">
              <a:spcBef>
                <a:spcPts val="360"/>
              </a:spcBef>
              <a:spcAft>
                <a:spcPts val="0"/>
              </a:spcAft>
              <a:buSzPts val="1080"/>
              <a:buChar char="◼"/>
              <a:defRPr/>
            </a:lvl9pPr>
          </a:lstStyle>
          <a:p/>
        </p:txBody>
      </p:sp>
      <p:sp>
        <p:nvSpPr>
          <p:cNvPr id="27" name="Google Shape;27;p36"/>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1pPr>
            <a:lvl2pPr indent="0" lvl="1"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2pPr>
            <a:lvl3pPr indent="0" lvl="2"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3pPr>
            <a:lvl4pPr indent="0" lvl="3"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4pPr>
            <a:lvl5pPr indent="0" lvl="4"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5pPr>
            <a:lvl6pPr indent="0" lvl="5"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6pPr>
            <a:lvl7pPr indent="0" lvl="6"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7pPr>
            <a:lvl8pPr indent="0" lvl="7"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8pPr>
            <a:lvl9pPr indent="0" lvl="8" marL="0" marR="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9pPr>
          </a:lstStyle>
          <a:p>
            <a:pPr indent="0" lvl="0" marL="0" rtl="0" algn="r">
              <a:spcBef>
                <a:spcPts val="0"/>
              </a:spcBef>
              <a:spcAft>
                <a:spcPts val="0"/>
              </a:spcAft>
              <a:buNone/>
            </a:pPr>
            <a:r>
              <a:rPr lang="en-US"/>
              <a:t>Chapter 1 – Slide  </a:t>
            </a:r>
            <a:fld id="{00000000-1234-1234-1234-123412341234}" type="slidenum">
              <a:rPr b="1" lang="en-US"/>
              <a:t>‹#›</a:t>
            </a:fld>
            <a:endParaRPr b="1"/>
          </a:p>
        </p:txBody>
      </p:sp>
      <p:sp>
        <p:nvSpPr>
          <p:cNvPr id="28" name="Google Shape;28;p36"/>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i="1" sz="900">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alpha val="89803"/>
          </a:schemeClr>
        </a:solidFill>
      </p:bgPr>
    </p:bg>
    <p:spTree>
      <p:nvGrpSpPr>
        <p:cNvPr id="9" name="Shape 9"/>
        <p:cNvGrpSpPr/>
        <p:nvPr/>
      </p:nvGrpSpPr>
      <p:grpSpPr>
        <a:xfrm>
          <a:off x="0" y="0"/>
          <a:ext cx="0" cy="0"/>
          <a:chOff x="0" y="0"/>
          <a:chExt cx="0" cy="0"/>
        </a:xfrm>
      </p:grpSpPr>
      <p:cxnSp>
        <p:nvCxnSpPr>
          <p:cNvPr id="10" name="Google Shape;10;p34"/>
          <p:cNvCxnSpPr/>
          <p:nvPr/>
        </p:nvCxnSpPr>
        <p:spPr>
          <a:xfrm>
            <a:off x="514350" y="1050898"/>
            <a:ext cx="8629650" cy="2381"/>
          </a:xfrm>
          <a:prstGeom prst="straightConnector1">
            <a:avLst/>
          </a:prstGeom>
          <a:noFill/>
          <a:ln cap="flat" cmpd="sng" w="9525">
            <a:solidFill>
              <a:schemeClr val="accent1"/>
            </a:solidFill>
            <a:prstDash val="solid"/>
            <a:round/>
            <a:headEnd len="sm" w="sm" type="none"/>
            <a:tailEnd len="sm" w="sm" type="none"/>
          </a:ln>
        </p:spPr>
      </p:cxnSp>
      <p:sp>
        <p:nvSpPr>
          <p:cNvPr id="11" name="Google Shape;11;p34"/>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accent1"/>
              </a:buClr>
              <a:buSzPts val="1680"/>
              <a:buFont typeface="Noto Sans Symbols"/>
              <a:buChar char="🞭"/>
              <a:defRPr b="0" i="0" sz="2400" u="none" cap="none" strike="noStrike">
                <a:solidFill>
                  <a:schemeClr val="dk2"/>
                </a:solidFill>
                <a:latin typeface="Libre Franklin"/>
                <a:ea typeface="Libre Franklin"/>
                <a:cs typeface="Libre Franklin"/>
                <a:sym typeface="Libre Franklin"/>
              </a:defRPr>
            </a:lvl1pPr>
            <a:lvl2pPr indent="-317500" lvl="1" marL="914400" marR="0" rtl="0" algn="l">
              <a:spcBef>
                <a:spcPts val="400"/>
              </a:spcBef>
              <a:spcAft>
                <a:spcPts val="0"/>
              </a:spcAft>
              <a:buClr>
                <a:schemeClr val="accent1"/>
              </a:buClr>
              <a:buSzPts val="1400"/>
              <a:buFont typeface="Noto Sans Symbols"/>
              <a:buChar char="🞤"/>
              <a:defRPr b="0" i="0" sz="2000" u="none" cap="none" strike="noStrike">
                <a:solidFill>
                  <a:schemeClr val="dk2"/>
                </a:solidFill>
                <a:latin typeface="Libre Franklin"/>
                <a:ea typeface="Libre Franklin"/>
                <a:cs typeface="Libre Franklin"/>
                <a:sym typeface="Libre Franklin"/>
              </a:defRPr>
            </a:lvl2pPr>
            <a:lvl3pPr indent="-308610" lvl="2" marL="1371600" marR="0" rtl="0" algn="l">
              <a:spcBef>
                <a:spcPts val="360"/>
              </a:spcBef>
              <a:spcAft>
                <a:spcPts val="0"/>
              </a:spcAft>
              <a:buClr>
                <a:schemeClr val="accent1"/>
              </a:buClr>
              <a:buSzPts val="1260"/>
              <a:buFont typeface="Noto Sans Symbols"/>
              <a:buChar char="🞫"/>
              <a:defRPr b="0" i="0" sz="1800" u="none" cap="none" strike="noStrike">
                <a:solidFill>
                  <a:schemeClr val="dk2"/>
                </a:solidFill>
                <a:latin typeface="Libre Franklin"/>
                <a:ea typeface="Libre Franklin"/>
                <a:cs typeface="Libre Franklin"/>
                <a:sym typeface="Libre Franklin"/>
              </a:defRPr>
            </a:lvl3pPr>
            <a:lvl4pPr indent="-299719" lvl="3" marL="1828800" marR="0" rtl="0" algn="l">
              <a:spcBef>
                <a:spcPts val="320"/>
              </a:spcBef>
              <a:spcAft>
                <a:spcPts val="0"/>
              </a:spcAft>
              <a:buClr>
                <a:schemeClr val="accent1"/>
              </a:buClr>
              <a:buSzPts val="1120"/>
              <a:buFont typeface="Noto Sans Symbols"/>
              <a:buChar char="🞲"/>
              <a:defRPr b="0" i="0" sz="1600" u="none" cap="none" strike="noStrike">
                <a:solidFill>
                  <a:schemeClr val="dk2"/>
                </a:solidFill>
                <a:latin typeface="Libre Franklin"/>
                <a:ea typeface="Libre Franklin"/>
                <a:cs typeface="Libre Franklin"/>
                <a:sym typeface="Libre Franklin"/>
              </a:defRPr>
            </a:lvl4pPr>
            <a:lvl5pPr indent="-281939" lvl="4" marL="2286000" marR="0" rtl="0" algn="l">
              <a:spcBef>
                <a:spcPts val="280"/>
              </a:spcBef>
              <a:spcAft>
                <a:spcPts val="0"/>
              </a:spcAft>
              <a:buClr>
                <a:schemeClr val="accent1"/>
              </a:buClr>
              <a:buSzPts val="840"/>
              <a:buFont typeface="Noto Sans Symbols"/>
              <a:buChar char="🞩"/>
              <a:defRPr b="0" i="0" sz="1400" u="none" cap="none" strike="noStrike">
                <a:solidFill>
                  <a:schemeClr val="dk2"/>
                </a:solidFill>
                <a:latin typeface="Libre Franklin"/>
                <a:ea typeface="Libre Franklin"/>
                <a:cs typeface="Libre Franklin"/>
                <a:sym typeface="Libre Franklin"/>
              </a:defRPr>
            </a:lvl5pPr>
            <a:lvl6pPr indent="-297179" lvl="5" marL="2743200" marR="0" rtl="0" algn="l">
              <a:spcBef>
                <a:spcPts val="360"/>
              </a:spcBef>
              <a:spcAft>
                <a:spcPts val="0"/>
              </a:spcAft>
              <a:buClr>
                <a:schemeClr val="accent1"/>
              </a:buClr>
              <a:buSzPts val="1080"/>
              <a:buFont typeface="Noto Sans Symbols"/>
              <a:buChar char="🞤"/>
              <a:defRPr b="0" i="0" sz="1800" u="none" cap="none" strike="noStrike">
                <a:solidFill>
                  <a:schemeClr val="dk2"/>
                </a:solidFill>
                <a:latin typeface="Libre Franklin"/>
                <a:ea typeface="Libre Franklin"/>
                <a:cs typeface="Libre Franklin"/>
                <a:sym typeface="Libre Franklin"/>
              </a:defRPr>
            </a:lvl6pPr>
            <a:lvl7pPr indent="-289560" lvl="6" marL="3200400" marR="0" rtl="0" algn="l">
              <a:spcBef>
                <a:spcPts val="320"/>
              </a:spcBef>
              <a:spcAft>
                <a:spcPts val="0"/>
              </a:spcAft>
              <a:buClr>
                <a:schemeClr val="accent1"/>
              </a:buClr>
              <a:buSzPts val="960"/>
              <a:buFont typeface="Noto Sans Symbols"/>
              <a:buChar char="🞲"/>
              <a:defRPr b="0" i="0" sz="1600" u="none" cap="none" strike="noStrike">
                <a:solidFill>
                  <a:schemeClr val="dk2"/>
                </a:solidFill>
                <a:latin typeface="Libre Franklin"/>
                <a:ea typeface="Libre Franklin"/>
                <a:cs typeface="Libre Franklin"/>
                <a:sym typeface="Libre Franklin"/>
              </a:defRPr>
            </a:lvl7pPr>
            <a:lvl8pPr indent="-289559" lvl="7" marL="3657600" marR="0" rtl="0" algn="l">
              <a:spcBef>
                <a:spcPts val="320"/>
              </a:spcBef>
              <a:spcAft>
                <a:spcPts val="0"/>
              </a:spcAft>
              <a:buClr>
                <a:schemeClr val="accent1"/>
              </a:buClr>
              <a:buSzPts val="960"/>
              <a:buFont typeface="Noto Sans Symbols"/>
              <a:buChar char="◆"/>
              <a:defRPr b="0" i="0" sz="1600" u="none" cap="none" strike="noStrike">
                <a:solidFill>
                  <a:schemeClr val="dk2"/>
                </a:solidFill>
                <a:latin typeface="Libre Franklin"/>
                <a:ea typeface="Libre Franklin"/>
                <a:cs typeface="Libre Franklin"/>
                <a:sym typeface="Libre Franklin"/>
              </a:defRPr>
            </a:lvl8pPr>
            <a:lvl9pPr indent="-281940" lvl="8" marL="4114800" marR="0" rtl="0" algn="l">
              <a:spcBef>
                <a:spcPts val="280"/>
              </a:spcBef>
              <a:spcAft>
                <a:spcPts val="0"/>
              </a:spcAft>
              <a:buClr>
                <a:schemeClr val="accent1"/>
              </a:buClr>
              <a:buSzPts val="840"/>
              <a:buFont typeface="Noto Sans Symbols"/>
              <a:buChar char="◼"/>
              <a:defRPr b="0" i="0" sz="1400" u="none" cap="none" strike="noStrike">
                <a:solidFill>
                  <a:schemeClr val="dk2"/>
                </a:solidFill>
                <a:latin typeface="Libre Franklin"/>
                <a:ea typeface="Libre Franklin"/>
                <a:cs typeface="Libre Franklin"/>
                <a:sym typeface="Libre Franklin"/>
              </a:defRPr>
            </a:lvl9pPr>
          </a:lstStyle>
          <a:p/>
        </p:txBody>
      </p:sp>
      <p:sp>
        <p:nvSpPr>
          <p:cNvPr id="12" name="Google Shape;12;p34"/>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3200" u="none" cap="none" strike="noStrike">
                <a:solidFill>
                  <a:schemeClr val="dk2"/>
                </a:solidFill>
                <a:latin typeface="Libre Franklin Medium"/>
                <a:ea typeface="Libre Franklin Medium"/>
                <a:cs typeface="Libre Franklin Medium"/>
                <a:sym typeface="Libre Franklin Medium"/>
              </a:defRPr>
            </a:lvl9pPr>
          </a:lstStyle>
          <a:p/>
        </p:txBody>
      </p:sp>
      <p:cxnSp>
        <p:nvCxnSpPr>
          <p:cNvPr id="13" name="Google Shape;13;p34"/>
          <p:cNvCxnSpPr/>
          <p:nvPr/>
        </p:nvCxnSpPr>
        <p:spPr>
          <a:xfrm>
            <a:off x="514350" y="1050898"/>
            <a:ext cx="8629650" cy="2381"/>
          </a:xfrm>
          <a:prstGeom prst="straightConnector1">
            <a:avLst/>
          </a:prstGeom>
          <a:noFill/>
          <a:ln cap="flat" cmpd="sng" w="9525">
            <a:solidFill>
              <a:schemeClr val="accent1"/>
            </a:solidFill>
            <a:prstDash val="solid"/>
            <a:round/>
            <a:headEnd len="sm" w="sm" type="none"/>
            <a:tailEnd len="sm" w="sm" type="none"/>
          </a:ln>
        </p:spPr>
      </p:cxnSp>
      <p:cxnSp>
        <p:nvCxnSpPr>
          <p:cNvPr id="14" name="Google Shape;14;p34"/>
          <p:cNvCxnSpPr/>
          <p:nvPr/>
        </p:nvCxnSpPr>
        <p:spPr>
          <a:xfrm>
            <a:off x="514350" y="1057986"/>
            <a:ext cx="8629650" cy="2381"/>
          </a:xfrm>
          <a:prstGeom prst="straightConnector1">
            <a:avLst/>
          </a:prstGeom>
          <a:noFill/>
          <a:ln cap="flat" cmpd="sng" w="9525">
            <a:solidFill>
              <a:schemeClr val="accent1"/>
            </a:solidFill>
            <a:prstDash val="solid"/>
            <a:round/>
            <a:headEnd len="sm" w="sm" type="none"/>
            <a:tailEnd len="sm" w="sm" type="none"/>
          </a:ln>
        </p:spPr>
      </p:cxnSp>
      <p:sp>
        <p:nvSpPr>
          <p:cNvPr id="15" name="Google Shape;15;p34"/>
          <p:cNvSpPr txBox="1"/>
          <p:nvPr>
            <p:ph idx="11" type="ftr"/>
          </p:nvPr>
        </p:nvSpPr>
        <p:spPr>
          <a:xfrm>
            <a:off x="0" y="6629400"/>
            <a:ext cx="2895600" cy="228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1" sz="9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4"/>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1pPr>
            <a:lvl2pPr indent="0" lvl="1"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2pPr>
            <a:lvl3pPr indent="0" lvl="2"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3pPr>
            <a:lvl4pPr indent="0" lvl="3"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4pPr>
            <a:lvl5pPr indent="0" lvl="4"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5pPr>
            <a:lvl6pPr indent="0" lvl="5"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6pPr>
            <a:lvl7pPr indent="0" lvl="6"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7pPr>
            <a:lvl8pPr indent="0" lvl="7"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8pPr>
            <a:lvl9pPr indent="0" lvl="8" marL="0" marR="0" rtl="0" algn="r">
              <a:spcBef>
                <a:spcPts val="0"/>
              </a:spcBef>
              <a:spcAft>
                <a:spcPts val="0"/>
              </a:spcAft>
              <a:buNone/>
              <a:defRPr b="0" i="0" sz="900" u="none" cap="none" strike="noStrike">
                <a:solidFill>
                  <a:schemeClr val="dk1"/>
                </a:solidFill>
                <a:latin typeface="Libre Franklin"/>
                <a:ea typeface="Libre Franklin"/>
                <a:cs typeface="Libre Franklin"/>
                <a:sym typeface="Libre Franklin"/>
              </a:defRPr>
            </a:lvl9pPr>
          </a:lstStyle>
          <a:p>
            <a:pPr indent="0" lvl="0" marL="0" rtl="0" algn="r">
              <a:spcBef>
                <a:spcPts val="0"/>
              </a:spcBef>
              <a:spcAft>
                <a:spcPts val="0"/>
              </a:spcAft>
              <a:buNone/>
            </a:pPr>
            <a:r>
              <a:rPr lang="en-US"/>
              <a:t>Chapter 1 – Slide  </a:t>
            </a:r>
            <a:fld id="{00000000-1234-1234-1234-123412341234}" type="slidenum">
              <a:rPr b="1" lang="en-US"/>
              <a:t>‹#›</a:t>
            </a:fld>
            <a:endParaRPr b="1"/>
          </a:p>
        </p:txBody>
      </p:sp>
      <p:sp>
        <p:nvSpPr>
          <p:cNvPr id="17" name="Google Shape;17;p34"/>
          <p:cNvSpPr txBox="1"/>
          <p:nvPr/>
        </p:nvSpPr>
        <p:spPr>
          <a:xfrm>
            <a:off x="342900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chemeClr val="dk1"/>
                </a:solidFill>
                <a:latin typeface="Libre Franklin"/>
                <a:ea typeface="Libre Franklin"/>
                <a:cs typeface="Libre Franklin"/>
                <a:sym typeface="Libre Franklin"/>
              </a:rPr>
              <a:t>Copyright (c) 2020 Nenad Jukic and Prospect Press</a:t>
            </a:r>
            <a:endParaRPr b="0" i="1" sz="900" u="none" cap="none" strike="noStrike">
              <a:solidFill>
                <a:schemeClr val="dk1"/>
              </a:solidFill>
              <a:latin typeface="Libre Franklin"/>
              <a:ea typeface="Libre Franklin"/>
              <a:cs typeface="Libre Franklin"/>
              <a:sym typeface="Libre Frankli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1"/>
          <p:cNvSpPr txBox="1"/>
          <p:nvPr>
            <p:ph idx="4294967295" type="ctrTitle"/>
          </p:nvPr>
        </p:nvSpPr>
        <p:spPr>
          <a:xfrm>
            <a:off x="342900" y="5355939"/>
            <a:ext cx="8458200" cy="1222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0" i="0" lang="en-US" sz="3200" u="none" cap="none" strike="noStrike">
                <a:solidFill>
                  <a:schemeClr val="dk2"/>
                </a:solidFill>
                <a:latin typeface="Libre Franklin Medium"/>
                <a:ea typeface="Libre Franklin Medium"/>
                <a:cs typeface="Libre Franklin Medium"/>
                <a:sym typeface="Libre Franklin Medium"/>
              </a:rPr>
              <a:t>CHAPTER 1 - Introduction</a:t>
            </a:r>
            <a:endParaRPr/>
          </a:p>
        </p:txBody>
      </p:sp>
      <p:pic>
        <p:nvPicPr>
          <p:cNvPr id="35" name="Google Shape;35;p1"/>
          <p:cNvPicPr preferRelativeResize="0"/>
          <p:nvPr/>
        </p:nvPicPr>
        <p:blipFill rotWithShape="1">
          <a:blip r:embed="rId3">
            <a:alphaModFix/>
          </a:blip>
          <a:srcRect b="0" l="0" r="0" t="0"/>
          <a:stretch/>
        </p:blipFill>
        <p:spPr>
          <a:xfrm>
            <a:off x="2411970" y="0"/>
            <a:ext cx="4206240" cy="5355939"/>
          </a:xfrm>
          <a:prstGeom prst="rect">
            <a:avLst/>
          </a:prstGeom>
          <a:noFill/>
          <a:ln>
            <a:noFill/>
          </a:ln>
        </p:spPr>
      </p:pic>
      <p:sp>
        <p:nvSpPr>
          <p:cNvPr id="36" name="Google Shape;36;p1"/>
          <p:cNvSpPr txBox="1"/>
          <p:nvPr/>
        </p:nvSpPr>
        <p:spPr>
          <a:xfrm>
            <a:off x="0" y="0"/>
            <a:ext cx="241197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u="none" cap="none" strike="noStrike">
                <a:solidFill>
                  <a:schemeClr val="dk2"/>
                </a:solidFill>
                <a:latin typeface="Libre Franklin Medium"/>
                <a:ea typeface="Libre Franklin Medium"/>
                <a:cs typeface="Libre Franklin Medium"/>
                <a:sym typeface="Libre Franklin Medium"/>
              </a:rPr>
              <a:t>For exclusive use with: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2"/>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43" name="Google Shape;43;p2"/>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a:t>
            </a:r>
            <a:r>
              <a:rPr lang="en-US"/>
              <a:t> - facts that are recorded and can be accessed</a:t>
            </a:r>
            <a:endParaRPr/>
          </a:p>
          <a:p>
            <a:pPr indent="-285750" lvl="1" marL="742950" rtl="0" algn="l">
              <a:spcBef>
                <a:spcPts val="400"/>
              </a:spcBef>
              <a:spcAft>
                <a:spcPts val="0"/>
              </a:spcAft>
              <a:buSzPts val="1800"/>
              <a:buChar char="•"/>
            </a:pPr>
            <a:r>
              <a:rPr lang="en-US"/>
              <a:t>Data formats – text, numbers, figures, graphics, images, audio/video recordings and more</a:t>
            </a:r>
            <a:endParaRPr/>
          </a:p>
          <a:p>
            <a:pPr indent="-285750" lvl="1" marL="742950" rtl="0" algn="l">
              <a:spcBef>
                <a:spcPts val="400"/>
              </a:spcBef>
              <a:spcAft>
                <a:spcPts val="0"/>
              </a:spcAft>
              <a:buSzPts val="1800"/>
              <a:buChar char="•"/>
            </a:pPr>
            <a:r>
              <a:rPr lang="en-US"/>
              <a:t>Data is recorded and kept because it is considered to be of use to an intended user</a:t>
            </a:r>
            <a:endParaRPr/>
          </a:p>
          <a:p>
            <a:pPr indent="-342900" lvl="0" marL="342900" rtl="0" algn="l">
              <a:spcBef>
                <a:spcPts val="480"/>
              </a:spcBef>
              <a:spcAft>
                <a:spcPts val="0"/>
              </a:spcAft>
              <a:buSzPts val="2160"/>
              <a:buChar char="▪"/>
            </a:pPr>
            <a:r>
              <a:rPr b="1" lang="en-US"/>
              <a:t>Information</a:t>
            </a:r>
            <a:r>
              <a:rPr lang="en-US"/>
              <a:t> - refers to the data that is accessed by a user for some particular purpose</a:t>
            </a:r>
            <a:endParaRPr/>
          </a:p>
          <a:p>
            <a:pPr indent="-285750" lvl="1" marL="742950" rtl="0" algn="l">
              <a:spcBef>
                <a:spcPts val="400"/>
              </a:spcBef>
              <a:spcAft>
                <a:spcPts val="0"/>
              </a:spcAft>
              <a:buSzPts val="1800"/>
              <a:buChar char="•"/>
            </a:pPr>
            <a:r>
              <a:rPr lang="en-US"/>
              <a:t>Typically, getting the needed information from a collection of data requires performing an activity, such as searching through, processing, or manipulating the data in some form or fashion</a:t>
            </a:r>
            <a:endParaRPr/>
          </a:p>
        </p:txBody>
      </p:sp>
      <p:sp>
        <p:nvSpPr>
          <p:cNvPr id="44" name="Google Shape;44;p2"/>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45" name="Google Shape;45;p2"/>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3"/>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52" name="Google Shape;52;p3"/>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Metadata</a:t>
            </a:r>
            <a:r>
              <a:rPr lang="en-US"/>
              <a:t> - data that describes the structure and the properties of the data</a:t>
            </a:r>
            <a:endParaRPr/>
          </a:p>
          <a:p>
            <a:pPr indent="-285750" lvl="1" marL="742950" rtl="0" algn="l">
              <a:spcBef>
                <a:spcPts val="400"/>
              </a:spcBef>
              <a:spcAft>
                <a:spcPts val="0"/>
              </a:spcAft>
              <a:buSzPts val="1800"/>
              <a:buChar char="•"/>
            </a:pPr>
            <a:r>
              <a:rPr lang="en-US"/>
              <a:t>Metadata is essential for the proper understanding and use of the data</a:t>
            </a:r>
            <a:endParaRPr/>
          </a:p>
        </p:txBody>
      </p:sp>
      <p:sp>
        <p:nvSpPr>
          <p:cNvPr id="53" name="Google Shape;53;p3"/>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54" name="Google Shape;54;p3"/>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61" name="Google Shape;61;p4"/>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160"/>
              <a:buFont typeface="Noto Sans Symbols"/>
              <a:buNone/>
            </a:pPr>
            <a:r>
              <a:rPr lang="en-US"/>
              <a:t>Data without metadata - example</a:t>
            </a:r>
            <a:endParaRPr/>
          </a:p>
        </p:txBody>
      </p:sp>
      <p:sp>
        <p:nvSpPr>
          <p:cNvPr id="62" name="Google Shape;62;p4"/>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pic>
        <p:nvPicPr>
          <p:cNvPr id="63" name="Google Shape;63;p4"/>
          <p:cNvPicPr preferRelativeResize="0"/>
          <p:nvPr/>
        </p:nvPicPr>
        <p:blipFill rotWithShape="1">
          <a:blip r:embed="rId3">
            <a:alphaModFix/>
          </a:blip>
          <a:srcRect b="0" l="0" r="0" t="1332"/>
          <a:stretch/>
        </p:blipFill>
        <p:spPr>
          <a:xfrm>
            <a:off x="3215522" y="2590800"/>
            <a:ext cx="2712955" cy="1699334"/>
          </a:xfrm>
          <a:prstGeom prst="rect">
            <a:avLst/>
          </a:prstGeom>
          <a:noFill/>
          <a:ln>
            <a:noFill/>
          </a:ln>
        </p:spPr>
      </p:pic>
      <p:sp>
        <p:nvSpPr>
          <p:cNvPr id="64" name="Google Shape;64;p4"/>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71" name="Google Shape;71;p5"/>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160"/>
              <a:buFont typeface="Noto Sans Symbols"/>
              <a:buNone/>
            </a:pPr>
            <a:r>
              <a:rPr lang="en-US"/>
              <a:t>Data with metadata - example</a:t>
            </a:r>
            <a:endParaRPr/>
          </a:p>
        </p:txBody>
      </p:sp>
      <p:sp>
        <p:nvSpPr>
          <p:cNvPr id="72" name="Google Shape;72;p5"/>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pic>
        <p:nvPicPr>
          <p:cNvPr id="73" name="Google Shape;73;p5"/>
          <p:cNvPicPr preferRelativeResize="0"/>
          <p:nvPr/>
        </p:nvPicPr>
        <p:blipFill rotWithShape="1">
          <a:blip r:embed="rId3">
            <a:alphaModFix/>
          </a:blip>
          <a:srcRect b="0" l="0" r="0" t="0"/>
          <a:stretch/>
        </p:blipFill>
        <p:spPr>
          <a:xfrm>
            <a:off x="2537283" y="2312573"/>
            <a:ext cx="4069433" cy="2232853"/>
          </a:xfrm>
          <a:prstGeom prst="rect">
            <a:avLst/>
          </a:prstGeom>
          <a:noFill/>
          <a:ln>
            <a:noFill/>
          </a:ln>
        </p:spPr>
      </p:pic>
      <p:sp>
        <p:nvSpPr>
          <p:cNvPr id="74" name="Google Shape;74;p5"/>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81" name="Google Shape;81;p6"/>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a:t>
            </a:r>
            <a:r>
              <a:rPr lang="en-US"/>
              <a:t> - structured collection of related data stored on a computer medium</a:t>
            </a:r>
            <a:endParaRPr/>
          </a:p>
          <a:p>
            <a:pPr indent="-285750" lvl="1" marL="742950" rtl="0" algn="l">
              <a:spcBef>
                <a:spcPts val="400"/>
              </a:spcBef>
              <a:spcAft>
                <a:spcPts val="0"/>
              </a:spcAft>
              <a:buSzPts val="1800"/>
              <a:buChar char="•"/>
            </a:pPr>
            <a:r>
              <a:rPr lang="en-US"/>
              <a:t>Organizes the data in a way that facilitates efficient access to the information captured in the data</a:t>
            </a:r>
            <a:endParaRPr/>
          </a:p>
          <a:p>
            <a:pPr indent="-342900" lvl="0" marL="342900" rtl="0" algn="l">
              <a:spcBef>
                <a:spcPts val="480"/>
              </a:spcBef>
              <a:spcAft>
                <a:spcPts val="0"/>
              </a:spcAft>
              <a:buSzPts val="2160"/>
              <a:buChar char="▪"/>
            </a:pPr>
            <a:r>
              <a:rPr b="1" lang="en-US"/>
              <a:t>Database metadata</a:t>
            </a:r>
            <a:r>
              <a:rPr lang="en-US"/>
              <a:t> – represents the structure of the database</a:t>
            </a:r>
            <a:endParaRPr/>
          </a:p>
          <a:p>
            <a:pPr indent="-285750" lvl="1" marL="742950" rtl="0" algn="l">
              <a:spcBef>
                <a:spcPts val="400"/>
              </a:spcBef>
              <a:spcAft>
                <a:spcPts val="0"/>
              </a:spcAft>
              <a:buSzPts val="1800"/>
              <a:buChar char="•"/>
            </a:pPr>
            <a:r>
              <a:rPr lang="en-US"/>
              <a:t>Database content that is not the data itself (data about the data)</a:t>
            </a:r>
            <a:endParaRPr/>
          </a:p>
          <a:p>
            <a:pPr indent="-285750" lvl="1" marL="742950" rtl="0" algn="l">
              <a:spcBef>
                <a:spcPts val="400"/>
              </a:spcBef>
              <a:spcAft>
                <a:spcPts val="0"/>
              </a:spcAft>
              <a:buSzPts val="1800"/>
              <a:buChar char="•"/>
            </a:pPr>
            <a:r>
              <a:rPr lang="en-US"/>
              <a:t>Contains:</a:t>
            </a:r>
            <a:endParaRPr/>
          </a:p>
          <a:p>
            <a:pPr indent="-228600" lvl="2" marL="1143000" rtl="0" algn="l">
              <a:spcBef>
                <a:spcPts val="360"/>
              </a:spcBef>
              <a:spcAft>
                <a:spcPts val="0"/>
              </a:spcAft>
              <a:buSzPts val="1080"/>
              <a:buChar char="o"/>
            </a:pPr>
            <a:r>
              <a:rPr lang="en-US"/>
              <a:t>Names of data structures</a:t>
            </a:r>
            <a:endParaRPr/>
          </a:p>
          <a:p>
            <a:pPr indent="-228600" lvl="2" marL="1143000" rtl="0" algn="l">
              <a:spcBef>
                <a:spcPts val="360"/>
              </a:spcBef>
              <a:spcAft>
                <a:spcPts val="0"/>
              </a:spcAft>
              <a:buSzPts val="1080"/>
              <a:buChar char="o"/>
            </a:pPr>
            <a:r>
              <a:rPr lang="en-US"/>
              <a:t>Data types</a:t>
            </a:r>
            <a:endParaRPr/>
          </a:p>
          <a:p>
            <a:pPr indent="-228600" lvl="2" marL="1143000" rtl="0" algn="l">
              <a:spcBef>
                <a:spcPts val="360"/>
              </a:spcBef>
              <a:spcAft>
                <a:spcPts val="0"/>
              </a:spcAft>
              <a:buSzPts val="1080"/>
              <a:buChar char="o"/>
            </a:pPr>
            <a:r>
              <a:rPr lang="en-US"/>
              <a:t>Data descriptions</a:t>
            </a:r>
            <a:endParaRPr/>
          </a:p>
          <a:p>
            <a:pPr indent="-228600" lvl="2" marL="1143000" rtl="0" algn="l">
              <a:spcBef>
                <a:spcPts val="360"/>
              </a:spcBef>
              <a:spcAft>
                <a:spcPts val="0"/>
              </a:spcAft>
              <a:buSzPts val="1080"/>
              <a:buChar char="o"/>
            </a:pPr>
            <a:r>
              <a:rPr lang="en-US"/>
              <a:t>Other information describing the characteristics of the data</a:t>
            </a:r>
            <a:endParaRPr/>
          </a:p>
        </p:txBody>
      </p:sp>
      <p:sp>
        <p:nvSpPr>
          <p:cNvPr id="82" name="Google Shape;82;p6"/>
          <p:cNvSpPr txBox="1"/>
          <p:nvPr>
            <p:ph idx="12" type="sldNum"/>
          </p:nvPr>
        </p:nvSpPr>
        <p:spPr>
          <a:xfrm>
            <a:off x="8385175" y="6629400"/>
            <a:ext cx="758825"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83" name="Google Shape;83;p6"/>
          <p:cNvSpPr txBox="1"/>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84" name="Google Shape;84;p6"/>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7"/>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91" name="Google Shape;91;p7"/>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management system (DBMS) </a:t>
            </a:r>
            <a:r>
              <a:rPr lang="en-US"/>
              <a:t>- software used for:</a:t>
            </a:r>
            <a:endParaRPr/>
          </a:p>
          <a:p>
            <a:pPr indent="-285750" lvl="1" marL="742950" rtl="0" algn="l">
              <a:spcBef>
                <a:spcPts val="400"/>
              </a:spcBef>
              <a:spcAft>
                <a:spcPts val="0"/>
              </a:spcAft>
              <a:buSzPts val="1800"/>
              <a:buChar char="•"/>
            </a:pPr>
            <a:r>
              <a:rPr lang="en-US"/>
              <a:t>Creation of databases</a:t>
            </a:r>
            <a:endParaRPr/>
          </a:p>
          <a:p>
            <a:pPr indent="-285750" lvl="1" marL="742950" rtl="0" algn="l">
              <a:spcBef>
                <a:spcPts val="400"/>
              </a:spcBef>
              <a:spcAft>
                <a:spcPts val="0"/>
              </a:spcAft>
              <a:buSzPts val="1800"/>
              <a:buChar char="•"/>
            </a:pPr>
            <a:r>
              <a:rPr lang="en-US"/>
              <a:t>Insertion, storage, retrieval, update, and deletion of the data in the database</a:t>
            </a:r>
            <a:endParaRPr/>
          </a:p>
          <a:p>
            <a:pPr indent="-285750" lvl="1" marL="742950" rtl="0" algn="l">
              <a:spcBef>
                <a:spcPts val="400"/>
              </a:spcBef>
              <a:spcAft>
                <a:spcPts val="0"/>
              </a:spcAft>
              <a:buSzPts val="1800"/>
              <a:buChar char="•"/>
            </a:pPr>
            <a:r>
              <a:rPr lang="en-US"/>
              <a:t>Maintenance of databases</a:t>
            </a:r>
            <a:endParaRPr/>
          </a:p>
          <a:p>
            <a:pPr indent="-342900" lvl="0" marL="342900" rtl="0" algn="l">
              <a:spcBef>
                <a:spcPts val="480"/>
              </a:spcBef>
              <a:spcAft>
                <a:spcPts val="0"/>
              </a:spcAft>
              <a:buSzPts val="2160"/>
              <a:buChar char="▪"/>
            </a:pPr>
            <a:r>
              <a:rPr b="1" lang="en-US"/>
              <a:t>Database system </a:t>
            </a:r>
            <a:r>
              <a:rPr lang="en-US"/>
              <a:t>- computer-based system whose purpose is to enable an efficient interaction between the users and the information captured in a database</a:t>
            </a:r>
            <a:endParaRPr/>
          </a:p>
        </p:txBody>
      </p:sp>
      <p:sp>
        <p:nvSpPr>
          <p:cNvPr id="92" name="Google Shape;92;p7"/>
          <p:cNvSpPr txBox="1"/>
          <p:nvPr>
            <p:ph idx="12" type="sldNum"/>
          </p:nvPr>
        </p:nvSpPr>
        <p:spPr>
          <a:xfrm>
            <a:off x="8385175" y="6629400"/>
            <a:ext cx="758825"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93" name="Google Shape;93;p7"/>
          <p:cNvSpPr txBox="1"/>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94" name="Google Shape;94;p7"/>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8"/>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101" name="Google Shape;101;p8"/>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160"/>
              <a:buFont typeface="Noto Sans Symbols"/>
              <a:buNone/>
            </a:pPr>
            <a:r>
              <a:rPr lang="en-US"/>
              <a:t>Typical database system architecture</a:t>
            </a:r>
            <a:endParaRPr/>
          </a:p>
        </p:txBody>
      </p:sp>
      <p:sp>
        <p:nvSpPr>
          <p:cNvPr id="102" name="Google Shape;102;p8"/>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pic>
        <p:nvPicPr>
          <p:cNvPr id="103" name="Google Shape;103;p8"/>
          <p:cNvPicPr preferRelativeResize="0"/>
          <p:nvPr/>
        </p:nvPicPr>
        <p:blipFill rotWithShape="1">
          <a:blip r:embed="rId3">
            <a:alphaModFix/>
          </a:blip>
          <a:srcRect b="0" l="0" r="0" t="0"/>
          <a:stretch/>
        </p:blipFill>
        <p:spPr>
          <a:xfrm>
            <a:off x="1371322" y="2381113"/>
            <a:ext cx="6401355" cy="3162574"/>
          </a:xfrm>
          <a:prstGeom prst="rect">
            <a:avLst/>
          </a:prstGeom>
          <a:noFill/>
          <a:ln>
            <a:noFill/>
          </a:ln>
        </p:spPr>
      </p:pic>
      <p:sp>
        <p:nvSpPr>
          <p:cNvPr id="104" name="Google Shape;104;p8"/>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111" name="Google Shape;111;p9"/>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Front-end applications </a:t>
            </a:r>
            <a:r>
              <a:rPr lang="en-US"/>
              <a:t>- provide a mechanism for easy interaction between the users and the DBMS</a:t>
            </a:r>
            <a:endParaRPr/>
          </a:p>
          <a:p>
            <a:pPr indent="-342900" lvl="0" marL="342900" rtl="0" algn="l">
              <a:spcBef>
                <a:spcPts val="480"/>
              </a:spcBef>
              <a:spcAft>
                <a:spcPts val="0"/>
              </a:spcAft>
              <a:buSzPts val="2160"/>
              <a:buChar char="▪"/>
            </a:pPr>
            <a:r>
              <a:rPr b="1" lang="en-US"/>
              <a:t>End-users</a:t>
            </a:r>
            <a:r>
              <a:rPr lang="en-US"/>
              <a:t> (</a:t>
            </a:r>
            <a:r>
              <a:rPr b="1" lang="en-US"/>
              <a:t>business-users</a:t>
            </a:r>
            <a:r>
              <a:rPr lang="en-US"/>
              <a:t>) - users using a database system to support their tasks and processes </a:t>
            </a:r>
            <a:endParaRPr/>
          </a:p>
          <a:p>
            <a:pPr indent="-342900" lvl="0" marL="342900" rtl="0" algn="l">
              <a:spcBef>
                <a:spcPts val="480"/>
              </a:spcBef>
              <a:spcAft>
                <a:spcPts val="0"/>
              </a:spcAft>
              <a:buSzPts val="2160"/>
              <a:buChar char="▪"/>
            </a:pPr>
            <a:r>
              <a:rPr b="1" lang="en-US"/>
              <a:t>Indirect interaction </a:t>
            </a:r>
            <a:r>
              <a:rPr lang="en-US"/>
              <a:t>- end-user communicating with the database through front-end applications  </a:t>
            </a:r>
            <a:endParaRPr/>
          </a:p>
          <a:p>
            <a:pPr indent="-342900" lvl="0" marL="342900" rtl="0" algn="l">
              <a:spcBef>
                <a:spcPts val="480"/>
              </a:spcBef>
              <a:spcAft>
                <a:spcPts val="0"/>
              </a:spcAft>
              <a:buSzPts val="2160"/>
              <a:buChar char="▪"/>
            </a:pPr>
            <a:r>
              <a:rPr b="1" lang="en-US"/>
              <a:t>Direct interaction </a:t>
            </a:r>
            <a:r>
              <a:rPr lang="en-US"/>
              <a:t>- end-user communicating with the database directly through DBMS </a:t>
            </a:r>
            <a:endParaRPr/>
          </a:p>
        </p:txBody>
      </p:sp>
      <p:sp>
        <p:nvSpPr>
          <p:cNvPr id="112" name="Google Shape;112;p9"/>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13" name="Google Shape;113;p9"/>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0"/>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INITIAL TERMINOLOGY</a:t>
            </a:r>
            <a:endParaRPr/>
          </a:p>
        </p:txBody>
      </p:sp>
      <p:sp>
        <p:nvSpPr>
          <p:cNvPr id="120" name="Google Shape;120;p10"/>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160"/>
              <a:buFont typeface="Noto Sans Symbols"/>
              <a:buNone/>
            </a:pPr>
            <a:r>
              <a:rPr lang="en-US"/>
              <a:t>Direct vs. Indirect Interaction</a:t>
            </a:r>
            <a:endParaRPr/>
          </a:p>
        </p:txBody>
      </p:sp>
      <p:sp>
        <p:nvSpPr>
          <p:cNvPr id="121" name="Google Shape;121;p10"/>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pic>
        <p:nvPicPr>
          <p:cNvPr id="122" name="Google Shape;122;p10"/>
          <p:cNvPicPr preferRelativeResize="0"/>
          <p:nvPr/>
        </p:nvPicPr>
        <p:blipFill rotWithShape="1">
          <a:blip r:embed="rId3">
            <a:alphaModFix/>
          </a:blip>
          <a:srcRect b="0" l="0" r="0" t="0"/>
          <a:stretch/>
        </p:blipFill>
        <p:spPr>
          <a:xfrm>
            <a:off x="445219" y="2445544"/>
            <a:ext cx="8419381" cy="2743200"/>
          </a:xfrm>
          <a:prstGeom prst="rect">
            <a:avLst/>
          </a:prstGeom>
          <a:noFill/>
          <a:ln>
            <a:noFill/>
          </a:ln>
        </p:spPr>
      </p:pic>
      <p:sp>
        <p:nvSpPr>
          <p:cNvPr id="123" name="Google Shape;123;p10"/>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1"/>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29" name="Google Shape;129;p11"/>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pic>
        <p:nvPicPr>
          <p:cNvPr id="130" name="Google Shape;130;p11"/>
          <p:cNvPicPr preferRelativeResize="0"/>
          <p:nvPr/>
        </p:nvPicPr>
        <p:blipFill rotWithShape="1">
          <a:blip r:embed="rId3">
            <a:alphaModFix/>
          </a:blip>
          <a:srcRect b="0" l="0" r="0" t="0"/>
          <a:stretch/>
        </p:blipFill>
        <p:spPr>
          <a:xfrm>
            <a:off x="3414" y="2198263"/>
            <a:ext cx="9137172" cy="2461473"/>
          </a:xfrm>
          <a:prstGeom prst="rect">
            <a:avLst/>
          </a:prstGeom>
          <a:noFill/>
          <a:ln>
            <a:noFill/>
          </a:ln>
        </p:spPr>
      </p:pic>
      <p:sp>
        <p:nvSpPr>
          <p:cNvPr id="131" name="Google Shape;131;p11"/>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Requirements collection, definition, and visualization </a:t>
            </a:r>
            <a:r>
              <a:rPr lang="en-US"/>
              <a:t>- results in the requirements specifying which data the future database system will hold and in what fashion, and what the capabilities and functionalities of the database system will be</a:t>
            </a:r>
            <a:endParaRPr/>
          </a:p>
          <a:p>
            <a:pPr indent="-285750" lvl="1" marL="742950" rtl="0" algn="l">
              <a:spcBef>
                <a:spcPts val="400"/>
              </a:spcBef>
              <a:spcAft>
                <a:spcPts val="0"/>
              </a:spcAft>
              <a:buSzPts val="1800"/>
              <a:buChar char="•"/>
            </a:pPr>
            <a:r>
              <a:rPr lang="en-US"/>
              <a:t>The </a:t>
            </a:r>
            <a:r>
              <a:rPr b="1" lang="en-US"/>
              <a:t>collected</a:t>
            </a:r>
            <a:r>
              <a:rPr lang="en-US"/>
              <a:t> requirements should be clearly </a:t>
            </a:r>
            <a:r>
              <a:rPr b="1" lang="en-US"/>
              <a:t>defined</a:t>
            </a:r>
            <a:r>
              <a:rPr lang="en-US"/>
              <a:t> and stated in a written document, and then </a:t>
            </a:r>
            <a:r>
              <a:rPr b="1" lang="en-US"/>
              <a:t>visualized</a:t>
            </a:r>
            <a:r>
              <a:rPr lang="en-US"/>
              <a:t> </a:t>
            </a:r>
            <a:endParaRPr/>
          </a:p>
        </p:txBody>
      </p:sp>
      <p:sp>
        <p:nvSpPr>
          <p:cNvPr id="138" name="Google Shape;138;p12"/>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39" name="Google Shape;139;p12"/>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40" name="Google Shape;140;p12"/>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Requirements collection, definition, and visualization</a:t>
            </a:r>
            <a:endParaRPr/>
          </a:p>
          <a:p>
            <a:pPr indent="-285750" lvl="1" marL="742950" rtl="0" algn="l">
              <a:spcBef>
                <a:spcPts val="400"/>
              </a:spcBef>
              <a:spcAft>
                <a:spcPts val="0"/>
              </a:spcAft>
              <a:buSzPts val="1800"/>
              <a:buChar char="•"/>
            </a:pPr>
            <a:r>
              <a:rPr b="1" lang="en-US"/>
              <a:t>Conceptual database model </a:t>
            </a:r>
            <a:r>
              <a:rPr lang="en-US"/>
              <a:t>– a visualization of requirements by using a conceptual data modeling technique (such as entity-relationship [ER] modeling)</a:t>
            </a:r>
            <a:endParaRPr/>
          </a:p>
        </p:txBody>
      </p:sp>
      <p:sp>
        <p:nvSpPr>
          <p:cNvPr id="147" name="Google Shape;147;p13"/>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48" name="Google Shape;148;p13"/>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49" name="Google Shape;149;p13"/>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4"/>
          <p:cNvSpPr txBox="1"/>
          <p:nvPr>
            <p:ph idx="1" type="body"/>
          </p:nvPr>
        </p:nvSpPr>
        <p:spPr>
          <a:xfrm>
            <a:off x="228600" y="1295400"/>
            <a:ext cx="8686800" cy="4525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160"/>
              <a:buFont typeface="Noto Sans Symbols"/>
              <a:buNone/>
            </a:pPr>
            <a:r>
              <a:rPr lang="en-US"/>
              <a:t>Iterative nature of the database requirements collection, definition, and visualization process </a:t>
            </a:r>
            <a:endParaRPr/>
          </a:p>
        </p:txBody>
      </p:sp>
      <p:sp>
        <p:nvSpPr>
          <p:cNvPr id="156" name="Google Shape;156;p14"/>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1" lang="en-US" sz="1000" u="none" cap="none" strike="noStrike">
                <a:solidFill>
                  <a:schemeClr val="dk1"/>
                </a:solidFill>
                <a:latin typeface="Libre Franklin"/>
                <a:ea typeface="Libre Franklin"/>
                <a:cs typeface="Libre Franklin"/>
                <a:sym typeface="Libre Franklin"/>
              </a:rPr>
              <a:t>Jukić, Vrbsky, Nestorov, Sharma – Database Systems </a:t>
            </a:r>
            <a:endParaRPr/>
          </a:p>
        </p:txBody>
      </p:sp>
      <p:sp>
        <p:nvSpPr>
          <p:cNvPr id="157" name="Google Shape;157;p14"/>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58" name="Google Shape;158;p14"/>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pic>
        <p:nvPicPr>
          <p:cNvPr id="159" name="Google Shape;159;p14"/>
          <p:cNvPicPr preferRelativeResize="0"/>
          <p:nvPr/>
        </p:nvPicPr>
        <p:blipFill rotWithShape="1">
          <a:blip r:embed="rId3">
            <a:alphaModFix/>
          </a:blip>
          <a:srcRect b="0" l="0" r="0" t="0"/>
          <a:stretch/>
        </p:blipFill>
        <p:spPr>
          <a:xfrm>
            <a:off x="0" y="2125980"/>
            <a:ext cx="9144000" cy="45034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Requirements collection, definition, and visualization</a:t>
            </a:r>
            <a:endParaRPr/>
          </a:p>
        </p:txBody>
      </p:sp>
      <p:sp>
        <p:nvSpPr>
          <p:cNvPr id="166" name="Google Shape;166;p15"/>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67" name="Google Shape;167;p15"/>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68" name="Google Shape;168;p15"/>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pic>
        <p:nvPicPr>
          <p:cNvPr id="169" name="Google Shape;169;p15"/>
          <p:cNvPicPr preferRelativeResize="0"/>
          <p:nvPr/>
        </p:nvPicPr>
        <p:blipFill rotWithShape="1">
          <a:blip r:embed="rId3">
            <a:alphaModFix/>
          </a:blip>
          <a:srcRect b="0" l="0" r="0" t="0"/>
          <a:stretch/>
        </p:blipFill>
        <p:spPr>
          <a:xfrm>
            <a:off x="573487" y="2239963"/>
            <a:ext cx="7997026" cy="4114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modeling </a:t>
            </a:r>
            <a:r>
              <a:rPr lang="en-US"/>
              <a:t>(</a:t>
            </a:r>
            <a:r>
              <a:rPr b="1" lang="en-US"/>
              <a:t>logical database modeling </a:t>
            </a:r>
            <a:r>
              <a:rPr lang="en-US"/>
              <a:t>) - creation of the database model that is implementable by the DBMS software</a:t>
            </a:r>
            <a:endParaRPr/>
          </a:p>
          <a:p>
            <a:pPr indent="-285750" lvl="1" marL="742950" rtl="0" algn="l">
              <a:spcBef>
                <a:spcPts val="400"/>
              </a:spcBef>
              <a:spcAft>
                <a:spcPts val="0"/>
              </a:spcAft>
              <a:buSzPts val="1800"/>
              <a:buChar char="•"/>
            </a:pPr>
            <a:r>
              <a:rPr i="1" lang="en-US"/>
              <a:t>Logical database modeling </a:t>
            </a:r>
            <a:r>
              <a:rPr lang="en-US"/>
              <a:t>follows </a:t>
            </a:r>
            <a:r>
              <a:rPr i="1" lang="en-US"/>
              <a:t>conceptual database modeling</a:t>
            </a:r>
            <a:endParaRPr/>
          </a:p>
        </p:txBody>
      </p:sp>
      <p:sp>
        <p:nvSpPr>
          <p:cNvPr id="176" name="Google Shape;176;p16"/>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77" name="Google Shape;177;p16"/>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78" name="Google Shape;178;p16"/>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modeling </a:t>
            </a:r>
            <a:r>
              <a:rPr lang="en-US"/>
              <a:t>(</a:t>
            </a:r>
            <a:r>
              <a:rPr b="1" lang="en-US"/>
              <a:t>logical database modeling </a:t>
            </a:r>
            <a:r>
              <a:rPr lang="en-US"/>
              <a:t>)</a:t>
            </a:r>
            <a:endParaRPr/>
          </a:p>
        </p:txBody>
      </p:sp>
      <p:sp>
        <p:nvSpPr>
          <p:cNvPr id="185" name="Google Shape;185;p17"/>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86" name="Google Shape;186;p17"/>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pic>
        <p:nvPicPr>
          <p:cNvPr id="187" name="Google Shape;187;p17"/>
          <p:cNvPicPr preferRelativeResize="0"/>
          <p:nvPr/>
        </p:nvPicPr>
        <p:blipFill rotWithShape="1">
          <a:blip r:embed="rId3">
            <a:alphaModFix/>
          </a:blip>
          <a:srcRect b="0" l="0" r="0" t="0"/>
          <a:stretch/>
        </p:blipFill>
        <p:spPr>
          <a:xfrm>
            <a:off x="2110526" y="2556434"/>
            <a:ext cx="4922947" cy="1745131"/>
          </a:xfrm>
          <a:prstGeom prst="rect">
            <a:avLst/>
          </a:prstGeom>
          <a:noFill/>
          <a:ln>
            <a:noFill/>
          </a:ln>
        </p:spPr>
      </p:pic>
      <p:sp>
        <p:nvSpPr>
          <p:cNvPr id="188" name="Google Shape;188;p17"/>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implementation </a:t>
            </a:r>
            <a:r>
              <a:rPr lang="en-US"/>
              <a:t>- using a DBMS to implement the database model as an actual database</a:t>
            </a:r>
            <a:endParaRPr/>
          </a:p>
          <a:p>
            <a:pPr indent="-285750" lvl="1" marL="742950" rtl="0" algn="l">
              <a:spcBef>
                <a:spcPts val="400"/>
              </a:spcBef>
              <a:spcAft>
                <a:spcPts val="0"/>
              </a:spcAft>
              <a:buSzPts val="1800"/>
              <a:buChar char="•"/>
            </a:pPr>
            <a:r>
              <a:rPr lang="en-US"/>
              <a:t>Most modern databases are implemented using a relational DBMS (RDBMS) software</a:t>
            </a:r>
            <a:endParaRPr/>
          </a:p>
          <a:p>
            <a:pPr indent="-285750" lvl="1" marL="742950" rtl="0" algn="l">
              <a:spcBef>
                <a:spcPts val="400"/>
              </a:spcBef>
              <a:spcAft>
                <a:spcPts val="0"/>
              </a:spcAft>
              <a:buSzPts val="1800"/>
              <a:buChar char="•"/>
            </a:pPr>
            <a:r>
              <a:rPr lang="en-US"/>
              <a:t>SQL (Structured Query Language) is a language used by most RDBMS packages</a:t>
            </a:r>
            <a:endParaRPr/>
          </a:p>
        </p:txBody>
      </p:sp>
      <p:sp>
        <p:nvSpPr>
          <p:cNvPr id="195" name="Google Shape;195;p18"/>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196" name="Google Shape;196;p18"/>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197" name="Google Shape;197;p18"/>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implementation </a:t>
            </a:r>
            <a:r>
              <a:rPr lang="en-US"/>
              <a:t>- using a DBMS to implement the database model as an actual database</a:t>
            </a:r>
            <a:endParaRPr/>
          </a:p>
        </p:txBody>
      </p:sp>
      <p:sp>
        <p:nvSpPr>
          <p:cNvPr id="204" name="Google Shape;204;p19"/>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05" name="Google Shape;205;p19"/>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pic>
        <p:nvPicPr>
          <p:cNvPr id="206" name="Google Shape;206;p19"/>
          <p:cNvPicPr preferRelativeResize="0"/>
          <p:nvPr/>
        </p:nvPicPr>
        <p:blipFill rotWithShape="1">
          <a:blip r:embed="rId3">
            <a:alphaModFix/>
          </a:blip>
          <a:srcRect b="0" l="0" r="0" t="0"/>
          <a:stretch/>
        </p:blipFill>
        <p:spPr>
          <a:xfrm>
            <a:off x="1638300" y="2720041"/>
            <a:ext cx="5403048" cy="3452159"/>
          </a:xfrm>
          <a:prstGeom prst="rect">
            <a:avLst/>
          </a:prstGeom>
          <a:noFill/>
          <a:ln>
            <a:noFill/>
          </a:ln>
        </p:spPr>
      </p:pic>
      <p:sp>
        <p:nvSpPr>
          <p:cNvPr id="207" name="Google Shape;207;p19"/>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Developing front-end applications </a:t>
            </a:r>
            <a:r>
              <a:rPr lang="en-US"/>
              <a:t>- designing and creating applications for indirect use by the end-users</a:t>
            </a:r>
            <a:endParaRPr/>
          </a:p>
          <a:p>
            <a:pPr indent="-285750" lvl="1" marL="742950" rtl="0" algn="l">
              <a:spcBef>
                <a:spcPts val="400"/>
              </a:spcBef>
              <a:spcAft>
                <a:spcPts val="0"/>
              </a:spcAft>
              <a:buSzPts val="1800"/>
              <a:buChar char="•"/>
            </a:pPr>
            <a:r>
              <a:rPr lang="en-US"/>
              <a:t>Front-end applications are based on the database model and the requirements specifying the front-end functionalities </a:t>
            </a:r>
            <a:endParaRPr/>
          </a:p>
          <a:p>
            <a:pPr indent="-285750" lvl="1" marL="742950" rtl="0" algn="l">
              <a:spcBef>
                <a:spcPts val="400"/>
              </a:spcBef>
              <a:spcAft>
                <a:spcPts val="0"/>
              </a:spcAft>
              <a:buSzPts val="1800"/>
              <a:buChar char="•"/>
            </a:pPr>
            <a:r>
              <a:rPr lang="en-US"/>
              <a:t>Front-end applications contain interfaces (such as forms and reports) accessible via a navigation mechanism (such as a menu)</a:t>
            </a:r>
            <a:endParaRPr/>
          </a:p>
        </p:txBody>
      </p:sp>
      <p:sp>
        <p:nvSpPr>
          <p:cNvPr id="214" name="Google Shape;214;p20"/>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15" name="Google Shape;215;p20"/>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216" name="Google Shape;216;p20"/>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Developing front-end applications </a:t>
            </a:r>
            <a:r>
              <a:rPr lang="en-US"/>
              <a:t>- designing and creating applications for indirect use by the end-users</a:t>
            </a:r>
            <a:endParaRPr/>
          </a:p>
          <a:p>
            <a:pPr indent="-285750" lvl="1" marL="742950" rtl="0" algn="l">
              <a:spcBef>
                <a:spcPts val="400"/>
              </a:spcBef>
              <a:spcAft>
                <a:spcPts val="0"/>
              </a:spcAft>
              <a:buSzPts val="1800"/>
              <a:buChar char="•"/>
            </a:pPr>
            <a:r>
              <a:rPr lang="en-US"/>
              <a:t>Database front-end example</a:t>
            </a:r>
            <a:endParaRPr/>
          </a:p>
        </p:txBody>
      </p:sp>
      <p:sp>
        <p:nvSpPr>
          <p:cNvPr id="223" name="Google Shape;223;p21"/>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24" name="Google Shape;224;p21"/>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pic>
        <p:nvPicPr>
          <p:cNvPr id="225" name="Google Shape;225;p21"/>
          <p:cNvPicPr preferRelativeResize="0"/>
          <p:nvPr/>
        </p:nvPicPr>
        <p:blipFill rotWithShape="1">
          <a:blip r:embed="rId3">
            <a:alphaModFix/>
          </a:blip>
          <a:srcRect b="0" l="0" r="0" t="0"/>
          <a:stretch/>
        </p:blipFill>
        <p:spPr>
          <a:xfrm>
            <a:off x="2141009" y="2978809"/>
            <a:ext cx="4861981" cy="3375953"/>
          </a:xfrm>
          <a:prstGeom prst="rect">
            <a:avLst/>
          </a:prstGeom>
          <a:noFill/>
          <a:ln>
            <a:noFill/>
          </a:ln>
        </p:spPr>
      </p:pic>
      <p:sp>
        <p:nvSpPr>
          <p:cNvPr id="226" name="Google Shape;226;p21"/>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deployment </a:t>
            </a:r>
            <a:r>
              <a:rPr lang="en-US"/>
              <a:t>- releasing the database system for use by the end users</a:t>
            </a:r>
            <a:endParaRPr/>
          </a:p>
        </p:txBody>
      </p:sp>
      <p:sp>
        <p:nvSpPr>
          <p:cNvPr id="233" name="Google Shape;233;p22"/>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34" name="Google Shape;234;p22"/>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235" name="Google Shape;235;p22"/>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use </a:t>
            </a:r>
            <a:r>
              <a:rPr lang="en-US"/>
              <a:t>- the insertion, modification, deletion and retrieval of the data in the database system</a:t>
            </a:r>
            <a:endParaRPr/>
          </a:p>
        </p:txBody>
      </p:sp>
      <p:sp>
        <p:nvSpPr>
          <p:cNvPr id="242" name="Google Shape;242;p23"/>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43" name="Google Shape;243;p23"/>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244" name="Google Shape;244;p23"/>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4"/>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use </a:t>
            </a:r>
            <a:r>
              <a:rPr lang="en-US"/>
              <a:t>- the insertion, modification, deletion and retrieval of the data in the database system</a:t>
            </a:r>
            <a:endParaRPr/>
          </a:p>
          <a:p>
            <a:pPr indent="-285750" lvl="1" marL="742950" rtl="0" algn="l">
              <a:spcBef>
                <a:spcPts val="400"/>
              </a:spcBef>
              <a:spcAft>
                <a:spcPts val="0"/>
              </a:spcAft>
              <a:buSzPts val="1800"/>
              <a:buChar char="•"/>
            </a:pPr>
            <a:r>
              <a:rPr lang="en-US"/>
              <a:t>Example of data in a database that can be inserted, modified, deleted or retrieved</a:t>
            </a:r>
            <a:endParaRPr/>
          </a:p>
        </p:txBody>
      </p:sp>
      <p:sp>
        <p:nvSpPr>
          <p:cNvPr id="251" name="Google Shape;251;p24"/>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52" name="Google Shape;252;p24"/>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pic>
        <p:nvPicPr>
          <p:cNvPr id="253" name="Google Shape;253;p24"/>
          <p:cNvPicPr preferRelativeResize="0"/>
          <p:nvPr/>
        </p:nvPicPr>
        <p:blipFill rotWithShape="1">
          <a:blip r:embed="rId3">
            <a:alphaModFix/>
          </a:blip>
          <a:srcRect b="0" l="0" r="0" t="0"/>
          <a:stretch/>
        </p:blipFill>
        <p:spPr>
          <a:xfrm>
            <a:off x="135819" y="3200400"/>
            <a:ext cx="8977138" cy="3299746"/>
          </a:xfrm>
          <a:prstGeom prst="rect">
            <a:avLst/>
          </a:prstGeom>
          <a:noFill/>
          <a:ln>
            <a:noFill/>
          </a:ln>
        </p:spPr>
      </p:pic>
      <p:sp>
        <p:nvSpPr>
          <p:cNvPr id="254" name="Google Shape;254;p24"/>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administration and maintenance - </a:t>
            </a:r>
            <a:r>
              <a:rPr lang="en-US"/>
              <a:t>performing activities that support the database end user, including dealing with technical issues, such as:</a:t>
            </a:r>
            <a:endParaRPr/>
          </a:p>
          <a:p>
            <a:pPr indent="-285750" lvl="1" marL="742950" rtl="0" algn="l">
              <a:spcBef>
                <a:spcPts val="400"/>
              </a:spcBef>
              <a:spcAft>
                <a:spcPts val="0"/>
              </a:spcAft>
              <a:buSzPts val="1800"/>
              <a:buChar char="•"/>
            </a:pPr>
            <a:r>
              <a:rPr lang="en-US"/>
              <a:t>Providing security for the information contained in the database</a:t>
            </a:r>
            <a:endParaRPr/>
          </a:p>
          <a:p>
            <a:pPr indent="-285750" lvl="1" marL="742950" rtl="0" algn="l">
              <a:spcBef>
                <a:spcPts val="400"/>
              </a:spcBef>
              <a:spcAft>
                <a:spcPts val="0"/>
              </a:spcAft>
              <a:buSzPts val="1800"/>
              <a:buChar char="•"/>
            </a:pPr>
            <a:r>
              <a:rPr lang="en-US"/>
              <a:t>Ensuring sufficient hard-drive space for the database content</a:t>
            </a:r>
            <a:endParaRPr/>
          </a:p>
          <a:p>
            <a:pPr indent="-285750" lvl="1" marL="742950" rtl="0" algn="l">
              <a:spcBef>
                <a:spcPts val="400"/>
              </a:spcBef>
              <a:spcAft>
                <a:spcPts val="0"/>
              </a:spcAft>
              <a:buSzPts val="1800"/>
              <a:buChar char="•"/>
            </a:pPr>
            <a:r>
              <a:rPr lang="en-US"/>
              <a:t>Implementing the backup and recovery procedures</a:t>
            </a:r>
            <a:endParaRPr/>
          </a:p>
        </p:txBody>
      </p:sp>
      <p:sp>
        <p:nvSpPr>
          <p:cNvPr id="261" name="Google Shape;261;p25"/>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62" name="Google Shape;262;p25"/>
          <p:cNvSpPr txBox="1"/>
          <p:nvPr>
            <p:ph type="title"/>
          </p:nvPr>
        </p:nvSpPr>
        <p:spPr>
          <a:xfrm>
            <a:off x="280988" y="685800"/>
            <a:ext cx="8686800" cy="838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cap="none"/>
              <a:t>STEPS IN THE DEVELOPMENT OF DATABASE SYSTEMS</a:t>
            </a:r>
            <a:br>
              <a:rPr lang="en-US" cap="none"/>
            </a:br>
            <a:endParaRPr cap="none"/>
          </a:p>
        </p:txBody>
      </p:sp>
      <p:sp>
        <p:nvSpPr>
          <p:cNvPr id="263" name="Google Shape;263;p25"/>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6"/>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THE NEXT VERSION OF THE DATABASE</a:t>
            </a:r>
            <a:endParaRPr/>
          </a:p>
        </p:txBody>
      </p:sp>
      <p:sp>
        <p:nvSpPr>
          <p:cNvPr id="270" name="Google Shape;270;p26"/>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lang="en-US"/>
              <a:t>The new version of the database follows the same development steps as the initial version</a:t>
            </a:r>
            <a:endParaRPr/>
          </a:p>
        </p:txBody>
      </p:sp>
      <p:sp>
        <p:nvSpPr>
          <p:cNvPr id="271" name="Google Shape;271;p26"/>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72" name="Google Shape;272;p26"/>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DATABASE SCOPE</a:t>
            </a:r>
            <a:endParaRPr/>
          </a:p>
        </p:txBody>
      </p:sp>
      <p:sp>
        <p:nvSpPr>
          <p:cNvPr id="279" name="Google Shape;279;p27"/>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lang="en-US"/>
              <a:t>Databases can vary in their scope from small single-user (personal) databases to large enterprise databases that can be used by thousands of end-users </a:t>
            </a:r>
            <a:endParaRPr/>
          </a:p>
          <a:p>
            <a:pPr indent="-342900" lvl="0" marL="342900" rtl="0" algn="l">
              <a:spcBef>
                <a:spcPts val="480"/>
              </a:spcBef>
              <a:spcAft>
                <a:spcPts val="0"/>
              </a:spcAft>
              <a:buSzPts val="2160"/>
              <a:buChar char="▪"/>
            </a:pPr>
            <a:r>
              <a:rPr lang="en-US"/>
              <a:t>Regardless of their scope, all databases go through the same fundamental development steps (</a:t>
            </a:r>
            <a:r>
              <a:rPr i="1" lang="en-US"/>
              <a:t>requirements, modeling, implementation, deployment, use, </a:t>
            </a:r>
            <a:r>
              <a:rPr lang="en-US"/>
              <a:t>etc.)</a:t>
            </a:r>
            <a:endParaRPr/>
          </a:p>
        </p:txBody>
      </p:sp>
      <p:sp>
        <p:nvSpPr>
          <p:cNvPr id="280" name="Google Shape;280;p27"/>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81" name="Google Shape;281;p27"/>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PEOPLE INVOLVED WITH DATABASE SYSTEMS</a:t>
            </a:r>
            <a:endParaRPr/>
          </a:p>
        </p:txBody>
      </p:sp>
      <p:sp>
        <p:nvSpPr>
          <p:cNvPr id="288" name="Google Shape;288;p28"/>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analysts, designers, and developers</a:t>
            </a:r>
            <a:endParaRPr/>
          </a:p>
          <a:p>
            <a:pPr indent="-285750" lvl="1" marL="742950" rtl="0" algn="l">
              <a:spcBef>
                <a:spcPts val="400"/>
              </a:spcBef>
              <a:spcAft>
                <a:spcPts val="0"/>
              </a:spcAft>
              <a:buSzPts val="1800"/>
              <a:buChar char="•"/>
            </a:pPr>
            <a:r>
              <a:rPr b="1" lang="en-US"/>
              <a:t>Database analysts </a:t>
            </a:r>
            <a:r>
              <a:rPr lang="en-US"/>
              <a:t>- involved in the requirements collection, definition, and visualization stage </a:t>
            </a:r>
            <a:endParaRPr/>
          </a:p>
          <a:p>
            <a:pPr indent="-285750" lvl="1" marL="742950" rtl="0" algn="l">
              <a:spcBef>
                <a:spcPts val="400"/>
              </a:spcBef>
              <a:spcAft>
                <a:spcPts val="0"/>
              </a:spcAft>
              <a:buSzPts val="1800"/>
              <a:buChar char="•"/>
            </a:pPr>
            <a:r>
              <a:rPr b="1" lang="en-US"/>
              <a:t>Database designers </a:t>
            </a:r>
            <a:r>
              <a:rPr lang="en-US"/>
              <a:t>(a.k.a. </a:t>
            </a:r>
            <a:r>
              <a:rPr b="1" lang="en-US"/>
              <a:t>database modelers </a:t>
            </a:r>
            <a:r>
              <a:rPr lang="en-US"/>
              <a:t>or </a:t>
            </a:r>
            <a:r>
              <a:rPr b="1" lang="en-US"/>
              <a:t>architects</a:t>
            </a:r>
            <a:r>
              <a:rPr lang="en-US"/>
              <a:t>) - involved in the database modeling stage</a:t>
            </a:r>
            <a:endParaRPr/>
          </a:p>
          <a:p>
            <a:pPr indent="-285750" lvl="1" marL="742950" rtl="0" algn="l">
              <a:spcBef>
                <a:spcPts val="400"/>
              </a:spcBef>
              <a:spcAft>
                <a:spcPts val="0"/>
              </a:spcAft>
              <a:buSzPts val="1800"/>
              <a:buChar char="•"/>
            </a:pPr>
            <a:r>
              <a:rPr b="1" lang="en-US"/>
              <a:t>Database developers </a:t>
            </a:r>
            <a:r>
              <a:rPr lang="en-US"/>
              <a:t>– in charge of implementing the database model as a functioning database using the DBMS software</a:t>
            </a:r>
            <a:endParaRPr/>
          </a:p>
        </p:txBody>
      </p:sp>
      <p:sp>
        <p:nvSpPr>
          <p:cNvPr id="289" name="Google Shape;289;p28"/>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90" name="Google Shape;290;p28"/>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PEOPLE INVOLVED WITH DATABASE SYSTEMS</a:t>
            </a:r>
            <a:endParaRPr/>
          </a:p>
        </p:txBody>
      </p:sp>
      <p:sp>
        <p:nvSpPr>
          <p:cNvPr id="297" name="Google Shape;297;p29"/>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Front-end applications analysts and developers</a:t>
            </a:r>
            <a:endParaRPr/>
          </a:p>
          <a:p>
            <a:pPr indent="-285750" lvl="1" marL="742950" rtl="0" algn="l">
              <a:spcBef>
                <a:spcPts val="400"/>
              </a:spcBef>
              <a:spcAft>
                <a:spcPts val="0"/>
              </a:spcAft>
              <a:buSzPts val="1800"/>
              <a:buChar char="•"/>
            </a:pPr>
            <a:r>
              <a:rPr b="1" lang="en-US"/>
              <a:t>Front-end application analysts </a:t>
            </a:r>
            <a:r>
              <a:rPr lang="en-US"/>
              <a:t>- in charge of collecting and defining requirements for front-end applications</a:t>
            </a:r>
            <a:endParaRPr/>
          </a:p>
          <a:p>
            <a:pPr indent="-285750" lvl="1" marL="742950" rtl="0" algn="l">
              <a:spcBef>
                <a:spcPts val="400"/>
              </a:spcBef>
              <a:spcAft>
                <a:spcPts val="0"/>
              </a:spcAft>
              <a:buSzPts val="1800"/>
              <a:buChar char="•"/>
            </a:pPr>
            <a:r>
              <a:rPr b="1" lang="en-US"/>
              <a:t>Front-end applications developers </a:t>
            </a:r>
            <a:r>
              <a:rPr lang="en-US"/>
              <a:t>- in charge of creating the front-end applications</a:t>
            </a:r>
            <a:endParaRPr/>
          </a:p>
        </p:txBody>
      </p:sp>
      <p:sp>
        <p:nvSpPr>
          <p:cNvPr id="298" name="Google Shape;298;p29"/>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299" name="Google Shape;299;p29"/>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PEOPLE INVOLVED WITH DATABASE SYSTEMS</a:t>
            </a:r>
            <a:endParaRPr/>
          </a:p>
        </p:txBody>
      </p:sp>
      <p:sp>
        <p:nvSpPr>
          <p:cNvPr id="306" name="Google Shape;306;p30"/>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administrators (DBAs) -  </a:t>
            </a:r>
            <a:r>
              <a:rPr lang="en-US"/>
              <a:t>perform the tasks related to the maintenance and administration of a database system</a:t>
            </a:r>
            <a:endParaRPr/>
          </a:p>
        </p:txBody>
      </p:sp>
      <p:sp>
        <p:nvSpPr>
          <p:cNvPr id="307" name="Google Shape;307;p30"/>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308" name="Google Shape;308;p30"/>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PEOPLE INVOLVED WITH DATABASE SYSTEMS</a:t>
            </a:r>
            <a:endParaRPr/>
          </a:p>
        </p:txBody>
      </p:sp>
      <p:sp>
        <p:nvSpPr>
          <p:cNvPr id="315" name="Google Shape;315;p31"/>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b="1" lang="en-US"/>
              <a:t>Database end users - </a:t>
            </a:r>
            <a:r>
              <a:rPr lang="en-US"/>
              <a:t>use a database system to support their work- or life-related tasks and processes</a:t>
            </a:r>
            <a:endParaRPr/>
          </a:p>
          <a:p>
            <a:pPr indent="-285750" lvl="1" marL="742950" rtl="0" algn="l">
              <a:lnSpc>
                <a:spcPct val="80000"/>
              </a:lnSpc>
              <a:spcBef>
                <a:spcPts val="400"/>
              </a:spcBef>
              <a:spcAft>
                <a:spcPts val="0"/>
              </a:spcAft>
              <a:buSzPts val="1800"/>
              <a:buChar char="•"/>
            </a:pPr>
            <a:r>
              <a:rPr lang="en-US"/>
              <a:t>Users differ in:</a:t>
            </a:r>
            <a:endParaRPr/>
          </a:p>
          <a:p>
            <a:pPr indent="-228600" lvl="2" marL="1143000" rtl="0" algn="l">
              <a:lnSpc>
                <a:spcPct val="80000"/>
              </a:lnSpc>
              <a:spcBef>
                <a:spcPts val="360"/>
              </a:spcBef>
              <a:spcAft>
                <a:spcPts val="0"/>
              </a:spcAft>
              <a:buSzPts val="1080"/>
              <a:buChar char="o"/>
            </a:pPr>
            <a:r>
              <a:rPr lang="en-US"/>
              <a:t>Level of technical sophistication</a:t>
            </a:r>
            <a:endParaRPr/>
          </a:p>
          <a:p>
            <a:pPr indent="-228600" lvl="2" marL="1143000" rtl="0" algn="l">
              <a:lnSpc>
                <a:spcPct val="80000"/>
              </a:lnSpc>
              <a:spcBef>
                <a:spcPts val="360"/>
              </a:spcBef>
              <a:spcAft>
                <a:spcPts val="0"/>
              </a:spcAft>
              <a:buSzPts val="1080"/>
              <a:buChar char="o"/>
            </a:pPr>
            <a:r>
              <a:rPr lang="en-US"/>
              <a:t>Amount of data that they need</a:t>
            </a:r>
            <a:endParaRPr/>
          </a:p>
          <a:p>
            <a:pPr indent="-228600" lvl="2" marL="1143000" rtl="0" algn="l">
              <a:lnSpc>
                <a:spcPct val="80000"/>
              </a:lnSpc>
              <a:spcBef>
                <a:spcPts val="360"/>
              </a:spcBef>
              <a:spcAft>
                <a:spcPts val="0"/>
              </a:spcAft>
              <a:buSzPts val="1080"/>
              <a:buChar char="o"/>
            </a:pPr>
            <a:r>
              <a:rPr lang="en-US"/>
              <a:t>Frequency with which they access the database system</a:t>
            </a:r>
            <a:endParaRPr/>
          </a:p>
        </p:txBody>
      </p:sp>
      <p:sp>
        <p:nvSpPr>
          <p:cNvPr id="316" name="Google Shape;316;p31"/>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317" name="Google Shape;317;p31"/>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OPERATIONAL VERSUS ANALYTICAL DATABASES</a:t>
            </a:r>
            <a:endParaRPr/>
          </a:p>
        </p:txBody>
      </p:sp>
      <p:sp>
        <p:nvSpPr>
          <p:cNvPr id="324" name="Google Shape;324;p32"/>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2160"/>
              <a:buChar char="▪"/>
            </a:pPr>
            <a:r>
              <a:rPr b="1" lang="en-US"/>
              <a:t>Operational information (transactional information) -  </a:t>
            </a:r>
            <a:r>
              <a:rPr lang="en-US"/>
              <a:t>the information collected and used in support of day to day operational needs in businesses and other organizations  </a:t>
            </a:r>
            <a:endParaRPr/>
          </a:p>
          <a:p>
            <a:pPr indent="-342900" lvl="0" marL="342900" rtl="0" algn="l">
              <a:lnSpc>
                <a:spcPct val="90000"/>
              </a:lnSpc>
              <a:spcBef>
                <a:spcPts val="480"/>
              </a:spcBef>
              <a:spcAft>
                <a:spcPts val="0"/>
              </a:spcAft>
              <a:buSzPts val="2160"/>
              <a:buChar char="▪"/>
            </a:pPr>
            <a:r>
              <a:rPr b="1" lang="en-US"/>
              <a:t>Operational database </a:t>
            </a:r>
            <a:r>
              <a:rPr lang="en-US"/>
              <a:t>- collects and presents operational information in support of daily operational procedures and processes</a:t>
            </a:r>
            <a:endParaRPr/>
          </a:p>
          <a:p>
            <a:pPr indent="-342900" lvl="0" marL="342900" rtl="0" algn="l">
              <a:lnSpc>
                <a:spcPct val="90000"/>
              </a:lnSpc>
              <a:spcBef>
                <a:spcPts val="480"/>
              </a:spcBef>
              <a:spcAft>
                <a:spcPts val="0"/>
              </a:spcAft>
              <a:buSzPts val="2160"/>
              <a:buChar char="▪"/>
            </a:pPr>
            <a:r>
              <a:rPr b="1" lang="en-US"/>
              <a:t>Analytical information </a:t>
            </a:r>
            <a:r>
              <a:rPr lang="en-US"/>
              <a:t>- the information collected and used in support of analytical tasks</a:t>
            </a:r>
            <a:endParaRPr/>
          </a:p>
          <a:p>
            <a:pPr indent="-285750" lvl="1" marL="742950" rtl="0" algn="l">
              <a:lnSpc>
                <a:spcPct val="90000"/>
              </a:lnSpc>
              <a:spcBef>
                <a:spcPts val="400"/>
              </a:spcBef>
              <a:spcAft>
                <a:spcPts val="0"/>
              </a:spcAft>
              <a:buSzPts val="1800"/>
              <a:buChar char="•"/>
            </a:pPr>
            <a:r>
              <a:rPr lang="en-US"/>
              <a:t>Analytical information is based on operational (transactional) information</a:t>
            </a:r>
            <a:endParaRPr/>
          </a:p>
          <a:p>
            <a:pPr indent="-342900" lvl="0" marL="342900" rtl="0" algn="l">
              <a:lnSpc>
                <a:spcPct val="90000"/>
              </a:lnSpc>
              <a:spcBef>
                <a:spcPts val="480"/>
              </a:spcBef>
              <a:spcAft>
                <a:spcPts val="0"/>
              </a:spcAft>
              <a:buSzPts val="2160"/>
              <a:buChar char="▪"/>
            </a:pPr>
            <a:r>
              <a:rPr b="1" lang="en-US"/>
              <a:t>Analytical database </a:t>
            </a:r>
            <a:r>
              <a:rPr lang="en-US"/>
              <a:t>- collects and presents analytical information in support of analytical tasks</a:t>
            </a:r>
            <a:endParaRPr/>
          </a:p>
        </p:txBody>
      </p:sp>
      <p:sp>
        <p:nvSpPr>
          <p:cNvPr id="325" name="Google Shape;325;p32"/>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326" name="Google Shape;326;p32"/>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cap="none"/>
              <a:t>BOOK TOPICS OVERVIEW</a:t>
            </a:r>
            <a:endParaRPr/>
          </a:p>
        </p:txBody>
      </p:sp>
      <p:sp>
        <p:nvSpPr>
          <p:cNvPr id="333" name="Google Shape;333;p33"/>
          <p:cNvSpPr txBox="1"/>
          <p:nvPr>
            <p:ph idx="1" type="body"/>
          </p:nvPr>
        </p:nvSpPr>
        <p:spPr>
          <a:xfrm>
            <a:off x="304800" y="1554163"/>
            <a:ext cx="8686800" cy="45259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60"/>
              <a:buChar char="▪"/>
            </a:pPr>
            <a:r>
              <a:rPr lang="en-US"/>
              <a:t>Issues related to the development and use of operational databases are covered in Chapters 2–6</a:t>
            </a:r>
            <a:endParaRPr/>
          </a:p>
          <a:p>
            <a:pPr indent="-342900" lvl="0" marL="342900" rtl="0" algn="l">
              <a:spcBef>
                <a:spcPts val="480"/>
              </a:spcBef>
              <a:spcAft>
                <a:spcPts val="0"/>
              </a:spcAft>
              <a:buSzPts val="2160"/>
              <a:buChar char="▪"/>
            </a:pPr>
            <a:r>
              <a:rPr lang="en-US"/>
              <a:t>Issues related to the development and use of analytical databases are covered in Chapters 7–10</a:t>
            </a:r>
            <a:endParaRPr/>
          </a:p>
          <a:p>
            <a:pPr indent="-342900" lvl="0" marL="342900" rtl="0" algn="l">
              <a:spcBef>
                <a:spcPts val="480"/>
              </a:spcBef>
              <a:spcAft>
                <a:spcPts val="0"/>
              </a:spcAft>
              <a:buSzPts val="2160"/>
              <a:buChar char="▪"/>
            </a:pPr>
            <a:r>
              <a:rPr lang="en-US"/>
              <a:t>Chapter 11 provides an overview of some of the basic functionalities of relational DBMS packages and illustrate how those functionalities are used for administration and maintenance of both operational and analytical databases</a:t>
            </a:r>
            <a:endParaRPr/>
          </a:p>
        </p:txBody>
      </p:sp>
      <p:sp>
        <p:nvSpPr>
          <p:cNvPr id="334" name="Google Shape;334;p33"/>
          <p:cNvSpPr txBox="1"/>
          <p:nvPr>
            <p:ph idx="12" type="sldNum"/>
          </p:nvPr>
        </p:nvSpPr>
        <p:spPr>
          <a:xfrm>
            <a:off x="7924800" y="6629400"/>
            <a:ext cx="1219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900"/>
              <a:buFont typeface="Noto Sans Symbols"/>
              <a:buNone/>
            </a:pPr>
            <a:r>
              <a:rPr b="0" i="0" lang="en-US" sz="900" u="none" cap="none" strike="noStrike">
                <a:solidFill>
                  <a:schemeClr val="dk1"/>
                </a:solidFill>
                <a:latin typeface="Libre Franklin"/>
                <a:ea typeface="Libre Franklin"/>
                <a:cs typeface="Libre Franklin"/>
                <a:sym typeface="Libre Franklin"/>
              </a:rPr>
              <a:t>Chapter 1 – Slide  </a:t>
            </a:r>
            <a:fld id="{00000000-1234-1234-1234-123412341234}" type="slidenum">
              <a:rPr b="1" i="0" lang="en-US" sz="900" u="none" cap="none" strike="noStrike">
                <a:solidFill>
                  <a:schemeClr val="dk1"/>
                </a:solidFill>
                <a:latin typeface="Libre Franklin"/>
                <a:ea typeface="Libre Franklin"/>
                <a:cs typeface="Libre Franklin"/>
                <a:sym typeface="Libre Franklin"/>
              </a:rPr>
              <a:t>‹#›</a:t>
            </a:fld>
            <a:endParaRPr b="1" i="0" sz="900" u="none" cap="none" strike="noStrike">
              <a:solidFill>
                <a:schemeClr val="dk1"/>
              </a:solidFill>
              <a:latin typeface="Libre Franklin"/>
              <a:ea typeface="Libre Franklin"/>
              <a:cs typeface="Libre Franklin"/>
              <a:sym typeface="Libre Franklin"/>
            </a:endParaRPr>
          </a:p>
        </p:txBody>
      </p:sp>
      <p:sp>
        <p:nvSpPr>
          <p:cNvPr id="335" name="Google Shape;335;p33"/>
          <p:cNvSpPr txBox="1"/>
          <p:nvPr>
            <p:ph idx="11" type="ftr"/>
          </p:nvPr>
        </p:nvSpPr>
        <p:spPr>
          <a:xfrm>
            <a:off x="0" y="6629400"/>
            <a:ext cx="32766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900"/>
              <a:buFont typeface="Noto Sans Symbols"/>
              <a:buNone/>
            </a:pPr>
            <a:r>
              <a:rPr b="0" i="1" lang="en-US" sz="900" u="none" cap="none" strike="noStrike">
                <a:solidFill>
                  <a:schemeClr val="dk1"/>
                </a:solidFill>
                <a:latin typeface="Libre Franklin"/>
                <a:ea typeface="Libre Franklin"/>
                <a:cs typeface="Libre Franklin"/>
                <a:sym typeface="Libre Franklin"/>
              </a:rPr>
              <a:t>Jukić, Vrbsky, Nestorov, Sharma – Database Systems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ek">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user</dc:creator>
</cp:coreProperties>
</file>