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8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15_0.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19_0.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1B_0.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sldSz cx="9144000" cy="6858000" type="screen4x3"/>
  <p:notesSz cx="6858000" cy="9144000"/>
  <p:embeddedFontLst>
    <p:embeddedFont>
      <p:font typeface="Libre Franklin" pitchFamily="2" charset="0"/>
      <p:regular r:id="rId98"/>
      <p:bold r:id="rId99"/>
      <p:italic r:id="rId100"/>
      <p:boldItalic r:id="rId101"/>
    </p:embeddedFont>
    <p:embeddedFont>
      <p:font typeface="Libre Franklin Medium" pitchFamily="2" charset="0"/>
      <p:regular r:id="rId102"/>
      <p:bold r:id="rId103"/>
      <p:italic r:id="rId104"/>
      <p:boldItalic r:id="rId10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9" roundtripDataSignature="AMtx7mgj9bB6kes4QZmQ8YfMmc7pqCkcT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095EE8-B2B2-1850-F900-9E48ED796B93}" name="Rupa Shrestha" initials="RS" userId="bb19ecd658b5ec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370B3A-096F-884D-B3BE-3F44453E0A31}" v="1" dt="2025-01-13T17:53:40.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78" d="100"/>
          <a:sy n="78" d="100"/>
        </p:scale>
        <p:origin x="366"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6.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14"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font" Target="fonts/font2.fntdata"/><Relationship Id="rId10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customschemas.google.com/relationships/presentationmetadata" Target="meta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104"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3.fntdata"/><Relationship Id="rId105"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lan Kefalas" userId="a3ac36c53068914b" providerId="LiveId" clId="{84370B3A-096F-884D-B3BE-3F44453E0A31}"/>
    <pc:docChg chg="custSel modSld">
      <pc:chgData name="Harlan Kefalas" userId="a3ac36c53068914b" providerId="LiveId" clId="{84370B3A-096F-884D-B3BE-3F44453E0A31}" dt="2025-01-13T18:13:27.390" v="4"/>
      <pc:docMkLst>
        <pc:docMk/>
      </pc:docMkLst>
      <pc:sldChg chg="addSp delSp modSp mod">
        <pc:chgData name="Harlan Kefalas" userId="a3ac36c53068914b" providerId="LiveId" clId="{84370B3A-096F-884D-B3BE-3F44453E0A31}" dt="2025-01-13T18:13:27.390" v="4"/>
        <pc:sldMkLst>
          <pc:docMk/>
          <pc:sldMk cId="0" sldId="269"/>
        </pc:sldMkLst>
        <pc:spChg chg="add del mod">
          <ac:chgData name="Harlan Kefalas" userId="a3ac36c53068914b" providerId="LiveId" clId="{84370B3A-096F-884D-B3BE-3F44453E0A31}" dt="2025-01-13T18:13:27.390" v="4"/>
          <ac:spMkLst>
            <pc:docMk/>
            <pc:sldMk cId="0" sldId="269"/>
            <ac:spMk id="2" creationId="{50652E3C-7AD0-8C2D-7AE4-29D7538A73C3}"/>
          </ac:spMkLst>
        </pc:spChg>
      </pc:sldChg>
      <pc:sldChg chg="modSp mod">
        <pc:chgData name="Harlan Kefalas" userId="a3ac36c53068914b" providerId="LiveId" clId="{84370B3A-096F-884D-B3BE-3F44453E0A31}" dt="2025-01-13T17:53:41.360" v="1" actId="27636"/>
        <pc:sldMkLst>
          <pc:docMk/>
          <pc:sldMk cId="0" sldId="312"/>
        </pc:sldMkLst>
        <pc:spChg chg="mod">
          <ac:chgData name="Harlan Kefalas" userId="a3ac36c53068914b" providerId="LiveId" clId="{84370B3A-096F-884D-B3BE-3F44453E0A31}" dt="2025-01-13T17:53:41.360" v="1" actId="27636"/>
          <ac:spMkLst>
            <pc:docMk/>
            <pc:sldMk cId="0" sldId="312"/>
            <ac:spMk id="575" creationId="{00000000-0000-0000-0000-000000000000}"/>
          </ac:spMkLst>
        </pc:spChg>
      </pc:sldChg>
      <pc:sldChg chg="modSp mod">
        <pc:chgData name="Harlan Kefalas" userId="a3ac36c53068914b" providerId="LiveId" clId="{84370B3A-096F-884D-B3BE-3F44453E0A31}" dt="2025-01-13T17:53:41.368" v="2" actId="27636"/>
        <pc:sldMkLst>
          <pc:docMk/>
          <pc:sldMk cId="0" sldId="313"/>
        </pc:sldMkLst>
        <pc:spChg chg="mod">
          <ac:chgData name="Harlan Kefalas" userId="a3ac36c53068914b" providerId="LiveId" clId="{84370B3A-096F-884D-B3BE-3F44453E0A31}" dt="2025-01-13T17:53:41.368" v="2" actId="27636"/>
          <ac:spMkLst>
            <pc:docMk/>
            <pc:sldMk cId="0" sldId="313"/>
            <ac:spMk id="584" creationId="{00000000-0000-0000-0000-000000000000}"/>
          </ac:spMkLst>
        </pc:spChg>
      </pc:sldChg>
    </pc:docChg>
  </pc:docChgLst>
  <pc:docChgLst>
    <pc:chgData name="Harlan Kefalas" userId="a3ac36c53068914b" providerId="LiveId" clId="{53407643-97E2-2F4B-8C56-60D2D4BCE7B4}"/>
    <pc:docChg chg="modSld">
      <pc:chgData name="Harlan Kefalas" userId="a3ac36c53068914b" providerId="LiveId" clId="{53407643-97E2-2F4B-8C56-60D2D4BCE7B4}" dt="2024-08-21T23:45:55.825" v="0" actId="1036"/>
      <pc:docMkLst>
        <pc:docMk/>
      </pc:docMkLst>
      <pc:sldChg chg="modSp mod">
        <pc:chgData name="Harlan Kefalas" userId="a3ac36c53068914b" providerId="LiveId" clId="{53407643-97E2-2F4B-8C56-60D2D4BCE7B4}" dt="2024-08-21T23:45:55.825" v="0" actId="1036"/>
        <pc:sldMkLst>
          <pc:docMk/>
          <pc:sldMk cId="0" sldId="256"/>
        </pc:sldMkLst>
      </pc:sldChg>
    </pc:docChg>
  </pc:docChgLst>
</pc:chgInfo>
</file>

<file path=ppt/comments/modernComment_11B_0.xml><?xml version="1.0" encoding="utf-8"?>
<p188:cmLst xmlns:a="http://schemas.openxmlformats.org/drawingml/2006/main" xmlns:r="http://schemas.openxmlformats.org/officeDocument/2006/relationships" xmlns:p188="http://schemas.microsoft.com/office/powerpoint/2018/8/main">
  <p188:cm id="{D0C84257-50B2-46FD-82C4-A43A4DC8763B}" authorId="{EB095EE8-B2B2-1850-F900-9E48ED796B93}" created="2025-01-14T21:19:35.646">
    <pc:sldMkLst xmlns:pc="http://schemas.microsoft.com/office/powerpoint/2013/main/command">
      <pc:docMk/>
      <pc:sldMk cId="0" sldId="283"/>
    </pc:sldMkLst>
    <p188:txBody>
      <a:bodyPr/>
      <a:lstStyle/>
      <a:p>
        <a:r>
          <a:rPr lang="en-US"/>
          <a:t>Candidate keys</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05BC36E3-FB2C-45FA-ABB1-675215B7A12E}" authorId="{EB095EE8-B2B2-1850-F900-9E48ED796B93}" created="2025-01-14T21:13:53.668">
    <pc:sldMkLst xmlns:pc="http://schemas.microsoft.com/office/powerpoint/2013/main/command">
      <pc:docMk/>
      <pc:sldMk cId="0" sldId="264"/>
    </pc:sldMkLst>
    <p188:txBody>
      <a:bodyPr/>
      <a:lstStyle/>
      <a:p>
        <a:r>
          <a:rPr lang="en-US"/>
          <a:t>Cardinality</a:t>
        </a:r>
      </a:p>
    </p188:txBody>
  </p188:cm>
</p188:cmLst>
</file>

<file path=ppt/comments/modernComment_115_0.xml><?xml version="1.0" encoding="utf-8"?>
<p188:cmLst xmlns:a="http://schemas.openxmlformats.org/drawingml/2006/main" xmlns:r="http://schemas.openxmlformats.org/officeDocument/2006/relationships" xmlns:p188="http://schemas.microsoft.com/office/powerpoint/2018/8/main">
  <p188:cm id="{4CAACD66-DF30-40DB-AFAC-2F86A742FAA9}" authorId="{EB095EE8-B2B2-1850-F900-9E48ED796B93}" created="2025-01-14T21:17:16.179">
    <pc:sldMkLst xmlns:pc="http://schemas.microsoft.com/office/powerpoint/2013/main/command">
      <pc:docMk/>
      <pc:sldMk cId="0" sldId="277"/>
    </pc:sldMkLst>
    <p188:txBody>
      <a:bodyPr/>
      <a:lstStyle/>
      <a:p>
        <a:r>
          <a:rPr lang="en-US"/>
          <a:t>Composite Attributes</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F63A4F0F-863C-4256-9AB5-A3457E470A42}" authorId="{EB095EE8-B2B2-1850-F900-9E48ED796B93}" created="2025-01-14T21:18:22.202">
    <pc:sldMkLst xmlns:pc="http://schemas.microsoft.com/office/powerpoint/2013/main/command">
      <pc:docMk/>
      <pc:sldMk cId="0" sldId="281"/>
    </pc:sldMkLst>
    <p188:txBody>
      <a:bodyPr/>
      <a:lstStyle/>
      <a:p>
        <a:r>
          <a:rPr lang="en-US"/>
          <a:t>Composite Unique attribute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1" name="Google Shape;4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 name="Google Shape;4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0" name="Google Shape;5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2" indent="0" algn="l" rtl="0">
              <a:spcBef>
                <a:spcPts val="0"/>
              </a:spcBef>
              <a:spcAft>
                <a:spcPts val="0"/>
              </a:spcAft>
              <a:buNone/>
            </a:pPr>
            <a:r>
              <a:rPr lang="en-US"/>
              <a:t>An ER diagram for a retail company may contain entities, such as CUSTOMER, STORE, PRODUCT and SALES TRANSACTION.</a:t>
            </a:r>
            <a:endParaRPr/>
          </a:p>
          <a:p>
            <a:pPr marL="0" lvl="0" indent="0" algn="l" rtl="0">
              <a:spcBef>
                <a:spcPts val="0"/>
              </a:spcBef>
              <a:spcAft>
                <a:spcPts val="0"/>
              </a:spcAft>
              <a:buNone/>
            </a:pPr>
            <a:endParaRPr/>
          </a:p>
        </p:txBody>
      </p:sp>
      <p:sp>
        <p:nvSpPr>
          <p:cNvPr id="51" name="Google Shape;5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9" name="Google Shape;59;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Each depicted entity contains a number of entity instances or entity members.  For example entity CUSTOMER may contain entity instances such as customer Joe, customer Sue, and customer Pat.</a:t>
            </a:r>
            <a:endParaRPr/>
          </a:p>
          <a:p>
            <a:pPr marL="0" lvl="0" indent="0" algn="l" rtl="0">
              <a:spcBef>
                <a:spcPts val="0"/>
              </a:spcBef>
              <a:spcAft>
                <a:spcPts val="0"/>
              </a:spcAft>
              <a:buNone/>
            </a:pPr>
            <a:endParaRPr/>
          </a:p>
        </p:txBody>
      </p:sp>
      <p:sp>
        <p:nvSpPr>
          <p:cNvPr id="70" name="Google Shape;70;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8" name="Google Shape;78;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 name="Google Shape;8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16.</a:t>
            </a:r>
            <a:endParaRPr/>
          </a:p>
        </p:txBody>
      </p:sp>
      <p:sp>
        <p:nvSpPr>
          <p:cNvPr id="88" name="Google Shape;8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7" name="Google Shape;97;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6" name="Google Shape;10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 name="Google Shape;1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requirements for the relationship </a:t>
            </a:r>
            <a:r>
              <a:rPr lang="en-US" i="1"/>
              <a:t>ReportsTo</a:t>
            </a:r>
            <a:r>
              <a:rPr lang="en-US"/>
              <a:t> and the rules for interpreting cardinality constraints are given on Pages 17-18.</a:t>
            </a:r>
            <a:endParaRPr/>
          </a:p>
        </p:txBody>
      </p:sp>
      <p:sp>
        <p:nvSpPr>
          <p:cNvPr id="116" name="Google Shape;116;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5" name="Google Shape;12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5" name="Google Shape;13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requirements for each of the versions shown are given on Pages 18-19.</a:t>
            </a:r>
            <a:endParaRPr/>
          </a:p>
        </p:txBody>
      </p:sp>
      <p:sp>
        <p:nvSpPr>
          <p:cNvPr id="136" name="Google Shape;136;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5" name="Google Shape;1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1" indent="0" algn="l" rtl="0">
              <a:spcBef>
                <a:spcPts val="0"/>
              </a:spcBef>
              <a:spcAft>
                <a:spcPts val="0"/>
              </a:spcAft>
              <a:buNone/>
            </a:pPr>
            <a:r>
              <a:rPr lang="en-US"/>
              <a:t>The maximum cardinality on either side of the relationship can be either </a:t>
            </a:r>
            <a:r>
              <a:rPr lang="en-US" i="1"/>
              <a:t>one</a:t>
            </a:r>
            <a:r>
              <a:rPr lang="en-US"/>
              <a:t> or </a:t>
            </a:r>
            <a:r>
              <a:rPr lang="en-US" i="1"/>
              <a:t>many.  </a:t>
            </a:r>
            <a:endParaRPr/>
          </a:p>
          <a:p>
            <a:pPr marL="0" lvl="0" indent="0" algn="l" rtl="0">
              <a:spcBef>
                <a:spcPts val="0"/>
              </a:spcBef>
              <a:spcAft>
                <a:spcPts val="0"/>
              </a:spcAft>
              <a:buNone/>
            </a:pPr>
            <a:endParaRPr/>
          </a:p>
        </p:txBody>
      </p:sp>
      <p:sp>
        <p:nvSpPr>
          <p:cNvPr id="146" name="Google Shape;146;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4" name="Google Shape;15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4" name="Google Shape;164;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requirements for the three relationships (</a:t>
            </a:r>
            <a:r>
              <a:rPr lang="en-US" i="1"/>
              <a:t>IsLocatedIn</a:t>
            </a:r>
            <a:r>
              <a:rPr lang="en-US"/>
              <a:t>, </a:t>
            </a:r>
            <a:r>
              <a:rPr lang="en-US" i="1"/>
              <a:t>AssignedTo</a:t>
            </a:r>
            <a:r>
              <a:rPr lang="en-US"/>
              <a:t>, </a:t>
            </a:r>
            <a:r>
              <a:rPr lang="en-US" i="1"/>
              <a:t>IsAlloted</a:t>
            </a:r>
            <a:r>
              <a:rPr lang="en-US"/>
              <a:t>) are given on Page 20.</a:t>
            </a:r>
            <a:endParaRPr/>
          </a:p>
        </p:txBody>
      </p:sp>
      <p:sp>
        <p:nvSpPr>
          <p:cNvPr id="165" name="Google Shape;165;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8" name="Google Shape;178;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7" name="Google Shape;18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Illustrated relationship instances reflect the cardinality constraint symbols of the relationship.</a:t>
            </a:r>
            <a:endParaRPr/>
          </a:p>
        </p:txBody>
      </p:sp>
      <p:sp>
        <p:nvSpPr>
          <p:cNvPr id="188" name="Google Shape;18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7" name="Google Shape;197;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An attribute of a 1:M relationship or a 1:1 relationship is never necessary.</a:t>
            </a:r>
            <a:endParaRPr/>
          </a:p>
          <a:p>
            <a:pPr marL="0" lvl="0" indent="0" algn="l" rtl="0">
              <a:spcBef>
                <a:spcPts val="0"/>
              </a:spcBef>
              <a:spcAft>
                <a:spcPts val="0"/>
              </a:spcAft>
              <a:buNone/>
            </a:pPr>
            <a:endParaRPr/>
          </a:p>
        </p:txBody>
      </p:sp>
      <p:sp>
        <p:nvSpPr>
          <p:cNvPr id="198" name="Google Shape;198;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6" name="Google Shape;206;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requirements for the ER diagram shown are given on Page 21.</a:t>
            </a:r>
            <a:endParaRPr/>
          </a:p>
        </p:txBody>
      </p:sp>
      <p:sp>
        <p:nvSpPr>
          <p:cNvPr id="207" name="Google Shape;207;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6" name="Google Shape;216;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requirements and the discussion of the two ER diagrams shown here are given on Page 22.</a:t>
            </a:r>
            <a:endParaRPr/>
          </a:p>
        </p:txBody>
      </p:sp>
      <p:sp>
        <p:nvSpPr>
          <p:cNvPr id="217" name="Google Shape;217;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6" name="Google Shape;226;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ZAGI Retail Company Sales Department Database requirements are given on Page 23.</a:t>
            </a:r>
            <a:endParaRPr/>
          </a:p>
          <a:p>
            <a:pPr marL="0" lvl="0" indent="0" algn="l" rtl="0">
              <a:spcBef>
                <a:spcPts val="0"/>
              </a:spcBef>
              <a:spcAft>
                <a:spcPts val="0"/>
              </a:spcAft>
              <a:buNone/>
            </a:pPr>
            <a:endParaRPr/>
          </a:p>
          <a:p>
            <a:pPr marL="0" lvl="0" indent="0" algn="l" rtl="0">
              <a:spcBef>
                <a:spcPts val="0"/>
              </a:spcBef>
              <a:spcAft>
                <a:spcPts val="0"/>
              </a:spcAft>
              <a:buNone/>
            </a:pPr>
            <a:r>
              <a:rPr lang="en-US"/>
              <a:t>The knowledge of ER notation helps database requirements collectors gather structured and useful requirements for the future database.</a:t>
            </a:r>
            <a:endParaRPr/>
          </a:p>
          <a:p>
            <a:pPr marL="0" lvl="0" indent="0" algn="l" rtl="0">
              <a:spcBef>
                <a:spcPts val="0"/>
              </a:spcBef>
              <a:spcAft>
                <a:spcPts val="0"/>
              </a:spcAft>
              <a:buNone/>
            </a:pPr>
            <a:r>
              <a:rPr lang="en-US"/>
              <a:t>Knowing that an ER diagram has to be developed upon the completion of the database requirements process helps database requirements collectors focus on asking the right questions. Examples of such questions are given on Page 24.</a:t>
            </a:r>
            <a:endParaRPr/>
          </a:p>
        </p:txBody>
      </p:sp>
      <p:sp>
        <p:nvSpPr>
          <p:cNvPr id="227" name="Google Shape;227;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5" name="Google Shape;235;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4" name="Google Shape;244;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24.</a:t>
            </a:r>
            <a:endParaRPr/>
          </a:p>
        </p:txBody>
      </p:sp>
      <p:sp>
        <p:nvSpPr>
          <p:cNvPr id="245" name="Google Shape;245;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54" name="Google Shape;254;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24.</a:t>
            </a:r>
            <a:endParaRPr/>
          </a:p>
          <a:p>
            <a:pPr marL="0" lvl="0" indent="0" algn="l" rtl="0">
              <a:spcBef>
                <a:spcPts val="0"/>
              </a:spcBef>
              <a:spcAft>
                <a:spcPts val="0"/>
              </a:spcAft>
              <a:buNone/>
            </a:pPr>
            <a:endParaRPr/>
          </a:p>
        </p:txBody>
      </p:sp>
      <p:sp>
        <p:nvSpPr>
          <p:cNvPr id="255" name="Google Shape;255;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64" name="Google Shape;264;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24-25.</a:t>
            </a:r>
            <a:endParaRPr/>
          </a:p>
          <a:p>
            <a:pPr marL="0" lvl="0" indent="0" algn="l" rtl="0">
              <a:spcBef>
                <a:spcPts val="0"/>
              </a:spcBef>
              <a:spcAft>
                <a:spcPts val="0"/>
              </a:spcAft>
              <a:buNone/>
            </a:pPr>
            <a:endParaRPr/>
          </a:p>
        </p:txBody>
      </p:sp>
      <p:sp>
        <p:nvSpPr>
          <p:cNvPr id="265" name="Google Shape;265;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4" name="Google Shape;274;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3" name="Google Shape;283;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25-26.</a:t>
            </a:r>
            <a:endParaRPr/>
          </a:p>
        </p:txBody>
      </p:sp>
      <p:sp>
        <p:nvSpPr>
          <p:cNvPr id="284" name="Google Shape;284;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3" name="Google Shape;293;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term “candidate key” comes from the fact that a candidate key is a “candidate” to be chosen as the primary identifier (also known as a primary key) when implementing the resulting database.  One of the candidate keys is chosen later as the “primary key” for the table corresponding to the entity that contains the candidate keys.  Primary keys are discussed in Chapter 3.</a:t>
            </a:r>
            <a:endParaRPr/>
          </a:p>
        </p:txBody>
      </p:sp>
      <p:sp>
        <p:nvSpPr>
          <p:cNvPr id="294" name="Google Shape;294;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02" name="Google Shape;302;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26.</a:t>
            </a:r>
            <a:endParaRPr/>
          </a:p>
        </p:txBody>
      </p:sp>
      <p:sp>
        <p:nvSpPr>
          <p:cNvPr id="303" name="Google Shape;303;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2" name="Google Shape;312;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26.</a:t>
            </a:r>
            <a:endParaRPr/>
          </a:p>
        </p:txBody>
      </p:sp>
      <p:sp>
        <p:nvSpPr>
          <p:cNvPr id="313" name="Google Shape;313;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22" name="Google Shape;322;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Used in cases in which there is a variable number of values that can be assigned to the particular attribute of the entity.</a:t>
            </a:r>
            <a:endParaRPr/>
          </a:p>
          <a:p>
            <a:pPr marL="0" lvl="0" indent="0" algn="l" rtl="0">
              <a:spcBef>
                <a:spcPts val="0"/>
              </a:spcBef>
              <a:spcAft>
                <a:spcPts val="0"/>
              </a:spcAft>
              <a:buNone/>
            </a:pPr>
            <a:endParaRPr/>
          </a:p>
        </p:txBody>
      </p:sp>
      <p:sp>
        <p:nvSpPr>
          <p:cNvPr id="323" name="Google Shape;323;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31" name="Google Shape;331;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27.</a:t>
            </a:r>
            <a:endParaRPr/>
          </a:p>
        </p:txBody>
      </p:sp>
      <p:sp>
        <p:nvSpPr>
          <p:cNvPr id="332" name="Google Shape;332;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41" name="Google Shape;341;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27.</a:t>
            </a:r>
            <a:endParaRPr/>
          </a:p>
        </p:txBody>
      </p:sp>
      <p:sp>
        <p:nvSpPr>
          <p:cNvPr id="342" name="Google Shape;342;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1" name="Google Shape;351;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value of a derived attribute is calculated from the stored values of other attributes and/or additional available data (such as current date).</a:t>
            </a:r>
            <a:endParaRPr/>
          </a:p>
        </p:txBody>
      </p:sp>
      <p:sp>
        <p:nvSpPr>
          <p:cNvPr id="352" name="Google Shape;352;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60" name="Google Shape;360;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27.</a:t>
            </a:r>
            <a:endParaRPr/>
          </a:p>
        </p:txBody>
      </p:sp>
      <p:sp>
        <p:nvSpPr>
          <p:cNvPr id="361" name="Google Shape;361;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70" name="Google Shape;370;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28.</a:t>
            </a:r>
            <a:endParaRPr/>
          </a:p>
        </p:txBody>
      </p:sp>
      <p:sp>
        <p:nvSpPr>
          <p:cNvPr id="371" name="Google Shape;371;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80" name="Google Shape;380;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Typically, most attributes are required attributes (attributes that must have a value for each entity instance).  However, some attributes are optional attributes.</a:t>
            </a:r>
            <a:endParaRPr/>
          </a:p>
        </p:txBody>
      </p:sp>
      <p:sp>
        <p:nvSpPr>
          <p:cNvPr id="381" name="Google Shape;381;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89" name="Google Shape;389;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28.</a:t>
            </a:r>
            <a:endParaRPr/>
          </a:p>
        </p:txBody>
      </p:sp>
      <p:sp>
        <p:nvSpPr>
          <p:cNvPr id="390" name="Google Shape;390;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99" name="Google Shape;399;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29.</a:t>
            </a:r>
            <a:endParaRPr/>
          </a:p>
        </p:txBody>
      </p:sp>
      <p:sp>
        <p:nvSpPr>
          <p:cNvPr id="400" name="Google Shape;400;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09" name="Google Shape;409;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18" name="Google Shape;418;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29.</a:t>
            </a:r>
            <a:endParaRPr/>
          </a:p>
        </p:txBody>
      </p:sp>
      <p:sp>
        <p:nvSpPr>
          <p:cNvPr id="419" name="Google Shape;419;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28" name="Google Shape;42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30.</a:t>
            </a:r>
            <a:endParaRPr/>
          </a:p>
        </p:txBody>
      </p:sp>
      <p:sp>
        <p:nvSpPr>
          <p:cNvPr id="429" name="Google Shape;429;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38" name="Google Shape;438;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majority of relationships in business-related ER diagrams are binary relationships.</a:t>
            </a:r>
            <a:endParaRPr/>
          </a:p>
        </p:txBody>
      </p:sp>
      <p:sp>
        <p:nvSpPr>
          <p:cNvPr id="439" name="Google Shape;439;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7" name="Google Shape;447;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examples are discussed on Pages 30-31.</a:t>
            </a:r>
            <a:endParaRPr/>
          </a:p>
        </p:txBody>
      </p:sp>
      <p:sp>
        <p:nvSpPr>
          <p:cNvPr id="448" name="Google Shape;448;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57" name="Google Shape;457;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Relationship roles can be used in relationships of any degree, but their usefulness is most apparent when they are used in unary relationships.</a:t>
            </a:r>
            <a:endParaRPr/>
          </a:p>
        </p:txBody>
      </p:sp>
      <p:sp>
        <p:nvSpPr>
          <p:cNvPr id="458" name="Google Shape;458;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66" name="Google Shape;466;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examples are discussed on Page 31.</a:t>
            </a:r>
            <a:endParaRPr/>
          </a:p>
        </p:txBody>
      </p:sp>
      <p:sp>
        <p:nvSpPr>
          <p:cNvPr id="467" name="Google Shape;467;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6" name="Google Shape;476;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same ER diagram without the relationship roles would be just as informative, while containing less verbiage.</a:t>
            </a:r>
            <a:endParaRPr/>
          </a:p>
        </p:txBody>
      </p:sp>
      <p:sp>
        <p:nvSpPr>
          <p:cNvPr id="477" name="Google Shape;477;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86" name="Google Shape;486;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95" name="Google Shape;495;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32.</a:t>
            </a:r>
            <a:endParaRPr/>
          </a:p>
        </p:txBody>
      </p:sp>
      <p:sp>
        <p:nvSpPr>
          <p:cNvPr id="496" name="Google Shape;496;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05" name="Google Shape;505;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14" name="Google Shape;514;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23" name="Google Shape;523;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32-33.</a:t>
            </a:r>
            <a:endParaRPr/>
          </a:p>
        </p:txBody>
      </p:sp>
      <p:sp>
        <p:nvSpPr>
          <p:cNvPr id="524" name="Google Shape;524;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33" name="Google Shape;533;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and a comparison between weak entities and multivalued composite attributes is given on Page 34.</a:t>
            </a:r>
            <a:endParaRPr/>
          </a:p>
        </p:txBody>
      </p:sp>
      <p:sp>
        <p:nvSpPr>
          <p:cNvPr id="534" name="Google Shape;534;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43" name="Google Shape;543;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34.</a:t>
            </a:r>
            <a:endParaRPr/>
          </a:p>
          <a:p>
            <a:pPr marL="0" lvl="0" indent="0" algn="l" rtl="0">
              <a:spcBef>
                <a:spcPts val="0"/>
              </a:spcBef>
              <a:spcAft>
                <a:spcPts val="0"/>
              </a:spcAft>
              <a:buNone/>
            </a:pPr>
            <a:endParaRPr/>
          </a:p>
        </p:txBody>
      </p:sp>
      <p:sp>
        <p:nvSpPr>
          <p:cNvPr id="544" name="Google Shape;544;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53" name="Google Shape;553;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2" name="Google Shape;562;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34-35.</a:t>
            </a:r>
            <a:endParaRPr/>
          </a:p>
        </p:txBody>
      </p:sp>
      <p:sp>
        <p:nvSpPr>
          <p:cNvPr id="563" name="Google Shape;563;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72" name="Google Shape;572;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example:</a:t>
            </a:r>
            <a:endParaRPr/>
          </a:p>
          <a:p>
            <a:pPr marL="0" lvl="0" indent="0" algn="l" rtl="0">
              <a:spcBef>
                <a:spcPts val="0"/>
              </a:spcBef>
              <a:spcAft>
                <a:spcPts val="0"/>
              </a:spcAft>
              <a:buNone/>
            </a:pPr>
            <a:r>
              <a:rPr lang="en-US"/>
              <a:t>- entity names </a:t>
            </a:r>
            <a:r>
              <a:rPr lang="en-US" i="1"/>
              <a:t>STUDENT</a:t>
            </a:r>
            <a:r>
              <a:rPr lang="en-US"/>
              <a:t>, </a:t>
            </a:r>
            <a:r>
              <a:rPr lang="en-US" i="1"/>
              <a:t>STORE</a:t>
            </a:r>
            <a:r>
              <a:rPr lang="en-US"/>
              <a:t>, and </a:t>
            </a:r>
            <a:r>
              <a:rPr lang="en-US" i="1"/>
              <a:t>PROJECT</a:t>
            </a:r>
            <a:r>
              <a:rPr lang="en-US"/>
              <a:t> are better choices than </a:t>
            </a:r>
            <a:r>
              <a:rPr lang="en-US" i="1"/>
              <a:t>STUDENTS</a:t>
            </a:r>
            <a:r>
              <a:rPr lang="en-US"/>
              <a:t>, </a:t>
            </a:r>
            <a:r>
              <a:rPr lang="en-US" i="1"/>
              <a:t>STORES</a:t>
            </a:r>
            <a:r>
              <a:rPr lang="en-US"/>
              <a:t> and </a:t>
            </a:r>
            <a:r>
              <a:rPr lang="en-US" i="1"/>
              <a:t>PROJECTS</a:t>
            </a:r>
            <a:endParaRPr/>
          </a:p>
          <a:p>
            <a:pPr marL="0" lvl="0" indent="0" algn="l" rtl="0">
              <a:spcBef>
                <a:spcPts val="0"/>
              </a:spcBef>
              <a:spcAft>
                <a:spcPts val="0"/>
              </a:spcAft>
              <a:buNone/>
            </a:pPr>
            <a:r>
              <a:rPr lang="en-US"/>
              <a:t>- attribute name </a:t>
            </a:r>
            <a:r>
              <a:rPr lang="en-US" i="1"/>
              <a:t>Phone</a:t>
            </a:r>
            <a:r>
              <a:rPr lang="en-US"/>
              <a:t> is a better choice than the attribute name </a:t>
            </a:r>
            <a:r>
              <a:rPr lang="en-US" i="1"/>
              <a:t>Phones</a:t>
            </a:r>
            <a:endParaRPr/>
          </a:p>
          <a:p>
            <a:pPr marL="0" lvl="0" indent="0" algn="l" rtl="0">
              <a:spcBef>
                <a:spcPts val="0"/>
              </a:spcBef>
              <a:spcAft>
                <a:spcPts val="0"/>
              </a:spcAft>
              <a:buNone/>
            </a:pPr>
            <a:r>
              <a:rPr lang="en-US"/>
              <a:t>- relationship names </a:t>
            </a:r>
            <a:r>
              <a:rPr lang="en-US" i="1"/>
              <a:t>Inspects</a:t>
            </a:r>
            <a:r>
              <a:rPr lang="en-US"/>
              <a:t>, </a:t>
            </a:r>
            <a:r>
              <a:rPr lang="en-US" i="1"/>
              <a:t>Manages</a:t>
            </a:r>
            <a:r>
              <a:rPr lang="en-US"/>
              <a:t>, and </a:t>
            </a:r>
            <a:r>
              <a:rPr lang="en-US" i="1"/>
              <a:t>BelongsTo</a:t>
            </a:r>
            <a:r>
              <a:rPr lang="en-US"/>
              <a:t> are better choices than </a:t>
            </a:r>
            <a:r>
              <a:rPr lang="en-US" i="1"/>
              <a:t>Inspection</a:t>
            </a:r>
            <a:r>
              <a:rPr lang="en-US"/>
              <a:t>, </a:t>
            </a:r>
            <a:r>
              <a:rPr lang="en-US" i="1"/>
              <a:t>Management</a:t>
            </a:r>
            <a:r>
              <a:rPr lang="en-US"/>
              <a:t> and </a:t>
            </a:r>
            <a:r>
              <a:rPr lang="en-US" i="1"/>
              <a:t>Belonging</a:t>
            </a:r>
            <a:endParaRPr/>
          </a:p>
          <a:p>
            <a:pPr marL="0" lvl="0" indent="0" algn="l" rtl="0">
              <a:spcBef>
                <a:spcPts val="0"/>
              </a:spcBef>
              <a:spcAft>
                <a:spcPts val="0"/>
              </a:spcAft>
              <a:buNone/>
            </a:pPr>
            <a:endParaRPr/>
          </a:p>
        </p:txBody>
      </p:sp>
      <p:sp>
        <p:nvSpPr>
          <p:cNvPr id="573" name="Google Shape;573;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81" name="Google Shape;581;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example:</a:t>
            </a:r>
            <a:endParaRPr/>
          </a:p>
          <a:p>
            <a:pPr marL="0" lvl="0" indent="0" algn="l" rtl="0">
              <a:spcBef>
                <a:spcPts val="0"/>
              </a:spcBef>
              <a:spcAft>
                <a:spcPts val="0"/>
              </a:spcAft>
              <a:buNone/>
            </a:pPr>
            <a:r>
              <a:rPr lang="en-US"/>
              <a:t>- entity name </a:t>
            </a:r>
            <a:r>
              <a:rPr lang="en-US" i="1"/>
              <a:t>STUDENT</a:t>
            </a:r>
            <a:r>
              <a:rPr lang="en-US"/>
              <a:t> is a better choice than </a:t>
            </a:r>
            <a:r>
              <a:rPr lang="en-US" i="1"/>
              <a:t>UNIVERSITY STUDENT </a:t>
            </a:r>
            <a:r>
              <a:rPr lang="en-US"/>
              <a:t>(unnecessarily wordy) or </a:t>
            </a:r>
            <a:r>
              <a:rPr lang="en-US" i="1"/>
              <a:t>US</a:t>
            </a:r>
            <a:r>
              <a:rPr lang="en-US"/>
              <a:t> (too cryptic)</a:t>
            </a:r>
            <a:endParaRPr/>
          </a:p>
          <a:p>
            <a:pPr marL="0" lvl="0" indent="0" algn="l" rtl="0">
              <a:spcBef>
                <a:spcPts val="0"/>
              </a:spcBef>
              <a:spcAft>
                <a:spcPts val="0"/>
              </a:spcAft>
              <a:buNone/>
            </a:pPr>
            <a:r>
              <a:rPr lang="en-US"/>
              <a:t>- use </a:t>
            </a:r>
            <a:r>
              <a:rPr lang="en-US" i="1"/>
              <a:t>EmpName</a:t>
            </a:r>
            <a:r>
              <a:rPr lang="en-US"/>
              <a:t> and </a:t>
            </a:r>
            <a:r>
              <a:rPr lang="en-US" i="1"/>
              <a:t>CustName</a:t>
            </a:r>
            <a:r>
              <a:rPr lang="en-US"/>
              <a:t> as names for attributes of entities EMPLOYEE and CUSTOMER respectively, instead of name </a:t>
            </a:r>
            <a:r>
              <a:rPr lang="en-US" i="1"/>
              <a:t>Name</a:t>
            </a:r>
            <a:r>
              <a:rPr lang="en-US"/>
              <a:t> for both attributes</a:t>
            </a:r>
            <a:endParaRPr/>
          </a:p>
        </p:txBody>
      </p:sp>
      <p:sp>
        <p:nvSpPr>
          <p:cNvPr id="582" name="Google Shape;582;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90" name="Google Shape;590;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99" name="Google Shape;599;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35-37.</a:t>
            </a:r>
            <a:endParaRPr/>
          </a:p>
        </p:txBody>
      </p:sp>
      <p:sp>
        <p:nvSpPr>
          <p:cNvPr id="600" name="Google Shape;600;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09" name="Google Shape;609;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35-37.</a:t>
            </a:r>
            <a:endParaRPr/>
          </a:p>
        </p:txBody>
      </p:sp>
      <p:sp>
        <p:nvSpPr>
          <p:cNvPr id="610" name="Google Shape;610;p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19" name="Google Shape;619;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35-37.</a:t>
            </a:r>
            <a:endParaRPr/>
          </a:p>
        </p:txBody>
      </p:sp>
      <p:sp>
        <p:nvSpPr>
          <p:cNvPr id="620" name="Google Shape;620;p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29" name="Google Shape;629;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HAFH Realty Company Property Management Database requirements are given on Pages 37-38.</a:t>
            </a:r>
            <a:endParaRPr/>
          </a:p>
        </p:txBody>
      </p:sp>
      <p:sp>
        <p:nvSpPr>
          <p:cNvPr id="630" name="Google Shape;630;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38" name="Google Shape;638;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9" name="Google Shape;639;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7" name="Google Shape;647;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56" name="Google Shape;656;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38.</a:t>
            </a:r>
            <a:endParaRPr/>
          </a:p>
          <a:p>
            <a:pPr marL="0" lvl="0" indent="0" algn="l" rtl="0">
              <a:spcBef>
                <a:spcPts val="0"/>
              </a:spcBef>
              <a:spcAft>
                <a:spcPts val="0"/>
              </a:spcAft>
              <a:buNone/>
            </a:pPr>
            <a:endParaRPr/>
          </a:p>
        </p:txBody>
      </p:sp>
      <p:sp>
        <p:nvSpPr>
          <p:cNvPr id="657" name="Google Shape;657;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66" name="Google Shape;666;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38-39.</a:t>
            </a:r>
            <a:endParaRPr/>
          </a:p>
          <a:p>
            <a:pPr marL="0" lvl="0" indent="0" algn="l" rtl="0">
              <a:spcBef>
                <a:spcPts val="0"/>
              </a:spcBef>
              <a:spcAft>
                <a:spcPts val="0"/>
              </a:spcAft>
              <a:buNone/>
            </a:pPr>
            <a:endParaRPr/>
          </a:p>
        </p:txBody>
      </p:sp>
      <p:sp>
        <p:nvSpPr>
          <p:cNvPr id="667" name="Google Shape;667;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76" name="Google Shape;676;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7" name="Google Shape;677;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85" name="Google Shape;685;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39-40.</a:t>
            </a:r>
            <a:endParaRPr/>
          </a:p>
          <a:p>
            <a:pPr marL="0" lvl="0" indent="0" algn="l" rtl="0">
              <a:spcBef>
                <a:spcPts val="0"/>
              </a:spcBef>
              <a:spcAft>
                <a:spcPts val="0"/>
              </a:spcAft>
              <a:buNone/>
            </a:pPr>
            <a:endParaRPr/>
          </a:p>
        </p:txBody>
      </p:sp>
      <p:sp>
        <p:nvSpPr>
          <p:cNvPr id="686" name="Google Shape;686;p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95" name="Google Shape;695;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6" name="Google Shape;696;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04" name="Google Shape;704;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notations are discussed on Page 41.</a:t>
            </a:r>
            <a:endParaRPr/>
          </a:p>
          <a:p>
            <a:pPr marL="0" lvl="0" indent="0" algn="l" rtl="0">
              <a:spcBef>
                <a:spcPts val="0"/>
              </a:spcBef>
              <a:spcAft>
                <a:spcPts val="0"/>
              </a:spcAft>
              <a:buNone/>
            </a:pPr>
            <a:endParaRPr/>
          </a:p>
        </p:txBody>
      </p:sp>
      <p:sp>
        <p:nvSpPr>
          <p:cNvPr id="705" name="Google Shape;705;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14" name="Google Shape;714;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23" name="Google Shape;723;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42-44.</a:t>
            </a:r>
            <a:endParaRPr/>
          </a:p>
          <a:p>
            <a:pPr marL="0" lvl="0" indent="0" algn="l" rtl="0">
              <a:spcBef>
                <a:spcPts val="0"/>
              </a:spcBef>
              <a:spcAft>
                <a:spcPts val="0"/>
              </a:spcAft>
              <a:buNone/>
            </a:pPr>
            <a:endParaRPr/>
          </a:p>
        </p:txBody>
      </p:sp>
      <p:sp>
        <p:nvSpPr>
          <p:cNvPr id="724" name="Google Shape;724;p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33" name="Google Shape;733;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42-44.</a:t>
            </a:r>
            <a:endParaRPr/>
          </a:p>
        </p:txBody>
      </p:sp>
      <p:sp>
        <p:nvSpPr>
          <p:cNvPr id="734" name="Google Shape;734;p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43" name="Google Shape;743;p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42-44.</a:t>
            </a:r>
            <a:endParaRPr/>
          </a:p>
          <a:p>
            <a:pPr marL="0" lvl="0" indent="0" algn="l" rtl="0">
              <a:spcBef>
                <a:spcPts val="0"/>
              </a:spcBef>
              <a:spcAft>
                <a:spcPts val="0"/>
              </a:spcAft>
              <a:buNone/>
            </a:pPr>
            <a:endParaRPr/>
          </a:p>
        </p:txBody>
      </p:sp>
      <p:sp>
        <p:nvSpPr>
          <p:cNvPr id="744" name="Google Shape;744;p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53" name="Google Shape;753;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42-44</a:t>
            </a:r>
            <a:endParaRPr/>
          </a:p>
          <a:p>
            <a:pPr marL="0" lvl="0" indent="0" algn="l" rtl="0">
              <a:spcBef>
                <a:spcPts val="0"/>
              </a:spcBef>
              <a:spcAft>
                <a:spcPts val="0"/>
              </a:spcAft>
              <a:buNone/>
            </a:pPr>
            <a:endParaRPr/>
          </a:p>
        </p:txBody>
      </p:sp>
      <p:sp>
        <p:nvSpPr>
          <p:cNvPr id="754" name="Google Shape;754;p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63" name="Google Shape;763;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42-44</a:t>
            </a:r>
            <a:endParaRPr/>
          </a:p>
          <a:p>
            <a:pPr marL="0" lvl="0" indent="0" algn="l" rtl="0">
              <a:spcBef>
                <a:spcPts val="0"/>
              </a:spcBef>
              <a:spcAft>
                <a:spcPts val="0"/>
              </a:spcAft>
              <a:buNone/>
            </a:pPr>
            <a:endParaRPr/>
          </a:p>
        </p:txBody>
      </p:sp>
      <p:sp>
        <p:nvSpPr>
          <p:cNvPr id="764" name="Google Shape;764;p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73" name="Google Shape;773;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44-46.</a:t>
            </a:r>
            <a:endParaRPr/>
          </a:p>
          <a:p>
            <a:pPr marL="0" lvl="0" indent="0" algn="l" rtl="0">
              <a:spcBef>
                <a:spcPts val="0"/>
              </a:spcBef>
              <a:spcAft>
                <a:spcPts val="0"/>
              </a:spcAft>
              <a:buNone/>
            </a:pPr>
            <a:endParaRPr/>
          </a:p>
        </p:txBody>
      </p:sp>
      <p:sp>
        <p:nvSpPr>
          <p:cNvPr id="774" name="Google Shape;774;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83" name="Google Shape;783;p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44-46.</a:t>
            </a:r>
            <a:endParaRPr/>
          </a:p>
          <a:p>
            <a:pPr marL="0" lvl="0" indent="0" algn="l" rtl="0">
              <a:spcBef>
                <a:spcPts val="0"/>
              </a:spcBef>
              <a:spcAft>
                <a:spcPts val="0"/>
              </a:spcAft>
              <a:buNone/>
            </a:pPr>
            <a:endParaRPr/>
          </a:p>
        </p:txBody>
      </p:sp>
      <p:sp>
        <p:nvSpPr>
          <p:cNvPr id="784" name="Google Shape;784;p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93" name="Google Shape;793;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p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02" name="Google Shape;802;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 46.</a:t>
            </a:r>
            <a:endParaRPr/>
          </a:p>
          <a:p>
            <a:pPr marL="0" lvl="0" indent="0" algn="l" rtl="0">
              <a:spcBef>
                <a:spcPts val="0"/>
              </a:spcBef>
              <a:spcAft>
                <a:spcPts val="0"/>
              </a:spcAft>
              <a:buNone/>
            </a:pPr>
            <a:endParaRPr/>
          </a:p>
        </p:txBody>
      </p:sp>
      <p:sp>
        <p:nvSpPr>
          <p:cNvPr id="803" name="Google Shape;803;p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12" name="Google Shape;812;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46-47.</a:t>
            </a:r>
            <a:endParaRPr/>
          </a:p>
        </p:txBody>
      </p:sp>
      <p:sp>
        <p:nvSpPr>
          <p:cNvPr id="813" name="Google Shape;813;p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22" name="Google Shape;822;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47-48.</a:t>
            </a:r>
            <a:endParaRPr/>
          </a:p>
          <a:p>
            <a:pPr marL="0" lvl="0" indent="0" algn="l" rtl="0">
              <a:spcBef>
                <a:spcPts val="0"/>
              </a:spcBef>
              <a:spcAft>
                <a:spcPts val="0"/>
              </a:spcAft>
              <a:buNone/>
            </a:pPr>
            <a:endParaRPr/>
          </a:p>
        </p:txBody>
      </p:sp>
      <p:sp>
        <p:nvSpPr>
          <p:cNvPr id="823" name="Google Shape;823;p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2" name="Google Shape;832;p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Associative entities are not necessary constructs for depicting binary or unary relationships (for binary or unary relationships, associative entities are simply another way of depicting a relationship).</a:t>
            </a:r>
            <a:endParaRPr/>
          </a:p>
          <a:p>
            <a:pPr marL="0" lvl="0" indent="0" algn="l" rtl="0">
              <a:spcBef>
                <a:spcPts val="0"/>
              </a:spcBef>
              <a:spcAft>
                <a:spcPts val="0"/>
              </a:spcAft>
              <a:buNone/>
            </a:pPr>
            <a:endParaRPr/>
          </a:p>
        </p:txBody>
      </p:sp>
      <p:sp>
        <p:nvSpPr>
          <p:cNvPr id="833" name="Google Shape;833;p8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41" name="Google Shape;841;p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2" name="Google Shape;842;p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50" name="Google Shape;850;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48-51.</a:t>
            </a:r>
            <a:endParaRPr/>
          </a:p>
          <a:p>
            <a:pPr marL="0" lvl="0" indent="0" algn="l" rtl="0">
              <a:spcBef>
                <a:spcPts val="0"/>
              </a:spcBef>
              <a:spcAft>
                <a:spcPts val="0"/>
              </a:spcAft>
              <a:buNone/>
            </a:pPr>
            <a:endParaRPr/>
          </a:p>
        </p:txBody>
      </p:sp>
      <p:sp>
        <p:nvSpPr>
          <p:cNvPr id="851" name="Google Shape;851;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60" name="Google Shape;860;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48-51.</a:t>
            </a:r>
            <a:endParaRPr/>
          </a:p>
        </p:txBody>
      </p:sp>
      <p:sp>
        <p:nvSpPr>
          <p:cNvPr id="861" name="Google Shape;861;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0" name="Google Shape;870;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48-51.</a:t>
            </a:r>
            <a:endParaRPr/>
          </a:p>
        </p:txBody>
      </p:sp>
      <p:sp>
        <p:nvSpPr>
          <p:cNvPr id="871" name="Google Shape;871;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80" name="Google Shape;880;p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48-51.</a:t>
            </a:r>
            <a:endParaRPr/>
          </a:p>
        </p:txBody>
      </p:sp>
      <p:sp>
        <p:nvSpPr>
          <p:cNvPr id="881" name="Google Shape;881;p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90" name="Google Shape;890;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48-51.</a:t>
            </a:r>
            <a:endParaRPr/>
          </a:p>
        </p:txBody>
      </p:sp>
      <p:sp>
        <p:nvSpPr>
          <p:cNvPr id="891" name="Google Shape;891;p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00" name="Google Shape;900;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48-51.</a:t>
            </a:r>
            <a:endParaRPr/>
          </a:p>
        </p:txBody>
      </p:sp>
      <p:sp>
        <p:nvSpPr>
          <p:cNvPr id="901" name="Google Shape;901;p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10" name="Google Shape;910;p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most cases when a designer is tempted to create relationships of degrees higher than 2, he or she should explore the possibility of creating additional entities instead.</a:t>
            </a:r>
            <a:endParaRPr/>
          </a:p>
          <a:p>
            <a:pPr marL="0" lvl="0" indent="0" algn="l" rtl="0">
              <a:spcBef>
                <a:spcPts val="0"/>
              </a:spcBef>
              <a:spcAft>
                <a:spcPts val="0"/>
              </a:spcAft>
              <a:buNone/>
            </a:pPr>
            <a:endParaRPr/>
          </a:p>
        </p:txBody>
      </p:sp>
      <p:sp>
        <p:nvSpPr>
          <p:cNvPr id="911" name="Google Shape;911;p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19" name="Google Shape;919;p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most cases when a designer is tempted to create relationships of degrees higher than 2, he or she should explore the possibility of creating additional entities instead.</a:t>
            </a:r>
            <a:endParaRPr/>
          </a:p>
          <a:p>
            <a:pPr marL="0" lvl="0" indent="0" algn="l" rtl="0">
              <a:spcBef>
                <a:spcPts val="0"/>
              </a:spcBef>
              <a:spcAft>
                <a:spcPts val="0"/>
              </a:spcAft>
              <a:buNone/>
            </a:pPr>
            <a:endParaRPr/>
          </a:p>
        </p:txBody>
      </p:sp>
      <p:sp>
        <p:nvSpPr>
          <p:cNvPr id="920" name="Google Shape;920;p9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28" name="Google Shape;928;p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51-52.</a:t>
            </a:r>
            <a:endParaRPr/>
          </a:p>
          <a:p>
            <a:pPr marL="0" lvl="0" indent="0" algn="l" rtl="0">
              <a:spcBef>
                <a:spcPts val="0"/>
              </a:spcBef>
              <a:spcAft>
                <a:spcPts val="0"/>
              </a:spcAft>
              <a:buNone/>
            </a:pPr>
            <a:endParaRPr/>
          </a:p>
        </p:txBody>
      </p:sp>
      <p:sp>
        <p:nvSpPr>
          <p:cNvPr id="929" name="Google Shape;929;p9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38" name="Google Shape;938;p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example is discussed on Pages 51-52.</a:t>
            </a:r>
            <a:endParaRPr/>
          </a:p>
          <a:p>
            <a:pPr marL="0" lvl="0" indent="0" algn="l" rtl="0">
              <a:spcBef>
                <a:spcPts val="0"/>
              </a:spcBef>
              <a:spcAft>
                <a:spcPts val="0"/>
              </a:spcAft>
              <a:buNone/>
            </a:pPr>
            <a:endParaRPr/>
          </a:p>
        </p:txBody>
      </p:sp>
      <p:sp>
        <p:nvSpPr>
          <p:cNvPr id="939" name="Google Shape;939;p9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lt2">
            <a:alpha val="89803"/>
          </a:schemeClr>
        </a:solidFill>
        <a:effectLst/>
      </p:bgPr>
    </p:bg>
    <p:spTree>
      <p:nvGrpSpPr>
        <p:cNvPr id="1" name="Shape 18"/>
        <p:cNvGrpSpPr/>
        <p:nvPr/>
      </p:nvGrpSpPr>
      <p:grpSpPr>
        <a:xfrm>
          <a:off x="0" y="0"/>
          <a:ext cx="0" cy="0"/>
          <a:chOff x="0" y="0"/>
          <a:chExt cx="0" cy="0"/>
        </a:xfrm>
      </p:grpSpPr>
      <p:cxnSp>
        <p:nvCxnSpPr>
          <p:cNvPr id="19" name="Google Shape;19;p97"/>
          <p:cNvCxnSpPr/>
          <p:nvPr/>
        </p:nvCxnSpPr>
        <p:spPr>
          <a:xfrm>
            <a:off x="514350" y="5349902"/>
            <a:ext cx="8629650" cy="2381"/>
          </a:xfrm>
          <a:prstGeom prst="straightConnector1">
            <a:avLst/>
          </a:prstGeom>
          <a:noFill/>
          <a:ln w="9525" cap="flat" cmpd="sng">
            <a:solidFill>
              <a:schemeClr val="accent1"/>
            </a:solidFill>
            <a:prstDash val="solid"/>
            <a:round/>
            <a:headEnd type="none" w="sm" len="sm"/>
            <a:tailEnd type="none" w="sm" len="sm"/>
          </a:ln>
        </p:spPr>
      </p:cxnSp>
      <p:sp>
        <p:nvSpPr>
          <p:cNvPr id="20" name="Google Shape;20;p97"/>
          <p:cNvSpPr txBox="1">
            <a:spLocks noGrp="1"/>
          </p:cNvSpPr>
          <p:nvPr>
            <p:ph type="subTitle" idx="1"/>
          </p:nvPr>
        </p:nvSpPr>
        <p:spPr>
          <a:xfrm>
            <a:off x="381000" y="3886200"/>
            <a:ext cx="8458200" cy="914400"/>
          </a:xfrm>
          <a:prstGeom prst="rect">
            <a:avLst/>
          </a:prstGeom>
          <a:noFill/>
          <a:ln>
            <a:noFill/>
          </a:ln>
        </p:spPr>
        <p:txBody>
          <a:bodyPr spcFirstLastPara="1" wrap="square" lIns="91425" tIns="45700" rIns="91425" bIns="45700" anchor="b" anchorCtr="0">
            <a:noAutofit/>
          </a:bodyPr>
          <a:lstStyle>
            <a:lvl1pPr lvl="0" algn="l">
              <a:spcBef>
                <a:spcPts val="480"/>
              </a:spcBef>
              <a:spcAft>
                <a:spcPts val="0"/>
              </a:spcAft>
              <a:buSzPts val="1680"/>
              <a:buNone/>
              <a:defRPr sz="2400">
                <a:solidFill>
                  <a:srgbClr val="302E3C"/>
                </a:solidFill>
              </a:defRPr>
            </a:lvl1pPr>
            <a:lvl2pPr lvl="1" algn="ctr">
              <a:spcBef>
                <a:spcPts val="360"/>
              </a:spcBef>
              <a:spcAft>
                <a:spcPts val="0"/>
              </a:spcAft>
              <a:buSzPts val="1260"/>
              <a:buNone/>
              <a:defRPr/>
            </a:lvl2pPr>
            <a:lvl3pPr lvl="2" algn="ctr">
              <a:spcBef>
                <a:spcPts val="360"/>
              </a:spcBef>
              <a:spcAft>
                <a:spcPts val="0"/>
              </a:spcAft>
              <a:buSzPts val="1260"/>
              <a:buNone/>
              <a:defRPr/>
            </a:lvl3pPr>
            <a:lvl4pPr lvl="3" algn="ctr">
              <a:spcBef>
                <a:spcPts val="360"/>
              </a:spcBef>
              <a:spcAft>
                <a:spcPts val="0"/>
              </a:spcAft>
              <a:buSzPts val="1260"/>
              <a:buNone/>
              <a:defRPr/>
            </a:lvl4pPr>
            <a:lvl5pPr lvl="4" algn="ctr">
              <a:spcBef>
                <a:spcPts val="360"/>
              </a:spcBef>
              <a:spcAft>
                <a:spcPts val="0"/>
              </a:spcAft>
              <a:buSzPts val="1080"/>
              <a:buNone/>
              <a:defRPr/>
            </a:lvl5pPr>
            <a:lvl6pPr lvl="5" algn="ctr">
              <a:spcBef>
                <a:spcPts val="360"/>
              </a:spcBef>
              <a:spcAft>
                <a:spcPts val="0"/>
              </a:spcAft>
              <a:buSzPts val="1080"/>
              <a:buNone/>
              <a:defRPr/>
            </a:lvl6pPr>
            <a:lvl7pPr lvl="6" algn="ctr">
              <a:spcBef>
                <a:spcPts val="360"/>
              </a:spcBef>
              <a:spcAft>
                <a:spcPts val="0"/>
              </a:spcAft>
              <a:buSzPts val="1080"/>
              <a:buNone/>
              <a:defRPr/>
            </a:lvl7pPr>
            <a:lvl8pPr lvl="7" algn="ctr">
              <a:spcBef>
                <a:spcPts val="360"/>
              </a:spcBef>
              <a:spcAft>
                <a:spcPts val="0"/>
              </a:spcAft>
              <a:buSzPts val="1080"/>
              <a:buNone/>
              <a:defRPr/>
            </a:lvl8pPr>
            <a:lvl9pPr lvl="8" algn="ctr">
              <a:spcBef>
                <a:spcPts val="360"/>
              </a:spcBef>
              <a:spcAft>
                <a:spcPts val="0"/>
              </a:spcAft>
              <a:buSzPts val="1080"/>
              <a:buNone/>
              <a:defRPr/>
            </a:lvl9pPr>
          </a:lstStyle>
          <a:p>
            <a:endParaRPr/>
          </a:p>
        </p:txBody>
      </p:sp>
      <p:sp>
        <p:nvSpPr>
          <p:cNvPr id="21" name="Google Shape;21;p9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9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1pPr>
            <a:lvl2pPr marL="0" marR="0" lvl="1"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2pPr>
            <a:lvl3pPr marL="0" marR="0" lvl="2"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3pPr>
            <a:lvl4pPr marL="0" marR="0" lvl="3"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4pPr>
            <a:lvl5pPr marL="0" marR="0" lvl="4"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5pPr>
            <a:lvl6pPr marL="0" marR="0" lvl="5"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6pPr>
            <a:lvl7pPr marL="0" marR="0" lvl="6"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7pPr>
            <a:lvl8pPr marL="0" marR="0" lvl="7"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8pPr>
            <a:lvl9pPr marL="0" marR="0" lvl="8"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9pPr>
          </a:lstStyle>
          <a:p>
            <a:pPr marL="0" lvl="0" indent="0" algn="r" rtl="0">
              <a:spcBef>
                <a:spcPts val="0"/>
              </a:spcBef>
              <a:spcAft>
                <a:spcPts val="0"/>
              </a:spcAft>
              <a:buNone/>
            </a:pPr>
            <a:r>
              <a:rPr lang="en-US"/>
              <a:t>Chapter 2 – Slide  </a:t>
            </a:r>
            <a:fld id="{00000000-1234-1234-1234-123412341234}" type="slidenum">
              <a:rPr lang="en-US" b="1"/>
              <a:t>‹#›</a:t>
            </a:fld>
            <a:endParaRPr b="1"/>
          </a:p>
        </p:txBody>
      </p:sp>
      <p:sp>
        <p:nvSpPr>
          <p:cNvPr id="23" name="Google Shape;23;p97"/>
          <p:cNvSpPr txBox="1">
            <a:spLocks noGrp="1"/>
          </p:cNvSpPr>
          <p:nvPr>
            <p:ph type="ftr" idx="11"/>
          </p:nvPr>
        </p:nvSpPr>
        <p:spPr>
          <a:xfrm>
            <a:off x="0" y="6629400"/>
            <a:ext cx="4267200" cy="2286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900" i="1">
                <a:latin typeface="Libre Franklin"/>
                <a:ea typeface="Libre Franklin"/>
                <a:cs typeface="Libre Franklin"/>
                <a:sym typeface="Libre Frankli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2">
            <a:alpha val="89803"/>
          </a:schemeClr>
        </a:solidFill>
        <a:effectLst/>
      </p:bgPr>
    </p:bg>
    <p:spTree>
      <p:nvGrpSpPr>
        <p:cNvPr id="1" name="Shape 24"/>
        <p:cNvGrpSpPr/>
        <p:nvPr/>
      </p:nvGrpSpPr>
      <p:grpSpPr>
        <a:xfrm>
          <a:off x="0" y="0"/>
          <a:ext cx="0" cy="0"/>
          <a:chOff x="0" y="0"/>
          <a:chExt cx="0" cy="0"/>
        </a:xfrm>
      </p:grpSpPr>
      <p:sp>
        <p:nvSpPr>
          <p:cNvPr id="25" name="Google Shape;25;p9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sz="3200" cap="none">
                <a:solidFill>
                  <a:schemeClr val="dk2"/>
                </a:solidFill>
                <a:latin typeface="Libre Franklin Medium"/>
                <a:ea typeface="Libre Franklin Medium"/>
                <a:cs typeface="Libre Franklin Medium"/>
                <a:sym typeface="Libre Franklin Medium"/>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lvl1pPr marL="457200" lvl="0" indent="-365760" algn="l">
              <a:spcBef>
                <a:spcPts val="480"/>
              </a:spcBef>
              <a:spcAft>
                <a:spcPts val="0"/>
              </a:spcAft>
              <a:buClr>
                <a:schemeClr val="dk2"/>
              </a:buClr>
              <a:buSzPts val="2160"/>
              <a:buFont typeface="Noto Sans Symbols"/>
              <a:buChar char="▪"/>
              <a:defRPr sz="2400"/>
            </a:lvl1pPr>
            <a:lvl2pPr marL="914400" lvl="1" indent="-342900" algn="l">
              <a:spcBef>
                <a:spcPts val="400"/>
              </a:spcBef>
              <a:spcAft>
                <a:spcPts val="0"/>
              </a:spcAft>
              <a:buClr>
                <a:schemeClr val="dk2"/>
              </a:buClr>
              <a:buSzPts val="1800"/>
              <a:buFont typeface="Arial"/>
              <a:buChar char="•"/>
              <a:defRPr sz="2000"/>
            </a:lvl2pPr>
            <a:lvl3pPr marL="1371600" lvl="2" indent="-297180" algn="l">
              <a:spcBef>
                <a:spcPts val="360"/>
              </a:spcBef>
              <a:spcAft>
                <a:spcPts val="0"/>
              </a:spcAft>
              <a:buClr>
                <a:schemeClr val="dk2"/>
              </a:buClr>
              <a:buSzPts val="1080"/>
              <a:buFont typeface="Courier New"/>
              <a:buChar char="o"/>
              <a:defRPr sz="1800"/>
            </a:lvl3pPr>
            <a:lvl4pPr marL="1828800" lvl="3" indent="-279400" algn="l">
              <a:spcBef>
                <a:spcPts val="320"/>
              </a:spcBef>
              <a:spcAft>
                <a:spcPts val="0"/>
              </a:spcAft>
              <a:buClr>
                <a:schemeClr val="dk2"/>
              </a:buClr>
              <a:buSzPts val="800"/>
              <a:buChar char="🞲"/>
              <a:defRPr sz="1600"/>
            </a:lvl4pPr>
            <a:lvl5pPr marL="2286000" lvl="4" indent="-264160" algn="l">
              <a:spcBef>
                <a:spcPts val="280"/>
              </a:spcBef>
              <a:spcAft>
                <a:spcPts val="0"/>
              </a:spcAft>
              <a:buClr>
                <a:schemeClr val="dk2"/>
              </a:buClr>
              <a:buSzPts val="560"/>
              <a:buFont typeface="Noto Sans Symbols"/>
              <a:buChar char="❖"/>
              <a:defRPr sz="1400"/>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27" name="Google Shape;27;p9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1pPr>
            <a:lvl2pPr marL="0" marR="0" lvl="1"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2pPr>
            <a:lvl3pPr marL="0" marR="0" lvl="2"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3pPr>
            <a:lvl4pPr marL="0" marR="0" lvl="3"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4pPr>
            <a:lvl5pPr marL="0" marR="0" lvl="4"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5pPr>
            <a:lvl6pPr marL="0" marR="0" lvl="5"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6pPr>
            <a:lvl7pPr marL="0" marR="0" lvl="6"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7pPr>
            <a:lvl8pPr marL="0" marR="0" lvl="7"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8pPr>
            <a:lvl9pPr marL="0" marR="0" lvl="8"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9pPr>
          </a:lstStyle>
          <a:p>
            <a:pPr marL="0" lvl="0" indent="0" algn="r" rtl="0">
              <a:spcBef>
                <a:spcPts val="0"/>
              </a:spcBef>
              <a:spcAft>
                <a:spcPts val="0"/>
              </a:spcAft>
              <a:buNone/>
            </a:pPr>
            <a:r>
              <a:rPr lang="en-US"/>
              <a:t>Chapter 2 – Slide  </a:t>
            </a:r>
            <a:fld id="{00000000-1234-1234-1234-123412341234}" type="slidenum">
              <a:rPr lang="en-US" b="1"/>
              <a:t>‹#›</a:t>
            </a:fld>
            <a:endParaRPr b="1"/>
          </a:p>
        </p:txBody>
      </p:sp>
      <p:sp>
        <p:nvSpPr>
          <p:cNvPr id="28" name="Google Shape;28;p9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900" i="1">
                <a:latin typeface="Libre Franklin"/>
                <a:ea typeface="Libre Franklin"/>
                <a:cs typeface="Libre Franklin"/>
                <a:sym typeface="Libre Frankli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99"/>
          <p:cNvSpPr txBox="1">
            <a:spLocks noGrp="1"/>
          </p:cNvSpPr>
          <p:nvPr>
            <p:ph type="ftr" idx="11"/>
          </p:nvPr>
        </p:nvSpPr>
        <p:spPr>
          <a:xfrm>
            <a:off x="0" y="6629400"/>
            <a:ext cx="2895600" cy="2286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1pPr>
            <a:lvl2pPr marL="0" marR="0" lvl="1"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2pPr>
            <a:lvl3pPr marL="0" marR="0" lvl="2"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3pPr>
            <a:lvl4pPr marL="0" marR="0" lvl="3"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4pPr>
            <a:lvl5pPr marL="0" marR="0" lvl="4"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5pPr>
            <a:lvl6pPr marL="0" marR="0" lvl="5"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6pPr>
            <a:lvl7pPr marL="0" marR="0" lvl="6"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7pPr>
            <a:lvl8pPr marL="0" marR="0" lvl="7"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8pPr>
            <a:lvl9pPr marL="0" marR="0" lvl="8" indent="0" algn="r">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9pPr>
          </a:lstStyle>
          <a:p>
            <a:pPr marL="0" lvl="0" indent="0" algn="r" rtl="0">
              <a:spcBef>
                <a:spcPts val="0"/>
              </a:spcBef>
              <a:spcAft>
                <a:spcPts val="0"/>
              </a:spcAft>
              <a:buNone/>
            </a:pPr>
            <a:r>
              <a:rPr lang="en-US"/>
              <a:t>Chapter 2 – Slide  </a:t>
            </a:r>
            <a:fld id="{00000000-1234-1234-1234-123412341234}" type="slidenum">
              <a:rPr lang="en-US" b="1"/>
              <a:t>‹#›</a:t>
            </a:fld>
            <a:endParaRPr b="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alpha val="89803"/>
          </a:schemeClr>
        </a:solidFill>
        <a:effectLst/>
      </p:bgPr>
    </p:bg>
    <p:spTree>
      <p:nvGrpSpPr>
        <p:cNvPr id="1" name="Shape 9"/>
        <p:cNvGrpSpPr/>
        <p:nvPr/>
      </p:nvGrpSpPr>
      <p:grpSpPr>
        <a:xfrm>
          <a:off x="0" y="0"/>
          <a:ext cx="0" cy="0"/>
          <a:chOff x="0" y="0"/>
          <a:chExt cx="0" cy="0"/>
        </a:xfrm>
      </p:grpSpPr>
      <p:cxnSp>
        <p:nvCxnSpPr>
          <p:cNvPr id="10" name="Google Shape;10;p96"/>
          <p:cNvCxnSpPr/>
          <p:nvPr/>
        </p:nvCxnSpPr>
        <p:spPr>
          <a:xfrm>
            <a:off x="514350" y="1050898"/>
            <a:ext cx="8629650" cy="2381"/>
          </a:xfrm>
          <a:prstGeom prst="straightConnector1">
            <a:avLst/>
          </a:prstGeom>
          <a:noFill/>
          <a:ln w="9525" cap="flat" cmpd="sng">
            <a:solidFill>
              <a:schemeClr val="accent1"/>
            </a:solidFill>
            <a:prstDash val="solid"/>
            <a:round/>
            <a:headEnd type="none" w="sm" len="sm"/>
            <a:tailEnd type="none" w="sm" len="sm"/>
          </a:ln>
        </p:spPr>
      </p:cxnSp>
      <p:sp>
        <p:nvSpPr>
          <p:cNvPr id="11" name="Google Shape;11;p96"/>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480"/>
              </a:spcBef>
              <a:spcAft>
                <a:spcPts val="0"/>
              </a:spcAft>
              <a:buClr>
                <a:schemeClr val="accent1"/>
              </a:buClr>
              <a:buSzPts val="1680"/>
              <a:buFont typeface="Noto Sans Symbols"/>
              <a:buChar char="🞭"/>
              <a:defRPr sz="2400" b="0" i="0" u="none" strike="noStrike" cap="none">
                <a:solidFill>
                  <a:schemeClr val="dk2"/>
                </a:solidFill>
                <a:latin typeface="Libre Franklin"/>
                <a:ea typeface="Libre Franklin"/>
                <a:cs typeface="Libre Franklin"/>
                <a:sym typeface="Libre Franklin"/>
              </a:defRPr>
            </a:lvl1pPr>
            <a:lvl2pPr marL="914400" marR="0" lvl="1" indent="-317500" algn="l" rtl="0">
              <a:spcBef>
                <a:spcPts val="400"/>
              </a:spcBef>
              <a:spcAft>
                <a:spcPts val="0"/>
              </a:spcAft>
              <a:buClr>
                <a:schemeClr val="accent1"/>
              </a:buClr>
              <a:buSzPts val="1400"/>
              <a:buFont typeface="Noto Sans Symbols"/>
              <a:buChar char="🞤"/>
              <a:defRPr sz="2000" b="0" i="0" u="none" strike="noStrike" cap="none">
                <a:solidFill>
                  <a:schemeClr val="dk2"/>
                </a:solidFill>
                <a:latin typeface="Libre Franklin"/>
                <a:ea typeface="Libre Franklin"/>
                <a:cs typeface="Libre Franklin"/>
                <a:sym typeface="Libre Franklin"/>
              </a:defRPr>
            </a:lvl2pPr>
            <a:lvl3pPr marL="1371600" marR="0" lvl="2" indent="-308610" algn="l" rtl="0">
              <a:spcBef>
                <a:spcPts val="360"/>
              </a:spcBef>
              <a:spcAft>
                <a:spcPts val="0"/>
              </a:spcAft>
              <a:buClr>
                <a:schemeClr val="accent1"/>
              </a:buClr>
              <a:buSzPts val="1260"/>
              <a:buFont typeface="Noto Sans Symbols"/>
              <a:buChar char="🞫"/>
              <a:defRPr sz="1800" b="0" i="0" u="none" strike="noStrike" cap="none">
                <a:solidFill>
                  <a:schemeClr val="dk2"/>
                </a:solidFill>
                <a:latin typeface="Libre Franklin"/>
                <a:ea typeface="Libre Franklin"/>
                <a:cs typeface="Libre Franklin"/>
                <a:sym typeface="Libre Franklin"/>
              </a:defRPr>
            </a:lvl3pPr>
            <a:lvl4pPr marL="1828800" marR="0" lvl="3" indent="-299719" algn="l" rtl="0">
              <a:spcBef>
                <a:spcPts val="320"/>
              </a:spcBef>
              <a:spcAft>
                <a:spcPts val="0"/>
              </a:spcAft>
              <a:buClr>
                <a:schemeClr val="accent1"/>
              </a:buClr>
              <a:buSzPts val="1120"/>
              <a:buFont typeface="Noto Sans Symbols"/>
              <a:buChar char="🞲"/>
              <a:defRPr sz="1600" b="0" i="0" u="none" strike="noStrike" cap="none">
                <a:solidFill>
                  <a:schemeClr val="dk2"/>
                </a:solidFill>
                <a:latin typeface="Libre Franklin"/>
                <a:ea typeface="Libre Franklin"/>
                <a:cs typeface="Libre Franklin"/>
                <a:sym typeface="Libre Franklin"/>
              </a:defRPr>
            </a:lvl4pPr>
            <a:lvl5pPr marL="2286000" marR="0" lvl="4" indent="-281939" algn="l" rtl="0">
              <a:spcBef>
                <a:spcPts val="280"/>
              </a:spcBef>
              <a:spcAft>
                <a:spcPts val="0"/>
              </a:spcAft>
              <a:buClr>
                <a:schemeClr val="accent1"/>
              </a:buClr>
              <a:buSzPts val="840"/>
              <a:buFont typeface="Noto Sans Symbols"/>
              <a:buChar char="🞩"/>
              <a:defRPr sz="1400" b="0" i="0" u="none" strike="noStrike" cap="none">
                <a:solidFill>
                  <a:schemeClr val="dk2"/>
                </a:solidFill>
                <a:latin typeface="Libre Franklin"/>
                <a:ea typeface="Libre Franklin"/>
                <a:cs typeface="Libre Franklin"/>
                <a:sym typeface="Libre Franklin"/>
              </a:defRPr>
            </a:lvl5pPr>
            <a:lvl6pPr marL="2743200" marR="0" lvl="5" indent="-297179" algn="l" rtl="0">
              <a:spcBef>
                <a:spcPts val="360"/>
              </a:spcBef>
              <a:spcAft>
                <a:spcPts val="0"/>
              </a:spcAft>
              <a:buClr>
                <a:schemeClr val="accent1"/>
              </a:buClr>
              <a:buSzPts val="1080"/>
              <a:buFont typeface="Noto Sans Symbols"/>
              <a:buChar char="🞤"/>
              <a:defRPr sz="1800" b="0" i="0" u="none" strike="noStrike" cap="none">
                <a:solidFill>
                  <a:schemeClr val="dk2"/>
                </a:solidFill>
                <a:latin typeface="Libre Franklin"/>
                <a:ea typeface="Libre Franklin"/>
                <a:cs typeface="Libre Franklin"/>
                <a:sym typeface="Libre Franklin"/>
              </a:defRPr>
            </a:lvl6pPr>
            <a:lvl7pPr marL="3200400" marR="0" lvl="6" indent="-289560" algn="l" rtl="0">
              <a:spcBef>
                <a:spcPts val="320"/>
              </a:spcBef>
              <a:spcAft>
                <a:spcPts val="0"/>
              </a:spcAft>
              <a:buClr>
                <a:schemeClr val="accent1"/>
              </a:buClr>
              <a:buSzPts val="960"/>
              <a:buFont typeface="Noto Sans Symbols"/>
              <a:buChar char="🞲"/>
              <a:defRPr sz="1600" b="0" i="0" u="none" strike="noStrike" cap="none">
                <a:solidFill>
                  <a:schemeClr val="dk2"/>
                </a:solidFill>
                <a:latin typeface="Libre Franklin"/>
                <a:ea typeface="Libre Franklin"/>
                <a:cs typeface="Libre Franklin"/>
                <a:sym typeface="Libre Franklin"/>
              </a:defRPr>
            </a:lvl7pPr>
            <a:lvl8pPr marL="3657600" marR="0" lvl="7" indent="-289559" algn="l" rtl="0">
              <a:spcBef>
                <a:spcPts val="320"/>
              </a:spcBef>
              <a:spcAft>
                <a:spcPts val="0"/>
              </a:spcAft>
              <a:buClr>
                <a:schemeClr val="accent1"/>
              </a:buClr>
              <a:buSzPts val="960"/>
              <a:buFont typeface="Noto Sans Symbols"/>
              <a:buChar char="◆"/>
              <a:defRPr sz="1600" b="0" i="0" u="none" strike="noStrike" cap="none">
                <a:solidFill>
                  <a:schemeClr val="dk2"/>
                </a:solidFill>
                <a:latin typeface="Libre Franklin"/>
                <a:ea typeface="Libre Franklin"/>
                <a:cs typeface="Libre Franklin"/>
                <a:sym typeface="Libre Franklin"/>
              </a:defRPr>
            </a:lvl8pPr>
            <a:lvl9pPr marL="4114800" marR="0" lvl="8" indent="-281940" algn="l" rtl="0">
              <a:spcBef>
                <a:spcPts val="280"/>
              </a:spcBef>
              <a:spcAft>
                <a:spcPts val="0"/>
              </a:spcAft>
              <a:buClr>
                <a:schemeClr val="accent1"/>
              </a:buClr>
              <a:buSzPts val="840"/>
              <a:buFont typeface="Noto Sans Symbols"/>
              <a:buChar char="◼"/>
              <a:defRPr sz="1400" b="0" i="0" u="none" strike="noStrike" cap="none">
                <a:solidFill>
                  <a:schemeClr val="dk2"/>
                </a:solidFill>
                <a:latin typeface="Libre Franklin"/>
                <a:ea typeface="Libre Franklin"/>
                <a:cs typeface="Libre Franklin"/>
                <a:sym typeface="Libre Franklin"/>
              </a:defRPr>
            </a:lvl9pPr>
          </a:lstStyle>
          <a:p>
            <a:endParaRPr/>
          </a:p>
        </p:txBody>
      </p:sp>
      <p:sp>
        <p:nvSpPr>
          <p:cNvPr id="12" name="Google Shape;12;p9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1pPr>
            <a:lvl2pPr marR="0" lvl="1"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2pPr>
            <a:lvl3pPr marR="0" lvl="2"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3pPr>
            <a:lvl4pPr marR="0" lvl="3"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4pPr>
            <a:lvl5pPr marR="0" lvl="4"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5pPr>
            <a:lvl6pPr marR="0" lvl="5"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6pPr>
            <a:lvl7pPr marR="0" lvl="6"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7pPr>
            <a:lvl8pPr marR="0" lvl="7"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8pPr>
            <a:lvl9pPr marR="0" lvl="8" algn="l" rtl="0">
              <a:spcBef>
                <a:spcPts val="0"/>
              </a:spcBef>
              <a:spcAft>
                <a:spcPts val="0"/>
              </a:spcAft>
              <a:buSzPts val="1400"/>
              <a:buNone/>
              <a:defRPr sz="3200" b="0" i="0" u="none" strike="noStrike" cap="none">
                <a:solidFill>
                  <a:schemeClr val="dk2"/>
                </a:solidFill>
                <a:latin typeface="Libre Franklin Medium"/>
                <a:ea typeface="Libre Franklin Medium"/>
                <a:cs typeface="Libre Franklin Medium"/>
                <a:sym typeface="Libre Franklin Medium"/>
              </a:defRPr>
            </a:lvl9pPr>
          </a:lstStyle>
          <a:p>
            <a:endParaRPr/>
          </a:p>
        </p:txBody>
      </p:sp>
      <p:cxnSp>
        <p:nvCxnSpPr>
          <p:cNvPr id="13" name="Google Shape;13;p96"/>
          <p:cNvCxnSpPr/>
          <p:nvPr/>
        </p:nvCxnSpPr>
        <p:spPr>
          <a:xfrm>
            <a:off x="514350" y="1050898"/>
            <a:ext cx="8629650" cy="2381"/>
          </a:xfrm>
          <a:prstGeom prst="straightConnector1">
            <a:avLst/>
          </a:prstGeom>
          <a:noFill/>
          <a:ln w="9525" cap="flat" cmpd="sng">
            <a:solidFill>
              <a:schemeClr val="accent1"/>
            </a:solidFill>
            <a:prstDash val="solid"/>
            <a:round/>
            <a:headEnd type="none" w="sm" len="sm"/>
            <a:tailEnd type="none" w="sm" len="sm"/>
          </a:ln>
        </p:spPr>
      </p:cxnSp>
      <p:cxnSp>
        <p:nvCxnSpPr>
          <p:cNvPr id="14" name="Google Shape;14;p96"/>
          <p:cNvCxnSpPr/>
          <p:nvPr/>
        </p:nvCxnSpPr>
        <p:spPr>
          <a:xfrm>
            <a:off x="514350" y="1057986"/>
            <a:ext cx="8629650" cy="2381"/>
          </a:xfrm>
          <a:prstGeom prst="straightConnector1">
            <a:avLst/>
          </a:prstGeom>
          <a:noFill/>
          <a:ln w="9525" cap="flat" cmpd="sng">
            <a:solidFill>
              <a:schemeClr val="accent1"/>
            </a:solidFill>
            <a:prstDash val="solid"/>
            <a:round/>
            <a:headEnd type="none" w="sm" len="sm"/>
            <a:tailEnd type="none" w="sm" len="sm"/>
          </a:ln>
        </p:spPr>
      </p:cxnSp>
      <p:sp>
        <p:nvSpPr>
          <p:cNvPr id="15" name="Google Shape;15;p96"/>
          <p:cNvSpPr txBox="1">
            <a:spLocks noGrp="1"/>
          </p:cNvSpPr>
          <p:nvPr>
            <p:ph type="ftr" idx="11"/>
          </p:nvPr>
        </p:nvSpPr>
        <p:spPr>
          <a:xfrm>
            <a:off x="0" y="6629400"/>
            <a:ext cx="2895600" cy="228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900" b="0" i="1" u="none" strike="noStrike" cap="none">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 name="Google Shape;16;p9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1pPr>
            <a:lvl2pPr marL="0" marR="0" lvl="1"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2pPr>
            <a:lvl3pPr marL="0" marR="0" lvl="2"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3pPr>
            <a:lvl4pPr marL="0" marR="0" lvl="3"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4pPr>
            <a:lvl5pPr marL="0" marR="0" lvl="4"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5pPr>
            <a:lvl6pPr marL="0" marR="0" lvl="5"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6pPr>
            <a:lvl7pPr marL="0" marR="0" lvl="6"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7pPr>
            <a:lvl8pPr marL="0" marR="0" lvl="7"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8pPr>
            <a:lvl9pPr marL="0" marR="0" lvl="8" indent="0" algn="r" rtl="0">
              <a:spcBef>
                <a:spcPts val="0"/>
              </a:spcBef>
              <a:spcAft>
                <a:spcPts val="0"/>
              </a:spcAft>
              <a:buNone/>
              <a:defRPr sz="900" b="0" i="0" u="none" strike="noStrike" cap="none">
                <a:solidFill>
                  <a:schemeClr val="dk1"/>
                </a:solidFill>
                <a:latin typeface="Libre Franklin"/>
                <a:ea typeface="Libre Franklin"/>
                <a:cs typeface="Libre Franklin"/>
                <a:sym typeface="Libre Franklin"/>
              </a:defRPr>
            </a:lvl9pPr>
          </a:lstStyle>
          <a:p>
            <a:pPr marL="0" lvl="0" indent="0" algn="r" rtl="0">
              <a:spcBef>
                <a:spcPts val="0"/>
              </a:spcBef>
              <a:spcAft>
                <a:spcPts val="0"/>
              </a:spcAft>
              <a:buNone/>
            </a:pPr>
            <a:r>
              <a:rPr lang="en-US"/>
              <a:t>Chapter 2 – Slide  </a:t>
            </a:r>
            <a:fld id="{00000000-1234-1234-1234-123412341234}" type="slidenum">
              <a:rPr lang="en-US" b="1"/>
              <a:t>‹#›</a:t>
            </a:fld>
            <a:endParaRPr b="1"/>
          </a:p>
        </p:txBody>
      </p:sp>
      <p:sp>
        <p:nvSpPr>
          <p:cNvPr id="17" name="Google Shape;17;p96"/>
          <p:cNvSpPr txBox="1"/>
          <p:nvPr/>
        </p:nvSpPr>
        <p:spPr>
          <a:xfrm>
            <a:off x="342900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0" i="0" u="none" strike="noStrike" cap="none">
                <a:solidFill>
                  <a:schemeClr val="dk1"/>
                </a:solidFill>
                <a:latin typeface="Libre Franklin"/>
                <a:ea typeface="Libre Franklin"/>
                <a:cs typeface="Libre Franklin"/>
                <a:sym typeface="Libre Franklin"/>
              </a:rPr>
              <a:t>Copyright (c) 2020 Nenad Jukic and Prospect Press</a:t>
            </a:r>
            <a:endParaRPr sz="900" b="0" i="1" u="none" strike="noStrike" cap="none">
              <a:solidFill>
                <a:schemeClr val="dk1"/>
              </a:solidFill>
              <a:latin typeface="Libre Franklin"/>
              <a:ea typeface="Libre Franklin"/>
              <a:cs typeface="Libre Franklin"/>
              <a:sym typeface="Libre Frankli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5_0.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19_0.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11B_0.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txBox="1">
            <a:spLocks noGrp="1"/>
          </p:cNvSpPr>
          <p:nvPr>
            <p:ph type="ctrTitle" idx="4294967295"/>
          </p:nvPr>
        </p:nvSpPr>
        <p:spPr>
          <a:xfrm>
            <a:off x="0" y="5366572"/>
            <a:ext cx="9144000" cy="1222375"/>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None/>
            </a:pPr>
            <a:r>
              <a:rPr lang="en-US" sz="3200" b="0" i="0" u="none" strike="noStrike" cap="none">
                <a:solidFill>
                  <a:schemeClr val="dk2"/>
                </a:solidFill>
                <a:latin typeface="Libre Franklin Medium"/>
                <a:ea typeface="Libre Franklin Medium"/>
                <a:cs typeface="Libre Franklin Medium"/>
                <a:sym typeface="Libre Franklin Medium"/>
              </a:rPr>
              <a:t>CHAPTER 2 - Database Requirements and ER</a:t>
            </a:r>
            <a:br>
              <a:rPr lang="en-US" sz="3200" b="0" i="0" u="none" strike="noStrike" cap="none">
                <a:solidFill>
                  <a:schemeClr val="dk2"/>
                </a:solidFill>
                <a:latin typeface="Libre Franklin Medium"/>
                <a:ea typeface="Libre Franklin Medium"/>
                <a:cs typeface="Libre Franklin Medium"/>
                <a:sym typeface="Libre Franklin Medium"/>
              </a:rPr>
            </a:br>
            <a:r>
              <a:rPr lang="en-US" sz="3200" b="0" i="0" u="none" strike="noStrike" cap="none">
                <a:solidFill>
                  <a:schemeClr val="dk2"/>
                </a:solidFill>
                <a:latin typeface="Libre Franklin Medium"/>
                <a:ea typeface="Libre Franklin Medium"/>
                <a:cs typeface="Libre Franklin Medium"/>
                <a:sym typeface="Libre Franklin Medium"/>
              </a:rPr>
              <a:t>		     Modeling</a:t>
            </a:r>
            <a:endParaRPr/>
          </a:p>
        </p:txBody>
      </p:sp>
      <p:pic>
        <p:nvPicPr>
          <p:cNvPr id="37" name="Google Shape;37;p1"/>
          <p:cNvPicPr preferRelativeResize="0"/>
          <p:nvPr/>
        </p:nvPicPr>
        <p:blipFill rotWithShape="1">
          <a:blip r:embed="rId3">
            <a:alphaModFix/>
          </a:blip>
          <a:srcRect/>
          <a:stretch/>
        </p:blipFill>
        <p:spPr>
          <a:xfrm>
            <a:off x="2411970" y="0"/>
            <a:ext cx="4206240" cy="5355939"/>
          </a:xfrm>
          <a:prstGeom prst="rect">
            <a:avLst/>
          </a:prstGeom>
          <a:noFill/>
          <a:ln>
            <a:noFill/>
          </a:ln>
        </p:spPr>
      </p:pic>
      <p:sp>
        <p:nvSpPr>
          <p:cNvPr id="38" name="Google Shape;38;p1"/>
          <p:cNvSpPr txBox="1"/>
          <p:nvPr/>
        </p:nvSpPr>
        <p:spPr>
          <a:xfrm>
            <a:off x="0" y="0"/>
            <a:ext cx="241197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0" i="1" u="none" strike="noStrike" cap="none">
                <a:solidFill>
                  <a:schemeClr val="dk2"/>
                </a:solidFill>
                <a:latin typeface="Libre Franklin Medium"/>
                <a:ea typeface="Libre Franklin Medium"/>
                <a:cs typeface="Libre Franklin Medium"/>
                <a:sym typeface="Libre Franklin Medium"/>
              </a:rPr>
              <a:t>For exclusive use with: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INTRODUCTION</a:t>
            </a:r>
            <a:endParaRPr/>
          </a:p>
        </p:txBody>
      </p:sp>
      <p:sp>
        <p:nvSpPr>
          <p:cNvPr id="45" name="Google Shape;45;p2"/>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Entity-relationship (ER) modeling </a:t>
            </a:r>
            <a:r>
              <a:rPr lang="en-US"/>
              <a:t>- conceptual database modeling technique </a:t>
            </a:r>
            <a:endParaRPr/>
          </a:p>
          <a:p>
            <a:pPr marL="742950" lvl="1" indent="-285750" algn="l" rtl="0">
              <a:spcBef>
                <a:spcPts val="400"/>
              </a:spcBef>
              <a:spcAft>
                <a:spcPts val="0"/>
              </a:spcAft>
              <a:buSzPts val="1800"/>
              <a:buChar char="•"/>
            </a:pPr>
            <a:r>
              <a:rPr lang="en-US"/>
              <a:t>Enables the structuring and organizing of the requirements collection process </a:t>
            </a:r>
            <a:endParaRPr/>
          </a:p>
          <a:p>
            <a:pPr marL="742950" lvl="1" indent="-285750" algn="l" rtl="0">
              <a:spcBef>
                <a:spcPts val="400"/>
              </a:spcBef>
              <a:spcAft>
                <a:spcPts val="0"/>
              </a:spcAft>
              <a:buSzPts val="1800"/>
              <a:buChar char="•"/>
            </a:pPr>
            <a:r>
              <a:rPr lang="en-US"/>
              <a:t>Provides a way to graphically represent the requirements</a:t>
            </a:r>
            <a:endParaRPr/>
          </a:p>
          <a:p>
            <a:pPr marL="342900" lvl="0" indent="-342900" algn="l" rtl="0">
              <a:spcBef>
                <a:spcPts val="480"/>
              </a:spcBef>
              <a:spcAft>
                <a:spcPts val="0"/>
              </a:spcAft>
              <a:buSzPts val="2160"/>
              <a:buChar char="▪"/>
            </a:pPr>
            <a:r>
              <a:rPr lang="en-US" b="1"/>
              <a:t>ER diagram (ERD) </a:t>
            </a:r>
            <a:r>
              <a:rPr lang="en-US"/>
              <a:t>- the result of ER modeling </a:t>
            </a:r>
            <a:endParaRPr/>
          </a:p>
          <a:p>
            <a:pPr marL="742950" lvl="1" indent="-285750" algn="l" rtl="0">
              <a:spcBef>
                <a:spcPts val="400"/>
              </a:spcBef>
              <a:spcAft>
                <a:spcPts val="0"/>
              </a:spcAft>
              <a:buSzPts val="1800"/>
              <a:buChar char="•"/>
            </a:pPr>
            <a:r>
              <a:rPr lang="en-US"/>
              <a:t>Serves as a blueprint for the database</a:t>
            </a:r>
            <a:endParaRPr/>
          </a:p>
        </p:txBody>
      </p:sp>
      <p:sp>
        <p:nvSpPr>
          <p:cNvPr id="46" name="Google Shape;46;p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a:t>
            </a:fld>
            <a:endParaRPr sz="900" b="1" i="0" u="none" strike="noStrike" cap="none">
              <a:solidFill>
                <a:schemeClr val="dk1"/>
              </a:solidFill>
              <a:latin typeface="Libre Franklin"/>
              <a:ea typeface="Libre Franklin"/>
              <a:cs typeface="Libre Franklin"/>
              <a:sym typeface="Libre Franklin"/>
            </a:endParaRPr>
          </a:p>
        </p:txBody>
      </p:sp>
      <p:sp>
        <p:nvSpPr>
          <p:cNvPr id="47" name="Google Shape;47;p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ENTITIES</a:t>
            </a:r>
            <a:endParaRPr/>
          </a:p>
        </p:txBody>
      </p:sp>
      <p:sp>
        <p:nvSpPr>
          <p:cNvPr id="54" name="Google Shape;54;p3"/>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Entities - </a:t>
            </a:r>
            <a:r>
              <a:rPr lang="en-US"/>
              <a:t>constructs that represent what the database keeps track of</a:t>
            </a:r>
            <a:endParaRPr/>
          </a:p>
          <a:p>
            <a:pPr marL="742950" lvl="1" indent="-285750" algn="l" rtl="0">
              <a:spcBef>
                <a:spcPts val="400"/>
              </a:spcBef>
              <a:spcAft>
                <a:spcPts val="0"/>
              </a:spcAft>
              <a:buSzPts val="1800"/>
              <a:buChar char="•"/>
            </a:pPr>
            <a:r>
              <a:rPr lang="en-US"/>
              <a:t>The basic building blocks of an ER diagram</a:t>
            </a:r>
            <a:endParaRPr/>
          </a:p>
          <a:p>
            <a:pPr marL="742950" lvl="1" indent="-285750" algn="l" rtl="0">
              <a:spcBef>
                <a:spcPts val="400"/>
              </a:spcBef>
              <a:spcAft>
                <a:spcPts val="0"/>
              </a:spcAft>
              <a:buSzPts val="1800"/>
              <a:buChar char="•"/>
            </a:pPr>
            <a:r>
              <a:rPr lang="en-US"/>
              <a:t>Represent various real world notions, such as people, places, objects, events, items, and other concepts</a:t>
            </a:r>
            <a:endParaRPr/>
          </a:p>
          <a:p>
            <a:pPr marL="742950" lvl="1" indent="-285750" algn="l" rtl="0">
              <a:spcBef>
                <a:spcPts val="400"/>
              </a:spcBef>
              <a:spcAft>
                <a:spcPts val="0"/>
              </a:spcAft>
              <a:buSzPts val="1800"/>
              <a:buChar char="•"/>
            </a:pPr>
            <a:r>
              <a:rPr lang="en-US"/>
              <a:t>Within one ERD each entity must have a different name</a:t>
            </a:r>
            <a:endParaRPr/>
          </a:p>
        </p:txBody>
      </p:sp>
      <p:sp>
        <p:nvSpPr>
          <p:cNvPr id="55" name="Google Shape;55;p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a:t>
            </a:fld>
            <a:endParaRPr sz="900" b="1" i="0" u="none" strike="noStrike" cap="none">
              <a:solidFill>
                <a:schemeClr val="dk1"/>
              </a:solidFill>
              <a:latin typeface="Libre Franklin"/>
              <a:ea typeface="Libre Franklin"/>
              <a:cs typeface="Libre Franklin"/>
              <a:sym typeface="Libre Franklin"/>
            </a:endParaRPr>
          </a:p>
        </p:txBody>
      </p:sp>
      <p:sp>
        <p:nvSpPr>
          <p:cNvPr id="56" name="Google Shape;56;p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ENTITIES</a:t>
            </a:r>
            <a:endParaRPr/>
          </a:p>
        </p:txBody>
      </p:sp>
      <p:sp>
        <p:nvSpPr>
          <p:cNvPr id="63" name="Google Shape;63;p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Two entities</a:t>
            </a:r>
            <a:endParaRPr/>
          </a:p>
        </p:txBody>
      </p:sp>
      <p:sp>
        <p:nvSpPr>
          <p:cNvPr id="64" name="Google Shape;64;p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a:t>
            </a:fld>
            <a:endParaRPr sz="900" b="1" i="0" u="none" strike="noStrike" cap="none">
              <a:solidFill>
                <a:schemeClr val="dk1"/>
              </a:solidFill>
              <a:latin typeface="Libre Franklin"/>
              <a:ea typeface="Libre Franklin"/>
              <a:cs typeface="Libre Franklin"/>
              <a:sym typeface="Libre Franklin"/>
            </a:endParaRPr>
          </a:p>
        </p:txBody>
      </p:sp>
      <p:pic>
        <p:nvPicPr>
          <p:cNvPr id="65" name="Google Shape;65;p4"/>
          <p:cNvPicPr preferRelativeResize="0"/>
          <p:nvPr/>
        </p:nvPicPr>
        <p:blipFill rotWithShape="1">
          <a:blip r:embed="rId3">
            <a:alphaModFix/>
          </a:blip>
          <a:srcRect/>
          <a:stretch/>
        </p:blipFill>
        <p:spPr>
          <a:xfrm>
            <a:off x="861745" y="2895600"/>
            <a:ext cx="7420510" cy="1371600"/>
          </a:xfrm>
          <a:prstGeom prst="rect">
            <a:avLst/>
          </a:prstGeom>
          <a:noFill/>
          <a:ln>
            <a:noFill/>
          </a:ln>
        </p:spPr>
      </p:pic>
      <p:sp>
        <p:nvSpPr>
          <p:cNvPr id="66" name="Google Shape;66;p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ENTITIES</a:t>
            </a:r>
            <a:endParaRPr/>
          </a:p>
        </p:txBody>
      </p:sp>
      <p:sp>
        <p:nvSpPr>
          <p:cNvPr id="73" name="Google Shape;73;p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Entity instances (entity members) </a:t>
            </a:r>
            <a:r>
              <a:rPr lang="en-US"/>
              <a:t>- occurrences of an entity</a:t>
            </a:r>
            <a:endParaRPr/>
          </a:p>
          <a:p>
            <a:pPr marL="742950" lvl="1" indent="-285750" algn="l" rtl="0">
              <a:spcBef>
                <a:spcPts val="400"/>
              </a:spcBef>
              <a:spcAft>
                <a:spcPts val="0"/>
              </a:spcAft>
              <a:buSzPts val="1800"/>
              <a:buChar char="•"/>
            </a:pPr>
            <a:r>
              <a:rPr lang="en-US"/>
              <a:t>Entities themselves are depicted in the ER diagrams while entity instances are not</a:t>
            </a:r>
            <a:endParaRPr/>
          </a:p>
          <a:p>
            <a:pPr marL="742950" lvl="1" indent="-285750" algn="l" rtl="0">
              <a:spcBef>
                <a:spcPts val="400"/>
              </a:spcBef>
              <a:spcAft>
                <a:spcPts val="0"/>
              </a:spcAft>
              <a:buSzPts val="1800"/>
              <a:buChar char="•"/>
            </a:pPr>
            <a:r>
              <a:rPr lang="en-US"/>
              <a:t>Entity instances are eventually recorded in the database that is created based on the ER diagram</a:t>
            </a:r>
            <a:endParaRPr/>
          </a:p>
          <a:p>
            <a:pPr marL="742950" lvl="1" indent="-285750" algn="l" rtl="0">
              <a:spcBef>
                <a:spcPts val="400"/>
              </a:spcBef>
              <a:spcAft>
                <a:spcPts val="0"/>
              </a:spcAft>
              <a:buSzPts val="1800"/>
              <a:buFont typeface="Arial"/>
              <a:buNone/>
            </a:pPr>
            <a:endParaRPr/>
          </a:p>
        </p:txBody>
      </p:sp>
      <p:sp>
        <p:nvSpPr>
          <p:cNvPr id="74" name="Google Shape;74;p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a:t>
            </a:fld>
            <a:endParaRPr sz="900" b="1" i="0" u="none" strike="noStrike" cap="none">
              <a:solidFill>
                <a:schemeClr val="dk1"/>
              </a:solidFill>
              <a:latin typeface="Libre Franklin"/>
              <a:ea typeface="Libre Franklin"/>
              <a:cs typeface="Libre Franklin"/>
              <a:sym typeface="Libre Franklin"/>
            </a:endParaRPr>
          </a:p>
        </p:txBody>
      </p:sp>
      <p:sp>
        <p:nvSpPr>
          <p:cNvPr id="75" name="Google Shape;75;p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82" name="Google Shape;82;p6"/>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Attribute - </a:t>
            </a:r>
            <a:r>
              <a:rPr lang="en-US"/>
              <a:t>depiction of a characteristic of an entity</a:t>
            </a:r>
            <a:endParaRPr/>
          </a:p>
          <a:p>
            <a:pPr marL="742950" lvl="1" indent="-285750" algn="l" rtl="0">
              <a:spcBef>
                <a:spcPts val="400"/>
              </a:spcBef>
              <a:spcAft>
                <a:spcPts val="0"/>
              </a:spcAft>
              <a:buSzPts val="1800"/>
              <a:buChar char="•"/>
            </a:pPr>
            <a:r>
              <a:rPr lang="en-US"/>
              <a:t>Represents the details that will be recorded for each entity instance</a:t>
            </a:r>
            <a:endParaRPr/>
          </a:p>
          <a:p>
            <a:pPr marL="742950" lvl="1" indent="-285750" algn="l" rtl="0">
              <a:spcBef>
                <a:spcPts val="400"/>
              </a:spcBef>
              <a:spcAft>
                <a:spcPts val="0"/>
              </a:spcAft>
              <a:buSzPts val="1800"/>
              <a:buChar char="•"/>
            </a:pPr>
            <a:r>
              <a:rPr lang="en-US"/>
              <a:t>Within one entity, each attribute must have a different name</a:t>
            </a:r>
            <a:endParaRPr/>
          </a:p>
          <a:p>
            <a:pPr marL="342900" lvl="0" indent="-342900" algn="l" rtl="0">
              <a:spcBef>
                <a:spcPts val="480"/>
              </a:spcBef>
              <a:spcAft>
                <a:spcPts val="0"/>
              </a:spcAft>
              <a:buSzPts val="2160"/>
              <a:buChar char="▪"/>
            </a:pPr>
            <a:r>
              <a:rPr lang="en-US" b="1"/>
              <a:t>Unique Attribute </a:t>
            </a:r>
            <a:r>
              <a:rPr lang="en-US"/>
              <a:t>- attribute whose value is different for each entity instance</a:t>
            </a:r>
            <a:endParaRPr/>
          </a:p>
          <a:p>
            <a:pPr marL="742950" lvl="1" indent="-285750" algn="l" rtl="0">
              <a:spcBef>
                <a:spcPts val="400"/>
              </a:spcBef>
              <a:spcAft>
                <a:spcPts val="0"/>
              </a:spcAft>
              <a:buSzPts val="1800"/>
              <a:buChar char="•"/>
            </a:pPr>
            <a:r>
              <a:rPr lang="en-US"/>
              <a:t>Every regular entity must have at least one unique attribute</a:t>
            </a:r>
            <a:endParaRPr/>
          </a:p>
        </p:txBody>
      </p:sp>
      <p:sp>
        <p:nvSpPr>
          <p:cNvPr id="83" name="Google Shape;83;p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a:t>
            </a:fld>
            <a:endParaRPr sz="900" b="1" i="0" u="none" strike="noStrike" cap="none">
              <a:solidFill>
                <a:schemeClr val="dk1"/>
              </a:solidFill>
              <a:latin typeface="Libre Franklin"/>
              <a:ea typeface="Libre Franklin"/>
              <a:cs typeface="Libre Franklin"/>
              <a:sym typeface="Libre Franklin"/>
            </a:endParaRPr>
          </a:p>
        </p:txBody>
      </p:sp>
      <p:sp>
        <p:nvSpPr>
          <p:cNvPr id="84" name="Google Shape;84;p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91" name="Google Shape;91;p7"/>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entity with attributes</a:t>
            </a:r>
            <a:endParaRPr/>
          </a:p>
        </p:txBody>
      </p:sp>
      <p:sp>
        <p:nvSpPr>
          <p:cNvPr id="92" name="Google Shape;92;p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a:t>
            </a:fld>
            <a:endParaRPr sz="900" b="1" i="0" u="none" strike="noStrike" cap="none">
              <a:solidFill>
                <a:schemeClr val="dk1"/>
              </a:solidFill>
              <a:latin typeface="Libre Franklin"/>
              <a:ea typeface="Libre Franklin"/>
              <a:cs typeface="Libre Franklin"/>
              <a:sym typeface="Libre Franklin"/>
            </a:endParaRPr>
          </a:p>
        </p:txBody>
      </p:sp>
      <p:pic>
        <p:nvPicPr>
          <p:cNvPr id="93" name="Google Shape;93;p7"/>
          <p:cNvPicPr preferRelativeResize="0"/>
          <p:nvPr/>
        </p:nvPicPr>
        <p:blipFill rotWithShape="1">
          <a:blip r:embed="rId3">
            <a:alphaModFix/>
          </a:blip>
          <a:srcRect/>
          <a:stretch/>
        </p:blipFill>
        <p:spPr>
          <a:xfrm>
            <a:off x="1638300" y="2674144"/>
            <a:ext cx="5676254" cy="2286000"/>
          </a:xfrm>
          <a:prstGeom prst="rect">
            <a:avLst/>
          </a:prstGeom>
          <a:noFill/>
          <a:ln>
            <a:noFill/>
          </a:ln>
        </p:spPr>
      </p:pic>
      <p:sp>
        <p:nvSpPr>
          <p:cNvPr id="94" name="Google Shape;94;p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01" name="Google Shape;101;p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Relationship - </a:t>
            </a:r>
            <a:r>
              <a:rPr lang="en-US"/>
              <a:t>ER modeling construct depicting how entities are related</a:t>
            </a:r>
            <a:endParaRPr/>
          </a:p>
          <a:p>
            <a:pPr marL="742950" lvl="1" indent="-285750" algn="l" rtl="0">
              <a:spcBef>
                <a:spcPts val="400"/>
              </a:spcBef>
              <a:spcAft>
                <a:spcPts val="0"/>
              </a:spcAft>
              <a:buSzPts val="1800"/>
              <a:buChar char="•"/>
            </a:pPr>
            <a:r>
              <a:rPr lang="en-US"/>
              <a:t>Within an ER diagram, each entity must be related to at least one other entity via a relationship</a:t>
            </a:r>
            <a:endParaRPr/>
          </a:p>
        </p:txBody>
      </p:sp>
      <p:sp>
        <p:nvSpPr>
          <p:cNvPr id="102" name="Google Shape;102;p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a:t>
            </a:fld>
            <a:endParaRPr sz="900" b="1" i="0" u="none" strike="noStrike" cap="none">
              <a:solidFill>
                <a:schemeClr val="dk1"/>
              </a:solidFill>
              <a:latin typeface="Libre Franklin"/>
              <a:ea typeface="Libre Franklin"/>
              <a:cs typeface="Libre Franklin"/>
              <a:sym typeface="Libre Franklin"/>
            </a:endParaRPr>
          </a:p>
        </p:txBody>
      </p:sp>
      <p:sp>
        <p:nvSpPr>
          <p:cNvPr id="103" name="Google Shape;103;p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10" name="Google Shape;110;p9"/>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Cardinality constraints - </a:t>
            </a:r>
            <a:r>
              <a:rPr lang="en-US"/>
              <a:t>depict how many instances of one entity can be associated with instances of another entity</a:t>
            </a:r>
            <a:endParaRPr/>
          </a:p>
          <a:p>
            <a:pPr marL="742950" lvl="1" indent="-285750" algn="l" rtl="0">
              <a:spcBef>
                <a:spcPts val="400"/>
              </a:spcBef>
              <a:spcAft>
                <a:spcPts val="0"/>
              </a:spcAft>
              <a:buSzPts val="1800"/>
              <a:buChar char="•"/>
            </a:pPr>
            <a:r>
              <a:rPr lang="en-US" b="1"/>
              <a:t>Maximum cardinality</a:t>
            </a:r>
            <a:endParaRPr/>
          </a:p>
          <a:p>
            <a:pPr marL="1143000" lvl="2" indent="-228600" algn="l" rtl="0">
              <a:spcBef>
                <a:spcPts val="360"/>
              </a:spcBef>
              <a:spcAft>
                <a:spcPts val="0"/>
              </a:spcAft>
              <a:buSzPts val="1080"/>
              <a:buChar char="o"/>
            </a:pPr>
            <a:r>
              <a:rPr lang="en-US" b="1"/>
              <a:t>One</a:t>
            </a:r>
            <a:r>
              <a:rPr lang="en-US"/>
              <a:t> (represented by a straight bar: I) </a:t>
            </a:r>
            <a:endParaRPr/>
          </a:p>
          <a:p>
            <a:pPr marL="1143000" lvl="2" indent="-228600" algn="l" rtl="0">
              <a:spcBef>
                <a:spcPts val="360"/>
              </a:spcBef>
              <a:spcAft>
                <a:spcPts val="0"/>
              </a:spcAft>
              <a:buSzPts val="1080"/>
              <a:buChar char="o"/>
            </a:pPr>
            <a:r>
              <a:rPr lang="en-US" b="1"/>
              <a:t>Many</a:t>
            </a:r>
            <a:r>
              <a:rPr lang="en-US"/>
              <a:t> (represented by a crow’s foot symbol)</a:t>
            </a:r>
            <a:endParaRPr/>
          </a:p>
          <a:p>
            <a:pPr marL="742950" lvl="1" indent="-285750" algn="l" rtl="0">
              <a:spcBef>
                <a:spcPts val="400"/>
              </a:spcBef>
              <a:spcAft>
                <a:spcPts val="0"/>
              </a:spcAft>
              <a:buSzPts val="1800"/>
              <a:buChar char="•"/>
            </a:pPr>
            <a:r>
              <a:rPr lang="en-US" b="1"/>
              <a:t>Minimum cardinality (participation)</a:t>
            </a:r>
            <a:endParaRPr/>
          </a:p>
          <a:p>
            <a:pPr marL="1143000" lvl="2" indent="-228600" algn="l" rtl="0">
              <a:spcBef>
                <a:spcPts val="360"/>
              </a:spcBef>
              <a:spcAft>
                <a:spcPts val="0"/>
              </a:spcAft>
              <a:buSzPts val="1080"/>
              <a:buChar char="o"/>
            </a:pPr>
            <a:r>
              <a:rPr lang="en-US" b="1"/>
              <a:t>Optional</a:t>
            </a:r>
            <a:r>
              <a:rPr lang="en-US"/>
              <a:t> (represented by a circular symbol: 0) </a:t>
            </a:r>
            <a:endParaRPr/>
          </a:p>
          <a:p>
            <a:pPr marL="1143000" lvl="2" indent="-228600" algn="l" rtl="0">
              <a:spcBef>
                <a:spcPts val="360"/>
              </a:spcBef>
              <a:spcAft>
                <a:spcPts val="0"/>
              </a:spcAft>
              <a:buSzPts val="1080"/>
              <a:buChar char="o"/>
            </a:pPr>
            <a:r>
              <a:rPr lang="en-US" b="1"/>
              <a:t>Mandatory</a:t>
            </a:r>
            <a:r>
              <a:rPr lang="en-US"/>
              <a:t> (represented by a straight bar: I)</a:t>
            </a:r>
            <a:endParaRPr/>
          </a:p>
        </p:txBody>
      </p:sp>
      <p:sp>
        <p:nvSpPr>
          <p:cNvPr id="111" name="Google Shape;111;p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9</a:t>
            </a:fld>
            <a:endParaRPr sz="900" b="1" i="0" u="none" strike="noStrike" cap="none">
              <a:solidFill>
                <a:schemeClr val="dk1"/>
              </a:solidFill>
              <a:latin typeface="Libre Franklin"/>
              <a:ea typeface="Libre Franklin"/>
              <a:cs typeface="Libre Franklin"/>
              <a:sym typeface="Libre Franklin"/>
            </a:endParaRPr>
          </a:p>
        </p:txBody>
      </p:sp>
      <p:sp>
        <p:nvSpPr>
          <p:cNvPr id="112" name="Google Shape;112;p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19" name="Google Shape;119;p10"/>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relationship between two entities</a:t>
            </a:r>
            <a:endParaRPr/>
          </a:p>
        </p:txBody>
      </p:sp>
      <p:sp>
        <p:nvSpPr>
          <p:cNvPr id="120" name="Google Shape;120;p1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10</a:t>
            </a:fld>
            <a:endParaRPr sz="900" b="1" i="0" u="none" strike="noStrike" cap="none">
              <a:solidFill>
                <a:schemeClr val="dk1"/>
              </a:solidFill>
              <a:latin typeface="Libre Franklin"/>
              <a:ea typeface="Libre Franklin"/>
              <a:cs typeface="Libre Franklin"/>
              <a:sym typeface="Libre Franklin"/>
            </a:endParaRPr>
          </a:p>
        </p:txBody>
      </p:sp>
      <p:pic>
        <p:nvPicPr>
          <p:cNvPr id="121" name="Google Shape;121;p10"/>
          <p:cNvPicPr preferRelativeResize="0"/>
          <p:nvPr/>
        </p:nvPicPr>
        <p:blipFill rotWithShape="1">
          <a:blip r:embed="rId3">
            <a:alphaModFix/>
          </a:blip>
          <a:srcRect/>
          <a:stretch/>
        </p:blipFill>
        <p:spPr>
          <a:xfrm>
            <a:off x="242047" y="2819400"/>
            <a:ext cx="8659906" cy="2286000"/>
          </a:xfrm>
          <a:prstGeom prst="rect">
            <a:avLst/>
          </a:prstGeom>
          <a:noFill/>
          <a:ln>
            <a:noFill/>
          </a:ln>
        </p:spPr>
      </p:pic>
      <p:sp>
        <p:nvSpPr>
          <p:cNvPr id="122" name="Google Shape;122;p1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29" name="Google Shape;129;p11"/>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Four possible cardinality constraints</a:t>
            </a:r>
            <a:endParaRPr/>
          </a:p>
        </p:txBody>
      </p:sp>
      <p:sp>
        <p:nvSpPr>
          <p:cNvPr id="130" name="Google Shape;130;p1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11</a:t>
            </a:fld>
            <a:endParaRPr sz="900" b="1" i="0" u="none" strike="noStrike" cap="none">
              <a:solidFill>
                <a:schemeClr val="dk1"/>
              </a:solidFill>
              <a:latin typeface="Libre Franklin"/>
              <a:ea typeface="Libre Franklin"/>
              <a:cs typeface="Libre Franklin"/>
              <a:sym typeface="Libre Franklin"/>
            </a:endParaRPr>
          </a:p>
        </p:txBody>
      </p:sp>
      <p:pic>
        <p:nvPicPr>
          <p:cNvPr id="131" name="Google Shape;131;p11"/>
          <p:cNvPicPr preferRelativeResize="0"/>
          <p:nvPr/>
        </p:nvPicPr>
        <p:blipFill rotWithShape="1">
          <a:blip r:embed="rId3">
            <a:alphaModFix/>
          </a:blip>
          <a:srcRect/>
          <a:stretch/>
        </p:blipFill>
        <p:spPr>
          <a:xfrm>
            <a:off x="2103120" y="2057400"/>
            <a:ext cx="5448582" cy="4480560"/>
          </a:xfrm>
          <a:prstGeom prst="rect">
            <a:avLst/>
          </a:prstGeom>
          <a:noFill/>
          <a:ln>
            <a:noFill/>
          </a:ln>
        </p:spPr>
      </p:pic>
      <p:sp>
        <p:nvSpPr>
          <p:cNvPr id="132" name="Google Shape;132;p1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39" name="Google Shape;139;p12"/>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Several possible versions of the relationship ReportsTo</a:t>
            </a:r>
            <a:endParaRPr/>
          </a:p>
        </p:txBody>
      </p:sp>
      <p:sp>
        <p:nvSpPr>
          <p:cNvPr id="140" name="Google Shape;140;p1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12</a:t>
            </a:fld>
            <a:endParaRPr sz="900" b="1" i="0" u="none" strike="noStrike" cap="none">
              <a:solidFill>
                <a:schemeClr val="dk1"/>
              </a:solidFill>
              <a:latin typeface="Libre Franklin"/>
              <a:ea typeface="Libre Franklin"/>
              <a:cs typeface="Libre Franklin"/>
              <a:sym typeface="Libre Franklin"/>
            </a:endParaRPr>
          </a:p>
        </p:txBody>
      </p:sp>
      <p:pic>
        <p:nvPicPr>
          <p:cNvPr id="141" name="Google Shape;141;p12"/>
          <p:cNvPicPr preferRelativeResize="0"/>
          <p:nvPr/>
        </p:nvPicPr>
        <p:blipFill rotWithShape="1">
          <a:blip r:embed="rId3">
            <a:alphaModFix/>
          </a:blip>
          <a:srcRect/>
          <a:stretch/>
        </p:blipFill>
        <p:spPr>
          <a:xfrm>
            <a:off x="2103120" y="2057400"/>
            <a:ext cx="5322635" cy="4480560"/>
          </a:xfrm>
          <a:prstGeom prst="rect">
            <a:avLst/>
          </a:prstGeom>
          <a:noFill/>
          <a:ln>
            <a:noFill/>
          </a:ln>
        </p:spPr>
      </p:pic>
      <p:sp>
        <p:nvSpPr>
          <p:cNvPr id="142" name="Google Shape;142;p1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49" name="Google Shape;149;p13"/>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Types of Relationships (maximum cardinality-wise)</a:t>
            </a:r>
            <a:endParaRPr/>
          </a:p>
          <a:p>
            <a:pPr marL="742950" lvl="1" indent="-285750" algn="l" rtl="0">
              <a:spcBef>
                <a:spcPts val="400"/>
              </a:spcBef>
              <a:spcAft>
                <a:spcPts val="0"/>
              </a:spcAft>
              <a:buSzPts val="1800"/>
              <a:buChar char="•"/>
            </a:pPr>
            <a:r>
              <a:rPr lang="en-US" b="1"/>
              <a:t>One-to-one relationship (1:1)</a:t>
            </a:r>
            <a:endParaRPr/>
          </a:p>
          <a:p>
            <a:pPr marL="742950" lvl="1" indent="-285750" algn="l" rtl="0">
              <a:spcBef>
                <a:spcPts val="400"/>
              </a:spcBef>
              <a:spcAft>
                <a:spcPts val="0"/>
              </a:spcAft>
              <a:buSzPts val="1800"/>
              <a:buChar char="•"/>
            </a:pPr>
            <a:r>
              <a:rPr lang="en-US" b="1"/>
              <a:t>One-to-many relationship (1:M)</a:t>
            </a:r>
            <a:endParaRPr/>
          </a:p>
          <a:p>
            <a:pPr marL="742950" lvl="1" indent="-285750" algn="l" rtl="0">
              <a:spcBef>
                <a:spcPts val="400"/>
              </a:spcBef>
              <a:spcAft>
                <a:spcPts val="0"/>
              </a:spcAft>
              <a:buSzPts val="1800"/>
              <a:buChar char="•"/>
            </a:pPr>
            <a:r>
              <a:rPr lang="en-US" b="1"/>
              <a:t>Many-to-many relationship (M:N)</a:t>
            </a:r>
            <a:endParaRPr/>
          </a:p>
        </p:txBody>
      </p:sp>
      <p:sp>
        <p:nvSpPr>
          <p:cNvPr id="150" name="Google Shape;150;p1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13</a:t>
            </a:fld>
            <a:endParaRPr sz="900" b="1" i="0" u="none" strike="noStrike" cap="none">
              <a:solidFill>
                <a:schemeClr val="dk1"/>
              </a:solidFill>
              <a:latin typeface="Libre Franklin"/>
              <a:ea typeface="Libre Franklin"/>
              <a:cs typeface="Libre Franklin"/>
              <a:sym typeface="Libre Franklin"/>
            </a:endParaRPr>
          </a:p>
        </p:txBody>
      </p:sp>
      <p:sp>
        <p:nvSpPr>
          <p:cNvPr id="151" name="Google Shape;151;p1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58" name="Google Shape;158;p1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Three types of relationships (maximum cardinality-wise)</a:t>
            </a:r>
            <a:endParaRPr/>
          </a:p>
        </p:txBody>
      </p:sp>
      <p:sp>
        <p:nvSpPr>
          <p:cNvPr id="159" name="Google Shape;159;p1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14</a:t>
            </a:fld>
            <a:endParaRPr sz="900" b="1" i="0" u="none" strike="noStrike" cap="none">
              <a:solidFill>
                <a:schemeClr val="dk1"/>
              </a:solidFill>
              <a:latin typeface="Libre Franklin"/>
              <a:ea typeface="Libre Franklin"/>
              <a:cs typeface="Libre Franklin"/>
              <a:sym typeface="Libre Franklin"/>
            </a:endParaRPr>
          </a:p>
        </p:txBody>
      </p:sp>
      <p:pic>
        <p:nvPicPr>
          <p:cNvPr id="160" name="Google Shape;160;p14"/>
          <p:cNvPicPr preferRelativeResize="0"/>
          <p:nvPr/>
        </p:nvPicPr>
        <p:blipFill rotWithShape="1">
          <a:blip r:embed="rId3">
            <a:alphaModFix/>
          </a:blip>
          <a:srcRect/>
          <a:stretch/>
        </p:blipFill>
        <p:spPr>
          <a:xfrm>
            <a:off x="1219200" y="2392624"/>
            <a:ext cx="7098987" cy="3657600"/>
          </a:xfrm>
          <a:prstGeom prst="rect">
            <a:avLst/>
          </a:prstGeom>
          <a:noFill/>
          <a:ln>
            <a:noFill/>
          </a:ln>
        </p:spPr>
      </p:pic>
      <p:sp>
        <p:nvSpPr>
          <p:cNvPr id="161" name="Google Shape;161;p1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68" name="Google Shape;168;p15"/>
          <p:cNvSpPr txBox="1">
            <a:spLocks noGrp="1"/>
          </p:cNvSpPr>
          <p:nvPr>
            <p:ph type="body" idx="1"/>
          </p:nvPr>
        </p:nvSpPr>
        <p:spPr>
          <a:xfrm>
            <a:off x="155575" y="1554163"/>
            <a:ext cx="8686800" cy="50323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20"/>
              <a:buFont typeface="Noto Sans Symbols"/>
              <a:buNone/>
            </a:pPr>
            <a:r>
              <a:rPr lang="en-US" sz="1800"/>
              <a:t>A 1:M Relationship</a:t>
            </a:r>
            <a:endParaRPr/>
          </a:p>
        </p:txBody>
      </p:sp>
      <p:sp>
        <p:nvSpPr>
          <p:cNvPr id="169" name="Google Shape;169;p15"/>
          <p:cNvSpPr txBox="1"/>
          <p:nvPr/>
        </p:nvSpPr>
        <p:spPr>
          <a:xfrm>
            <a:off x="132143" y="3340654"/>
            <a:ext cx="8686800" cy="503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20"/>
              <a:buFont typeface="Noto Sans Symbols"/>
              <a:buNone/>
            </a:pPr>
            <a:r>
              <a:rPr lang="en-US" sz="1800" b="0" i="0" u="none" strike="noStrike" cap="none">
                <a:solidFill>
                  <a:schemeClr val="dk2"/>
                </a:solidFill>
                <a:latin typeface="Libre Franklin"/>
                <a:ea typeface="Libre Franklin"/>
                <a:cs typeface="Libre Franklin"/>
                <a:sym typeface="Libre Franklin"/>
              </a:rPr>
              <a:t>A M:N Relationship</a:t>
            </a:r>
            <a:endParaRPr/>
          </a:p>
        </p:txBody>
      </p:sp>
      <p:sp>
        <p:nvSpPr>
          <p:cNvPr id="170" name="Google Shape;170;p15"/>
          <p:cNvSpPr txBox="1"/>
          <p:nvPr/>
        </p:nvSpPr>
        <p:spPr>
          <a:xfrm>
            <a:off x="160116" y="5104597"/>
            <a:ext cx="8686800" cy="503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20"/>
              <a:buFont typeface="Noto Sans Symbols"/>
              <a:buNone/>
            </a:pPr>
            <a:r>
              <a:rPr lang="en-US" sz="1800" b="0" i="0" u="none" strike="noStrike" cap="none">
                <a:solidFill>
                  <a:schemeClr val="dk2"/>
                </a:solidFill>
                <a:latin typeface="Libre Franklin"/>
                <a:ea typeface="Libre Franklin"/>
                <a:cs typeface="Libre Franklin"/>
                <a:sym typeface="Libre Franklin"/>
              </a:rPr>
              <a:t>A 1:1 Relationship</a:t>
            </a:r>
            <a:endParaRPr/>
          </a:p>
        </p:txBody>
      </p:sp>
      <p:sp>
        <p:nvSpPr>
          <p:cNvPr id="171" name="Google Shape;171;p1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15</a:t>
            </a:fld>
            <a:endParaRPr sz="900" b="1" i="0" u="none" strike="noStrike" cap="none">
              <a:solidFill>
                <a:schemeClr val="dk1"/>
              </a:solidFill>
              <a:latin typeface="Libre Franklin"/>
              <a:ea typeface="Libre Franklin"/>
              <a:cs typeface="Libre Franklin"/>
              <a:sym typeface="Libre Franklin"/>
            </a:endParaRPr>
          </a:p>
        </p:txBody>
      </p:sp>
      <p:pic>
        <p:nvPicPr>
          <p:cNvPr id="172" name="Google Shape;172;p15"/>
          <p:cNvPicPr preferRelativeResize="0"/>
          <p:nvPr/>
        </p:nvPicPr>
        <p:blipFill rotWithShape="1">
          <a:blip r:embed="rId3">
            <a:alphaModFix/>
          </a:blip>
          <a:srcRect/>
          <a:stretch/>
        </p:blipFill>
        <p:spPr>
          <a:xfrm>
            <a:off x="2438400" y="1665056"/>
            <a:ext cx="6400800" cy="1320640"/>
          </a:xfrm>
          <a:prstGeom prst="rect">
            <a:avLst/>
          </a:prstGeom>
          <a:noFill/>
          <a:ln>
            <a:noFill/>
          </a:ln>
        </p:spPr>
      </p:pic>
      <p:pic>
        <p:nvPicPr>
          <p:cNvPr id="173" name="Google Shape;173;p15"/>
          <p:cNvPicPr preferRelativeResize="0"/>
          <p:nvPr/>
        </p:nvPicPr>
        <p:blipFill rotWithShape="1">
          <a:blip r:embed="rId4">
            <a:alphaModFix/>
          </a:blip>
          <a:srcRect/>
          <a:stretch/>
        </p:blipFill>
        <p:spPr>
          <a:xfrm>
            <a:off x="2438400" y="3429000"/>
            <a:ext cx="6400800" cy="1320639"/>
          </a:xfrm>
          <a:prstGeom prst="rect">
            <a:avLst/>
          </a:prstGeom>
          <a:noFill/>
          <a:ln>
            <a:noFill/>
          </a:ln>
        </p:spPr>
      </p:pic>
      <p:pic>
        <p:nvPicPr>
          <p:cNvPr id="174" name="Google Shape;174;p15"/>
          <p:cNvPicPr preferRelativeResize="0"/>
          <p:nvPr/>
        </p:nvPicPr>
        <p:blipFill rotWithShape="1">
          <a:blip r:embed="rId5">
            <a:alphaModFix/>
          </a:blip>
          <a:srcRect/>
          <a:stretch/>
        </p:blipFill>
        <p:spPr>
          <a:xfrm>
            <a:off x="2436470" y="5206277"/>
            <a:ext cx="6400800" cy="1320639"/>
          </a:xfrm>
          <a:prstGeom prst="rect">
            <a:avLst/>
          </a:prstGeom>
          <a:noFill/>
          <a:ln>
            <a:noFill/>
          </a:ln>
        </p:spPr>
      </p:pic>
      <p:sp>
        <p:nvSpPr>
          <p:cNvPr id="175" name="Google Shape;175;p1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82" name="Google Shape;182;p16"/>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Relationship instances </a:t>
            </a:r>
            <a:r>
              <a:rPr lang="en-US"/>
              <a:t>- occurrences of a relationship</a:t>
            </a:r>
            <a:endParaRPr/>
          </a:p>
          <a:p>
            <a:pPr marL="742950" lvl="1" indent="-285750" algn="l" rtl="0">
              <a:spcBef>
                <a:spcPts val="400"/>
              </a:spcBef>
              <a:spcAft>
                <a:spcPts val="0"/>
              </a:spcAft>
              <a:buSzPts val="1800"/>
              <a:buChar char="•"/>
            </a:pPr>
            <a:r>
              <a:rPr lang="en-US"/>
              <a:t>Occur when an instance of one entity is related to an instance of another entity via a relationship</a:t>
            </a:r>
            <a:endParaRPr/>
          </a:p>
          <a:p>
            <a:pPr marL="742950" lvl="1" indent="-285750" algn="l" rtl="0">
              <a:spcBef>
                <a:spcPts val="400"/>
              </a:spcBef>
              <a:spcAft>
                <a:spcPts val="0"/>
              </a:spcAft>
              <a:buSzPts val="1800"/>
              <a:buChar char="•"/>
            </a:pPr>
            <a:r>
              <a:rPr lang="en-US"/>
              <a:t>Relationship themselves are depicted in the ER diagrams while relationship instances are not</a:t>
            </a:r>
            <a:endParaRPr/>
          </a:p>
          <a:p>
            <a:pPr marL="742950" lvl="1" indent="-285750" algn="l" rtl="0">
              <a:spcBef>
                <a:spcPts val="400"/>
              </a:spcBef>
              <a:spcAft>
                <a:spcPts val="0"/>
              </a:spcAft>
              <a:buSzPts val="1800"/>
              <a:buChar char="•"/>
            </a:pPr>
            <a:r>
              <a:rPr lang="en-US"/>
              <a:t>Relationship instances are eventually recorded in the database that is created based on the ER diagram</a:t>
            </a:r>
            <a:endParaRPr/>
          </a:p>
        </p:txBody>
      </p:sp>
      <p:sp>
        <p:nvSpPr>
          <p:cNvPr id="183" name="Google Shape;183;p1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16</a:t>
            </a:fld>
            <a:endParaRPr sz="900" b="1" i="0" u="none" strike="noStrike" cap="none">
              <a:solidFill>
                <a:schemeClr val="dk1"/>
              </a:solidFill>
              <a:latin typeface="Libre Franklin"/>
              <a:ea typeface="Libre Franklin"/>
              <a:cs typeface="Libre Franklin"/>
              <a:sym typeface="Libre Franklin"/>
            </a:endParaRPr>
          </a:p>
        </p:txBody>
      </p:sp>
      <p:sp>
        <p:nvSpPr>
          <p:cNvPr id="184" name="Google Shape;184;p1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191" name="Google Shape;191;p17"/>
          <p:cNvSpPr txBox="1">
            <a:spLocks noGrp="1"/>
          </p:cNvSpPr>
          <p:nvPr>
            <p:ph type="body" idx="1"/>
          </p:nvPr>
        </p:nvSpPr>
        <p:spPr>
          <a:xfrm>
            <a:off x="228600" y="1295400"/>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relationship and its instances</a:t>
            </a:r>
            <a:endParaRPr/>
          </a:p>
        </p:txBody>
      </p:sp>
      <p:sp>
        <p:nvSpPr>
          <p:cNvPr id="192" name="Google Shape;192;p1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17</a:t>
            </a:fld>
            <a:endParaRPr sz="900" b="1" i="0" u="none" strike="noStrike" cap="none">
              <a:solidFill>
                <a:schemeClr val="dk1"/>
              </a:solidFill>
              <a:latin typeface="Libre Franklin"/>
              <a:ea typeface="Libre Franklin"/>
              <a:cs typeface="Libre Franklin"/>
              <a:sym typeface="Libre Franklin"/>
            </a:endParaRPr>
          </a:p>
        </p:txBody>
      </p:sp>
      <p:pic>
        <p:nvPicPr>
          <p:cNvPr id="193" name="Google Shape;193;p17"/>
          <p:cNvPicPr preferRelativeResize="0"/>
          <p:nvPr/>
        </p:nvPicPr>
        <p:blipFill rotWithShape="1">
          <a:blip r:embed="rId3">
            <a:alphaModFix/>
          </a:blip>
          <a:srcRect/>
          <a:stretch/>
        </p:blipFill>
        <p:spPr>
          <a:xfrm>
            <a:off x="990600" y="1930578"/>
            <a:ext cx="6858000" cy="4294803"/>
          </a:xfrm>
          <a:prstGeom prst="rect">
            <a:avLst/>
          </a:prstGeom>
          <a:noFill/>
          <a:ln>
            <a:noFill/>
          </a:ln>
        </p:spPr>
      </p:pic>
      <p:sp>
        <p:nvSpPr>
          <p:cNvPr id="194" name="Google Shape;194;p1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201" name="Google Shape;201;p1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Relationship attributes </a:t>
            </a:r>
            <a:endParaRPr/>
          </a:p>
          <a:p>
            <a:pPr marL="742950" lvl="1" indent="-285750" algn="l" rtl="0">
              <a:spcBef>
                <a:spcPts val="400"/>
              </a:spcBef>
              <a:spcAft>
                <a:spcPts val="0"/>
              </a:spcAft>
              <a:buSzPts val="1800"/>
              <a:buChar char="•"/>
            </a:pPr>
            <a:r>
              <a:rPr lang="en-US"/>
              <a:t>In some cases M:N relationships can actually have attributes of their own</a:t>
            </a:r>
            <a:endParaRPr/>
          </a:p>
        </p:txBody>
      </p:sp>
      <p:sp>
        <p:nvSpPr>
          <p:cNvPr id="202" name="Google Shape;202;p1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18</a:t>
            </a:fld>
            <a:endParaRPr sz="900" b="1" i="0" u="none" strike="noStrike" cap="none">
              <a:solidFill>
                <a:schemeClr val="dk1"/>
              </a:solidFill>
              <a:latin typeface="Libre Franklin"/>
              <a:ea typeface="Libre Franklin"/>
              <a:cs typeface="Libre Franklin"/>
              <a:sym typeface="Libre Franklin"/>
            </a:endParaRPr>
          </a:p>
        </p:txBody>
      </p:sp>
      <p:sp>
        <p:nvSpPr>
          <p:cNvPr id="203" name="Google Shape;203;p1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210" name="Google Shape;210;p19"/>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M:N relationship with an attribute</a:t>
            </a:r>
            <a:endParaRPr/>
          </a:p>
        </p:txBody>
      </p:sp>
      <p:sp>
        <p:nvSpPr>
          <p:cNvPr id="211" name="Google Shape;211;p1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19</a:t>
            </a:fld>
            <a:endParaRPr sz="900" b="1" i="0" u="none" strike="noStrike" cap="none">
              <a:solidFill>
                <a:schemeClr val="dk1"/>
              </a:solidFill>
              <a:latin typeface="Libre Franklin"/>
              <a:ea typeface="Libre Franklin"/>
              <a:cs typeface="Libre Franklin"/>
              <a:sym typeface="Libre Franklin"/>
            </a:endParaRPr>
          </a:p>
        </p:txBody>
      </p:sp>
      <p:pic>
        <p:nvPicPr>
          <p:cNvPr id="212" name="Google Shape;212;p19"/>
          <p:cNvPicPr preferRelativeResize="0"/>
          <p:nvPr/>
        </p:nvPicPr>
        <p:blipFill rotWithShape="1">
          <a:blip r:embed="rId3">
            <a:alphaModFix/>
          </a:blip>
          <a:srcRect/>
          <a:stretch/>
        </p:blipFill>
        <p:spPr>
          <a:xfrm>
            <a:off x="304800" y="2736823"/>
            <a:ext cx="8686800" cy="2419033"/>
          </a:xfrm>
          <a:prstGeom prst="rect">
            <a:avLst/>
          </a:prstGeom>
          <a:noFill/>
          <a:ln>
            <a:noFill/>
          </a:ln>
        </p:spPr>
      </p:pic>
      <p:sp>
        <p:nvSpPr>
          <p:cNvPr id="213" name="Google Shape;213;p1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220" name="Google Shape;220;p20"/>
          <p:cNvSpPr txBox="1">
            <a:spLocks noGrp="1"/>
          </p:cNvSpPr>
          <p:nvPr>
            <p:ph type="body" idx="1"/>
          </p:nvPr>
        </p:nvSpPr>
        <p:spPr>
          <a:xfrm>
            <a:off x="228600" y="1268392"/>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1:M relationship with and without an attribute</a:t>
            </a:r>
            <a:endParaRPr/>
          </a:p>
        </p:txBody>
      </p:sp>
      <p:sp>
        <p:nvSpPr>
          <p:cNvPr id="221" name="Google Shape;221;p2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20</a:t>
            </a:fld>
            <a:endParaRPr sz="900" b="1" i="0" u="none" strike="noStrike" cap="none">
              <a:solidFill>
                <a:schemeClr val="dk1"/>
              </a:solidFill>
              <a:latin typeface="Libre Franklin"/>
              <a:ea typeface="Libre Franklin"/>
              <a:cs typeface="Libre Franklin"/>
              <a:sym typeface="Libre Franklin"/>
            </a:endParaRPr>
          </a:p>
        </p:txBody>
      </p:sp>
      <p:pic>
        <p:nvPicPr>
          <p:cNvPr id="222" name="Google Shape;222;p20"/>
          <p:cNvPicPr preferRelativeResize="0"/>
          <p:nvPr/>
        </p:nvPicPr>
        <p:blipFill rotWithShape="1">
          <a:blip r:embed="rId3">
            <a:alphaModFix/>
          </a:blip>
          <a:srcRect/>
          <a:stretch/>
        </p:blipFill>
        <p:spPr>
          <a:xfrm>
            <a:off x="1371600" y="1775545"/>
            <a:ext cx="6675120" cy="4823478"/>
          </a:xfrm>
          <a:prstGeom prst="rect">
            <a:avLst/>
          </a:prstGeom>
          <a:noFill/>
          <a:ln>
            <a:noFill/>
          </a:ln>
        </p:spPr>
      </p:pic>
      <p:sp>
        <p:nvSpPr>
          <p:cNvPr id="223" name="Google Shape;223;p2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1"/>
          <p:cNvSpPr txBox="1"/>
          <p:nvPr/>
        </p:nvSpPr>
        <p:spPr>
          <a:xfrm>
            <a:off x="-11113" y="0"/>
            <a:ext cx="8686801" cy="57943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1400"/>
              <a:buFont typeface="Noto Sans Symbols"/>
              <a:buNone/>
            </a:pPr>
            <a:r>
              <a:rPr lang="en-US" sz="2000" b="1" i="0" u="none" strike="noStrike" cap="none">
                <a:solidFill>
                  <a:schemeClr val="dk2"/>
                </a:solidFill>
                <a:latin typeface="Libre Franklin"/>
                <a:ea typeface="Libre Franklin"/>
                <a:cs typeface="Libre Franklin"/>
                <a:sym typeface="Libre Franklin"/>
              </a:rPr>
              <a:t>ER diagram example: </a:t>
            </a:r>
            <a:r>
              <a:rPr lang="en-US" sz="2000" b="0" i="0" u="none" strike="noStrike" cap="none">
                <a:solidFill>
                  <a:schemeClr val="dk2"/>
                </a:solidFill>
                <a:latin typeface="Libre Franklin"/>
                <a:ea typeface="Libre Franklin"/>
                <a:cs typeface="Libre Franklin"/>
                <a:sym typeface="Libre Franklin"/>
              </a:rPr>
              <a:t>ZAGI Retail Company Sales Department Database</a:t>
            </a:r>
            <a:endParaRPr/>
          </a:p>
        </p:txBody>
      </p:sp>
      <p:sp>
        <p:nvSpPr>
          <p:cNvPr id="230" name="Google Shape;230;p21"/>
          <p:cNvSpPr txBox="1"/>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21</a:t>
            </a:fld>
            <a:endParaRPr sz="900" b="1" i="0" u="none" strike="noStrike" cap="none">
              <a:solidFill>
                <a:schemeClr val="dk1"/>
              </a:solidFill>
              <a:latin typeface="Libre Franklin"/>
              <a:ea typeface="Libre Franklin"/>
              <a:cs typeface="Libre Franklin"/>
              <a:sym typeface="Libre Franklin"/>
            </a:endParaRPr>
          </a:p>
        </p:txBody>
      </p:sp>
      <p:pic>
        <p:nvPicPr>
          <p:cNvPr id="231" name="Google Shape;231;p21"/>
          <p:cNvPicPr preferRelativeResize="0"/>
          <p:nvPr/>
        </p:nvPicPr>
        <p:blipFill rotWithShape="1">
          <a:blip r:embed="rId3">
            <a:alphaModFix/>
          </a:blip>
          <a:srcRect/>
          <a:stretch/>
        </p:blipFill>
        <p:spPr>
          <a:xfrm>
            <a:off x="182880" y="594360"/>
            <a:ext cx="8778240" cy="5223913"/>
          </a:xfrm>
          <a:prstGeom prst="rect">
            <a:avLst/>
          </a:prstGeom>
          <a:noFill/>
          <a:ln>
            <a:noFill/>
          </a:ln>
        </p:spPr>
      </p:pic>
      <p:sp>
        <p:nvSpPr>
          <p:cNvPr id="232" name="Google Shape;232;p21"/>
          <p:cNvSpPr txBox="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239" name="Google Shape;239;p22"/>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Composite attribute – </a:t>
            </a:r>
            <a:r>
              <a:rPr lang="en-US"/>
              <a:t>attribute that is composed of several  attributes</a:t>
            </a:r>
            <a:endParaRPr/>
          </a:p>
          <a:p>
            <a:pPr marL="742950" lvl="1" indent="-285750" algn="l" rtl="0">
              <a:spcBef>
                <a:spcPts val="400"/>
              </a:spcBef>
              <a:spcAft>
                <a:spcPts val="0"/>
              </a:spcAft>
              <a:buSzPts val="1800"/>
              <a:buChar char="•"/>
            </a:pPr>
            <a:r>
              <a:rPr lang="en-US"/>
              <a:t>Not an additional attribute of an entity	</a:t>
            </a:r>
            <a:endParaRPr/>
          </a:p>
          <a:p>
            <a:pPr marL="742950" lvl="1" indent="-285750" algn="l" rtl="0">
              <a:spcBef>
                <a:spcPts val="400"/>
              </a:spcBef>
              <a:spcAft>
                <a:spcPts val="0"/>
              </a:spcAft>
              <a:buSzPts val="1800"/>
              <a:buChar char="•"/>
            </a:pPr>
            <a:r>
              <a:rPr lang="en-US"/>
              <a:t>Its purpose is to indicate a situation in which a collection of attributes has an additional meaning, besides the individual meanings of each attribute</a:t>
            </a:r>
            <a:endParaRPr/>
          </a:p>
        </p:txBody>
      </p:sp>
      <p:sp>
        <p:nvSpPr>
          <p:cNvPr id="240" name="Google Shape;240;p2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22</a:t>
            </a:fld>
            <a:endParaRPr sz="900" b="1" i="0" u="none" strike="noStrike" cap="none">
              <a:solidFill>
                <a:schemeClr val="dk1"/>
              </a:solidFill>
              <a:latin typeface="Libre Franklin"/>
              <a:ea typeface="Libre Franklin"/>
              <a:cs typeface="Libre Franklin"/>
              <a:sym typeface="Libre Franklin"/>
            </a:endParaRPr>
          </a:p>
        </p:txBody>
      </p:sp>
      <p:sp>
        <p:nvSpPr>
          <p:cNvPr id="241" name="Google Shape;241;p2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248" name="Google Shape;248;p23"/>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entity with a composite attribute</a:t>
            </a:r>
            <a:endParaRPr/>
          </a:p>
        </p:txBody>
      </p:sp>
      <p:sp>
        <p:nvSpPr>
          <p:cNvPr id="249" name="Google Shape;249;p2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23</a:t>
            </a:fld>
            <a:endParaRPr sz="900" b="1" i="0" u="none" strike="noStrike" cap="none">
              <a:solidFill>
                <a:schemeClr val="dk1"/>
              </a:solidFill>
              <a:latin typeface="Libre Franklin"/>
              <a:ea typeface="Libre Franklin"/>
              <a:cs typeface="Libre Franklin"/>
              <a:sym typeface="Libre Franklin"/>
            </a:endParaRPr>
          </a:p>
        </p:txBody>
      </p:sp>
      <p:pic>
        <p:nvPicPr>
          <p:cNvPr id="250" name="Google Shape;250;p23"/>
          <p:cNvPicPr preferRelativeResize="0"/>
          <p:nvPr/>
        </p:nvPicPr>
        <p:blipFill rotWithShape="1">
          <a:blip r:embed="rId3">
            <a:alphaModFix/>
          </a:blip>
          <a:srcRect/>
          <a:stretch/>
        </p:blipFill>
        <p:spPr>
          <a:xfrm>
            <a:off x="1066800" y="2362200"/>
            <a:ext cx="7315200" cy="3580559"/>
          </a:xfrm>
          <a:prstGeom prst="rect">
            <a:avLst/>
          </a:prstGeom>
          <a:noFill/>
          <a:ln>
            <a:noFill/>
          </a:ln>
        </p:spPr>
      </p:pic>
      <p:sp>
        <p:nvSpPr>
          <p:cNvPr id="251" name="Google Shape;251;p2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258" name="Google Shape;258;p2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Another entity with a composite attribute</a:t>
            </a:r>
            <a:endParaRPr/>
          </a:p>
        </p:txBody>
      </p:sp>
      <p:sp>
        <p:nvSpPr>
          <p:cNvPr id="259" name="Google Shape;259;p2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24</a:t>
            </a:fld>
            <a:endParaRPr sz="900" b="1" i="0" u="none" strike="noStrike" cap="none">
              <a:solidFill>
                <a:schemeClr val="dk1"/>
              </a:solidFill>
              <a:latin typeface="Libre Franklin"/>
              <a:ea typeface="Libre Franklin"/>
              <a:cs typeface="Libre Franklin"/>
              <a:sym typeface="Libre Franklin"/>
            </a:endParaRPr>
          </a:p>
        </p:txBody>
      </p:sp>
      <p:pic>
        <p:nvPicPr>
          <p:cNvPr id="260" name="Google Shape;260;p24"/>
          <p:cNvPicPr preferRelativeResize="0"/>
          <p:nvPr/>
        </p:nvPicPr>
        <p:blipFill rotWithShape="1">
          <a:blip r:embed="rId3">
            <a:alphaModFix/>
          </a:blip>
          <a:srcRect/>
          <a:stretch/>
        </p:blipFill>
        <p:spPr>
          <a:xfrm>
            <a:off x="914400" y="2258335"/>
            <a:ext cx="7315200" cy="3821790"/>
          </a:xfrm>
          <a:prstGeom prst="rect">
            <a:avLst/>
          </a:prstGeom>
          <a:noFill/>
          <a:ln>
            <a:noFill/>
          </a:ln>
        </p:spPr>
      </p:pic>
      <p:sp>
        <p:nvSpPr>
          <p:cNvPr id="261" name="Google Shape;261;p2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268" name="Google Shape;268;p2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Composite attributes sharing components</a:t>
            </a:r>
            <a:endParaRPr/>
          </a:p>
        </p:txBody>
      </p:sp>
      <p:sp>
        <p:nvSpPr>
          <p:cNvPr id="269" name="Google Shape;269;p2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25</a:t>
            </a:fld>
            <a:endParaRPr sz="900" b="1" i="0" u="none" strike="noStrike" cap="none">
              <a:solidFill>
                <a:schemeClr val="dk1"/>
              </a:solidFill>
              <a:latin typeface="Libre Franklin"/>
              <a:ea typeface="Libre Franklin"/>
              <a:cs typeface="Libre Franklin"/>
              <a:sym typeface="Libre Franklin"/>
            </a:endParaRPr>
          </a:p>
        </p:txBody>
      </p:sp>
      <p:pic>
        <p:nvPicPr>
          <p:cNvPr id="270" name="Google Shape;270;p25"/>
          <p:cNvPicPr preferRelativeResize="0"/>
          <p:nvPr/>
        </p:nvPicPr>
        <p:blipFill rotWithShape="1">
          <a:blip r:embed="rId3">
            <a:alphaModFix/>
          </a:blip>
          <a:srcRect/>
          <a:stretch/>
        </p:blipFill>
        <p:spPr>
          <a:xfrm>
            <a:off x="228600" y="2590800"/>
            <a:ext cx="8686800" cy="3284179"/>
          </a:xfrm>
          <a:prstGeom prst="rect">
            <a:avLst/>
          </a:prstGeom>
          <a:noFill/>
          <a:ln>
            <a:noFill/>
          </a:ln>
        </p:spPr>
      </p:pic>
      <p:sp>
        <p:nvSpPr>
          <p:cNvPr id="271" name="Google Shape;271;p2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278" name="Google Shape;278;p26"/>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Composite unique attribute – </a:t>
            </a:r>
            <a:r>
              <a:rPr lang="en-US"/>
              <a:t>attribute that is composed of several attributes and whose value is different for each entity instance</a:t>
            </a:r>
            <a:endParaRPr/>
          </a:p>
        </p:txBody>
      </p:sp>
      <p:sp>
        <p:nvSpPr>
          <p:cNvPr id="279" name="Google Shape;279;p2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26</a:t>
            </a:fld>
            <a:endParaRPr sz="900" b="1" i="0" u="none" strike="noStrike" cap="none">
              <a:solidFill>
                <a:schemeClr val="dk1"/>
              </a:solidFill>
              <a:latin typeface="Libre Franklin"/>
              <a:ea typeface="Libre Franklin"/>
              <a:cs typeface="Libre Franklin"/>
              <a:sym typeface="Libre Franklin"/>
            </a:endParaRPr>
          </a:p>
        </p:txBody>
      </p:sp>
      <p:sp>
        <p:nvSpPr>
          <p:cNvPr id="280" name="Google Shape;280;p2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287" name="Google Shape;287;p27"/>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entity with a unique composite attribute</a:t>
            </a:r>
            <a:endParaRPr/>
          </a:p>
        </p:txBody>
      </p:sp>
      <p:sp>
        <p:nvSpPr>
          <p:cNvPr id="288" name="Google Shape;288;p2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27</a:t>
            </a:fld>
            <a:endParaRPr sz="900" b="1" i="0" u="none" strike="noStrike" cap="none">
              <a:solidFill>
                <a:schemeClr val="dk1"/>
              </a:solidFill>
              <a:latin typeface="Libre Franklin"/>
              <a:ea typeface="Libre Franklin"/>
              <a:cs typeface="Libre Franklin"/>
              <a:sym typeface="Libre Franklin"/>
            </a:endParaRPr>
          </a:p>
        </p:txBody>
      </p:sp>
      <p:pic>
        <p:nvPicPr>
          <p:cNvPr id="289" name="Google Shape;289;p27"/>
          <p:cNvPicPr preferRelativeResize="0"/>
          <p:nvPr/>
        </p:nvPicPr>
        <p:blipFill rotWithShape="1">
          <a:blip r:embed="rId3">
            <a:alphaModFix/>
          </a:blip>
          <a:srcRect/>
          <a:stretch/>
        </p:blipFill>
        <p:spPr>
          <a:xfrm>
            <a:off x="1638300" y="2362200"/>
            <a:ext cx="5486400" cy="3455203"/>
          </a:xfrm>
          <a:prstGeom prst="rect">
            <a:avLst/>
          </a:prstGeom>
          <a:noFill/>
          <a:ln>
            <a:noFill/>
          </a:ln>
        </p:spPr>
      </p:pic>
      <p:sp>
        <p:nvSpPr>
          <p:cNvPr id="290" name="Google Shape;290;p2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297" name="Google Shape;297;p2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Multiple unique attributes (candidate keys) - </a:t>
            </a:r>
            <a:r>
              <a:rPr lang="en-US"/>
              <a:t>when an entity has more than one unique attribute each unique attribute is also called a candidate key</a:t>
            </a:r>
            <a:endParaRPr/>
          </a:p>
        </p:txBody>
      </p:sp>
      <p:sp>
        <p:nvSpPr>
          <p:cNvPr id="298" name="Google Shape;298;p2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28</a:t>
            </a:fld>
            <a:endParaRPr sz="900" b="1" i="0" u="none" strike="noStrike" cap="none">
              <a:solidFill>
                <a:schemeClr val="dk1"/>
              </a:solidFill>
              <a:latin typeface="Libre Franklin"/>
              <a:ea typeface="Libre Franklin"/>
              <a:cs typeface="Libre Franklin"/>
              <a:sym typeface="Libre Franklin"/>
            </a:endParaRPr>
          </a:p>
        </p:txBody>
      </p:sp>
      <p:sp>
        <p:nvSpPr>
          <p:cNvPr id="299" name="Google Shape;299;p2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06" name="Google Shape;306;p29"/>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entity with multiple unique attributes (candidate keys)</a:t>
            </a:r>
            <a:endParaRPr/>
          </a:p>
        </p:txBody>
      </p:sp>
      <p:sp>
        <p:nvSpPr>
          <p:cNvPr id="307" name="Google Shape;307;p2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29</a:t>
            </a:fld>
            <a:endParaRPr sz="900" b="1" i="0" u="none" strike="noStrike" cap="none">
              <a:solidFill>
                <a:schemeClr val="dk1"/>
              </a:solidFill>
              <a:latin typeface="Libre Franklin"/>
              <a:ea typeface="Libre Franklin"/>
              <a:cs typeface="Libre Franklin"/>
              <a:sym typeface="Libre Franklin"/>
            </a:endParaRPr>
          </a:p>
        </p:txBody>
      </p:sp>
      <p:pic>
        <p:nvPicPr>
          <p:cNvPr id="308" name="Google Shape;308;p29"/>
          <p:cNvPicPr preferRelativeResize="0"/>
          <p:nvPr/>
        </p:nvPicPr>
        <p:blipFill rotWithShape="1">
          <a:blip r:embed="rId3">
            <a:alphaModFix/>
          </a:blip>
          <a:srcRect/>
          <a:stretch/>
        </p:blipFill>
        <p:spPr>
          <a:xfrm>
            <a:off x="1219200" y="2664543"/>
            <a:ext cx="5943600" cy="2664372"/>
          </a:xfrm>
          <a:prstGeom prst="rect">
            <a:avLst/>
          </a:prstGeom>
          <a:noFill/>
          <a:ln>
            <a:noFill/>
          </a:ln>
        </p:spPr>
      </p:pic>
      <p:sp>
        <p:nvSpPr>
          <p:cNvPr id="309" name="Google Shape;309;p2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16" name="Google Shape;316;p30"/>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entity with a regular and composite candidate key</a:t>
            </a:r>
            <a:endParaRPr/>
          </a:p>
        </p:txBody>
      </p:sp>
      <p:sp>
        <p:nvSpPr>
          <p:cNvPr id="317" name="Google Shape;317;p3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30</a:t>
            </a:fld>
            <a:endParaRPr sz="900" b="1" i="0" u="none" strike="noStrike" cap="none">
              <a:solidFill>
                <a:schemeClr val="dk1"/>
              </a:solidFill>
              <a:latin typeface="Libre Franklin"/>
              <a:ea typeface="Libre Franklin"/>
              <a:cs typeface="Libre Franklin"/>
              <a:sym typeface="Libre Franklin"/>
            </a:endParaRPr>
          </a:p>
        </p:txBody>
      </p:sp>
      <p:pic>
        <p:nvPicPr>
          <p:cNvPr id="318" name="Google Shape;318;p30"/>
          <p:cNvPicPr preferRelativeResize="0"/>
          <p:nvPr/>
        </p:nvPicPr>
        <p:blipFill rotWithShape="1">
          <a:blip r:embed="rId3">
            <a:alphaModFix/>
          </a:blip>
          <a:srcRect/>
          <a:stretch/>
        </p:blipFill>
        <p:spPr>
          <a:xfrm>
            <a:off x="914400" y="2308704"/>
            <a:ext cx="7315200" cy="3764669"/>
          </a:xfrm>
          <a:prstGeom prst="rect">
            <a:avLst/>
          </a:prstGeom>
          <a:noFill/>
          <a:ln>
            <a:noFill/>
          </a:ln>
        </p:spPr>
      </p:pic>
      <p:sp>
        <p:nvSpPr>
          <p:cNvPr id="319" name="Google Shape;319;p3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26" name="Google Shape;326;p31"/>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Multivalued attribute - </a:t>
            </a:r>
            <a:r>
              <a:rPr lang="en-US"/>
              <a:t>attribute for which instances of an entity can have multiple values for the same attribute</a:t>
            </a:r>
            <a:endParaRPr/>
          </a:p>
        </p:txBody>
      </p:sp>
      <p:sp>
        <p:nvSpPr>
          <p:cNvPr id="327" name="Google Shape;327;p3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31</a:t>
            </a:fld>
            <a:endParaRPr sz="900" b="1" i="0" u="none" strike="noStrike" cap="none">
              <a:solidFill>
                <a:schemeClr val="dk1"/>
              </a:solidFill>
              <a:latin typeface="Libre Franklin"/>
              <a:ea typeface="Libre Franklin"/>
              <a:cs typeface="Libre Franklin"/>
              <a:sym typeface="Libre Franklin"/>
            </a:endParaRPr>
          </a:p>
        </p:txBody>
      </p:sp>
      <p:sp>
        <p:nvSpPr>
          <p:cNvPr id="328" name="Google Shape;328;p3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35" name="Google Shape;335;p32"/>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multivalued attribute</a:t>
            </a:r>
            <a:endParaRPr/>
          </a:p>
        </p:txBody>
      </p:sp>
      <p:sp>
        <p:nvSpPr>
          <p:cNvPr id="336" name="Google Shape;336;p3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32</a:t>
            </a:fld>
            <a:endParaRPr sz="900" b="1" i="0" u="none" strike="noStrike" cap="none">
              <a:solidFill>
                <a:schemeClr val="dk1"/>
              </a:solidFill>
              <a:latin typeface="Libre Franklin"/>
              <a:ea typeface="Libre Franklin"/>
              <a:cs typeface="Libre Franklin"/>
              <a:sym typeface="Libre Franklin"/>
            </a:endParaRPr>
          </a:p>
        </p:txBody>
      </p:sp>
      <p:pic>
        <p:nvPicPr>
          <p:cNvPr id="337" name="Google Shape;337;p32"/>
          <p:cNvPicPr preferRelativeResize="0"/>
          <p:nvPr/>
        </p:nvPicPr>
        <p:blipFill rotWithShape="1">
          <a:blip r:embed="rId3">
            <a:alphaModFix/>
          </a:blip>
          <a:srcRect/>
          <a:stretch/>
        </p:blipFill>
        <p:spPr>
          <a:xfrm>
            <a:off x="1752600" y="2438400"/>
            <a:ext cx="5212080" cy="3184228"/>
          </a:xfrm>
          <a:prstGeom prst="rect">
            <a:avLst/>
          </a:prstGeom>
          <a:noFill/>
          <a:ln>
            <a:noFill/>
          </a:ln>
        </p:spPr>
      </p:pic>
      <p:sp>
        <p:nvSpPr>
          <p:cNvPr id="338" name="Google Shape;338;p3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45" name="Google Shape;345;p33"/>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scenario that does not use multivalued attributes</a:t>
            </a:r>
            <a:endParaRPr/>
          </a:p>
        </p:txBody>
      </p:sp>
      <p:sp>
        <p:nvSpPr>
          <p:cNvPr id="346" name="Google Shape;346;p3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33</a:t>
            </a:fld>
            <a:endParaRPr sz="900" b="1" i="0" u="none" strike="noStrike" cap="none">
              <a:solidFill>
                <a:schemeClr val="dk1"/>
              </a:solidFill>
              <a:latin typeface="Libre Franklin"/>
              <a:ea typeface="Libre Franklin"/>
              <a:cs typeface="Libre Franklin"/>
              <a:sym typeface="Libre Franklin"/>
            </a:endParaRPr>
          </a:p>
        </p:txBody>
      </p:sp>
      <p:pic>
        <p:nvPicPr>
          <p:cNvPr id="347" name="Google Shape;347;p33"/>
          <p:cNvPicPr preferRelativeResize="0"/>
          <p:nvPr/>
        </p:nvPicPr>
        <p:blipFill rotWithShape="1">
          <a:blip r:embed="rId3">
            <a:alphaModFix/>
          </a:blip>
          <a:srcRect/>
          <a:stretch/>
        </p:blipFill>
        <p:spPr>
          <a:xfrm>
            <a:off x="1219200" y="2667000"/>
            <a:ext cx="6400800" cy="3085675"/>
          </a:xfrm>
          <a:prstGeom prst="rect">
            <a:avLst/>
          </a:prstGeom>
          <a:noFill/>
          <a:ln>
            <a:noFill/>
          </a:ln>
        </p:spPr>
      </p:pic>
      <p:sp>
        <p:nvSpPr>
          <p:cNvPr id="348" name="Google Shape;348;p3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55" name="Google Shape;355;p3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Derived attribute - </a:t>
            </a:r>
            <a:r>
              <a:rPr lang="en-US"/>
              <a:t>attribute whose values are calculated and not permanently stored in a database</a:t>
            </a:r>
            <a:endParaRPr/>
          </a:p>
        </p:txBody>
      </p:sp>
      <p:sp>
        <p:nvSpPr>
          <p:cNvPr id="356" name="Google Shape;356;p3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34</a:t>
            </a:fld>
            <a:endParaRPr sz="900" b="1" i="0" u="none" strike="noStrike" cap="none">
              <a:solidFill>
                <a:schemeClr val="dk1"/>
              </a:solidFill>
              <a:latin typeface="Libre Franklin"/>
              <a:ea typeface="Libre Franklin"/>
              <a:cs typeface="Libre Franklin"/>
              <a:sym typeface="Libre Franklin"/>
            </a:endParaRPr>
          </a:p>
        </p:txBody>
      </p:sp>
      <p:sp>
        <p:nvSpPr>
          <p:cNvPr id="357" name="Google Shape;357;p3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64" name="Google Shape;364;p3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derived attribute example</a:t>
            </a:r>
            <a:endParaRPr/>
          </a:p>
        </p:txBody>
      </p:sp>
      <p:sp>
        <p:nvSpPr>
          <p:cNvPr id="365" name="Google Shape;365;p3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35</a:t>
            </a:fld>
            <a:endParaRPr sz="900" b="1" i="0" u="none" strike="noStrike" cap="none">
              <a:solidFill>
                <a:schemeClr val="dk1"/>
              </a:solidFill>
              <a:latin typeface="Libre Franklin"/>
              <a:ea typeface="Libre Franklin"/>
              <a:cs typeface="Libre Franklin"/>
              <a:sym typeface="Libre Franklin"/>
            </a:endParaRPr>
          </a:p>
        </p:txBody>
      </p:sp>
      <p:pic>
        <p:nvPicPr>
          <p:cNvPr id="366" name="Google Shape;366;p35"/>
          <p:cNvPicPr preferRelativeResize="0"/>
          <p:nvPr/>
        </p:nvPicPr>
        <p:blipFill rotWithShape="1">
          <a:blip r:embed="rId3">
            <a:alphaModFix/>
          </a:blip>
          <a:srcRect/>
          <a:stretch/>
        </p:blipFill>
        <p:spPr>
          <a:xfrm>
            <a:off x="1143000" y="2590800"/>
            <a:ext cx="6400800" cy="3292527"/>
          </a:xfrm>
          <a:prstGeom prst="rect">
            <a:avLst/>
          </a:prstGeom>
          <a:noFill/>
          <a:ln>
            <a:noFill/>
          </a:ln>
        </p:spPr>
      </p:pic>
      <p:sp>
        <p:nvSpPr>
          <p:cNvPr id="367" name="Google Shape;367;p3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74" name="Google Shape;374;p36"/>
          <p:cNvSpPr txBox="1">
            <a:spLocks noGrp="1"/>
          </p:cNvSpPr>
          <p:nvPr>
            <p:ph type="body" idx="1"/>
          </p:nvPr>
        </p:nvSpPr>
        <p:spPr>
          <a:xfrm>
            <a:off x="304800" y="1166019"/>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Another derived attribute example</a:t>
            </a:r>
            <a:endParaRPr/>
          </a:p>
        </p:txBody>
      </p:sp>
      <p:sp>
        <p:nvSpPr>
          <p:cNvPr id="375" name="Google Shape;375;p3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36</a:t>
            </a:fld>
            <a:endParaRPr sz="900" b="1" i="0" u="none" strike="noStrike" cap="none">
              <a:solidFill>
                <a:schemeClr val="dk1"/>
              </a:solidFill>
              <a:latin typeface="Libre Franklin"/>
              <a:ea typeface="Libre Franklin"/>
              <a:cs typeface="Libre Franklin"/>
              <a:sym typeface="Libre Franklin"/>
            </a:endParaRPr>
          </a:p>
        </p:txBody>
      </p:sp>
      <p:pic>
        <p:nvPicPr>
          <p:cNvPr id="376" name="Google Shape;376;p36"/>
          <p:cNvPicPr preferRelativeResize="0"/>
          <p:nvPr/>
        </p:nvPicPr>
        <p:blipFill rotWithShape="1">
          <a:blip r:embed="rId3">
            <a:alphaModFix/>
          </a:blip>
          <a:srcRect/>
          <a:stretch/>
        </p:blipFill>
        <p:spPr>
          <a:xfrm>
            <a:off x="944880" y="1676400"/>
            <a:ext cx="7406640" cy="4852461"/>
          </a:xfrm>
          <a:prstGeom prst="rect">
            <a:avLst/>
          </a:prstGeom>
          <a:noFill/>
          <a:ln>
            <a:noFill/>
          </a:ln>
        </p:spPr>
      </p:pic>
      <p:sp>
        <p:nvSpPr>
          <p:cNvPr id="377" name="Google Shape;377;p3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84" name="Google Shape;384;p37"/>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Optional attribute - </a:t>
            </a:r>
            <a:r>
              <a:rPr lang="en-US"/>
              <a:t>attribute that is allowed to not have a value</a:t>
            </a:r>
            <a:endParaRPr/>
          </a:p>
        </p:txBody>
      </p:sp>
      <p:sp>
        <p:nvSpPr>
          <p:cNvPr id="385" name="Google Shape;385;p3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37</a:t>
            </a:fld>
            <a:endParaRPr sz="900" b="1" i="0" u="none" strike="noStrike" cap="none">
              <a:solidFill>
                <a:schemeClr val="dk1"/>
              </a:solidFill>
              <a:latin typeface="Libre Franklin"/>
              <a:ea typeface="Libre Franklin"/>
              <a:cs typeface="Libre Franklin"/>
              <a:sym typeface="Libre Franklin"/>
            </a:endParaRPr>
          </a:p>
        </p:txBody>
      </p:sp>
      <p:sp>
        <p:nvSpPr>
          <p:cNvPr id="386" name="Google Shape;386;p3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393" name="Google Shape;393;p3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optional attribute example</a:t>
            </a:r>
            <a:endParaRPr/>
          </a:p>
        </p:txBody>
      </p:sp>
      <p:sp>
        <p:nvSpPr>
          <p:cNvPr id="394" name="Google Shape;394;p3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38</a:t>
            </a:fld>
            <a:endParaRPr sz="900" b="1" i="0" u="none" strike="noStrike" cap="none">
              <a:solidFill>
                <a:schemeClr val="dk1"/>
              </a:solidFill>
              <a:latin typeface="Libre Franklin"/>
              <a:ea typeface="Libre Franklin"/>
              <a:cs typeface="Libre Franklin"/>
              <a:sym typeface="Libre Franklin"/>
            </a:endParaRPr>
          </a:p>
        </p:txBody>
      </p:sp>
      <p:pic>
        <p:nvPicPr>
          <p:cNvPr id="395" name="Google Shape;395;p38"/>
          <p:cNvPicPr preferRelativeResize="0"/>
          <p:nvPr/>
        </p:nvPicPr>
        <p:blipFill rotWithShape="1">
          <a:blip r:embed="rId3">
            <a:alphaModFix/>
          </a:blip>
          <a:srcRect/>
          <a:stretch/>
        </p:blipFill>
        <p:spPr>
          <a:xfrm>
            <a:off x="1752600" y="2362200"/>
            <a:ext cx="5486400" cy="3524549"/>
          </a:xfrm>
          <a:prstGeom prst="rect">
            <a:avLst/>
          </a:prstGeom>
          <a:noFill/>
          <a:ln>
            <a:noFill/>
          </a:ln>
        </p:spPr>
      </p:pic>
      <p:sp>
        <p:nvSpPr>
          <p:cNvPr id="396" name="Google Shape;396;p3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ATTRIBUTES</a:t>
            </a:r>
            <a:endParaRPr/>
          </a:p>
        </p:txBody>
      </p:sp>
      <p:sp>
        <p:nvSpPr>
          <p:cNvPr id="403" name="Google Shape;403;p39"/>
          <p:cNvSpPr txBox="1">
            <a:spLocks noGrp="1"/>
          </p:cNvSpPr>
          <p:nvPr>
            <p:ph type="body" idx="1"/>
          </p:nvPr>
        </p:nvSpPr>
        <p:spPr>
          <a:xfrm>
            <a:off x="228600" y="1295400"/>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EXAMPLE: An entity with various types of attributes</a:t>
            </a:r>
            <a:endParaRPr/>
          </a:p>
        </p:txBody>
      </p:sp>
      <p:sp>
        <p:nvSpPr>
          <p:cNvPr id="404" name="Google Shape;404;p3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39</a:t>
            </a:fld>
            <a:endParaRPr sz="900" b="1" i="0" u="none" strike="noStrike" cap="none">
              <a:solidFill>
                <a:schemeClr val="dk1"/>
              </a:solidFill>
              <a:latin typeface="Libre Franklin"/>
              <a:ea typeface="Libre Franklin"/>
              <a:cs typeface="Libre Franklin"/>
              <a:sym typeface="Libre Franklin"/>
            </a:endParaRPr>
          </a:p>
        </p:txBody>
      </p:sp>
      <p:pic>
        <p:nvPicPr>
          <p:cNvPr id="405" name="Google Shape;405;p39"/>
          <p:cNvPicPr preferRelativeResize="0"/>
          <p:nvPr/>
        </p:nvPicPr>
        <p:blipFill rotWithShape="1">
          <a:blip r:embed="rId3">
            <a:alphaModFix/>
          </a:blip>
          <a:srcRect/>
          <a:stretch/>
        </p:blipFill>
        <p:spPr>
          <a:xfrm>
            <a:off x="1447800" y="1905000"/>
            <a:ext cx="6400800" cy="4580843"/>
          </a:xfrm>
          <a:prstGeom prst="rect">
            <a:avLst/>
          </a:prstGeom>
          <a:noFill/>
          <a:ln>
            <a:noFill/>
          </a:ln>
        </p:spPr>
      </p:pic>
      <p:sp>
        <p:nvSpPr>
          <p:cNvPr id="406" name="Google Shape;406;p3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13" name="Google Shape;413;p40"/>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Exact minimum and maximum cardinality in relationships </a:t>
            </a:r>
            <a:endParaRPr/>
          </a:p>
          <a:p>
            <a:pPr marL="742950" lvl="1" indent="-285750" algn="l" rtl="0">
              <a:spcBef>
                <a:spcPts val="400"/>
              </a:spcBef>
              <a:spcAft>
                <a:spcPts val="0"/>
              </a:spcAft>
              <a:buSzPts val="1800"/>
              <a:buChar char="•"/>
            </a:pPr>
            <a:r>
              <a:rPr lang="en-US"/>
              <a:t>In some cases the exact minimum and/or maximum cardinality in relationships is known in advance</a:t>
            </a:r>
            <a:endParaRPr/>
          </a:p>
          <a:p>
            <a:pPr marL="742950" lvl="1" indent="-285750" algn="l" rtl="0">
              <a:spcBef>
                <a:spcPts val="400"/>
              </a:spcBef>
              <a:spcAft>
                <a:spcPts val="0"/>
              </a:spcAft>
              <a:buSzPts val="1800"/>
              <a:buChar char="•"/>
            </a:pPr>
            <a:r>
              <a:rPr lang="en-US"/>
              <a:t>Exact minimum/and or maximum cardinalities can be depicted in ER diagrams</a:t>
            </a:r>
            <a:endParaRPr/>
          </a:p>
        </p:txBody>
      </p:sp>
      <p:sp>
        <p:nvSpPr>
          <p:cNvPr id="414" name="Google Shape;414;p4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40</a:t>
            </a:fld>
            <a:endParaRPr sz="900" b="1" i="0" u="none" strike="noStrike" cap="none">
              <a:solidFill>
                <a:schemeClr val="dk1"/>
              </a:solidFill>
              <a:latin typeface="Libre Franklin"/>
              <a:ea typeface="Libre Franklin"/>
              <a:cs typeface="Libre Franklin"/>
              <a:sym typeface="Libre Franklin"/>
            </a:endParaRPr>
          </a:p>
        </p:txBody>
      </p:sp>
      <p:sp>
        <p:nvSpPr>
          <p:cNvPr id="415" name="Google Shape;415;p4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22" name="Google Shape;422;p41"/>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relationship with specific minimum and maximum cardinalities</a:t>
            </a:r>
            <a:endParaRPr/>
          </a:p>
        </p:txBody>
      </p:sp>
      <p:sp>
        <p:nvSpPr>
          <p:cNvPr id="423" name="Google Shape;423;p4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41</a:t>
            </a:fld>
            <a:endParaRPr sz="900" b="1" i="0" u="none" strike="noStrike" cap="none">
              <a:solidFill>
                <a:schemeClr val="dk1"/>
              </a:solidFill>
              <a:latin typeface="Libre Franklin"/>
              <a:ea typeface="Libre Franklin"/>
              <a:cs typeface="Libre Franklin"/>
              <a:sym typeface="Libre Franklin"/>
            </a:endParaRPr>
          </a:p>
        </p:txBody>
      </p:sp>
      <p:pic>
        <p:nvPicPr>
          <p:cNvPr id="424" name="Google Shape;424;p41"/>
          <p:cNvPicPr preferRelativeResize="0"/>
          <p:nvPr/>
        </p:nvPicPr>
        <p:blipFill rotWithShape="1">
          <a:blip r:embed="rId3">
            <a:alphaModFix/>
          </a:blip>
          <a:srcRect/>
          <a:stretch/>
        </p:blipFill>
        <p:spPr>
          <a:xfrm>
            <a:off x="457200" y="2743200"/>
            <a:ext cx="8229600" cy="2083443"/>
          </a:xfrm>
          <a:prstGeom prst="rect">
            <a:avLst/>
          </a:prstGeom>
          <a:noFill/>
          <a:ln>
            <a:noFill/>
          </a:ln>
        </p:spPr>
      </p:pic>
      <p:sp>
        <p:nvSpPr>
          <p:cNvPr id="425" name="Google Shape;425;p4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32" name="Google Shape;432;p42"/>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relationship with a mixture of specific and non-specific cardinalities</a:t>
            </a:r>
            <a:endParaRPr/>
          </a:p>
        </p:txBody>
      </p:sp>
      <p:sp>
        <p:nvSpPr>
          <p:cNvPr id="433" name="Google Shape;433;p4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42</a:t>
            </a:fld>
            <a:endParaRPr sz="900" b="1" i="0" u="none" strike="noStrike" cap="none">
              <a:solidFill>
                <a:schemeClr val="dk1"/>
              </a:solidFill>
              <a:latin typeface="Libre Franklin"/>
              <a:ea typeface="Libre Franklin"/>
              <a:cs typeface="Libre Franklin"/>
              <a:sym typeface="Libre Franklin"/>
            </a:endParaRPr>
          </a:p>
        </p:txBody>
      </p:sp>
      <p:pic>
        <p:nvPicPr>
          <p:cNvPr id="434" name="Google Shape;434;p42"/>
          <p:cNvPicPr preferRelativeResize="0"/>
          <p:nvPr/>
        </p:nvPicPr>
        <p:blipFill rotWithShape="1">
          <a:blip r:embed="rId3">
            <a:alphaModFix/>
          </a:blip>
          <a:srcRect/>
          <a:stretch/>
        </p:blipFill>
        <p:spPr>
          <a:xfrm>
            <a:off x="457200" y="2743200"/>
            <a:ext cx="8229600" cy="2083443"/>
          </a:xfrm>
          <a:prstGeom prst="rect">
            <a:avLst/>
          </a:prstGeom>
          <a:noFill/>
          <a:ln>
            <a:noFill/>
          </a:ln>
        </p:spPr>
      </p:pic>
      <p:sp>
        <p:nvSpPr>
          <p:cNvPr id="435" name="Google Shape;435;p4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42" name="Google Shape;442;p43"/>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Degree of a relationship - </a:t>
            </a:r>
            <a:r>
              <a:rPr lang="en-US"/>
              <a:t>reflects how many entities are involved in the relationship</a:t>
            </a:r>
            <a:endParaRPr/>
          </a:p>
          <a:p>
            <a:pPr marL="342900" lvl="0" indent="-342900" algn="l" rtl="0">
              <a:spcBef>
                <a:spcPts val="480"/>
              </a:spcBef>
              <a:spcAft>
                <a:spcPts val="0"/>
              </a:spcAft>
              <a:buSzPts val="2160"/>
              <a:buChar char="▪"/>
            </a:pPr>
            <a:r>
              <a:rPr lang="en-US" b="1"/>
              <a:t>Binary relationship </a:t>
            </a:r>
            <a:r>
              <a:rPr lang="en-US"/>
              <a:t> - relationship between two entities </a:t>
            </a:r>
            <a:br>
              <a:rPr lang="en-US"/>
            </a:br>
            <a:r>
              <a:rPr lang="en-US"/>
              <a:t>(</a:t>
            </a:r>
            <a:r>
              <a:rPr lang="en-US" i="1"/>
              <a:t>degree 2 relationship</a:t>
            </a:r>
            <a:r>
              <a:rPr lang="en-US"/>
              <a:t>)</a:t>
            </a:r>
            <a:endParaRPr/>
          </a:p>
          <a:p>
            <a:pPr marL="342900" lvl="0" indent="-342900" algn="l" rtl="0">
              <a:spcBef>
                <a:spcPts val="480"/>
              </a:spcBef>
              <a:spcAft>
                <a:spcPts val="0"/>
              </a:spcAft>
              <a:buSzPts val="2160"/>
              <a:buChar char="▪"/>
            </a:pPr>
            <a:r>
              <a:rPr lang="en-US" b="1"/>
              <a:t>Unary relationship (recursive relationship) </a:t>
            </a:r>
            <a:r>
              <a:rPr lang="en-US"/>
              <a:t>- occurs when an entity is involved in a relationship with itself </a:t>
            </a:r>
            <a:br>
              <a:rPr lang="en-US"/>
            </a:br>
            <a:r>
              <a:rPr lang="en-US"/>
              <a:t>(</a:t>
            </a:r>
            <a:r>
              <a:rPr lang="en-US" i="1"/>
              <a:t>degree 1 relationship</a:t>
            </a:r>
            <a:r>
              <a:rPr lang="en-US"/>
              <a:t>)</a:t>
            </a:r>
            <a:endParaRPr/>
          </a:p>
        </p:txBody>
      </p:sp>
      <p:sp>
        <p:nvSpPr>
          <p:cNvPr id="443" name="Google Shape;443;p4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43</a:t>
            </a:fld>
            <a:endParaRPr sz="900" b="1" i="0" u="none" strike="noStrike" cap="none">
              <a:solidFill>
                <a:schemeClr val="dk1"/>
              </a:solidFill>
              <a:latin typeface="Libre Franklin"/>
              <a:ea typeface="Libre Franklin"/>
              <a:cs typeface="Libre Franklin"/>
              <a:sym typeface="Libre Franklin"/>
            </a:endParaRPr>
          </a:p>
        </p:txBody>
      </p:sp>
      <p:sp>
        <p:nvSpPr>
          <p:cNvPr id="444" name="Google Shape;444;p4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51" name="Google Shape;451;p4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Unary relationship examples</a:t>
            </a:r>
            <a:endParaRPr/>
          </a:p>
        </p:txBody>
      </p:sp>
      <p:sp>
        <p:nvSpPr>
          <p:cNvPr id="452" name="Google Shape;452;p4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44</a:t>
            </a:fld>
            <a:endParaRPr sz="900" b="1" i="0" u="none" strike="noStrike" cap="none">
              <a:solidFill>
                <a:schemeClr val="dk1"/>
              </a:solidFill>
              <a:latin typeface="Libre Franklin"/>
              <a:ea typeface="Libre Franklin"/>
              <a:cs typeface="Libre Franklin"/>
              <a:sym typeface="Libre Franklin"/>
            </a:endParaRPr>
          </a:p>
        </p:txBody>
      </p:sp>
      <p:pic>
        <p:nvPicPr>
          <p:cNvPr id="453" name="Google Shape;453;p44"/>
          <p:cNvPicPr preferRelativeResize="0"/>
          <p:nvPr/>
        </p:nvPicPr>
        <p:blipFill rotWithShape="1">
          <a:blip r:embed="rId3">
            <a:alphaModFix/>
          </a:blip>
          <a:srcRect/>
          <a:stretch/>
        </p:blipFill>
        <p:spPr>
          <a:xfrm>
            <a:off x="1051560" y="2514600"/>
            <a:ext cx="7040880" cy="3187770"/>
          </a:xfrm>
          <a:prstGeom prst="rect">
            <a:avLst/>
          </a:prstGeom>
          <a:noFill/>
          <a:ln>
            <a:noFill/>
          </a:ln>
        </p:spPr>
      </p:pic>
      <p:sp>
        <p:nvSpPr>
          <p:cNvPr id="454" name="Google Shape;454;p4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61" name="Google Shape;461;p4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Relationship roles - </a:t>
            </a:r>
            <a:r>
              <a:rPr lang="en-US"/>
              <a:t>additional syntax that can be used in ER diagrams at the discretion of a data modeler to clarify the role of each entity in a relationship</a:t>
            </a:r>
            <a:endParaRPr/>
          </a:p>
        </p:txBody>
      </p:sp>
      <p:sp>
        <p:nvSpPr>
          <p:cNvPr id="462" name="Google Shape;462;p4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45</a:t>
            </a:fld>
            <a:endParaRPr sz="900" b="1" i="0" u="none" strike="noStrike" cap="none">
              <a:solidFill>
                <a:schemeClr val="dk1"/>
              </a:solidFill>
              <a:latin typeface="Libre Franklin"/>
              <a:ea typeface="Libre Franklin"/>
              <a:cs typeface="Libre Franklin"/>
              <a:sym typeface="Libre Franklin"/>
            </a:endParaRPr>
          </a:p>
        </p:txBody>
      </p:sp>
      <p:sp>
        <p:nvSpPr>
          <p:cNvPr id="463" name="Google Shape;463;p4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4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70" name="Google Shape;470;p46"/>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Unary relationships with role names</a:t>
            </a:r>
            <a:endParaRPr/>
          </a:p>
        </p:txBody>
      </p:sp>
      <p:sp>
        <p:nvSpPr>
          <p:cNvPr id="471" name="Google Shape;471;p4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46</a:t>
            </a:fld>
            <a:endParaRPr sz="900" b="1" i="0" u="none" strike="noStrike" cap="none">
              <a:solidFill>
                <a:schemeClr val="dk1"/>
              </a:solidFill>
              <a:latin typeface="Libre Franklin"/>
              <a:ea typeface="Libre Franklin"/>
              <a:cs typeface="Libre Franklin"/>
              <a:sym typeface="Libre Franklin"/>
            </a:endParaRPr>
          </a:p>
        </p:txBody>
      </p:sp>
      <p:pic>
        <p:nvPicPr>
          <p:cNvPr id="472" name="Google Shape;472;p46"/>
          <p:cNvPicPr preferRelativeResize="0"/>
          <p:nvPr/>
        </p:nvPicPr>
        <p:blipFill rotWithShape="1">
          <a:blip r:embed="rId3">
            <a:alphaModFix/>
          </a:blip>
          <a:srcRect/>
          <a:stretch/>
        </p:blipFill>
        <p:spPr>
          <a:xfrm>
            <a:off x="45720" y="2506905"/>
            <a:ext cx="9052560" cy="2620477"/>
          </a:xfrm>
          <a:prstGeom prst="rect">
            <a:avLst/>
          </a:prstGeom>
          <a:noFill/>
          <a:ln>
            <a:noFill/>
          </a:ln>
        </p:spPr>
      </p:pic>
      <p:sp>
        <p:nvSpPr>
          <p:cNvPr id="473" name="Google Shape;473;p4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4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80" name="Google Shape;480;p47"/>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binary relationship with role names</a:t>
            </a:r>
            <a:endParaRPr/>
          </a:p>
        </p:txBody>
      </p:sp>
      <p:sp>
        <p:nvSpPr>
          <p:cNvPr id="481" name="Google Shape;481;p4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47</a:t>
            </a:fld>
            <a:endParaRPr sz="900" b="1" i="0" u="none" strike="noStrike" cap="none">
              <a:solidFill>
                <a:schemeClr val="dk1"/>
              </a:solidFill>
              <a:latin typeface="Libre Franklin"/>
              <a:ea typeface="Libre Franklin"/>
              <a:cs typeface="Libre Franklin"/>
              <a:sym typeface="Libre Franklin"/>
            </a:endParaRPr>
          </a:p>
        </p:txBody>
      </p:sp>
      <p:pic>
        <p:nvPicPr>
          <p:cNvPr id="482" name="Google Shape;482;p47"/>
          <p:cNvPicPr preferRelativeResize="0"/>
          <p:nvPr/>
        </p:nvPicPr>
        <p:blipFill rotWithShape="1">
          <a:blip r:embed="rId3">
            <a:alphaModFix/>
          </a:blip>
          <a:srcRect/>
          <a:stretch/>
        </p:blipFill>
        <p:spPr>
          <a:xfrm>
            <a:off x="533400" y="3262411"/>
            <a:ext cx="8229600" cy="1399978"/>
          </a:xfrm>
          <a:prstGeom prst="rect">
            <a:avLst/>
          </a:prstGeom>
          <a:noFill/>
          <a:ln>
            <a:noFill/>
          </a:ln>
        </p:spPr>
      </p:pic>
      <p:sp>
        <p:nvSpPr>
          <p:cNvPr id="483" name="Google Shape;483;p4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90" name="Google Shape;490;p4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Multiple relationships between same entities</a:t>
            </a:r>
            <a:endParaRPr/>
          </a:p>
          <a:p>
            <a:pPr marL="742950" lvl="1" indent="-285750" algn="l" rtl="0">
              <a:spcBef>
                <a:spcPts val="400"/>
              </a:spcBef>
              <a:spcAft>
                <a:spcPts val="0"/>
              </a:spcAft>
              <a:buSzPts val="1800"/>
              <a:buChar char="•"/>
            </a:pPr>
            <a:r>
              <a:rPr lang="en-US"/>
              <a:t>Same entities in an ER diagram can be related via more than one relationship </a:t>
            </a:r>
            <a:endParaRPr/>
          </a:p>
        </p:txBody>
      </p:sp>
      <p:sp>
        <p:nvSpPr>
          <p:cNvPr id="491" name="Google Shape;491;p4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48</a:t>
            </a:fld>
            <a:endParaRPr sz="900" b="1" i="0" u="none" strike="noStrike" cap="none">
              <a:solidFill>
                <a:schemeClr val="dk1"/>
              </a:solidFill>
              <a:latin typeface="Libre Franklin"/>
              <a:ea typeface="Libre Franklin"/>
              <a:cs typeface="Libre Franklin"/>
              <a:sym typeface="Libre Franklin"/>
            </a:endParaRPr>
          </a:p>
        </p:txBody>
      </p:sp>
      <p:sp>
        <p:nvSpPr>
          <p:cNvPr id="492" name="Google Shape;492;p4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RELATIONSHIPS</a:t>
            </a:r>
            <a:endParaRPr/>
          </a:p>
        </p:txBody>
      </p:sp>
      <p:sp>
        <p:nvSpPr>
          <p:cNvPr id="499" name="Google Shape;499;p49"/>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Multiple relationships between the same entities</a:t>
            </a:r>
            <a:endParaRPr/>
          </a:p>
        </p:txBody>
      </p:sp>
      <p:sp>
        <p:nvSpPr>
          <p:cNvPr id="500" name="Google Shape;500;p4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49</a:t>
            </a:fld>
            <a:endParaRPr sz="900" b="1" i="0" u="none" strike="noStrike" cap="none">
              <a:solidFill>
                <a:schemeClr val="dk1"/>
              </a:solidFill>
              <a:latin typeface="Libre Franklin"/>
              <a:ea typeface="Libre Franklin"/>
              <a:cs typeface="Libre Franklin"/>
              <a:sym typeface="Libre Franklin"/>
            </a:endParaRPr>
          </a:p>
        </p:txBody>
      </p:sp>
      <p:pic>
        <p:nvPicPr>
          <p:cNvPr id="501" name="Google Shape;501;p49"/>
          <p:cNvPicPr preferRelativeResize="0"/>
          <p:nvPr/>
        </p:nvPicPr>
        <p:blipFill rotWithShape="1">
          <a:blip r:embed="rId3">
            <a:alphaModFix/>
          </a:blip>
          <a:srcRect/>
          <a:stretch/>
        </p:blipFill>
        <p:spPr>
          <a:xfrm>
            <a:off x="152400" y="2300224"/>
            <a:ext cx="8778240" cy="4020337"/>
          </a:xfrm>
          <a:prstGeom prst="rect">
            <a:avLst/>
          </a:prstGeom>
          <a:noFill/>
          <a:ln>
            <a:noFill/>
          </a:ln>
        </p:spPr>
      </p:pic>
      <p:sp>
        <p:nvSpPr>
          <p:cNvPr id="502" name="Google Shape;502;p4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5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WEAK ENTITY</a:t>
            </a:r>
            <a:endParaRPr/>
          </a:p>
        </p:txBody>
      </p:sp>
      <p:sp>
        <p:nvSpPr>
          <p:cNvPr id="509" name="Google Shape;509;p50"/>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Weak entity - </a:t>
            </a:r>
            <a:r>
              <a:rPr lang="en-US"/>
              <a:t>ER diagram construct depicting an entity that does not have a unique attribute of its own</a:t>
            </a:r>
            <a:endParaRPr/>
          </a:p>
          <a:p>
            <a:pPr marL="342900" lvl="0" indent="-342900" algn="l" rtl="0">
              <a:spcBef>
                <a:spcPts val="480"/>
              </a:spcBef>
              <a:spcAft>
                <a:spcPts val="0"/>
              </a:spcAft>
              <a:buSzPts val="2160"/>
              <a:buChar char="▪"/>
            </a:pPr>
            <a:r>
              <a:rPr lang="en-US" b="1"/>
              <a:t>Owner entity</a:t>
            </a:r>
            <a:r>
              <a:rPr lang="en-US"/>
              <a:t> - entity whose unique attribute provides a mechanism for identifying instances of a weak entity</a:t>
            </a:r>
            <a:endParaRPr/>
          </a:p>
          <a:p>
            <a:pPr marL="342900" lvl="0" indent="-342900" algn="l" rtl="0">
              <a:spcBef>
                <a:spcPts val="480"/>
              </a:spcBef>
              <a:spcAft>
                <a:spcPts val="0"/>
              </a:spcAft>
              <a:buSzPts val="2160"/>
              <a:buChar char="▪"/>
            </a:pPr>
            <a:r>
              <a:rPr lang="en-US" b="1"/>
              <a:t>Identifying relationship </a:t>
            </a:r>
            <a:r>
              <a:rPr lang="en-US"/>
              <a:t>- relationship between a weak entity and its owner entity in which each instance of a weak entity is associated with exactly one instance of an owner entity</a:t>
            </a:r>
            <a:endParaRPr/>
          </a:p>
          <a:p>
            <a:pPr marL="742950" lvl="1" indent="-285750" algn="l" rtl="0">
              <a:spcBef>
                <a:spcPts val="400"/>
              </a:spcBef>
              <a:spcAft>
                <a:spcPts val="0"/>
              </a:spcAft>
              <a:buSzPts val="1800"/>
              <a:buChar char="•"/>
            </a:pPr>
            <a:r>
              <a:rPr lang="en-US"/>
              <a:t>Each weak entity must be associated with its owner entity via an identifying relationship</a:t>
            </a:r>
            <a:endParaRPr/>
          </a:p>
          <a:p>
            <a:pPr marL="742950" lvl="1" indent="-285750" algn="l" rtl="0">
              <a:spcBef>
                <a:spcPts val="400"/>
              </a:spcBef>
              <a:spcAft>
                <a:spcPts val="0"/>
              </a:spcAft>
              <a:buSzPts val="1800"/>
              <a:buChar char="•"/>
            </a:pPr>
            <a:r>
              <a:rPr lang="en-US"/>
              <a:t>Unique attribute from the owner entity uniquely identifies every instance of the weak entity via an identifying relationship</a:t>
            </a:r>
            <a:endParaRPr/>
          </a:p>
        </p:txBody>
      </p:sp>
      <p:sp>
        <p:nvSpPr>
          <p:cNvPr id="510" name="Google Shape;510;p5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50</a:t>
            </a:fld>
            <a:endParaRPr sz="900" b="1" i="0" u="none" strike="noStrike" cap="none">
              <a:solidFill>
                <a:schemeClr val="dk1"/>
              </a:solidFill>
              <a:latin typeface="Libre Franklin"/>
              <a:ea typeface="Libre Franklin"/>
              <a:cs typeface="Libre Franklin"/>
              <a:sym typeface="Libre Franklin"/>
            </a:endParaRPr>
          </a:p>
        </p:txBody>
      </p:sp>
      <p:sp>
        <p:nvSpPr>
          <p:cNvPr id="511" name="Google Shape;511;p5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5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WEAK ENTITY</a:t>
            </a:r>
            <a:endParaRPr/>
          </a:p>
        </p:txBody>
      </p:sp>
      <p:sp>
        <p:nvSpPr>
          <p:cNvPr id="518" name="Google Shape;518;p51"/>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Partial key </a:t>
            </a:r>
            <a:r>
              <a:rPr lang="en-US"/>
              <a:t>- attribute of a weak entity that combined with the unique attribute of the owner entity uniquely identifies the weak entity's instances</a:t>
            </a:r>
            <a:endParaRPr/>
          </a:p>
          <a:p>
            <a:pPr marL="742950" lvl="1" indent="-285750" algn="l" rtl="0">
              <a:spcBef>
                <a:spcPts val="400"/>
              </a:spcBef>
              <a:spcAft>
                <a:spcPts val="0"/>
              </a:spcAft>
              <a:buSzPts val="1800"/>
              <a:buChar char="•"/>
            </a:pPr>
            <a:r>
              <a:rPr lang="en-US"/>
              <a:t>Combination of the partial key and the unique attribute from the owner entity uniquely identifies every instance of the weak entity</a:t>
            </a:r>
            <a:endParaRPr/>
          </a:p>
          <a:p>
            <a:pPr marL="1143000" lvl="2" indent="-167639" algn="l" rtl="0">
              <a:spcBef>
                <a:spcPts val="320"/>
              </a:spcBef>
              <a:spcAft>
                <a:spcPts val="0"/>
              </a:spcAft>
              <a:buSzPts val="960"/>
              <a:buNone/>
            </a:pPr>
            <a:endParaRPr sz="1600"/>
          </a:p>
        </p:txBody>
      </p:sp>
      <p:sp>
        <p:nvSpPr>
          <p:cNvPr id="519" name="Google Shape;519;p5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51</a:t>
            </a:fld>
            <a:endParaRPr sz="900" b="1" i="0" u="none" strike="noStrike" cap="none">
              <a:solidFill>
                <a:schemeClr val="dk1"/>
              </a:solidFill>
              <a:latin typeface="Libre Franklin"/>
              <a:ea typeface="Libre Franklin"/>
              <a:cs typeface="Libre Franklin"/>
              <a:sym typeface="Libre Franklin"/>
            </a:endParaRPr>
          </a:p>
        </p:txBody>
      </p:sp>
      <p:sp>
        <p:nvSpPr>
          <p:cNvPr id="520" name="Google Shape;520;p5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5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WEAK ENTITY</a:t>
            </a:r>
            <a:endParaRPr/>
          </a:p>
        </p:txBody>
      </p:sp>
      <p:sp>
        <p:nvSpPr>
          <p:cNvPr id="527" name="Google Shape;527;p52"/>
          <p:cNvSpPr txBox="1">
            <a:spLocks noGrp="1"/>
          </p:cNvSpPr>
          <p:nvPr>
            <p:ph type="body" idx="1"/>
          </p:nvPr>
        </p:nvSpPr>
        <p:spPr>
          <a:xfrm>
            <a:off x="304800" y="1166018"/>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weak entity example with entity instances</a:t>
            </a:r>
            <a:endParaRPr/>
          </a:p>
        </p:txBody>
      </p:sp>
      <p:sp>
        <p:nvSpPr>
          <p:cNvPr id="528" name="Google Shape;528;p5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52</a:t>
            </a:fld>
            <a:endParaRPr sz="900" b="1" i="0" u="none" strike="noStrike" cap="none">
              <a:solidFill>
                <a:schemeClr val="dk1"/>
              </a:solidFill>
              <a:latin typeface="Libre Franklin"/>
              <a:ea typeface="Libre Franklin"/>
              <a:cs typeface="Libre Franklin"/>
              <a:sym typeface="Libre Franklin"/>
            </a:endParaRPr>
          </a:p>
        </p:txBody>
      </p:sp>
      <p:pic>
        <p:nvPicPr>
          <p:cNvPr id="529" name="Google Shape;529;p52"/>
          <p:cNvPicPr preferRelativeResize="0"/>
          <p:nvPr/>
        </p:nvPicPr>
        <p:blipFill rotWithShape="1">
          <a:blip r:embed="rId3">
            <a:alphaModFix/>
          </a:blip>
          <a:srcRect/>
          <a:stretch/>
        </p:blipFill>
        <p:spPr>
          <a:xfrm>
            <a:off x="1066800" y="1600200"/>
            <a:ext cx="6858000" cy="4919862"/>
          </a:xfrm>
          <a:prstGeom prst="rect">
            <a:avLst/>
          </a:prstGeom>
          <a:noFill/>
          <a:ln>
            <a:noFill/>
          </a:ln>
        </p:spPr>
      </p:pic>
      <p:sp>
        <p:nvSpPr>
          <p:cNvPr id="530" name="Google Shape;530;p5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WEAK ENTITY</a:t>
            </a:r>
            <a:endParaRPr/>
          </a:p>
        </p:txBody>
      </p:sp>
      <p:sp>
        <p:nvSpPr>
          <p:cNvPr id="537" name="Google Shape;537;p53"/>
          <p:cNvSpPr txBox="1">
            <a:spLocks noGrp="1"/>
          </p:cNvSpPr>
          <p:nvPr>
            <p:ph type="body" idx="1"/>
          </p:nvPr>
        </p:nvSpPr>
        <p:spPr>
          <a:xfrm>
            <a:off x="228600" y="1371600"/>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weak entity versus a multivalued composite attribute</a:t>
            </a:r>
            <a:endParaRPr/>
          </a:p>
        </p:txBody>
      </p:sp>
      <p:sp>
        <p:nvSpPr>
          <p:cNvPr id="538" name="Google Shape;538;p5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53</a:t>
            </a:fld>
            <a:endParaRPr sz="900" b="1" i="0" u="none" strike="noStrike" cap="none">
              <a:solidFill>
                <a:schemeClr val="dk1"/>
              </a:solidFill>
              <a:latin typeface="Libre Franklin"/>
              <a:ea typeface="Libre Franklin"/>
              <a:cs typeface="Libre Franklin"/>
              <a:sym typeface="Libre Franklin"/>
            </a:endParaRPr>
          </a:p>
        </p:txBody>
      </p:sp>
      <p:pic>
        <p:nvPicPr>
          <p:cNvPr id="539" name="Google Shape;539;p53"/>
          <p:cNvPicPr preferRelativeResize="0"/>
          <p:nvPr/>
        </p:nvPicPr>
        <p:blipFill rotWithShape="1">
          <a:blip r:embed="rId3">
            <a:alphaModFix/>
          </a:blip>
          <a:srcRect/>
          <a:stretch/>
        </p:blipFill>
        <p:spPr>
          <a:xfrm>
            <a:off x="838200" y="1992652"/>
            <a:ext cx="7315200" cy="4408148"/>
          </a:xfrm>
          <a:prstGeom prst="rect">
            <a:avLst/>
          </a:prstGeom>
          <a:noFill/>
          <a:ln>
            <a:noFill/>
          </a:ln>
        </p:spPr>
      </p:pic>
      <p:sp>
        <p:nvSpPr>
          <p:cNvPr id="540" name="Google Shape;540;p5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WEAK ENTITY</a:t>
            </a:r>
            <a:endParaRPr/>
          </a:p>
        </p:txBody>
      </p:sp>
      <p:sp>
        <p:nvSpPr>
          <p:cNvPr id="547" name="Google Shape;547;p54"/>
          <p:cNvSpPr txBox="1">
            <a:spLocks noGrp="1"/>
          </p:cNvSpPr>
          <p:nvPr>
            <p:ph type="body" idx="1"/>
          </p:nvPr>
        </p:nvSpPr>
        <p:spPr>
          <a:xfrm>
            <a:off x="304800" y="1268392"/>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weak entity with an identifying and regular relationship</a:t>
            </a:r>
            <a:endParaRPr/>
          </a:p>
        </p:txBody>
      </p:sp>
      <p:sp>
        <p:nvSpPr>
          <p:cNvPr id="548" name="Google Shape;548;p5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54</a:t>
            </a:fld>
            <a:endParaRPr sz="900" b="1" i="0" u="none" strike="noStrike" cap="none">
              <a:solidFill>
                <a:schemeClr val="dk1"/>
              </a:solidFill>
              <a:latin typeface="Libre Franklin"/>
              <a:ea typeface="Libre Franklin"/>
              <a:cs typeface="Libre Franklin"/>
              <a:sym typeface="Libre Franklin"/>
            </a:endParaRPr>
          </a:p>
        </p:txBody>
      </p:sp>
      <p:pic>
        <p:nvPicPr>
          <p:cNvPr id="549" name="Google Shape;549;p54"/>
          <p:cNvPicPr preferRelativeResize="0"/>
          <p:nvPr/>
        </p:nvPicPr>
        <p:blipFill rotWithShape="1">
          <a:blip r:embed="rId3">
            <a:alphaModFix/>
          </a:blip>
          <a:srcRect/>
          <a:stretch/>
        </p:blipFill>
        <p:spPr>
          <a:xfrm>
            <a:off x="304800" y="1993349"/>
            <a:ext cx="8686800" cy="4218528"/>
          </a:xfrm>
          <a:prstGeom prst="rect">
            <a:avLst/>
          </a:prstGeom>
          <a:noFill/>
          <a:ln>
            <a:noFill/>
          </a:ln>
        </p:spPr>
      </p:pic>
      <p:sp>
        <p:nvSpPr>
          <p:cNvPr id="550" name="Google Shape;550;p5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5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WEAK ENTITY</a:t>
            </a:r>
            <a:endParaRPr/>
          </a:p>
        </p:txBody>
      </p:sp>
      <p:sp>
        <p:nvSpPr>
          <p:cNvPr id="557" name="Google Shape;557;p5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Identifying relationship is either 1:M or 1:1 relationship</a:t>
            </a:r>
            <a:endParaRPr/>
          </a:p>
          <a:p>
            <a:pPr marL="742950" lvl="1" indent="-285750" algn="l" rtl="0">
              <a:spcBef>
                <a:spcPts val="400"/>
              </a:spcBef>
              <a:spcAft>
                <a:spcPts val="0"/>
              </a:spcAft>
              <a:buSzPts val="1800"/>
              <a:buChar char="•"/>
            </a:pPr>
            <a:r>
              <a:rPr lang="en-US"/>
              <a:t>In case of 1:M identifying relationship, a weak entity must have a partial key attribute</a:t>
            </a:r>
            <a:endParaRPr/>
          </a:p>
          <a:p>
            <a:pPr marL="742950" lvl="1" indent="-285750" algn="l" rtl="0">
              <a:spcBef>
                <a:spcPts val="400"/>
              </a:spcBef>
              <a:spcAft>
                <a:spcPts val="0"/>
              </a:spcAft>
              <a:buSzPts val="1800"/>
              <a:buChar char="•"/>
            </a:pPr>
            <a:r>
              <a:rPr lang="en-US"/>
              <a:t>In case of 1:1 identifying relationship, a weak entity doesn’t need to have a partial key attribute</a:t>
            </a:r>
            <a:endParaRPr/>
          </a:p>
          <a:p>
            <a:pPr marL="1143000" lvl="2" indent="-167639" algn="l" rtl="0">
              <a:spcBef>
                <a:spcPts val="320"/>
              </a:spcBef>
              <a:spcAft>
                <a:spcPts val="0"/>
              </a:spcAft>
              <a:buSzPts val="960"/>
              <a:buNone/>
            </a:pPr>
            <a:endParaRPr sz="1600"/>
          </a:p>
        </p:txBody>
      </p:sp>
      <p:sp>
        <p:nvSpPr>
          <p:cNvPr id="558" name="Google Shape;558;p5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55</a:t>
            </a:fld>
            <a:endParaRPr sz="900" b="1" i="0" u="none" strike="noStrike" cap="none">
              <a:solidFill>
                <a:schemeClr val="dk1"/>
              </a:solidFill>
              <a:latin typeface="Libre Franklin"/>
              <a:ea typeface="Libre Franklin"/>
              <a:cs typeface="Libre Franklin"/>
              <a:sym typeface="Libre Franklin"/>
            </a:endParaRPr>
          </a:p>
        </p:txBody>
      </p:sp>
      <p:sp>
        <p:nvSpPr>
          <p:cNvPr id="559" name="Google Shape;559;p5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WEAK ENTITY</a:t>
            </a:r>
            <a:endParaRPr/>
          </a:p>
        </p:txBody>
      </p:sp>
      <p:sp>
        <p:nvSpPr>
          <p:cNvPr id="566" name="Google Shape;566;p56"/>
          <p:cNvSpPr txBox="1">
            <a:spLocks noGrp="1"/>
          </p:cNvSpPr>
          <p:nvPr>
            <p:ph type="body" idx="1"/>
          </p:nvPr>
        </p:nvSpPr>
        <p:spPr>
          <a:xfrm>
            <a:off x="301625"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weak entity with a 1:1 identifying relationship</a:t>
            </a:r>
            <a:endParaRPr/>
          </a:p>
        </p:txBody>
      </p:sp>
      <p:sp>
        <p:nvSpPr>
          <p:cNvPr id="567" name="Google Shape;567;p5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56</a:t>
            </a:fld>
            <a:endParaRPr sz="900" b="1" i="0" u="none" strike="noStrike" cap="none">
              <a:solidFill>
                <a:schemeClr val="dk1"/>
              </a:solidFill>
              <a:latin typeface="Libre Franklin"/>
              <a:ea typeface="Libre Franklin"/>
              <a:cs typeface="Libre Franklin"/>
              <a:sym typeface="Libre Franklin"/>
            </a:endParaRPr>
          </a:p>
        </p:txBody>
      </p:sp>
      <p:pic>
        <p:nvPicPr>
          <p:cNvPr id="568" name="Google Shape;568;p56"/>
          <p:cNvPicPr preferRelativeResize="0"/>
          <p:nvPr/>
        </p:nvPicPr>
        <p:blipFill rotWithShape="1">
          <a:blip r:embed="rId3">
            <a:alphaModFix/>
          </a:blip>
          <a:srcRect t="1" b="11390"/>
          <a:stretch/>
        </p:blipFill>
        <p:spPr>
          <a:xfrm>
            <a:off x="228600" y="3052251"/>
            <a:ext cx="8686800" cy="1980998"/>
          </a:xfrm>
          <a:prstGeom prst="rect">
            <a:avLst/>
          </a:prstGeom>
          <a:noFill/>
          <a:ln>
            <a:noFill/>
          </a:ln>
        </p:spPr>
      </p:pic>
      <p:sp>
        <p:nvSpPr>
          <p:cNvPr id="569" name="Google Shape;569;p5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NAMING CONVENTIONS FOR ER DIAGRAMS</a:t>
            </a:r>
            <a:endParaRPr/>
          </a:p>
        </p:txBody>
      </p:sp>
      <p:sp>
        <p:nvSpPr>
          <p:cNvPr id="576" name="Google Shape;576;p57"/>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Entities and attributes</a:t>
            </a:r>
            <a:endParaRPr/>
          </a:p>
          <a:p>
            <a:pPr marL="742950" lvl="1" indent="-285750" algn="l" rtl="0">
              <a:spcBef>
                <a:spcPts val="400"/>
              </a:spcBef>
              <a:spcAft>
                <a:spcPts val="0"/>
              </a:spcAft>
              <a:buSzPts val="1800"/>
              <a:buChar char="•"/>
            </a:pPr>
            <a:r>
              <a:rPr lang="en-US"/>
              <a:t>Use singular (rather than plural) nouns</a:t>
            </a:r>
            <a:endParaRPr/>
          </a:p>
          <a:p>
            <a:pPr marL="342900" lvl="0" indent="-342900" algn="l" rtl="0">
              <a:spcBef>
                <a:spcPts val="480"/>
              </a:spcBef>
              <a:spcAft>
                <a:spcPts val="0"/>
              </a:spcAft>
              <a:buSzPts val="2160"/>
              <a:buChar char="▪"/>
            </a:pPr>
            <a:r>
              <a:rPr lang="en-US"/>
              <a:t>Relationships</a:t>
            </a:r>
            <a:endParaRPr/>
          </a:p>
          <a:p>
            <a:pPr marL="742950" lvl="1" indent="-285750" algn="l" rtl="0">
              <a:spcBef>
                <a:spcPts val="400"/>
              </a:spcBef>
              <a:spcAft>
                <a:spcPts val="0"/>
              </a:spcAft>
              <a:buSzPts val="1800"/>
              <a:buChar char="•"/>
            </a:pPr>
            <a:r>
              <a:rPr lang="en-US"/>
              <a:t>Use verbs or verb phrases, rather than nouns</a:t>
            </a:r>
            <a:endParaRPr/>
          </a:p>
        </p:txBody>
      </p:sp>
      <p:sp>
        <p:nvSpPr>
          <p:cNvPr id="577" name="Google Shape;577;p5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57</a:t>
            </a:fld>
            <a:endParaRPr sz="900" b="1" i="0" u="none" strike="noStrike" cap="none">
              <a:solidFill>
                <a:schemeClr val="dk1"/>
              </a:solidFill>
              <a:latin typeface="Libre Franklin"/>
              <a:ea typeface="Libre Franklin"/>
              <a:cs typeface="Libre Franklin"/>
              <a:sym typeface="Libre Franklin"/>
            </a:endParaRPr>
          </a:p>
        </p:txBody>
      </p:sp>
      <p:sp>
        <p:nvSpPr>
          <p:cNvPr id="578" name="Google Shape;578;p5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5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NAMING CONVENTIONS FOR ER DIAGRAMS</a:t>
            </a:r>
            <a:endParaRPr/>
          </a:p>
        </p:txBody>
      </p:sp>
      <p:sp>
        <p:nvSpPr>
          <p:cNvPr id="585" name="Google Shape;585;p5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Names should be as brief as possible, without being too condensed as to obscure the meaning of the construct</a:t>
            </a:r>
            <a:endParaRPr/>
          </a:p>
          <a:p>
            <a:pPr marL="342900" lvl="0" indent="-342900" algn="l" rtl="0">
              <a:spcBef>
                <a:spcPts val="480"/>
              </a:spcBef>
              <a:spcAft>
                <a:spcPts val="0"/>
              </a:spcAft>
              <a:buSzPts val="2160"/>
              <a:buChar char="▪"/>
            </a:pPr>
            <a:r>
              <a:rPr lang="en-US"/>
              <a:t>If possible, give all attributes in the entire ER diagram different names</a:t>
            </a:r>
            <a:endParaRPr/>
          </a:p>
        </p:txBody>
      </p:sp>
      <p:sp>
        <p:nvSpPr>
          <p:cNvPr id="586" name="Google Shape;586;p5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58</a:t>
            </a:fld>
            <a:endParaRPr sz="900" b="1" i="0" u="none" strike="noStrike" cap="none">
              <a:solidFill>
                <a:schemeClr val="dk1"/>
              </a:solidFill>
              <a:latin typeface="Libre Franklin"/>
              <a:ea typeface="Libre Franklin"/>
              <a:cs typeface="Libre Franklin"/>
              <a:sym typeface="Libre Franklin"/>
            </a:endParaRPr>
          </a:p>
        </p:txBody>
      </p:sp>
      <p:sp>
        <p:nvSpPr>
          <p:cNvPr id="587" name="Google Shape;587;p5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MULTIPLE ER DIAGRAMS</a:t>
            </a:r>
            <a:endParaRPr/>
          </a:p>
        </p:txBody>
      </p:sp>
      <p:sp>
        <p:nvSpPr>
          <p:cNvPr id="594" name="Google Shape;594;p59"/>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When depicting multiple ER diagrams, each diagram should be visualized separately</a:t>
            </a:r>
            <a:endParaRPr/>
          </a:p>
          <a:p>
            <a:pPr marL="342900" lvl="0" indent="-342900" algn="l" rtl="0">
              <a:spcBef>
                <a:spcPts val="480"/>
              </a:spcBef>
              <a:spcAft>
                <a:spcPts val="0"/>
              </a:spcAft>
              <a:buSzPts val="2160"/>
              <a:buChar char="▪"/>
            </a:pPr>
            <a:r>
              <a:rPr lang="en-US"/>
              <a:t>Instead of multiple ER diagrams in one schema a better choice is to present each ER diagram separately</a:t>
            </a:r>
            <a:endParaRPr/>
          </a:p>
        </p:txBody>
      </p:sp>
      <p:sp>
        <p:nvSpPr>
          <p:cNvPr id="595" name="Google Shape;595;p5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59</a:t>
            </a:fld>
            <a:endParaRPr sz="900" b="1" i="0" u="none" strike="noStrike" cap="none">
              <a:solidFill>
                <a:schemeClr val="dk1"/>
              </a:solidFill>
              <a:latin typeface="Libre Franklin"/>
              <a:ea typeface="Libre Franklin"/>
              <a:cs typeface="Libre Franklin"/>
              <a:sym typeface="Libre Franklin"/>
            </a:endParaRPr>
          </a:p>
        </p:txBody>
      </p:sp>
      <p:sp>
        <p:nvSpPr>
          <p:cNvPr id="596" name="Google Shape;596;p5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6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MULTIPLE ER DIAGRAMS</a:t>
            </a:r>
            <a:endParaRPr/>
          </a:p>
        </p:txBody>
      </p:sp>
      <p:sp>
        <p:nvSpPr>
          <p:cNvPr id="603" name="Google Shape;603;p60"/>
          <p:cNvSpPr txBox="1">
            <a:spLocks noGrp="1"/>
          </p:cNvSpPr>
          <p:nvPr>
            <p:ph type="body" idx="1"/>
          </p:nvPr>
        </p:nvSpPr>
        <p:spPr>
          <a:xfrm>
            <a:off x="304800" y="13716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schema with two separate ER diagrams (potentially misleading)</a:t>
            </a:r>
            <a:endParaRPr/>
          </a:p>
        </p:txBody>
      </p:sp>
      <p:sp>
        <p:nvSpPr>
          <p:cNvPr id="604" name="Google Shape;604;p6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60</a:t>
            </a:fld>
            <a:endParaRPr sz="900" b="1" i="0" u="none" strike="noStrike" cap="none">
              <a:solidFill>
                <a:schemeClr val="dk1"/>
              </a:solidFill>
              <a:latin typeface="Libre Franklin"/>
              <a:ea typeface="Libre Franklin"/>
              <a:cs typeface="Libre Franklin"/>
              <a:sym typeface="Libre Franklin"/>
            </a:endParaRPr>
          </a:p>
        </p:txBody>
      </p:sp>
      <p:pic>
        <p:nvPicPr>
          <p:cNvPr id="605" name="Google Shape;605;p60"/>
          <p:cNvPicPr preferRelativeResize="0"/>
          <p:nvPr/>
        </p:nvPicPr>
        <p:blipFill rotWithShape="1">
          <a:blip r:embed="rId3">
            <a:alphaModFix/>
          </a:blip>
          <a:srcRect/>
          <a:stretch/>
        </p:blipFill>
        <p:spPr>
          <a:xfrm>
            <a:off x="1721600" y="2156550"/>
            <a:ext cx="6050800" cy="4348725"/>
          </a:xfrm>
          <a:prstGeom prst="rect">
            <a:avLst/>
          </a:prstGeom>
          <a:noFill/>
          <a:ln>
            <a:noFill/>
          </a:ln>
        </p:spPr>
      </p:pic>
      <p:sp>
        <p:nvSpPr>
          <p:cNvPr id="606" name="Google Shape;606;p6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6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MULTIPLE ER DIAGRAMS</a:t>
            </a:r>
            <a:endParaRPr/>
          </a:p>
        </p:txBody>
      </p:sp>
      <p:sp>
        <p:nvSpPr>
          <p:cNvPr id="613" name="Google Shape;613;p61"/>
          <p:cNvSpPr txBox="1">
            <a:spLocks noGrp="1"/>
          </p:cNvSpPr>
          <p:nvPr>
            <p:ph type="body" idx="1"/>
          </p:nvPr>
        </p:nvSpPr>
        <p:spPr>
          <a:xfrm>
            <a:off x="304800" y="13716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Separate ER diagrams in separate schemas</a:t>
            </a:r>
            <a:endParaRPr/>
          </a:p>
        </p:txBody>
      </p:sp>
      <p:sp>
        <p:nvSpPr>
          <p:cNvPr id="614" name="Google Shape;614;p6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61</a:t>
            </a:fld>
            <a:endParaRPr sz="900" b="1" i="0" u="none" strike="noStrike" cap="none">
              <a:solidFill>
                <a:schemeClr val="dk1"/>
              </a:solidFill>
              <a:latin typeface="Libre Franklin"/>
              <a:ea typeface="Libre Franklin"/>
              <a:cs typeface="Libre Franklin"/>
              <a:sym typeface="Libre Franklin"/>
            </a:endParaRPr>
          </a:p>
        </p:txBody>
      </p:sp>
      <p:pic>
        <p:nvPicPr>
          <p:cNvPr id="615" name="Google Shape;615;p61"/>
          <p:cNvPicPr preferRelativeResize="0"/>
          <p:nvPr/>
        </p:nvPicPr>
        <p:blipFill rotWithShape="1">
          <a:blip r:embed="rId3">
            <a:alphaModFix/>
          </a:blip>
          <a:srcRect b="60599"/>
          <a:stretch/>
        </p:blipFill>
        <p:spPr>
          <a:xfrm>
            <a:off x="762000" y="2438402"/>
            <a:ext cx="6858000" cy="3141088"/>
          </a:xfrm>
          <a:prstGeom prst="rect">
            <a:avLst/>
          </a:prstGeom>
          <a:noFill/>
          <a:ln>
            <a:noFill/>
          </a:ln>
        </p:spPr>
      </p:pic>
      <p:sp>
        <p:nvSpPr>
          <p:cNvPr id="616" name="Google Shape;616;p6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6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MULTIPLE ER DIAGRAMS</a:t>
            </a:r>
            <a:endParaRPr/>
          </a:p>
        </p:txBody>
      </p:sp>
      <p:sp>
        <p:nvSpPr>
          <p:cNvPr id="623" name="Google Shape;623;p62"/>
          <p:cNvSpPr txBox="1">
            <a:spLocks noGrp="1"/>
          </p:cNvSpPr>
          <p:nvPr>
            <p:ph type="body" idx="1"/>
          </p:nvPr>
        </p:nvSpPr>
        <p:spPr>
          <a:xfrm>
            <a:off x="304800" y="13716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Separate ER diagrams in separate schemas</a:t>
            </a:r>
            <a:endParaRPr/>
          </a:p>
        </p:txBody>
      </p:sp>
      <p:sp>
        <p:nvSpPr>
          <p:cNvPr id="624" name="Google Shape;624;p6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62</a:t>
            </a:fld>
            <a:endParaRPr sz="900" b="1" i="0" u="none" strike="noStrike" cap="none">
              <a:solidFill>
                <a:schemeClr val="dk1"/>
              </a:solidFill>
              <a:latin typeface="Libre Franklin"/>
              <a:ea typeface="Libre Franklin"/>
              <a:cs typeface="Libre Franklin"/>
              <a:sym typeface="Libre Franklin"/>
            </a:endParaRPr>
          </a:p>
        </p:txBody>
      </p:sp>
      <p:pic>
        <p:nvPicPr>
          <p:cNvPr id="625" name="Google Shape;625;p62"/>
          <p:cNvPicPr preferRelativeResize="0"/>
          <p:nvPr/>
        </p:nvPicPr>
        <p:blipFill rotWithShape="1">
          <a:blip r:embed="rId3">
            <a:alphaModFix/>
          </a:blip>
          <a:srcRect t="39171"/>
          <a:stretch/>
        </p:blipFill>
        <p:spPr>
          <a:xfrm>
            <a:off x="1447800" y="1828800"/>
            <a:ext cx="6583680" cy="4655278"/>
          </a:xfrm>
          <a:prstGeom prst="rect">
            <a:avLst/>
          </a:prstGeom>
          <a:noFill/>
          <a:ln>
            <a:noFill/>
          </a:ln>
        </p:spPr>
      </p:pic>
      <p:sp>
        <p:nvSpPr>
          <p:cNvPr id="626" name="Google Shape;626;p6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63"/>
          <p:cNvSpPr txBox="1"/>
          <p:nvPr/>
        </p:nvSpPr>
        <p:spPr>
          <a:xfrm>
            <a:off x="-11113" y="0"/>
            <a:ext cx="8686801" cy="579438"/>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accent1"/>
              </a:buClr>
              <a:buSzPts val="1400"/>
              <a:buFont typeface="Noto Sans Symbols"/>
              <a:buNone/>
            </a:pPr>
            <a:r>
              <a:rPr lang="en-US" sz="2000" b="1" i="0" u="none" strike="noStrike" cap="none">
                <a:solidFill>
                  <a:schemeClr val="dk2"/>
                </a:solidFill>
                <a:latin typeface="Libre Franklin"/>
                <a:ea typeface="Libre Franklin"/>
                <a:cs typeface="Libre Franklin"/>
                <a:sym typeface="Libre Franklin"/>
              </a:rPr>
              <a:t>Another  ER diagram example: </a:t>
            </a:r>
            <a:r>
              <a:rPr lang="en-US" sz="2000" b="0" i="0" u="none" strike="noStrike" cap="none">
                <a:solidFill>
                  <a:schemeClr val="dk2"/>
                </a:solidFill>
                <a:latin typeface="Libre Franklin"/>
                <a:ea typeface="Libre Franklin"/>
                <a:cs typeface="Libre Franklin"/>
                <a:sym typeface="Libre Franklin"/>
              </a:rPr>
              <a:t>HAFH Realty Company Property Management Database</a:t>
            </a:r>
            <a:endParaRPr/>
          </a:p>
        </p:txBody>
      </p:sp>
      <p:sp>
        <p:nvSpPr>
          <p:cNvPr id="633" name="Google Shape;633;p63"/>
          <p:cNvSpPr txBox="1"/>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63</a:t>
            </a:fld>
            <a:endParaRPr sz="900" b="1" i="0" u="none" strike="noStrike" cap="none">
              <a:solidFill>
                <a:schemeClr val="dk1"/>
              </a:solidFill>
              <a:latin typeface="Libre Franklin"/>
              <a:ea typeface="Libre Franklin"/>
              <a:cs typeface="Libre Franklin"/>
              <a:sym typeface="Libre Franklin"/>
            </a:endParaRPr>
          </a:p>
        </p:txBody>
      </p:sp>
      <p:pic>
        <p:nvPicPr>
          <p:cNvPr id="634" name="Google Shape;634;p63"/>
          <p:cNvPicPr preferRelativeResize="0"/>
          <p:nvPr/>
        </p:nvPicPr>
        <p:blipFill rotWithShape="1">
          <a:blip r:embed="rId3">
            <a:alphaModFix/>
          </a:blip>
          <a:srcRect/>
          <a:stretch/>
        </p:blipFill>
        <p:spPr>
          <a:xfrm>
            <a:off x="27432" y="632400"/>
            <a:ext cx="9097138" cy="5852160"/>
          </a:xfrm>
          <a:prstGeom prst="rect">
            <a:avLst/>
          </a:prstGeom>
          <a:noFill/>
          <a:ln>
            <a:noFill/>
          </a:ln>
        </p:spPr>
      </p:pic>
      <p:sp>
        <p:nvSpPr>
          <p:cNvPr id="635" name="Google Shape;635;p63"/>
          <p:cNvSpPr txBox="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6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DATABASE REQUIREMENTS AND ER MODEL USAGE</a:t>
            </a:r>
            <a:br>
              <a:rPr lang="en-US" cap="none"/>
            </a:br>
            <a:endParaRPr cap="none"/>
          </a:p>
        </p:txBody>
      </p:sp>
      <p:sp>
        <p:nvSpPr>
          <p:cNvPr id="642" name="Google Shape;642;p6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ER modeling provides a straightforward technique for collecting, structuring, and visualizing requirements</a:t>
            </a:r>
            <a:endParaRPr/>
          </a:p>
          <a:p>
            <a:pPr marL="342900" lvl="0" indent="-342900" algn="l" rtl="0">
              <a:spcBef>
                <a:spcPts val="480"/>
              </a:spcBef>
              <a:spcAft>
                <a:spcPts val="0"/>
              </a:spcAft>
              <a:buSzPts val="2160"/>
              <a:buChar char="▪"/>
            </a:pPr>
            <a:r>
              <a:rPr lang="en-US"/>
              <a:t>An understanding of ER modeling is crucial, not just for creating ER models based on the requirements, but also during the requirements collection process itself</a:t>
            </a:r>
            <a:endParaRPr/>
          </a:p>
          <a:p>
            <a:pPr marL="342900" lvl="0" indent="-342900" algn="l" rtl="0">
              <a:spcBef>
                <a:spcPts val="480"/>
              </a:spcBef>
              <a:spcAft>
                <a:spcPts val="0"/>
              </a:spcAft>
              <a:buSzPts val="2160"/>
              <a:buChar char="▪"/>
            </a:pPr>
            <a:r>
              <a:rPr lang="en-US"/>
              <a:t>It helps keep the focus on asking or seeking answers to the right questions in order to establish the relevant facts about entities, attributes, and relationships</a:t>
            </a:r>
            <a:endParaRPr/>
          </a:p>
        </p:txBody>
      </p:sp>
      <p:sp>
        <p:nvSpPr>
          <p:cNvPr id="643" name="Google Shape;643;p6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64</a:t>
            </a:fld>
            <a:endParaRPr sz="900" b="1" i="0" u="none" strike="noStrike" cap="none">
              <a:solidFill>
                <a:schemeClr val="dk1"/>
              </a:solidFill>
              <a:latin typeface="Libre Franklin"/>
              <a:ea typeface="Libre Franklin"/>
              <a:cs typeface="Libre Franklin"/>
              <a:sym typeface="Libre Franklin"/>
            </a:endParaRPr>
          </a:p>
        </p:txBody>
      </p:sp>
      <p:sp>
        <p:nvSpPr>
          <p:cNvPr id="644" name="Google Shape;644;p6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6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DATABASE REQUIREMENTS AND ER MODEL USAGE</a:t>
            </a:r>
            <a:br>
              <a:rPr lang="en-US" cap="none"/>
            </a:br>
            <a:endParaRPr cap="none"/>
          </a:p>
        </p:txBody>
      </p:sp>
      <p:sp>
        <p:nvSpPr>
          <p:cNvPr id="651" name="Google Shape;651;p6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One of the common mistakes that beginners make when engaging in ER modeling for the first time is not recognizing the difference between an entity and the ER diagram itself</a:t>
            </a:r>
            <a:endParaRPr/>
          </a:p>
        </p:txBody>
      </p:sp>
      <p:sp>
        <p:nvSpPr>
          <p:cNvPr id="652" name="Google Shape;652;p6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65</a:t>
            </a:fld>
            <a:endParaRPr sz="900" b="1" i="0" u="none" strike="noStrike" cap="none">
              <a:solidFill>
                <a:schemeClr val="dk1"/>
              </a:solidFill>
              <a:latin typeface="Libre Franklin"/>
              <a:ea typeface="Libre Franklin"/>
              <a:cs typeface="Libre Franklin"/>
              <a:sym typeface="Libre Franklin"/>
            </a:endParaRPr>
          </a:p>
        </p:txBody>
      </p:sp>
      <p:sp>
        <p:nvSpPr>
          <p:cNvPr id="653" name="Google Shape;653;p6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6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DATABASE REQUIREMENTS AND ER MODEL USAGE</a:t>
            </a:r>
            <a:br>
              <a:rPr lang="en-US" cap="none"/>
            </a:br>
            <a:endParaRPr cap="none"/>
          </a:p>
        </p:txBody>
      </p:sp>
      <p:sp>
        <p:nvSpPr>
          <p:cNvPr id="660" name="Google Shape;660;p66"/>
          <p:cNvSpPr txBox="1">
            <a:spLocks noGrp="1"/>
          </p:cNvSpPr>
          <p:nvPr>
            <p:ph type="body" idx="1"/>
          </p:nvPr>
        </p:nvSpPr>
        <p:spPr>
          <a:xfrm>
            <a:off x="274320" y="118872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ER diagram incorrectly and correctly interpreting requirements</a:t>
            </a:r>
            <a:endParaRPr/>
          </a:p>
        </p:txBody>
      </p:sp>
      <p:sp>
        <p:nvSpPr>
          <p:cNvPr id="661" name="Google Shape;661;p6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66</a:t>
            </a:fld>
            <a:endParaRPr sz="900" b="1" i="0" u="none" strike="noStrike" cap="none">
              <a:solidFill>
                <a:schemeClr val="dk1"/>
              </a:solidFill>
              <a:latin typeface="Libre Franklin"/>
              <a:ea typeface="Libre Franklin"/>
              <a:cs typeface="Libre Franklin"/>
              <a:sym typeface="Libre Franklin"/>
            </a:endParaRPr>
          </a:p>
        </p:txBody>
      </p:sp>
      <p:pic>
        <p:nvPicPr>
          <p:cNvPr id="662" name="Google Shape;662;p66"/>
          <p:cNvPicPr preferRelativeResize="0"/>
          <p:nvPr/>
        </p:nvPicPr>
        <p:blipFill rotWithShape="1">
          <a:blip r:embed="rId3">
            <a:alphaModFix/>
          </a:blip>
          <a:srcRect/>
          <a:stretch/>
        </p:blipFill>
        <p:spPr>
          <a:xfrm>
            <a:off x="1905000" y="1644497"/>
            <a:ext cx="5303520" cy="4920838"/>
          </a:xfrm>
          <a:prstGeom prst="rect">
            <a:avLst/>
          </a:prstGeom>
          <a:noFill/>
          <a:ln>
            <a:noFill/>
          </a:ln>
        </p:spPr>
      </p:pic>
      <p:sp>
        <p:nvSpPr>
          <p:cNvPr id="663" name="Google Shape;663;p6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6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DATABASE REQUIREMENTS AND ER MODEL USAGE</a:t>
            </a:r>
            <a:br>
              <a:rPr lang="en-US" cap="none"/>
            </a:br>
            <a:endParaRPr cap="none"/>
          </a:p>
        </p:txBody>
      </p:sp>
      <p:sp>
        <p:nvSpPr>
          <p:cNvPr id="670" name="Google Shape;670;p67"/>
          <p:cNvSpPr txBox="1">
            <a:spLocks noGrp="1"/>
          </p:cNvSpPr>
          <p:nvPr>
            <p:ph type="body" idx="1"/>
          </p:nvPr>
        </p:nvSpPr>
        <p:spPr>
          <a:xfrm>
            <a:off x="274320" y="1188720"/>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ER diagram incorrectly and correctly interpreting requirements</a:t>
            </a:r>
            <a:endParaRPr/>
          </a:p>
        </p:txBody>
      </p:sp>
      <p:sp>
        <p:nvSpPr>
          <p:cNvPr id="671" name="Google Shape;671;p6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67</a:t>
            </a:fld>
            <a:endParaRPr sz="900" b="1" i="0" u="none" strike="noStrike" cap="none">
              <a:solidFill>
                <a:schemeClr val="dk1"/>
              </a:solidFill>
              <a:latin typeface="Libre Franklin"/>
              <a:ea typeface="Libre Franklin"/>
              <a:cs typeface="Libre Franklin"/>
              <a:sym typeface="Libre Franklin"/>
            </a:endParaRPr>
          </a:p>
        </p:txBody>
      </p:sp>
      <p:pic>
        <p:nvPicPr>
          <p:cNvPr id="672" name="Google Shape;672;p67"/>
          <p:cNvPicPr preferRelativeResize="0"/>
          <p:nvPr/>
        </p:nvPicPr>
        <p:blipFill rotWithShape="1">
          <a:blip r:embed="rId3">
            <a:alphaModFix/>
          </a:blip>
          <a:srcRect/>
          <a:stretch/>
        </p:blipFill>
        <p:spPr>
          <a:xfrm>
            <a:off x="533400" y="2590800"/>
            <a:ext cx="8229600" cy="2061512"/>
          </a:xfrm>
          <a:prstGeom prst="rect">
            <a:avLst/>
          </a:prstGeom>
          <a:noFill/>
          <a:ln>
            <a:noFill/>
          </a:ln>
        </p:spPr>
      </p:pic>
      <p:sp>
        <p:nvSpPr>
          <p:cNvPr id="673" name="Google Shape;673;p6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DATABASE REQUIREMENTS AND ER MODEL USAGE</a:t>
            </a:r>
            <a:br>
              <a:rPr lang="en-US" cap="none"/>
            </a:br>
            <a:endParaRPr cap="none"/>
          </a:p>
        </p:txBody>
      </p:sp>
      <p:sp>
        <p:nvSpPr>
          <p:cNvPr id="680" name="Google Shape;680;p68"/>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Another common database requirements collection and ER modeling mistake made by novices is not distinguishing between:</a:t>
            </a:r>
            <a:br>
              <a:rPr lang="en-US"/>
            </a:br>
            <a:endParaRPr/>
          </a:p>
          <a:p>
            <a:pPr marL="400050" lvl="1" indent="0" algn="l" rtl="0">
              <a:spcBef>
                <a:spcPts val="480"/>
              </a:spcBef>
              <a:spcAft>
                <a:spcPts val="0"/>
              </a:spcAft>
              <a:buSzPts val="2160"/>
              <a:buFont typeface="Arial"/>
              <a:buNone/>
            </a:pPr>
            <a:r>
              <a:rPr lang="en-US" sz="2400" i="1"/>
              <a:t>Modeling of the data that is wanted and can be kept track of</a:t>
            </a:r>
            <a:endParaRPr/>
          </a:p>
          <a:p>
            <a:pPr marL="400050" lvl="1" indent="0" algn="l" rtl="0">
              <a:spcBef>
                <a:spcPts val="480"/>
              </a:spcBef>
              <a:spcAft>
                <a:spcPts val="0"/>
              </a:spcAft>
              <a:buSzPts val="2160"/>
              <a:buFont typeface="Arial"/>
              <a:buNone/>
            </a:pPr>
            <a:r>
              <a:rPr lang="en-US" sz="2400"/>
              <a:t>versus</a:t>
            </a:r>
            <a:endParaRPr/>
          </a:p>
          <a:p>
            <a:pPr marL="400050" lvl="1" indent="0" algn="l" rtl="0">
              <a:spcBef>
                <a:spcPts val="480"/>
              </a:spcBef>
              <a:spcAft>
                <a:spcPts val="0"/>
              </a:spcAft>
              <a:buSzPts val="2160"/>
              <a:buFont typeface="Arial"/>
              <a:buNone/>
            </a:pPr>
            <a:r>
              <a:rPr lang="en-US" sz="2400" i="1"/>
              <a:t>Modeling of everything that takes place in an organization</a:t>
            </a:r>
            <a:endParaRPr/>
          </a:p>
        </p:txBody>
      </p:sp>
      <p:sp>
        <p:nvSpPr>
          <p:cNvPr id="681" name="Google Shape;681;p6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68</a:t>
            </a:fld>
            <a:endParaRPr sz="900" b="1" i="0" u="none" strike="noStrike" cap="none">
              <a:solidFill>
                <a:schemeClr val="dk1"/>
              </a:solidFill>
              <a:latin typeface="Libre Franklin"/>
              <a:ea typeface="Libre Franklin"/>
              <a:cs typeface="Libre Franklin"/>
              <a:sym typeface="Libre Franklin"/>
            </a:endParaRPr>
          </a:p>
        </p:txBody>
      </p:sp>
      <p:sp>
        <p:nvSpPr>
          <p:cNvPr id="682" name="Google Shape;682;p6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DATABASE REQUIREMENTS AND ER MODEL USAGE</a:t>
            </a:r>
            <a:br>
              <a:rPr lang="en-US" cap="none"/>
            </a:br>
            <a:endParaRPr cap="none"/>
          </a:p>
        </p:txBody>
      </p:sp>
      <p:sp>
        <p:nvSpPr>
          <p:cNvPr id="689" name="Google Shape;689;p69"/>
          <p:cNvSpPr txBox="1">
            <a:spLocks noGrp="1"/>
          </p:cNvSpPr>
          <p:nvPr>
            <p:ph type="body" idx="1"/>
          </p:nvPr>
        </p:nvSpPr>
        <p:spPr>
          <a:xfrm>
            <a:off x="304800" y="10668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ER diagrams based on unfeasible vs. proper requirements</a:t>
            </a:r>
            <a:endParaRPr/>
          </a:p>
        </p:txBody>
      </p:sp>
      <p:sp>
        <p:nvSpPr>
          <p:cNvPr id="690" name="Google Shape;690;p6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69</a:t>
            </a:fld>
            <a:endParaRPr sz="900" b="1" i="0" u="none" strike="noStrike" cap="none">
              <a:solidFill>
                <a:schemeClr val="dk1"/>
              </a:solidFill>
              <a:latin typeface="Libre Franklin"/>
              <a:ea typeface="Libre Franklin"/>
              <a:cs typeface="Libre Franklin"/>
              <a:sym typeface="Libre Franklin"/>
            </a:endParaRPr>
          </a:p>
        </p:txBody>
      </p:sp>
      <p:pic>
        <p:nvPicPr>
          <p:cNvPr id="691" name="Google Shape;691;p69"/>
          <p:cNvPicPr preferRelativeResize="0"/>
          <p:nvPr/>
        </p:nvPicPr>
        <p:blipFill rotWithShape="1">
          <a:blip r:embed="rId3">
            <a:alphaModFix/>
          </a:blip>
          <a:srcRect/>
          <a:stretch/>
        </p:blipFill>
        <p:spPr>
          <a:xfrm>
            <a:off x="2209800" y="1600203"/>
            <a:ext cx="4663440" cy="4992622"/>
          </a:xfrm>
          <a:prstGeom prst="rect">
            <a:avLst/>
          </a:prstGeom>
          <a:noFill/>
          <a:ln>
            <a:noFill/>
          </a:ln>
        </p:spPr>
      </p:pic>
      <p:sp>
        <p:nvSpPr>
          <p:cNvPr id="692" name="Google Shape;692;p6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7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VARIOUS ER NOTATIONS</a:t>
            </a:r>
            <a:endParaRPr/>
          </a:p>
        </p:txBody>
      </p:sp>
      <p:sp>
        <p:nvSpPr>
          <p:cNvPr id="699" name="Google Shape;699;p70"/>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There is no universally adopted ER notation to which all database projects conform</a:t>
            </a:r>
            <a:endParaRPr/>
          </a:p>
          <a:p>
            <a:pPr marL="342900" lvl="0" indent="-342900" algn="l" rtl="0">
              <a:spcBef>
                <a:spcPts val="480"/>
              </a:spcBef>
              <a:spcAft>
                <a:spcPts val="0"/>
              </a:spcAft>
              <a:buSzPts val="2160"/>
              <a:buChar char="▪"/>
            </a:pPr>
            <a:r>
              <a:rPr lang="en-US"/>
              <a:t>Instead, there is a variety of available ER notations in use</a:t>
            </a:r>
            <a:endParaRPr/>
          </a:p>
          <a:p>
            <a:pPr marL="342900" lvl="0" indent="-342900" algn="l" rtl="0">
              <a:spcBef>
                <a:spcPts val="480"/>
              </a:spcBef>
              <a:spcAft>
                <a:spcPts val="0"/>
              </a:spcAft>
              <a:buSzPts val="2160"/>
              <a:buChar char="▪"/>
            </a:pPr>
            <a:r>
              <a:rPr lang="en-US"/>
              <a:t>However, if a designer is familiar with one ER notation, other alternative ER notations are easy to understand and use</a:t>
            </a:r>
            <a:endParaRPr i="1"/>
          </a:p>
        </p:txBody>
      </p:sp>
      <p:sp>
        <p:nvSpPr>
          <p:cNvPr id="700" name="Google Shape;700;p7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70</a:t>
            </a:fld>
            <a:endParaRPr sz="900" b="1" i="0" u="none" strike="noStrike" cap="none">
              <a:solidFill>
                <a:schemeClr val="dk1"/>
              </a:solidFill>
              <a:latin typeface="Libre Franklin"/>
              <a:ea typeface="Libre Franklin"/>
              <a:cs typeface="Libre Franklin"/>
              <a:sym typeface="Libre Franklin"/>
            </a:endParaRPr>
          </a:p>
        </p:txBody>
      </p:sp>
      <p:sp>
        <p:nvSpPr>
          <p:cNvPr id="701" name="Google Shape;701;p7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7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VARIOUS ER NOTATIONS</a:t>
            </a:r>
            <a:endParaRPr/>
          </a:p>
        </p:txBody>
      </p:sp>
      <p:sp>
        <p:nvSpPr>
          <p:cNvPr id="708" name="Google Shape;708;p71"/>
          <p:cNvSpPr txBox="1">
            <a:spLocks noGrp="1"/>
          </p:cNvSpPr>
          <p:nvPr>
            <p:ph type="body" idx="1"/>
          </p:nvPr>
        </p:nvSpPr>
        <p:spPr>
          <a:xfrm>
            <a:off x="304800" y="1216025"/>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Examples of various ER notations</a:t>
            </a:r>
            <a:endParaRPr/>
          </a:p>
        </p:txBody>
      </p:sp>
      <p:sp>
        <p:nvSpPr>
          <p:cNvPr id="709" name="Google Shape;709;p7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71</a:t>
            </a:fld>
            <a:endParaRPr sz="900" b="1" i="0" u="none" strike="noStrike" cap="none">
              <a:solidFill>
                <a:schemeClr val="dk1"/>
              </a:solidFill>
              <a:latin typeface="Libre Franklin"/>
              <a:ea typeface="Libre Franklin"/>
              <a:cs typeface="Libre Franklin"/>
              <a:sym typeface="Libre Franklin"/>
            </a:endParaRPr>
          </a:p>
        </p:txBody>
      </p:sp>
      <p:pic>
        <p:nvPicPr>
          <p:cNvPr id="710" name="Google Shape;710;p71"/>
          <p:cNvPicPr preferRelativeResize="0"/>
          <p:nvPr/>
        </p:nvPicPr>
        <p:blipFill rotWithShape="1">
          <a:blip r:embed="rId3">
            <a:alphaModFix/>
          </a:blip>
          <a:srcRect l="1128" t="1487" r="780" b="2600"/>
          <a:stretch/>
        </p:blipFill>
        <p:spPr>
          <a:xfrm>
            <a:off x="1028700" y="1752600"/>
            <a:ext cx="6911964" cy="4846320"/>
          </a:xfrm>
          <a:prstGeom prst="rect">
            <a:avLst/>
          </a:prstGeom>
          <a:noFill/>
          <a:ln w="9525" cap="flat" cmpd="sng">
            <a:solidFill>
              <a:schemeClr val="dk1"/>
            </a:solidFill>
            <a:prstDash val="solid"/>
            <a:round/>
            <a:headEnd type="none" w="sm" len="sm"/>
            <a:tailEnd type="none" w="sm" len="sm"/>
          </a:ln>
        </p:spPr>
      </p:pic>
      <p:sp>
        <p:nvSpPr>
          <p:cNvPr id="711" name="Google Shape;711;p7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7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18" name="Google Shape;718;p72"/>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In some cases, M:N relationships can have multiple occurrences between the same instances of involved entities</a:t>
            </a:r>
            <a:endParaRPr/>
          </a:p>
          <a:p>
            <a:pPr marL="742950" lvl="1" indent="-285750" algn="l" rtl="0">
              <a:spcBef>
                <a:spcPts val="400"/>
              </a:spcBef>
              <a:spcAft>
                <a:spcPts val="0"/>
              </a:spcAft>
              <a:buSzPts val="1800"/>
              <a:buChar char="•"/>
            </a:pPr>
            <a:r>
              <a:rPr lang="en-US"/>
              <a:t>The following examples illustrates such cases</a:t>
            </a:r>
            <a:endParaRPr/>
          </a:p>
        </p:txBody>
      </p:sp>
      <p:sp>
        <p:nvSpPr>
          <p:cNvPr id="719" name="Google Shape;719;p7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72</a:t>
            </a:fld>
            <a:endParaRPr sz="900" b="1" i="0" u="none" strike="noStrike" cap="none">
              <a:solidFill>
                <a:schemeClr val="dk1"/>
              </a:solidFill>
              <a:latin typeface="Libre Franklin"/>
              <a:ea typeface="Libre Franklin"/>
              <a:cs typeface="Libre Franklin"/>
              <a:sym typeface="Libre Franklin"/>
            </a:endParaRPr>
          </a:p>
        </p:txBody>
      </p:sp>
      <p:sp>
        <p:nvSpPr>
          <p:cNvPr id="720" name="Google Shape;720;p7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7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27" name="Google Shape;727;p73"/>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ER diagram for an M:N relationship depicting students completing classes</a:t>
            </a:r>
            <a:endParaRPr/>
          </a:p>
        </p:txBody>
      </p:sp>
      <p:sp>
        <p:nvSpPr>
          <p:cNvPr id="728" name="Google Shape;728;p7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73</a:t>
            </a:fld>
            <a:endParaRPr sz="900" b="1" i="0" u="none" strike="noStrike" cap="none">
              <a:solidFill>
                <a:schemeClr val="dk1"/>
              </a:solidFill>
              <a:latin typeface="Libre Franklin"/>
              <a:ea typeface="Libre Franklin"/>
              <a:cs typeface="Libre Franklin"/>
              <a:sym typeface="Libre Franklin"/>
            </a:endParaRPr>
          </a:p>
        </p:txBody>
      </p:sp>
      <p:pic>
        <p:nvPicPr>
          <p:cNvPr id="729" name="Google Shape;729;p73"/>
          <p:cNvPicPr preferRelativeResize="0"/>
          <p:nvPr/>
        </p:nvPicPr>
        <p:blipFill rotWithShape="1">
          <a:blip r:embed="rId3">
            <a:alphaModFix/>
          </a:blip>
          <a:srcRect/>
          <a:stretch/>
        </p:blipFill>
        <p:spPr>
          <a:xfrm>
            <a:off x="914400" y="2667000"/>
            <a:ext cx="7315200" cy="3288170"/>
          </a:xfrm>
          <a:prstGeom prst="rect">
            <a:avLst/>
          </a:prstGeom>
          <a:noFill/>
          <a:ln>
            <a:noFill/>
          </a:ln>
        </p:spPr>
      </p:pic>
      <p:sp>
        <p:nvSpPr>
          <p:cNvPr id="730" name="Google Shape;730;p7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7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37" name="Google Shape;737;p7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Instances of the M:N relationship Completes </a:t>
            </a:r>
            <a:endParaRPr/>
          </a:p>
        </p:txBody>
      </p:sp>
      <p:sp>
        <p:nvSpPr>
          <p:cNvPr id="738" name="Google Shape;738;p7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74</a:t>
            </a:fld>
            <a:endParaRPr sz="900" b="1" i="0" u="none" strike="noStrike" cap="none">
              <a:solidFill>
                <a:schemeClr val="dk1"/>
              </a:solidFill>
              <a:latin typeface="Libre Franklin"/>
              <a:ea typeface="Libre Franklin"/>
              <a:cs typeface="Libre Franklin"/>
              <a:sym typeface="Libre Franklin"/>
            </a:endParaRPr>
          </a:p>
        </p:txBody>
      </p:sp>
      <p:pic>
        <p:nvPicPr>
          <p:cNvPr id="739" name="Google Shape;739;p74"/>
          <p:cNvPicPr preferRelativeResize="0"/>
          <p:nvPr/>
        </p:nvPicPr>
        <p:blipFill rotWithShape="1">
          <a:blip r:embed="rId3">
            <a:alphaModFix/>
          </a:blip>
          <a:srcRect/>
          <a:stretch/>
        </p:blipFill>
        <p:spPr>
          <a:xfrm>
            <a:off x="301752" y="2196257"/>
            <a:ext cx="8686800" cy="4099638"/>
          </a:xfrm>
          <a:prstGeom prst="rect">
            <a:avLst/>
          </a:prstGeom>
          <a:noFill/>
          <a:ln>
            <a:noFill/>
          </a:ln>
        </p:spPr>
      </p:pic>
      <p:sp>
        <p:nvSpPr>
          <p:cNvPr id="740" name="Google Shape;740;p7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7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47" name="Google Shape;747;p75"/>
          <p:cNvSpPr txBox="1">
            <a:spLocks noGrp="1"/>
          </p:cNvSpPr>
          <p:nvPr>
            <p:ph type="body" idx="1"/>
          </p:nvPr>
        </p:nvSpPr>
        <p:spPr>
          <a:xfrm>
            <a:off x="298450" y="12954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Instances of the M:N relationship Completes with an additional requirement</a:t>
            </a:r>
            <a:endParaRPr/>
          </a:p>
        </p:txBody>
      </p:sp>
      <p:sp>
        <p:nvSpPr>
          <p:cNvPr id="748" name="Google Shape;748;p7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75</a:t>
            </a:fld>
            <a:endParaRPr sz="900" b="1" i="0" u="none" strike="noStrike" cap="none">
              <a:solidFill>
                <a:schemeClr val="dk1"/>
              </a:solidFill>
              <a:latin typeface="Libre Franklin"/>
              <a:ea typeface="Libre Franklin"/>
              <a:cs typeface="Libre Franklin"/>
              <a:sym typeface="Libre Franklin"/>
            </a:endParaRPr>
          </a:p>
        </p:txBody>
      </p:sp>
      <p:pic>
        <p:nvPicPr>
          <p:cNvPr id="749" name="Google Shape;749;p75"/>
          <p:cNvPicPr preferRelativeResize="0"/>
          <p:nvPr/>
        </p:nvPicPr>
        <p:blipFill rotWithShape="1">
          <a:blip r:embed="rId3">
            <a:alphaModFix/>
          </a:blip>
          <a:srcRect/>
          <a:stretch/>
        </p:blipFill>
        <p:spPr>
          <a:xfrm>
            <a:off x="301752" y="2194560"/>
            <a:ext cx="8686800" cy="4099638"/>
          </a:xfrm>
          <a:prstGeom prst="rect">
            <a:avLst/>
          </a:prstGeom>
          <a:noFill/>
          <a:ln>
            <a:noFill/>
          </a:ln>
        </p:spPr>
      </p:pic>
      <p:sp>
        <p:nvSpPr>
          <p:cNvPr id="750" name="Google Shape;750;p7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7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57" name="Google Shape;757;p76"/>
          <p:cNvSpPr txBox="1">
            <a:spLocks noGrp="1"/>
          </p:cNvSpPr>
          <p:nvPr>
            <p:ph type="body" idx="1"/>
          </p:nvPr>
        </p:nvSpPr>
        <p:spPr>
          <a:xfrm>
            <a:off x="422476" y="1295400"/>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ER diagram for an M:N relationship represented as a weak entity</a:t>
            </a:r>
            <a:endParaRPr/>
          </a:p>
        </p:txBody>
      </p:sp>
      <p:sp>
        <p:nvSpPr>
          <p:cNvPr id="758" name="Google Shape;758;p7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76</a:t>
            </a:fld>
            <a:endParaRPr sz="900" b="1" i="0" u="none" strike="noStrike" cap="none">
              <a:solidFill>
                <a:schemeClr val="dk1"/>
              </a:solidFill>
              <a:latin typeface="Libre Franklin"/>
              <a:ea typeface="Libre Franklin"/>
              <a:cs typeface="Libre Franklin"/>
              <a:sym typeface="Libre Franklin"/>
            </a:endParaRPr>
          </a:p>
        </p:txBody>
      </p:sp>
      <p:pic>
        <p:nvPicPr>
          <p:cNvPr id="759" name="Google Shape;759;p76"/>
          <p:cNvPicPr preferRelativeResize="0"/>
          <p:nvPr/>
        </p:nvPicPr>
        <p:blipFill rotWithShape="1">
          <a:blip r:embed="rId3">
            <a:alphaModFix/>
          </a:blip>
          <a:srcRect/>
          <a:stretch/>
        </p:blipFill>
        <p:spPr>
          <a:xfrm>
            <a:off x="45720" y="2743200"/>
            <a:ext cx="9068616" cy="2651760"/>
          </a:xfrm>
          <a:prstGeom prst="rect">
            <a:avLst/>
          </a:prstGeom>
          <a:noFill/>
          <a:ln>
            <a:noFill/>
          </a:ln>
        </p:spPr>
      </p:pic>
      <p:sp>
        <p:nvSpPr>
          <p:cNvPr id="760" name="Google Shape;760;p7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67" name="Google Shape;767;p77"/>
          <p:cNvSpPr txBox="1">
            <a:spLocks noGrp="1"/>
          </p:cNvSpPr>
          <p:nvPr>
            <p:ph type="body" idx="1"/>
          </p:nvPr>
        </p:nvSpPr>
        <p:spPr>
          <a:xfrm>
            <a:off x="422476" y="1295400"/>
            <a:ext cx="868680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ER diagram for an M:N relationship represented as a weak entity</a:t>
            </a:r>
            <a:endParaRPr/>
          </a:p>
        </p:txBody>
      </p:sp>
      <p:sp>
        <p:nvSpPr>
          <p:cNvPr id="768" name="Google Shape;768;p7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77</a:t>
            </a:fld>
            <a:endParaRPr sz="900" b="1" i="0" u="none" strike="noStrike" cap="none">
              <a:solidFill>
                <a:schemeClr val="dk1"/>
              </a:solidFill>
              <a:latin typeface="Libre Franklin"/>
              <a:ea typeface="Libre Franklin"/>
              <a:cs typeface="Libre Franklin"/>
              <a:sym typeface="Libre Franklin"/>
            </a:endParaRPr>
          </a:p>
        </p:txBody>
      </p:sp>
      <p:pic>
        <p:nvPicPr>
          <p:cNvPr id="769" name="Google Shape;769;p77"/>
          <p:cNvPicPr preferRelativeResize="0"/>
          <p:nvPr/>
        </p:nvPicPr>
        <p:blipFill rotWithShape="1">
          <a:blip r:embed="rId3">
            <a:alphaModFix/>
          </a:blip>
          <a:srcRect l="1680" r="1693"/>
          <a:stretch/>
        </p:blipFill>
        <p:spPr>
          <a:xfrm>
            <a:off x="45721" y="2743200"/>
            <a:ext cx="9058145" cy="2633472"/>
          </a:xfrm>
          <a:prstGeom prst="rect">
            <a:avLst/>
          </a:prstGeom>
          <a:noFill/>
          <a:ln w="12700" cap="flat" cmpd="sng">
            <a:solidFill>
              <a:schemeClr val="dk1"/>
            </a:solidFill>
            <a:prstDash val="solid"/>
            <a:round/>
            <a:headEnd type="none" w="sm" len="sm"/>
            <a:tailEnd type="none" w="sm" len="sm"/>
          </a:ln>
        </p:spPr>
      </p:pic>
      <p:sp>
        <p:nvSpPr>
          <p:cNvPr id="770" name="Google Shape;770;p7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7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77" name="Google Shape;777;p78"/>
          <p:cNvSpPr txBox="1">
            <a:spLocks noGrp="1"/>
          </p:cNvSpPr>
          <p:nvPr>
            <p:ph type="body" idx="1"/>
          </p:nvPr>
        </p:nvSpPr>
        <p:spPr>
          <a:xfrm>
            <a:off x="304800" y="1166019"/>
            <a:ext cx="8961120" cy="45259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Another M:N relationship represented as a weak entity</a:t>
            </a:r>
            <a:endParaRPr/>
          </a:p>
        </p:txBody>
      </p:sp>
      <p:sp>
        <p:nvSpPr>
          <p:cNvPr id="778" name="Google Shape;778;p7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78</a:t>
            </a:fld>
            <a:endParaRPr sz="900" b="1" i="0" u="none" strike="noStrike" cap="none">
              <a:solidFill>
                <a:schemeClr val="dk1"/>
              </a:solidFill>
              <a:latin typeface="Libre Franklin"/>
              <a:ea typeface="Libre Franklin"/>
              <a:cs typeface="Libre Franklin"/>
              <a:sym typeface="Libre Franklin"/>
            </a:endParaRPr>
          </a:p>
        </p:txBody>
      </p:sp>
      <p:pic>
        <p:nvPicPr>
          <p:cNvPr id="779" name="Google Shape;779;p78"/>
          <p:cNvPicPr preferRelativeResize="0"/>
          <p:nvPr/>
        </p:nvPicPr>
        <p:blipFill rotWithShape="1">
          <a:blip r:embed="rId3">
            <a:alphaModFix/>
          </a:blip>
          <a:srcRect/>
          <a:stretch/>
        </p:blipFill>
        <p:spPr>
          <a:xfrm>
            <a:off x="685800" y="2011680"/>
            <a:ext cx="7315200" cy="3923533"/>
          </a:xfrm>
          <a:prstGeom prst="rect">
            <a:avLst/>
          </a:prstGeom>
          <a:noFill/>
          <a:ln>
            <a:noFill/>
          </a:ln>
        </p:spPr>
      </p:pic>
      <p:sp>
        <p:nvSpPr>
          <p:cNvPr id="780" name="Google Shape;780;p7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7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M:N RELATIONSHIPS WITH MULTIPLE INSTANCES BETWEEN THE SAME ENTITIES</a:t>
            </a:r>
            <a:br>
              <a:rPr lang="en-US" cap="none"/>
            </a:br>
            <a:endParaRPr cap="none"/>
          </a:p>
        </p:txBody>
      </p:sp>
      <p:sp>
        <p:nvSpPr>
          <p:cNvPr id="787" name="Google Shape;787;p79"/>
          <p:cNvSpPr txBox="1">
            <a:spLocks noGrp="1"/>
          </p:cNvSpPr>
          <p:nvPr>
            <p:ph type="body" idx="1"/>
          </p:nvPr>
        </p:nvSpPr>
        <p:spPr>
          <a:xfrm>
            <a:off x="228600" y="10668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regular entity, instead of an M:N relationship represented as a weak entity</a:t>
            </a:r>
            <a:endParaRPr/>
          </a:p>
        </p:txBody>
      </p:sp>
      <p:sp>
        <p:nvSpPr>
          <p:cNvPr id="788" name="Google Shape;788;p7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79</a:t>
            </a:fld>
            <a:endParaRPr sz="900" b="1" i="0" u="none" strike="noStrike" cap="none">
              <a:solidFill>
                <a:schemeClr val="dk1"/>
              </a:solidFill>
              <a:latin typeface="Libre Franklin"/>
              <a:ea typeface="Libre Franklin"/>
              <a:cs typeface="Libre Franklin"/>
              <a:sym typeface="Libre Franklin"/>
            </a:endParaRPr>
          </a:p>
        </p:txBody>
      </p:sp>
      <p:pic>
        <p:nvPicPr>
          <p:cNvPr id="789" name="Google Shape;789;p79"/>
          <p:cNvPicPr preferRelativeResize="0"/>
          <p:nvPr/>
        </p:nvPicPr>
        <p:blipFill rotWithShape="1">
          <a:blip r:embed="rId3">
            <a:alphaModFix/>
          </a:blip>
          <a:srcRect/>
          <a:stretch/>
        </p:blipFill>
        <p:spPr>
          <a:xfrm>
            <a:off x="685800" y="2011680"/>
            <a:ext cx="7315200" cy="4590410"/>
          </a:xfrm>
          <a:prstGeom prst="rect">
            <a:avLst/>
          </a:prstGeom>
          <a:noFill/>
          <a:ln>
            <a:noFill/>
          </a:ln>
        </p:spPr>
      </p:pic>
      <p:sp>
        <p:nvSpPr>
          <p:cNvPr id="790" name="Google Shape;790;p7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8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ASSOCIATIVE ENTITY</a:t>
            </a:r>
            <a:endParaRPr/>
          </a:p>
        </p:txBody>
      </p:sp>
      <p:sp>
        <p:nvSpPr>
          <p:cNvPr id="797" name="Google Shape;797;p80"/>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Associative entity  -  </a:t>
            </a:r>
            <a:r>
              <a:rPr lang="en-US"/>
              <a:t>construct used as an alternative way of depicting M:N relationships</a:t>
            </a:r>
            <a:endParaRPr/>
          </a:p>
          <a:p>
            <a:pPr marL="742950" lvl="1" indent="-285750" algn="l" rtl="0">
              <a:spcBef>
                <a:spcPts val="400"/>
              </a:spcBef>
              <a:spcAft>
                <a:spcPts val="0"/>
              </a:spcAft>
              <a:buSzPts val="1800"/>
              <a:buChar char="•"/>
            </a:pPr>
            <a:r>
              <a:rPr lang="en-US"/>
              <a:t>Associative entities do not have unique or partially unique attributes, and often do not have any attributes at all</a:t>
            </a:r>
            <a:endParaRPr/>
          </a:p>
        </p:txBody>
      </p:sp>
      <p:sp>
        <p:nvSpPr>
          <p:cNvPr id="798" name="Google Shape;798;p8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80</a:t>
            </a:fld>
            <a:endParaRPr sz="900" b="1" i="0" u="none" strike="noStrike" cap="none">
              <a:solidFill>
                <a:schemeClr val="dk1"/>
              </a:solidFill>
              <a:latin typeface="Libre Franklin"/>
              <a:ea typeface="Libre Franklin"/>
              <a:cs typeface="Libre Franklin"/>
              <a:sym typeface="Libre Franklin"/>
            </a:endParaRPr>
          </a:p>
        </p:txBody>
      </p:sp>
      <p:sp>
        <p:nvSpPr>
          <p:cNvPr id="799" name="Google Shape;799;p8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8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ASSOCIATIVE ENTITY</a:t>
            </a:r>
            <a:endParaRPr/>
          </a:p>
        </p:txBody>
      </p:sp>
      <p:sp>
        <p:nvSpPr>
          <p:cNvPr id="806" name="Google Shape;806;p81"/>
          <p:cNvSpPr txBox="1">
            <a:spLocks noGrp="1"/>
          </p:cNvSpPr>
          <p:nvPr>
            <p:ph type="body" idx="1"/>
          </p:nvPr>
        </p:nvSpPr>
        <p:spPr>
          <a:xfrm>
            <a:off x="292100" y="12192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identical relationship represented as a M:N relationship and as an associative entity</a:t>
            </a:r>
            <a:endParaRPr/>
          </a:p>
        </p:txBody>
      </p:sp>
      <p:sp>
        <p:nvSpPr>
          <p:cNvPr id="807" name="Google Shape;807;p8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81</a:t>
            </a:fld>
            <a:endParaRPr sz="900" b="1" i="0" u="none" strike="noStrike" cap="none">
              <a:solidFill>
                <a:schemeClr val="dk1"/>
              </a:solidFill>
              <a:latin typeface="Libre Franklin"/>
              <a:ea typeface="Libre Franklin"/>
              <a:cs typeface="Libre Franklin"/>
              <a:sym typeface="Libre Franklin"/>
            </a:endParaRPr>
          </a:p>
        </p:txBody>
      </p:sp>
      <p:pic>
        <p:nvPicPr>
          <p:cNvPr id="808" name="Google Shape;808;p81"/>
          <p:cNvPicPr preferRelativeResize="0"/>
          <p:nvPr/>
        </p:nvPicPr>
        <p:blipFill rotWithShape="1">
          <a:blip r:embed="rId3">
            <a:alphaModFix/>
          </a:blip>
          <a:srcRect/>
          <a:stretch/>
        </p:blipFill>
        <p:spPr>
          <a:xfrm>
            <a:off x="98064" y="2360184"/>
            <a:ext cx="8961120" cy="3936014"/>
          </a:xfrm>
          <a:prstGeom prst="rect">
            <a:avLst/>
          </a:prstGeom>
          <a:noFill/>
          <a:ln>
            <a:noFill/>
          </a:ln>
        </p:spPr>
      </p:pic>
      <p:sp>
        <p:nvSpPr>
          <p:cNvPr id="809" name="Google Shape;809;p8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8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ASSOCIATIVE ENTITY</a:t>
            </a:r>
            <a:endParaRPr/>
          </a:p>
        </p:txBody>
      </p:sp>
      <p:sp>
        <p:nvSpPr>
          <p:cNvPr id="816" name="Google Shape;816;p82"/>
          <p:cNvSpPr txBox="1">
            <a:spLocks noGrp="1"/>
          </p:cNvSpPr>
          <p:nvPr>
            <p:ph type="body" idx="1"/>
          </p:nvPr>
        </p:nvSpPr>
        <p:spPr>
          <a:xfrm>
            <a:off x="152400" y="1166018"/>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identical relationship represented as a unary M:N relationship and as an associative entity</a:t>
            </a:r>
            <a:endParaRPr/>
          </a:p>
        </p:txBody>
      </p:sp>
      <p:sp>
        <p:nvSpPr>
          <p:cNvPr id="817" name="Google Shape;817;p8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82</a:t>
            </a:fld>
            <a:endParaRPr sz="900" b="1" i="0" u="none" strike="noStrike" cap="none">
              <a:solidFill>
                <a:schemeClr val="dk1"/>
              </a:solidFill>
              <a:latin typeface="Libre Franklin"/>
              <a:ea typeface="Libre Franklin"/>
              <a:cs typeface="Libre Franklin"/>
              <a:sym typeface="Libre Franklin"/>
            </a:endParaRPr>
          </a:p>
        </p:txBody>
      </p:sp>
      <p:pic>
        <p:nvPicPr>
          <p:cNvPr id="818" name="Google Shape;818;p82"/>
          <p:cNvPicPr preferRelativeResize="0"/>
          <p:nvPr/>
        </p:nvPicPr>
        <p:blipFill rotWithShape="1">
          <a:blip r:embed="rId3">
            <a:alphaModFix/>
          </a:blip>
          <a:srcRect/>
          <a:stretch/>
        </p:blipFill>
        <p:spPr>
          <a:xfrm>
            <a:off x="2362200" y="2004218"/>
            <a:ext cx="4572000" cy="4572000"/>
          </a:xfrm>
          <a:prstGeom prst="rect">
            <a:avLst/>
          </a:prstGeom>
          <a:noFill/>
          <a:ln>
            <a:noFill/>
          </a:ln>
        </p:spPr>
      </p:pic>
      <p:sp>
        <p:nvSpPr>
          <p:cNvPr id="819" name="Google Shape;819;p8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8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ASSOCIATIVE ENTITY</a:t>
            </a:r>
            <a:endParaRPr/>
          </a:p>
        </p:txBody>
      </p:sp>
      <p:sp>
        <p:nvSpPr>
          <p:cNvPr id="826" name="Google Shape;826;p83"/>
          <p:cNvSpPr txBox="1">
            <a:spLocks noGrp="1"/>
          </p:cNvSpPr>
          <p:nvPr>
            <p:ph type="body" idx="1"/>
          </p:nvPr>
        </p:nvSpPr>
        <p:spPr>
          <a:xfrm>
            <a:off x="304800" y="1166018"/>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An identical relationship represented as an M:N relationship with an attribute and as an associative entity with an attribute</a:t>
            </a:r>
            <a:endParaRPr/>
          </a:p>
        </p:txBody>
      </p:sp>
      <p:sp>
        <p:nvSpPr>
          <p:cNvPr id="827" name="Google Shape;827;p8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83</a:t>
            </a:fld>
            <a:endParaRPr sz="900" b="1" i="0" u="none" strike="noStrike" cap="none">
              <a:solidFill>
                <a:schemeClr val="dk1"/>
              </a:solidFill>
              <a:latin typeface="Libre Franklin"/>
              <a:ea typeface="Libre Franklin"/>
              <a:cs typeface="Libre Franklin"/>
              <a:sym typeface="Libre Franklin"/>
            </a:endParaRPr>
          </a:p>
        </p:txBody>
      </p:sp>
      <p:pic>
        <p:nvPicPr>
          <p:cNvPr id="828" name="Google Shape;828;p83"/>
          <p:cNvPicPr preferRelativeResize="0"/>
          <p:nvPr/>
        </p:nvPicPr>
        <p:blipFill rotWithShape="1">
          <a:blip r:embed="rId3">
            <a:alphaModFix/>
          </a:blip>
          <a:srcRect/>
          <a:stretch/>
        </p:blipFill>
        <p:spPr>
          <a:xfrm>
            <a:off x="152400" y="2133588"/>
            <a:ext cx="8869680" cy="4466726"/>
          </a:xfrm>
          <a:prstGeom prst="rect">
            <a:avLst/>
          </a:prstGeom>
          <a:noFill/>
          <a:ln>
            <a:noFill/>
          </a:ln>
        </p:spPr>
      </p:pic>
      <p:sp>
        <p:nvSpPr>
          <p:cNvPr id="829" name="Google Shape;829;p8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8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ASSOCIATIVE ENTITY</a:t>
            </a:r>
            <a:endParaRPr/>
          </a:p>
        </p:txBody>
      </p:sp>
      <p:sp>
        <p:nvSpPr>
          <p:cNvPr id="836" name="Google Shape;836;p84"/>
          <p:cNvSpPr txBox="1">
            <a:spLocks noGrp="1"/>
          </p:cNvSpPr>
          <p:nvPr>
            <p:ph type="body" idx="1"/>
          </p:nvPr>
        </p:nvSpPr>
        <p:spPr>
          <a:xfrm>
            <a:off x="301752" y="1554480"/>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For relationships with a degree higher than 2 such as ternary relationships, associative entities provide a way to eliminate potential ambiguities in the ER diagrams</a:t>
            </a:r>
            <a:endParaRPr/>
          </a:p>
        </p:txBody>
      </p:sp>
      <p:sp>
        <p:nvSpPr>
          <p:cNvPr id="837" name="Google Shape;837;p8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84</a:t>
            </a:fld>
            <a:endParaRPr sz="900" b="1" i="0" u="none" strike="noStrike" cap="none">
              <a:solidFill>
                <a:schemeClr val="dk1"/>
              </a:solidFill>
              <a:latin typeface="Libre Franklin"/>
              <a:ea typeface="Libre Franklin"/>
              <a:cs typeface="Libre Franklin"/>
              <a:sym typeface="Libre Franklin"/>
            </a:endParaRPr>
          </a:p>
        </p:txBody>
      </p:sp>
      <p:sp>
        <p:nvSpPr>
          <p:cNvPr id="838" name="Google Shape;838;p8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8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TERNARY RELATIONSHIP </a:t>
            </a:r>
            <a:endParaRPr/>
          </a:p>
        </p:txBody>
      </p:sp>
      <p:sp>
        <p:nvSpPr>
          <p:cNvPr id="845" name="Google Shape;845;p8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b="1"/>
              <a:t>Ternary relationship -  </a:t>
            </a:r>
            <a:r>
              <a:rPr lang="en-US"/>
              <a:t>relationship involving three entities </a:t>
            </a:r>
            <a:r>
              <a:rPr lang="en-US" i="1"/>
              <a:t>(degree 3 relationship)</a:t>
            </a:r>
            <a:endParaRPr/>
          </a:p>
        </p:txBody>
      </p:sp>
      <p:sp>
        <p:nvSpPr>
          <p:cNvPr id="846" name="Google Shape;846;p8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85</a:t>
            </a:fld>
            <a:endParaRPr sz="900" b="1" i="0" u="none" strike="noStrike" cap="none">
              <a:solidFill>
                <a:schemeClr val="dk1"/>
              </a:solidFill>
              <a:latin typeface="Libre Franklin"/>
              <a:ea typeface="Libre Franklin"/>
              <a:cs typeface="Libre Franklin"/>
              <a:sym typeface="Libre Franklin"/>
            </a:endParaRPr>
          </a:p>
        </p:txBody>
      </p:sp>
      <p:sp>
        <p:nvSpPr>
          <p:cNvPr id="847" name="Google Shape;847;p8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86"/>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TERNARY RELATIONSHIP </a:t>
            </a:r>
            <a:endParaRPr/>
          </a:p>
        </p:txBody>
      </p:sp>
      <p:sp>
        <p:nvSpPr>
          <p:cNvPr id="854" name="Google Shape;854;p86"/>
          <p:cNvSpPr txBox="1">
            <a:spLocks noGrp="1"/>
          </p:cNvSpPr>
          <p:nvPr>
            <p:ph type="body" idx="1"/>
          </p:nvPr>
        </p:nvSpPr>
        <p:spPr>
          <a:xfrm>
            <a:off x="292100" y="12192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Three binary relationships that are insufficient for depicting given requirements</a:t>
            </a:r>
            <a:endParaRPr/>
          </a:p>
        </p:txBody>
      </p:sp>
      <p:sp>
        <p:nvSpPr>
          <p:cNvPr id="855" name="Google Shape;855;p86"/>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86</a:t>
            </a:fld>
            <a:endParaRPr sz="900" b="1" i="0" u="none" strike="noStrike" cap="none">
              <a:solidFill>
                <a:schemeClr val="dk1"/>
              </a:solidFill>
              <a:latin typeface="Libre Franklin"/>
              <a:ea typeface="Libre Franklin"/>
              <a:cs typeface="Libre Franklin"/>
              <a:sym typeface="Libre Franklin"/>
            </a:endParaRPr>
          </a:p>
        </p:txBody>
      </p:sp>
      <p:pic>
        <p:nvPicPr>
          <p:cNvPr id="856" name="Google Shape;856;p86"/>
          <p:cNvPicPr preferRelativeResize="0"/>
          <p:nvPr/>
        </p:nvPicPr>
        <p:blipFill rotWithShape="1">
          <a:blip r:embed="rId3">
            <a:alphaModFix/>
          </a:blip>
          <a:srcRect/>
          <a:stretch/>
        </p:blipFill>
        <p:spPr>
          <a:xfrm>
            <a:off x="1219200" y="2362200"/>
            <a:ext cx="6400800" cy="3686679"/>
          </a:xfrm>
          <a:prstGeom prst="rect">
            <a:avLst/>
          </a:prstGeom>
          <a:noFill/>
          <a:ln>
            <a:noFill/>
          </a:ln>
        </p:spPr>
      </p:pic>
      <p:sp>
        <p:nvSpPr>
          <p:cNvPr id="857" name="Google Shape;857;p86"/>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87"/>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TERNARY RELATIONSHIP </a:t>
            </a:r>
            <a:endParaRPr/>
          </a:p>
        </p:txBody>
      </p:sp>
      <p:sp>
        <p:nvSpPr>
          <p:cNvPr id="864" name="Google Shape;864;p87"/>
          <p:cNvSpPr txBox="1">
            <a:spLocks noGrp="1"/>
          </p:cNvSpPr>
          <p:nvPr>
            <p:ph type="body" idx="1"/>
          </p:nvPr>
        </p:nvSpPr>
        <p:spPr>
          <a:xfrm>
            <a:off x="292100" y="12192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ternary relationship</a:t>
            </a:r>
            <a:endParaRPr/>
          </a:p>
        </p:txBody>
      </p:sp>
      <p:sp>
        <p:nvSpPr>
          <p:cNvPr id="865" name="Google Shape;865;p87"/>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87</a:t>
            </a:fld>
            <a:endParaRPr sz="900" b="1" i="0" u="none" strike="noStrike" cap="none">
              <a:solidFill>
                <a:schemeClr val="dk1"/>
              </a:solidFill>
              <a:latin typeface="Libre Franklin"/>
              <a:ea typeface="Libre Franklin"/>
              <a:cs typeface="Libre Franklin"/>
              <a:sym typeface="Libre Franklin"/>
            </a:endParaRPr>
          </a:p>
        </p:txBody>
      </p:sp>
      <p:pic>
        <p:nvPicPr>
          <p:cNvPr id="866" name="Google Shape;866;p87"/>
          <p:cNvPicPr preferRelativeResize="0"/>
          <p:nvPr/>
        </p:nvPicPr>
        <p:blipFill rotWithShape="1">
          <a:blip r:embed="rId3">
            <a:alphaModFix/>
          </a:blip>
          <a:srcRect/>
          <a:stretch/>
        </p:blipFill>
        <p:spPr>
          <a:xfrm>
            <a:off x="2057400" y="2229775"/>
            <a:ext cx="4389120" cy="2504811"/>
          </a:xfrm>
          <a:prstGeom prst="rect">
            <a:avLst/>
          </a:prstGeom>
          <a:noFill/>
          <a:ln>
            <a:noFill/>
          </a:ln>
        </p:spPr>
      </p:pic>
      <p:sp>
        <p:nvSpPr>
          <p:cNvPr id="867" name="Google Shape;867;p87"/>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88"/>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TERNARY RELATIONSHIP </a:t>
            </a:r>
            <a:endParaRPr/>
          </a:p>
        </p:txBody>
      </p:sp>
      <p:sp>
        <p:nvSpPr>
          <p:cNvPr id="874" name="Google Shape;874;p88"/>
          <p:cNvSpPr txBox="1">
            <a:spLocks noGrp="1"/>
          </p:cNvSpPr>
          <p:nvPr>
            <p:ph type="body" idx="1"/>
          </p:nvPr>
        </p:nvSpPr>
        <p:spPr>
          <a:xfrm>
            <a:off x="304800" y="1166018"/>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ternary relationship via associative entity</a:t>
            </a:r>
            <a:endParaRPr/>
          </a:p>
        </p:txBody>
      </p:sp>
      <p:sp>
        <p:nvSpPr>
          <p:cNvPr id="875" name="Google Shape;875;p88"/>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88</a:t>
            </a:fld>
            <a:endParaRPr sz="900" b="1" i="0" u="none" strike="noStrike" cap="none">
              <a:solidFill>
                <a:schemeClr val="dk1"/>
              </a:solidFill>
              <a:latin typeface="Libre Franklin"/>
              <a:ea typeface="Libre Franklin"/>
              <a:cs typeface="Libre Franklin"/>
              <a:sym typeface="Libre Franklin"/>
            </a:endParaRPr>
          </a:p>
        </p:txBody>
      </p:sp>
      <p:pic>
        <p:nvPicPr>
          <p:cNvPr id="876" name="Google Shape;876;p88"/>
          <p:cNvPicPr preferRelativeResize="0"/>
          <p:nvPr/>
        </p:nvPicPr>
        <p:blipFill rotWithShape="1">
          <a:blip r:embed="rId3">
            <a:alphaModFix/>
          </a:blip>
          <a:srcRect/>
          <a:stretch/>
        </p:blipFill>
        <p:spPr>
          <a:xfrm>
            <a:off x="1219200" y="1678820"/>
            <a:ext cx="7040880" cy="4957099"/>
          </a:xfrm>
          <a:prstGeom prst="rect">
            <a:avLst/>
          </a:prstGeom>
          <a:noFill/>
          <a:ln>
            <a:noFill/>
          </a:ln>
        </p:spPr>
      </p:pic>
      <p:sp>
        <p:nvSpPr>
          <p:cNvPr id="877" name="Google Shape;877;p88"/>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89"/>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TERNARY RELATIONSHIP </a:t>
            </a:r>
            <a:endParaRPr/>
          </a:p>
        </p:txBody>
      </p:sp>
      <p:sp>
        <p:nvSpPr>
          <p:cNvPr id="884" name="Google Shape;884;p89"/>
          <p:cNvSpPr txBox="1">
            <a:spLocks noGrp="1"/>
          </p:cNvSpPr>
          <p:nvPr>
            <p:ph type="body" idx="1"/>
          </p:nvPr>
        </p:nvSpPr>
        <p:spPr>
          <a:xfrm>
            <a:off x="228600" y="10668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regular entity replacing a ternary relationship</a:t>
            </a:r>
            <a:endParaRPr/>
          </a:p>
        </p:txBody>
      </p:sp>
      <p:sp>
        <p:nvSpPr>
          <p:cNvPr id="885" name="Google Shape;885;p89"/>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89</a:t>
            </a:fld>
            <a:endParaRPr sz="900" b="1" i="0" u="none" strike="noStrike" cap="none">
              <a:solidFill>
                <a:schemeClr val="dk1"/>
              </a:solidFill>
              <a:latin typeface="Libre Franklin"/>
              <a:ea typeface="Libre Franklin"/>
              <a:cs typeface="Libre Franklin"/>
              <a:sym typeface="Libre Franklin"/>
            </a:endParaRPr>
          </a:p>
        </p:txBody>
      </p:sp>
      <p:pic>
        <p:nvPicPr>
          <p:cNvPr id="886" name="Google Shape;886;p89"/>
          <p:cNvPicPr preferRelativeResize="0"/>
          <p:nvPr/>
        </p:nvPicPr>
        <p:blipFill rotWithShape="1">
          <a:blip r:embed="rId3">
            <a:alphaModFix/>
          </a:blip>
          <a:srcRect/>
          <a:stretch/>
        </p:blipFill>
        <p:spPr>
          <a:xfrm>
            <a:off x="1737360" y="1554480"/>
            <a:ext cx="5760720" cy="5070925"/>
          </a:xfrm>
          <a:prstGeom prst="rect">
            <a:avLst/>
          </a:prstGeom>
          <a:noFill/>
          <a:ln>
            <a:noFill/>
          </a:ln>
        </p:spPr>
      </p:pic>
      <p:sp>
        <p:nvSpPr>
          <p:cNvPr id="887" name="Google Shape;887;p89"/>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90"/>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TERNARY RELATIONSHIP </a:t>
            </a:r>
            <a:endParaRPr/>
          </a:p>
        </p:txBody>
      </p:sp>
      <p:sp>
        <p:nvSpPr>
          <p:cNvPr id="894" name="Google Shape;894;p90"/>
          <p:cNvSpPr txBox="1">
            <a:spLocks noGrp="1"/>
          </p:cNvSpPr>
          <p:nvPr>
            <p:ph type="body" idx="1"/>
          </p:nvPr>
        </p:nvSpPr>
        <p:spPr>
          <a:xfrm>
            <a:off x="320040" y="1066800"/>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many-to-many-to-one ternary relationship</a:t>
            </a:r>
            <a:endParaRPr/>
          </a:p>
        </p:txBody>
      </p:sp>
      <p:sp>
        <p:nvSpPr>
          <p:cNvPr id="895" name="Google Shape;895;p90"/>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90</a:t>
            </a:fld>
            <a:endParaRPr sz="900" b="1" i="0" u="none" strike="noStrike" cap="none">
              <a:solidFill>
                <a:schemeClr val="dk1"/>
              </a:solidFill>
              <a:latin typeface="Libre Franklin"/>
              <a:ea typeface="Libre Franklin"/>
              <a:cs typeface="Libre Franklin"/>
              <a:sym typeface="Libre Franklin"/>
            </a:endParaRPr>
          </a:p>
        </p:txBody>
      </p:sp>
      <p:pic>
        <p:nvPicPr>
          <p:cNvPr id="896" name="Google Shape;896;p90"/>
          <p:cNvPicPr preferRelativeResize="0"/>
          <p:nvPr/>
        </p:nvPicPr>
        <p:blipFill rotWithShape="1">
          <a:blip r:embed="rId3">
            <a:alphaModFix/>
          </a:blip>
          <a:srcRect/>
          <a:stretch/>
        </p:blipFill>
        <p:spPr>
          <a:xfrm>
            <a:off x="1737360" y="1554480"/>
            <a:ext cx="5852160" cy="4956226"/>
          </a:xfrm>
          <a:prstGeom prst="rect">
            <a:avLst/>
          </a:prstGeom>
          <a:noFill/>
          <a:ln>
            <a:noFill/>
          </a:ln>
        </p:spPr>
      </p:pic>
      <p:sp>
        <p:nvSpPr>
          <p:cNvPr id="897" name="Google Shape;897;p90"/>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91"/>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cap="none"/>
              <a:t>TERNARY RELATIONSHIP </a:t>
            </a:r>
            <a:endParaRPr/>
          </a:p>
        </p:txBody>
      </p:sp>
      <p:sp>
        <p:nvSpPr>
          <p:cNvPr id="904" name="Google Shape;904;p91"/>
          <p:cNvSpPr txBox="1">
            <a:spLocks noGrp="1"/>
          </p:cNvSpPr>
          <p:nvPr>
            <p:ph type="body" idx="1"/>
          </p:nvPr>
        </p:nvSpPr>
        <p:spPr>
          <a:xfrm>
            <a:off x="304800" y="1037088"/>
            <a:ext cx="86868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160"/>
              <a:buFont typeface="Noto Sans Symbols"/>
              <a:buNone/>
            </a:pPr>
            <a:r>
              <a:rPr lang="en-US"/>
              <a:t>A many-to-many-to-one ternary relationship</a:t>
            </a:r>
            <a:endParaRPr/>
          </a:p>
        </p:txBody>
      </p:sp>
      <p:sp>
        <p:nvSpPr>
          <p:cNvPr id="905" name="Google Shape;905;p91"/>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91</a:t>
            </a:fld>
            <a:endParaRPr sz="900" b="1" i="0" u="none" strike="noStrike" cap="none">
              <a:solidFill>
                <a:schemeClr val="dk1"/>
              </a:solidFill>
              <a:latin typeface="Libre Franklin"/>
              <a:ea typeface="Libre Franklin"/>
              <a:cs typeface="Libre Franklin"/>
              <a:sym typeface="Libre Franklin"/>
            </a:endParaRPr>
          </a:p>
        </p:txBody>
      </p:sp>
      <p:pic>
        <p:nvPicPr>
          <p:cNvPr id="906" name="Google Shape;906;p91"/>
          <p:cNvPicPr preferRelativeResize="0"/>
          <p:nvPr/>
        </p:nvPicPr>
        <p:blipFill rotWithShape="1">
          <a:blip r:embed="rId3">
            <a:alphaModFix/>
          </a:blip>
          <a:srcRect/>
          <a:stretch/>
        </p:blipFill>
        <p:spPr>
          <a:xfrm>
            <a:off x="1737361" y="1554482"/>
            <a:ext cx="5059905" cy="4206240"/>
          </a:xfrm>
          <a:prstGeom prst="rect">
            <a:avLst/>
          </a:prstGeom>
          <a:noFill/>
          <a:ln>
            <a:noFill/>
          </a:ln>
        </p:spPr>
      </p:pic>
      <p:sp>
        <p:nvSpPr>
          <p:cNvPr id="907" name="Google Shape;907;p91"/>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92"/>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TERNARY (AND HIGHER DEGREE) RELATIONSHIPS</a:t>
            </a:r>
            <a:br>
              <a:rPr lang="en-US" cap="none"/>
            </a:br>
            <a:endParaRPr cap="none"/>
          </a:p>
        </p:txBody>
      </p:sp>
      <p:sp>
        <p:nvSpPr>
          <p:cNvPr id="914" name="Google Shape;914;p92"/>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In practice, ternary relationships are relatively rare, and relationships of degree higher than 3 are rarer still</a:t>
            </a:r>
            <a:endParaRPr/>
          </a:p>
        </p:txBody>
      </p:sp>
      <p:sp>
        <p:nvSpPr>
          <p:cNvPr id="915" name="Google Shape;915;p92"/>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92</a:t>
            </a:fld>
            <a:endParaRPr sz="900" b="1" i="0" u="none" strike="noStrike" cap="none">
              <a:solidFill>
                <a:schemeClr val="dk1"/>
              </a:solidFill>
              <a:latin typeface="Libre Franklin"/>
              <a:ea typeface="Libre Franklin"/>
              <a:cs typeface="Libre Franklin"/>
              <a:sym typeface="Libre Franklin"/>
            </a:endParaRPr>
          </a:p>
        </p:txBody>
      </p:sp>
      <p:sp>
        <p:nvSpPr>
          <p:cNvPr id="916" name="Google Shape;916;p92"/>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93"/>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REDUCING THE NUMBER OF ATTRIBUTES</a:t>
            </a:r>
            <a:br>
              <a:rPr lang="en-US" cap="none"/>
            </a:br>
            <a:endParaRPr cap="none"/>
          </a:p>
        </p:txBody>
      </p:sp>
      <p:sp>
        <p:nvSpPr>
          <p:cNvPr id="923" name="Google Shape;923;p93"/>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Reducing the number of attributes by treating some attributes as attribute values</a:t>
            </a:r>
            <a:endParaRPr/>
          </a:p>
          <a:p>
            <a:pPr marL="742950" lvl="1" indent="-285750" algn="l" rtl="0">
              <a:spcBef>
                <a:spcPts val="400"/>
              </a:spcBef>
              <a:spcAft>
                <a:spcPts val="0"/>
              </a:spcAft>
              <a:buSzPts val="1800"/>
              <a:buChar char="•"/>
            </a:pPr>
            <a:r>
              <a:rPr lang="en-US"/>
              <a:t>In some cases, it may be appropriate to consider whether an originally designed attribute can be treated as an attribute value instead</a:t>
            </a:r>
            <a:endParaRPr/>
          </a:p>
          <a:p>
            <a:pPr marL="742950" lvl="1" indent="-285750" algn="l" rtl="0">
              <a:spcBef>
                <a:spcPts val="400"/>
              </a:spcBef>
              <a:spcAft>
                <a:spcPts val="0"/>
              </a:spcAft>
              <a:buSzPts val="1800"/>
              <a:buChar char="•"/>
            </a:pPr>
            <a:r>
              <a:rPr lang="en-US"/>
              <a:t>Valid alternative in some circumstances (but not always)</a:t>
            </a:r>
            <a:endParaRPr/>
          </a:p>
        </p:txBody>
      </p:sp>
      <p:sp>
        <p:nvSpPr>
          <p:cNvPr id="924" name="Google Shape;924;p93"/>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93</a:t>
            </a:fld>
            <a:endParaRPr sz="900" b="1" i="0" u="none" strike="noStrike" cap="none">
              <a:solidFill>
                <a:schemeClr val="dk1"/>
              </a:solidFill>
              <a:latin typeface="Libre Franklin"/>
              <a:ea typeface="Libre Franklin"/>
              <a:cs typeface="Libre Franklin"/>
              <a:sym typeface="Libre Franklin"/>
            </a:endParaRPr>
          </a:p>
        </p:txBody>
      </p:sp>
      <p:sp>
        <p:nvSpPr>
          <p:cNvPr id="925" name="Google Shape;925;p93"/>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94"/>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REDUCING THE NUMBER OF ATTRIBUTES</a:t>
            </a:r>
            <a:br>
              <a:rPr lang="en-US" cap="none"/>
            </a:br>
            <a:endParaRPr cap="none"/>
          </a:p>
        </p:txBody>
      </p:sp>
      <p:sp>
        <p:nvSpPr>
          <p:cNvPr id="932" name="Google Shape;932;p94"/>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Example of reducing the number of attributes by treating some attributes as attribute values:</a:t>
            </a:r>
            <a:endParaRPr/>
          </a:p>
        </p:txBody>
      </p:sp>
      <p:sp>
        <p:nvSpPr>
          <p:cNvPr id="933" name="Google Shape;933;p94"/>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94</a:t>
            </a:fld>
            <a:endParaRPr sz="900" b="1" i="0" u="none" strike="noStrike" cap="none">
              <a:solidFill>
                <a:schemeClr val="dk1"/>
              </a:solidFill>
              <a:latin typeface="Libre Franklin"/>
              <a:ea typeface="Libre Franklin"/>
              <a:cs typeface="Libre Franklin"/>
              <a:sym typeface="Libre Franklin"/>
            </a:endParaRPr>
          </a:p>
        </p:txBody>
      </p:sp>
      <p:pic>
        <p:nvPicPr>
          <p:cNvPr id="934" name="Google Shape;934;p94"/>
          <p:cNvPicPr preferRelativeResize="0"/>
          <p:nvPr/>
        </p:nvPicPr>
        <p:blipFill rotWithShape="1">
          <a:blip r:embed="rId3">
            <a:alphaModFix/>
          </a:blip>
          <a:srcRect/>
          <a:stretch/>
        </p:blipFill>
        <p:spPr>
          <a:xfrm>
            <a:off x="1638300" y="2581358"/>
            <a:ext cx="6400800" cy="3757530"/>
          </a:xfrm>
          <a:prstGeom prst="rect">
            <a:avLst/>
          </a:prstGeom>
          <a:noFill/>
          <a:ln>
            <a:noFill/>
          </a:ln>
        </p:spPr>
      </p:pic>
      <p:sp>
        <p:nvSpPr>
          <p:cNvPr id="935" name="Google Shape;935;p94"/>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95"/>
          <p:cNvSpPr txBox="1">
            <a:spLocks noGrp="1"/>
          </p:cNvSpPr>
          <p:nvPr>
            <p:ph type="title"/>
          </p:nvPr>
        </p:nvSpPr>
        <p:spPr>
          <a:xfrm>
            <a:off x="304800" y="457200"/>
            <a:ext cx="8686800" cy="8382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cap="none"/>
              <a:t>REDUCING THE NUMBER OF ATTRIBUTES</a:t>
            </a:r>
            <a:br>
              <a:rPr lang="en-US" cap="none"/>
            </a:br>
            <a:endParaRPr cap="none"/>
          </a:p>
        </p:txBody>
      </p:sp>
      <p:sp>
        <p:nvSpPr>
          <p:cNvPr id="942" name="Google Shape;942;p95"/>
          <p:cNvSpPr txBox="1">
            <a:spLocks noGrp="1"/>
          </p:cNvSpPr>
          <p:nvPr>
            <p:ph type="body" idx="1"/>
          </p:nvPr>
        </p:nvSpPr>
        <p:spPr>
          <a:xfrm>
            <a:off x="304800" y="1554163"/>
            <a:ext cx="8686800" cy="45259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160"/>
              <a:buChar char="▪"/>
            </a:pPr>
            <a:r>
              <a:rPr lang="en-US"/>
              <a:t>Example of reducing the number of attributes by treating some attributes as attribute values:</a:t>
            </a:r>
            <a:endParaRPr/>
          </a:p>
        </p:txBody>
      </p:sp>
      <p:sp>
        <p:nvSpPr>
          <p:cNvPr id="943" name="Google Shape;943;p95"/>
          <p:cNvSpPr txBox="1">
            <a:spLocks noGrp="1"/>
          </p:cNvSpPr>
          <p:nvPr>
            <p:ph type="sldNum" idx="12"/>
          </p:nvPr>
        </p:nvSpPr>
        <p:spPr>
          <a:xfrm>
            <a:off x="7924800" y="6629400"/>
            <a:ext cx="1219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900"/>
              <a:buFont typeface="Noto Sans Symbols"/>
              <a:buNone/>
            </a:pPr>
            <a:r>
              <a:rPr lang="en-US" sz="900" b="0" i="0" u="none" strike="noStrike" cap="none">
                <a:solidFill>
                  <a:schemeClr val="dk1"/>
                </a:solidFill>
                <a:latin typeface="Libre Franklin"/>
                <a:ea typeface="Libre Franklin"/>
                <a:cs typeface="Libre Franklin"/>
                <a:sym typeface="Libre Franklin"/>
              </a:rPr>
              <a:t>Chapter 2 – Slide  </a:t>
            </a:r>
            <a:fld id="{00000000-1234-1234-1234-123412341234}" type="slidenum">
              <a:rPr lang="en-US" sz="900" b="1" i="0" u="none" strike="noStrike" cap="none">
                <a:solidFill>
                  <a:schemeClr val="dk1"/>
                </a:solidFill>
                <a:latin typeface="Libre Franklin"/>
                <a:ea typeface="Libre Franklin"/>
                <a:cs typeface="Libre Franklin"/>
                <a:sym typeface="Libre Franklin"/>
              </a:rPr>
              <a:t>95</a:t>
            </a:fld>
            <a:endParaRPr sz="900" b="1" i="0" u="none" strike="noStrike" cap="none">
              <a:solidFill>
                <a:schemeClr val="dk1"/>
              </a:solidFill>
              <a:latin typeface="Libre Franklin"/>
              <a:ea typeface="Libre Franklin"/>
              <a:cs typeface="Libre Franklin"/>
              <a:sym typeface="Libre Franklin"/>
            </a:endParaRPr>
          </a:p>
        </p:txBody>
      </p:sp>
      <p:pic>
        <p:nvPicPr>
          <p:cNvPr id="944" name="Google Shape;944;p95"/>
          <p:cNvPicPr preferRelativeResize="0"/>
          <p:nvPr/>
        </p:nvPicPr>
        <p:blipFill rotWithShape="1">
          <a:blip r:embed="rId3">
            <a:alphaModFix/>
          </a:blip>
          <a:srcRect/>
          <a:stretch/>
        </p:blipFill>
        <p:spPr>
          <a:xfrm>
            <a:off x="328914" y="3151325"/>
            <a:ext cx="8686800" cy="2135625"/>
          </a:xfrm>
          <a:prstGeom prst="rect">
            <a:avLst/>
          </a:prstGeom>
          <a:noFill/>
          <a:ln>
            <a:noFill/>
          </a:ln>
        </p:spPr>
      </p:pic>
      <p:sp>
        <p:nvSpPr>
          <p:cNvPr id="945" name="Google Shape;945;p95"/>
          <p:cNvSpPr txBox="1">
            <a:spLocks noGrp="1"/>
          </p:cNvSpPr>
          <p:nvPr>
            <p:ph type="ftr" idx="11"/>
          </p:nvPr>
        </p:nvSpPr>
        <p:spPr>
          <a:xfrm>
            <a:off x="0" y="6629400"/>
            <a:ext cx="327660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900"/>
              <a:buFont typeface="Noto Sans Symbols"/>
              <a:buNone/>
            </a:pPr>
            <a:r>
              <a:rPr lang="en-US" sz="900" b="0" i="1" u="none" strike="noStrike" cap="non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theme/theme1.xml><?xml version="1.0" encoding="utf-8"?>
<a:theme xmlns:a="http://schemas.openxmlformats.org/drawingml/2006/main" name="Trek">
  <a:themeElements>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4604</Words>
  <Application>Microsoft Office PowerPoint</Application>
  <PresentationFormat>On-screen Show (4:3)</PresentationFormat>
  <Paragraphs>608</Paragraphs>
  <Slides>95</Slides>
  <Notes>95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95</vt:i4>
      </vt:variant>
    </vt:vector>
  </HeadingPairs>
  <TitlesOfParts>
    <vt:vector size="102" baseType="lpstr">
      <vt:lpstr>Noto Sans Symbols</vt:lpstr>
      <vt:lpstr>Courier New</vt:lpstr>
      <vt:lpstr>Libre Franklin Medium</vt:lpstr>
      <vt:lpstr>Libre Franklin</vt:lpstr>
      <vt:lpstr>Arial</vt:lpstr>
      <vt:lpstr>Calibri</vt:lpstr>
      <vt:lpstr>Trek</vt:lpstr>
      <vt:lpstr>CHAPTER 2 - Database Requirements and ER        Modeling</vt:lpstr>
      <vt:lpstr>INTRODUCTION</vt:lpstr>
      <vt:lpstr>ENTITIES</vt:lpstr>
      <vt:lpstr>ENTITIES</vt:lpstr>
      <vt:lpstr>ENTITIES</vt:lpstr>
      <vt:lpstr>ATTRIBUTES</vt:lpstr>
      <vt:lpstr>ATTRIBUTES</vt:lpstr>
      <vt:lpstr>RELATIONSHIPS</vt:lpstr>
      <vt:lpstr>RELATIONSHIPS</vt:lpstr>
      <vt:lpstr>RELATIONSHIPS</vt:lpstr>
      <vt:lpstr>RELATIONSHIPS</vt:lpstr>
      <vt:lpstr>RELATIONSHIPS</vt:lpstr>
      <vt:lpstr>RELATIONSHIPS</vt:lpstr>
      <vt:lpstr>RELATIONSHIPS</vt:lpstr>
      <vt:lpstr>RELATIONSHIPS</vt:lpstr>
      <vt:lpstr>RELATIONSHIPS</vt:lpstr>
      <vt:lpstr>RELATIONSHIPS</vt:lpstr>
      <vt:lpstr>RELATIONSHIPS</vt:lpstr>
      <vt:lpstr>RELATIONSHIPS</vt:lpstr>
      <vt:lpstr>RELATIONSHIPS</vt:lpstr>
      <vt:lpstr>PowerPoint Presentation</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ATTRIBUTES</vt:lpstr>
      <vt:lpstr>RELATIONSHIPS</vt:lpstr>
      <vt:lpstr>RELATIONSHIPS</vt:lpstr>
      <vt:lpstr>RELATIONSHIPS</vt:lpstr>
      <vt:lpstr>RELATIONSHIPS</vt:lpstr>
      <vt:lpstr>RELATIONSHIPS</vt:lpstr>
      <vt:lpstr>RELATIONSHIPS</vt:lpstr>
      <vt:lpstr>RELATIONSHIPS</vt:lpstr>
      <vt:lpstr>RELATIONSHIPS</vt:lpstr>
      <vt:lpstr>RELATIONSHIPS</vt:lpstr>
      <vt:lpstr>RELATIONSHIPS</vt:lpstr>
      <vt:lpstr>WEAK ENTITY</vt:lpstr>
      <vt:lpstr>WEAK ENTITY</vt:lpstr>
      <vt:lpstr>WEAK ENTITY</vt:lpstr>
      <vt:lpstr>WEAK ENTITY</vt:lpstr>
      <vt:lpstr>WEAK ENTITY</vt:lpstr>
      <vt:lpstr>WEAK ENTITY</vt:lpstr>
      <vt:lpstr>WEAK ENTITY</vt:lpstr>
      <vt:lpstr>NAMING CONVENTIONS FOR ER DIAGRAMS</vt:lpstr>
      <vt:lpstr>NAMING CONVENTIONS FOR ER DIAGRAMS</vt:lpstr>
      <vt:lpstr>MULTIPLE ER DIAGRAMS</vt:lpstr>
      <vt:lpstr>MULTIPLE ER DIAGRAMS</vt:lpstr>
      <vt:lpstr>MULTIPLE ER DIAGRAMS</vt:lpstr>
      <vt:lpstr>MULTIPLE ER DIAGRAMS</vt:lpstr>
      <vt:lpstr>PowerPoint Presentation</vt:lpstr>
      <vt:lpstr>DATABASE REQUIREMENTS AND ER MODEL USAGE </vt:lpstr>
      <vt:lpstr>DATABASE REQUIREMENTS AND ER MODEL USAGE </vt:lpstr>
      <vt:lpstr>DATABASE REQUIREMENTS AND ER MODEL USAGE </vt:lpstr>
      <vt:lpstr>DATABASE REQUIREMENTS AND ER MODEL USAGE </vt:lpstr>
      <vt:lpstr>DATABASE REQUIREMENTS AND ER MODEL USAGE </vt:lpstr>
      <vt:lpstr>DATABASE REQUIREMENTS AND ER MODEL USAGE </vt:lpstr>
      <vt:lpstr>VARIOUS ER NOTATIONS</vt:lpstr>
      <vt:lpstr>VARIOUS ER NOTATIONS</vt:lpstr>
      <vt:lpstr>M:N RELATIONSHIPS WITH MULTIPLE INSTANCES BETWEEN THE SAME ENTITIES </vt:lpstr>
      <vt:lpstr>M:N RELATIONSHIPS WITH MULTIPLE INSTANCES BETWEEN THE SAME ENTITIES </vt:lpstr>
      <vt:lpstr>M:N RELATIONSHIPS WITH MULTIPLE INSTANCES BETWEEN THE SAME ENTITIES </vt:lpstr>
      <vt:lpstr>M:N RELATIONSHIPS WITH MULTIPLE INSTANCES BETWEEN THE SAME ENTITIES </vt:lpstr>
      <vt:lpstr>M:N RELATIONSHIPS WITH MULTIPLE INSTANCES BETWEEN THE SAME ENTITIES </vt:lpstr>
      <vt:lpstr>M:N RELATIONSHIPS WITH MULTIPLE INSTANCES BETWEEN THE SAME ENTITIES </vt:lpstr>
      <vt:lpstr>M:N RELATIONSHIPS WITH MULTIPLE INSTANCES BETWEEN THE SAME ENTITIES </vt:lpstr>
      <vt:lpstr>M:N RELATIONSHIPS WITH MULTIPLE INSTANCES BETWEEN THE SAME ENTITIES </vt:lpstr>
      <vt:lpstr>ASSOCIATIVE ENTITY</vt:lpstr>
      <vt:lpstr>ASSOCIATIVE ENTITY</vt:lpstr>
      <vt:lpstr>ASSOCIATIVE ENTITY</vt:lpstr>
      <vt:lpstr>ASSOCIATIVE ENTITY</vt:lpstr>
      <vt:lpstr>ASSOCIATIVE ENTITY</vt:lpstr>
      <vt:lpstr>TERNARY RELATIONSHIP </vt:lpstr>
      <vt:lpstr>TERNARY RELATIONSHIP </vt:lpstr>
      <vt:lpstr>TERNARY RELATIONSHIP </vt:lpstr>
      <vt:lpstr>TERNARY RELATIONSHIP </vt:lpstr>
      <vt:lpstr>TERNARY RELATIONSHIP </vt:lpstr>
      <vt:lpstr>TERNARY RELATIONSHIP </vt:lpstr>
      <vt:lpstr>TERNARY RELATIONSHIP </vt:lpstr>
      <vt:lpstr>TERNARY (AND HIGHER DEGREE) RELATIONSHIPS </vt:lpstr>
      <vt:lpstr>REDUCING THE NUMBER OF ATTRIBUTES </vt:lpstr>
      <vt:lpstr>REDUCING THE NUMBER OF ATTRIBUTES </vt:lpstr>
      <vt:lpstr>REDUCING THE NUMBER OF ATTRIBUTES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Rupa Shrestha</cp:lastModifiedBy>
  <cp:revision>2</cp:revision>
  <dcterms:created xsi:type="dcterms:W3CDTF">2006-08-16T00:00:00Z</dcterms:created>
  <dcterms:modified xsi:type="dcterms:W3CDTF">2025-01-14T21:48:28Z</dcterms:modified>
</cp:coreProperties>
</file>